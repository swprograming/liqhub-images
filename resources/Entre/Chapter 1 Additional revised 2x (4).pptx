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3" r:id="rId3"/>
    <p:sldId id="265" r:id="rId4"/>
    <p:sldId id="267" r:id="rId5"/>
    <p:sldId id="268" r:id="rId6"/>
    <p:sldId id="269" r:id="rId7"/>
    <p:sldId id="270" r:id="rId8"/>
    <p:sldId id="271" r:id="rId9"/>
    <p:sldId id="272" r:id="rId10"/>
    <p:sldId id="274" r:id="rId11"/>
    <p:sldId id="275" r:id="rId12"/>
    <p:sldId id="276" r:id="rId13"/>
    <p:sldId id="277" r:id="rId14"/>
    <p:sldId id="279" r:id="rId15"/>
    <p:sldId id="278"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4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20604-0694-4D3F-BEBA-AF05195999A2}"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6F606-A68F-4B84-8868-A2CBB8FF6AF8}" type="slidenum">
              <a:rPr lang="en-US" smtClean="0"/>
              <a:t>‹#›</a:t>
            </a:fld>
            <a:endParaRPr lang="en-US"/>
          </a:p>
        </p:txBody>
      </p:sp>
    </p:spTree>
    <p:extLst>
      <p:ext uri="{BB962C8B-B14F-4D97-AF65-F5344CB8AC3E}">
        <p14:creationId xmlns:p14="http://schemas.microsoft.com/office/powerpoint/2010/main" val="250645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D6E667-6528-4D01-87EF-7BA30F936B33}"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121203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6E667-6528-4D01-87EF-7BA30F936B33}"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417297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4D6E667-6528-4D01-87EF-7BA30F936B33}"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87988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4D6E667-6528-4D01-87EF-7BA30F936B33}"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233103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D6E667-6528-4D01-87EF-7BA30F936B33}"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2910394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D6E667-6528-4D01-87EF-7BA30F936B33}"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3575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6E667-6528-4D01-87EF-7BA30F936B33}"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329462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4D6E667-6528-4D01-87EF-7BA30F936B33}"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1445541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4D6E667-6528-4D01-87EF-7BA30F936B33}"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3355640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6E667-6528-4D01-87EF-7BA30F936B33}"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2188917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D6E667-6528-4D01-87EF-7BA30F936B33}"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78BA7-5D4B-40CD-85AE-C3D0856B0A52}" type="slidenum">
              <a:rPr lang="en-US" smtClean="0"/>
              <a:t>‹#›</a:t>
            </a:fld>
            <a:endParaRPr lang="en-US"/>
          </a:p>
        </p:txBody>
      </p:sp>
    </p:spTree>
    <p:extLst>
      <p:ext uri="{BB962C8B-B14F-4D97-AF65-F5344CB8AC3E}">
        <p14:creationId xmlns:p14="http://schemas.microsoft.com/office/powerpoint/2010/main" val="47166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D6E667-6528-4D01-87EF-7BA30F936B33}" type="datetimeFigureOut">
              <a:rPr lang="en-US" smtClean="0"/>
              <a:t>11/25/2025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778BA7-5D4B-40CD-85AE-C3D0856B0A52}" type="slidenum">
              <a:rPr lang="en-US" smtClean="0"/>
              <a:t>‹#›</a:t>
            </a:fld>
            <a:endParaRPr lang="en-US"/>
          </a:p>
        </p:txBody>
      </p:sp>
    </p:spTree>
    <p:extLst>
      <p:ext uri="{BB962C8B-B14F-4D97-AF65-F5344CB8AC3E}">
        <p14:creationId xmlns:p14="http://schemas.microsoft.com/office/powerpoint/2010/main" val="2694136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74767"/>
            <a:ext cx="9144000" cy="583474"/>
          </a:xfrm>
        </p:spPr>
        <p:txBody>
          <a:bodyPr>
            <a:normAutofit/>
          </a:bodyPr>
          <a:lstStyle/>
          <a:p>
            <a:r>
              <a:rPr lang="en-US" sz="3200" b="1" dirty="0" smtClean="0">
                <a:latin typeface="Times New Roman" panose="02020603050405020304" pitchFamily="18" charset="0"/>
                <a:cs typeface="Times New Roman" panose="02020603050405020304" pitchFamily="18" charset="0"/>
              </a:rPr>
              <a:t>Addis Ababa Science and Technology University </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66353" y="1384663"/>
            <a:ext cx="10885715" cy="5207725"/>
          </a:xfrm>
        </p:spPr>
        <p:txBody>
          <a:bodyPr>
            <a:normAutofit/>
          </a:bodyPr>
          <a:lstStyle/>
          <a:p>
            <a:pPr>
              <a:lnSpc>
                <a:spcPct val="150000"/>
              </a:lnSpc>
            </a:pPr>
            <a:endParaRPr lang="en-US" b="1" dirty="0" smtClean="0">
              <a:latin typeface="Times New Roman" panose="02020603050405020304" pitchFamily="18" charset="0"/>
              <a:cs typeface="Times New Roman" panose="02020603050405020304" pitchFamily="18" charset="0"/>
            </a:endParaRPr>
          </a:p>
          <a:p>
            <a:pPr>
              <a:lnSpc>
                <a:spcPct val="150000"/>
              </a:lnSpc>
            </a:pPr>
            <a:r>
              <a:rPr lang="en-US" b="1" dirty="0" smtClean="0">
                <a:latin typeface="Times New Roman" panose="02020603050405020304" pitchFamily="18" charset="0"/>
                <a:cs typeface="Times New Roman" panose="02020603050405020304" pitchFamily="18" charset="0"/>
              </a:rPr>
              <a:t>Course Title: Entrepreneurship </a:t>
            </a:r>
          </a:p>
          <a:p>
            <a:pPr>
              <a:lnSpc>
                <a:spcPct val="150000"/>
              </a:lnSpc>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Instructor: </a:t>
            </a:r>
            <a:r>
              <a:rPr lang="en-US" b="1" dirty="0" err="1" smtClean="0">
                <a:latin typeface="Times New Roman" panose="02020603050405020304" pitchFamily="18" charset="0"/>
                <a:cs typeface="Times New Roman" panose="02020603050405020304" pitchFamily="18" charset="0"/>
              </a:rPr>
              <a:t>Hagos</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Mesfin</a:t>
            </a:r>
            <a:r>
              <a:rPr lang="en-US" b="1" dirty="0" smtClean="0">
                <a:latin typeface="Times New Roman" panose="02020603050405020304" pitchFamily="18" charset="0"/>
                <a:cs typeface="Times New Roman" panose="02020603050405020304" pitchFamily="18" charset="0"/>
              </a:rPr>
              <a:t> (Ph.D.)</a:t>
            </a:r>
          </a:p>
          <a:p>
            <a:pPr>
              <a:lnSpc>
                <a:spcPct val="150000"/>
              </a:lnSpc>
            </a:pPr>
            <a:r>
              <a:rPr lang="en-US" b="1" dirty="0" smtClean="0">
                <a:latin typeface="Times New Roman" panose="02020603050405020304" pitchFamily="18" charset="0"/>
                <a:cs typeface="Times New Roman" panose="02020603050405020304" pitchFamily="18" charset="0"/>
              </a:rPr>
              <a:t>Addis Ababa, Ethiopia </a:t>
            </a:r>
          </a:p>
          <a:p>
            <a:pPr>
              <a:lnSpc>
                <a:spcPct val="150000"/>
              </a:lnSpc>
            </a:pPr>
            <a:endParaRPr lang="en-US" b="1" dirty="0" smtClean="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5329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446"/>
          </a:xfrm>
        </p:spPr>
        <p:txBody>
          <a:bodyPr>
            <a:normAutofit fontScale="90000"/>
          </a:bodyPr>
          <a:lstStyle/>
          <a:p>
            <a:r>
              <a:rPr lang="en-US" dirty="0" smtClean="0"/>
              <a:t/>
            </a:r>
            <a:br>
              <a:rPr lang="en-US" dirty="0" smtClean="0"/>
            </a:br>
            <a:r>
              <a:rPr lang="en-US" sz="2700" b="1" dirty="0" smtClean="0">
                <a:solidFill>
                  <a:srgbClr val="FF0000"/>
                </a:solidFill>
                <a:latin typeface="Times New Roman" panose="02020603050405020304" pitchFamily="18" charset="0"/>
                <a:cs typeface="Times New Roman" panose="02020603050405020304" pitchFamily="18" charset="0"/>
              </a:rPr>
              <a:t>Attributes/ elements </a:t>
            </a:r>
            <a:r>
              <a:rPr lang="en-US" sz="2700" b="1" dirty="0">
                <a:solidFill>
                  <a:srgbClr val="FF0000"/>
                </a:solidFill>
                <a:latin typeface="Times New Roman" panose="02020603050405020304" pitchFamily="18" charset="0"/>
                <a:cs typeface="Times New Roman" panose="02020603050405020304" pitchFamily="18" charset="0"/>
              </a:rPr>
              <a:t>of Entrepreneurship:</a:t>
            </a:r>
            <a:r>
              <a:rPr lang="en-US" dirty="0"/>
              <a:t/>
            </a:r>
            <a:br>
              <a:rPr lang="en-US" dirty="0"/>
            </a:br>
            <a:endParaRPr lang="en-US" dirty="0"/>
          </a:p>
        </p:txBody>
      </p:sp>
      <p:sp>
        <p:nvSpPr>
          <p:cNvPr id="3" name="Content Placeholder 2"/>
          <p:cNvSpPr>
            <a:spLocks noGrp="1"/>
          </p:cNvSpPr>
          <p:nvPr>
            <p:ph idx="1"/>
          </p:nvPr>
        </p:nvSpPr>
        <p:spPr>
          <a:xfrm>
            <a:off x="383177" y="1236617"/>
            <a:ext cx="11364685" cy="5355772"/>
          </a:xfrm>
        </p:spPr>
        <p:txBody>
          <a:bodyPr/>
          <a:lstStyle/>
          <a:p>
            <a:pPr>
              <a:lnSpc>
                <a:spcPct val="150000"/>
              </a:lnSpc>
            </a:pPr>
            <a:r>
              <a:rPr lang="en-US" dirty="0" smtClean="0">
                <a:latin typeface="Times New Roman" panose="02020603050405020304" pitchFamily="18" charset="0"/>
                <a:cs typeface="Times New Roman" panose="02020603050405020304" pitchFamily="18" charset="0"/>
              </a:rPr>
              <a:t>Creativity</a:t>
            </a:r>
            <a:r>
              <a:rPr lang="en-US" dirty="0">
                <a:latin typeface="Times New Roman" panose="02020603050405020304" pitchFamily="18" charset="0"/>
                <a:cs typeface="Times New Roman" panose="02020603050405020304" pitchFamily="18" charset="0"/>
              </a:rPr>
              <a:t>, innovation, and enterprise development.</a:t>
            </a:r>
          </a:p>
          <a:p>
            <a:pPr>
              <a:lnSpc>
                <a:spcPct val="150000"/>
              </a:lnSpc>
            </a:pPr>
            <a:r>
              <a:rPr lang="en-US" dirty="0">
                <a:latin typeface="Times New Roman" panose="02020603050405020304" pitchFamily="18" charset="0"/>
                <a:cs typeface="Times New Roman" panose="02020603050405020304" pitchFamily="18" charset="0"/>
              </a:rPr>
              <a:t>Turning ideas into action and meeting consumer needs.</a:t>
            </a:r>
          </a:p>
          <a:p>
            <a:pPr>
              <a:lnSpc>
                <a:spcPct val="150000"/>
              </a:lnSpc>
            </a:pPr>
            <a:r>
              <a:rPr lang="en-US" dirty="0">
                <a:latin typeface="Times New Roman" panose="02020603050405020304" pitchFamily="18" charset="0"/>
                <a:cs typeface="Times New Roman" panose="02020603050405020304" pitchFamily="18" charset="0"/>
              </a:rPr>
              <a:t>Shifting from job seekers to job creators.</a:t>
            </a:r>
          </a:p>
          <a:p>
            <a:pPr>
              <a:lnSpc>
                <a:spcPct val="150000"/>
              </a:lnSpc>
            </a:pPr>
            <a:r>
              <a:rPr lang="en-US" dirty="0">
                <a:latin typeface="Times New Roman" panose="02020603050405020304" pitchFamily="18" charset="0"/>
                <a:cs typeface="Times New Roman" panose="02020603050405020304" pitchFamily="18" charset="0"/>
              </a:rPr>
              <a:t>Critical in countries with high unemployment rates.</a:t>
            </a:r>
          </a:p>
          <a:p>
            <a:pPr>
              <a:lnSpc>
                <a:spcPct val="150000"/>
              </a:lnSpc>
            </a:pPr>
            <a:r>
              <a:rPr lang="en-US" dirty="0">
                <a:latin typeface="Times New Roman" panose="02020603050405020304" pitchFamily="18" charset="0"/>
                <a:cs typeface="Times New Roman" panose="02020603050405020304" pitchFamily="18" charset="0"/>
              </a:rPr>
              <a:t>Involves taking risks and accepting failure.</a:t>
            </a:r>
          </a:p>
          <a:p>
            <a:pPr>
              <a:lnSpc>
                <a:spcPct val="150000"/>
              </a:lnSpc>
            </a:pPr>
            <a:r>
              <a:rPr lang="en-US" dirty="0">
                <a:latin typeface="Times New Roman" panose="02020603050405020304" pitchFamily="18" charset="0"/>
                <a:cs typeface="Times New Roman" panose="02020603050405020304" pitchFamily="18" charset="0"/>
              </a:rPr>
              <a:t>Driven by creativity and the force behind innovation.</a:t>
            </a:r>
          </a:p>
        </p:txBody>
      </p:sp>
    </p:spTree>
    <p:extLst>
      <p:ext uri="{BB962C8B-B14F-4D97-AF65-F5344CB8AC3E}">
        <p14:creationId xmlns:p14="http://schemas.microsoft.com/office/powerpoint/2010/main" val="852446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92520"/>
          </a:xfrm>
        </p:spPr>
        <p:txBody>
          <a:bodyPr>
            <a:normAutofit fontScale="90000"/>
          </a:bodyPr>
          <a:lstStyle/>
          <a:p>
            <a:r>
              <a:rPr lang="en-US" sz="2800" dirty="0" smtClean="0">
                <a:latin typeface="Times New Roman" panose="02020603050405020304" pitchFamily="18" charset="0"/>
                <a:cs typeface="Times New Roman" panose="02020603050405020304" pitchFamily="18" charset="0"/>
              </a:rPr>
              <a:t>Continues…</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687977"/>
            <a:ext cx="10979331" cy="6087292"/>
          </a:xfrm>
        </p:spPr>
        <p:txBody>
          <a:bodyPr>
            <a:noAutofit/>
          </a:bodyPr>
          <a:lstStyle/>
          <a:p>
            <a:pPr>
              <a:lnSpc>
                <a:spcPct val="150000"/>
              </a:lnSpc>
            </a:pPr>
            <a:r>
              <a:rPr lang="en-US" sz="2400" dirty="0" smtClean="0">
                <a:latin typeface="Times New Roman" panose="02020603050405020304" pitchFamily="18" charset="0"/>
                <a:cs typeface="Times New Roman" panose="02020603050405020304" pitchFamily="18" charset="0"/>
              </a:rPr>
              <a:t>Different perspectives: economist (value creation and innovation), psychologist (driven by certain forces), capitalist philosopher (creating wealth for others, utilizing resources efficiently, and providing jobs).</a:t>
            </a:r>
          </a:p>
          <a:p>
            <a:pPr marL="0" indent="0">
              <a:lnSpc>
                <a:spcPct val="150000"/>
              </a:lnSpc>
              <a:buNone/>
            </a:pPr>
            <a:r>
              <a:rPr lang="en-US" sz="2400" dirty="0" smtClean="0">
                <a:solidFill>
                  <a:srgbClr val="FF0000"/>
                </a:solidFill>
                <a:latin typeface="Times New Roman" panose="02020603050405020304" pitchFamily="18" charset="0"/>
                <a:cs typeface="Times New Roman" panose="02020603050405020304" pitchFamily="18" charset="0"/>
              </a:rPr>
              <a:t>General </a:t>
            </a:r>
            <a:r>
              <a:rPr lang="en-US" sz="2400" dirty="0">
                <a:solidFill>
                  <a:srgbClr val="FF0000"/>
                </a:solidFill>
                <a:latin typeface="Times New Roman" panose="02020603050405020304" pitchFamily="18" charset="0"/>
                <a:cs typeface="Times New Roman" panose="02020603050405020304" pitchFamily="18" charset="0"/>
              </a:rPr>
              <a:t>Summary:</a:t>
            </a:r>
          </a:p>
          <a:p>
            <a:pPr>
              <a:lnSpc>
                <a:spcPct val="150000"/>
              </a:lnSpc>
            </a:pPr>
            <a:r>
              <a:rPr lang="en-US" sz="2400" dirty="0">
                <a:latin typeface="Times New Roman" panose="02020603050405020304" pitchFamily="18" charset="0"/>
                <a:cs typeface="Times New Roman" panose="02020603050405020304" pitchFamily="18" charset="0"/>
              </a:rPr>
              <a:t>Entrepreneurship </a:t>
            </a:r>
            <a:r>
              <a:rPr lang="en-US" sz="2400" dirty="0">
                <a:solidFill>
                  <a:srgbClr val="FF0000"/>
                </a:solidFill>
                <a:latin typeface="Times New Roman" panose="02020603050405020304" pitchFamily="18" charset="0"/>
                <a:cs typeface="Times New Roman" panose="02020603050405020304" pitchFamily="18" charset="0"/>
              </a:rPr>
              <a:t>is a process involving opportunity identification, resource mobilization, and innovation</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An entrepreneur is an individual who </a:t>
            </a:r>
            <a:r>
              <a:rPr lang="en-US" sz="2400" dirty="0">
                <a:solidFill>
                  <a:srgbClr val="FF0000"/>
                </a:solidFill>
                <a:latin typeface="Times New Roman" panose="02020603050405020304" pitchFamily="18" charset="0"/>
                <a:cs typeface="Times New Roman" panose="02020603050405020304" pitchFamily="18" charset="0"/>
              </a:rPr>
              <a:t>initiates and operates a business, takes risks, and creates value for customers and society.</a:t>
            </a:r>
          </a:p>
          <a:p>
            <a:pPr>
              <a:lnSpc>
                <a:spcPct val="150000"/>
              </a:lnSpc>
            </a:pPr>
            <a:r>
              <a:rPr lang="en-US" sz="2400" dirty="0">
                <a:solidFill>
                  <a:srgbClr val="FF0000"/>
                </a:solidFill>
                <a:latin typeface="Times New Roman" panose="02020603050405020304" pitchFamily="18" charset="0"/>
                <a:cs typeface="Times New Roman" panose="02020603050405020304" pitchFamily="18" charset="0"/>
              </a:rPr>
              <a:t>Gender</a:t>
            </a:r>
            <a:r>
              <a:rPr lang="en-US" sz="2400" dirty="0">
                <a:latin typeface="Times New Roman" panose="02020603050405020304" pitchFamily="18" charset="0"/>
                <a:cs typeface="Times New Roman" panose="02020603050405020304" pitchFamily="18" charset="0"/>
              </a:rPr>
              <a:t> has no bearing on entrepreneurial success.</a:t>
            </a:r>
          </a:p>
          <a:p>
            <a:pPr>
              <a:lnSpc>
                <a:spcPct val="150000"/>
              </a:lnSpc>
            </a:pPr>
            <a:r>
              <a:rPr lang="en-US" sz="2400" dirty="0">
                <a:solidFill>
                  <a:srgbClr val="FF0000"/>
                </a:solidFill>
                <a:latin typeface="Times New Roman" panose="02020603050405020304" pitchFamily="18" charset="0"/>
                <a:cs typeface="Times New Roman" panose="02020603050405020304" pitchFamily="18" charset="0"/>
              </a:rPr>
              <a:t>All entrepreneurs are businesspersons</a:t>
            </a:r>
            <a:r>
              <a:rPr lang="en-US" sz="2400" dirty="0">
                <a:latin typeface="Times New Roman" panose="02020603050405020304" pitchFamily="18" charset="0"/>
                <a:cs typeface="Times New Roman" panose="02020603050405020304" pitchFamily="18" charset="0"/>
              </a:rPr>
              <a:t>, but </a:t>
            </a:r>
            <a:r>
              <a:rPr lang="en-US" sz="2400" dirty="0">
                <a:solidFill>
                  <a:srgbClr val="FF0000"/>
                </a:solidFill>
                <a:latin typeface="Times New Roman" panose="02020603050405020304" pitchFamily="18" charset="0"/>
                <a:cs typeface="Times New Roman" panose="02020603050405020304" pitchFamily="18" charset="0"/>
              </a:rPr>
              <a:t>not all businesspersons are entrepreneurs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477045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1857"/>
          </a:xfrm>
        </p:spPr>
        <p:txBody>
          <a:bodyPr>
            <a:norm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Types of Entrepreneurs </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6423" y="1097280"/>
            <a:ext cx="11295017" cy="5538651"/>
          </a:xfrm>
        </p:spPr>
        <p:txBody>
          <a:bodyPr>
            <a:noAutofit/>
          </a:bodyPr>
          <a:lstStyle/>
          <a:p>
            <a:pPr marL="0" indent="0">
              <a:buNone/>
            </a:pPr>
            <a:r>
              <a:rPr lang="en-US" sz="2400" b="1" dirty="0" smtClean="0">
                <a:latin typeface="Times New Roman" panose="02020603050405020304" pitchFamily="18" charset="0"/>
                <a:cs typeface="Times New Roman" panose="02020603050405020304" pitchFamily="18" charset="0"/>
              </a:rPr>
              <a:t>1. Individual </a:t>
            </a:r>
            <a:r>
              <a:rPr lang="en-US" sz="2400" b="1" dirty="0">
                <a:latin typeface="Times New Roman" panose="02020603050405020304" pitchFamily="18" charset="0"/>
                <a:cs typeface="Times New Roman" panose="02020603050405020304" pitchFamily="18" charset="0"/>
              </a:rPr>
              <a:t>Entrepreneur:</a:t>
            </a:r>
          </a:p>
          <a:p>
            <a:r>
              <a:rPr lang="en-US" sz="2400" dirty="0">
                <a:latin typeface="Times New Roman" panose="02020603050405020304" pitchFamily="18" charset="0"/>
                <a:cs typeface="Times New Roman" panose="02020603050405020304" pitchFamily="18" charset="0"/>
              </a:rPr>
              <a:t>Starts, acquires, or franchises their own independent organization.</a:t>
            </a:r>
          </a:p>
          <a:p>
            <a:r>
              <a:rPr lang="en-US" sz="2400" dirty="0">
                <a:latin typeface="Times New Roman" panose="02020603050405020304" pitchFamily="18" charset="0"/>
                <a:cs typeface="Times New Roman" panose="02020603050405020304" pitchFamily="18" charset="0"/>
              </a:rPr>
              <a:t>Operates in the broader economic marketplace.</a:t>
            </a:r>
          </a:p>
          <a:p>
            <a:pPr marL="0" indent="0">
              <a:buNone/>
            </a:pPr>
            <a:r>
              <a:rPr lang="en-US" sz="2400" b="1" dirty="0" smtClean="0">
                <a:latin typeface="Times New Roman" panose="02020603050405020304" pitchFamily="18" charset="0"/>
                <a:cs typeface="Times New Roman" panose="02020603050405020304" pitchFamily="18" charset="0"/>
              </a:rPr>
              <a:t>2. Intrapreneur</a:t>
            </a:r>
            <a:r>
              <a:rPr lang="en-US" sz="2400" b="1"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Works within a large organization and engages in entrepreneurial activities.</a:t>
            </a:r>
          </a:p>
          <a:p>
            <a:r>
              <a:rPr lang="en-US" sz="2400" dirty="0">
                <a:latin typeface="Times New Roman" panose="02020603050405020304" pitchFamily="18" charset="0"/>
                <a:cs typeface="Times New Roman" panose="02020603050405020304" pitchFamily="18" charset="0"/>
              </a:rPr>
              <a:t>Affects change through intrapreneurship.</a:t>
            </a:r>
          </a:p>
          <a:p>
            <a:r>
              <a:rPr lang="en-US" sz="2400" dirty="0">
                <a:latin typeface="Times New Roman" panose="02020603050405020304" pitchFamily="18" charset="0"/>
                <a:cs typeface="Times New Roman" panose="02020603050405020304" pitchFamily="18" charset="0"/>
              </a:rPr>
              <a:t>Often operates in large, bureaucratic organizations without official support.</a:t>
            </a:r>
          </a:p>
          <a:p>
            <a:pPr marL="0" indent="0">
              <a:buNone/>
            </a:pPr>
            <a:r>
              <a:rPr lang="en-US" sz="2400" b="1" dirty="0" smtClean="0">
                <a:latin typeface="Times New Roman" panose="02020603050405020304" pitchFamily="18" charset="0"/>
                <a:cs typeface="Times New Roman" panose="02020603050405020304" pitchFamily="18" charset="0"/>
              </a:rPr>
              <a:t>3. Entrepreneurial </a:t>
            </a:r>
            <a:r>
              <a:rPr lang="en-US" sz="2400" b="1" dirty="0">
                <a:latin typeface="Times New Roman" panose="02020603050405020304" pitchFamily="18" charset="0"/>
                <a:cs typeface="Times New Roman" panose="02020603050405020304" pitchFamily="18" charset="0"/>
              </a:rPr>
              <a:t>Organization:</a:t>
            </a:r>
          </a:p>
          <a:p>
            <a:r>
              <a:rPr lang="en-US" sz="2400" dirty="0">
                <a:latin typeface="Times New Roman" panose="02020603050405020304" pitchFamily="18" charset="0"/>
                <a:cs typeface="Times New Roman" panose="02020603050405020304" pitchFamily="18" charset="0"/>
              </a:rPr>
              <a:t>The entrepreneurial function can be fulfilled by individuals working within an organization.</a:t>
            </a:r>
          </a:p>
          <a:p>
            <a:r>
              <a:rPr lang="en-US" sz="2400" dirty="0">
                <a:latin typeface="Times New Roman" panose="02020603050405020304" pitchFamily="18" charset="0"/>
                <a:cs typeface="Times New Roman" panose="02020603050405020304" pitchFamily="18" charset="0"/>
              </a:rPr>
              <a:t>Every social environment has its own way of filling the entrepreneurial function.</a:t>
            </a:r>
          </a:p>
          <a:p>
            <a:r>
              <a:rPr lang="en-US" sz="2400" dirty="0">
                <a:latin typeface="Times New Roman" panose="02020603050405020304" pitchFamily="18" charset="0"/>
                <a:cs typeface="Times New Roman" panose="02020603050405020304" pitchFamily="18" charset="0"/>
              </a:rPr>
              <a:t>An entrepreneurial organization creates an internal environment where all members contribute to entrepreneurship.</a:t>
            </a:r>
          </a:p>
        </p:txBody>
      </p:sp>
    </p:spTree>
    <p:extLst>
      <p:ext uri="{BB962C8B-B14F-4D97-AF65-F5344CB8AC3E}">
        <p14:creationId xmlns:p14="http://schemas.microsoft.com/office/powerpoint/2010/main" val="7727313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Role of Entrepreneurs in Economic Development:</a:t>
            </a:r>
          </a:p>
        </p:txBody>
      </p:sp>
      <p:sp>
        <p:nvSpPr>
          <p:cNvPr id="3" name="Content Placeholder 2"/>
          <p:cNvSpPr>
            <a:spLocks noGrp="1"/>
          </p:cNvSpPr>
          <p:nvPr>
            <p:ph idx="1"/>
          </p:nvPr>
        </p:nvSpPr>
        <p:spPr>
          <a:xfrm>
            <a:off x="838199" y="1114696"/>
            <a:ext cx="11101251" cy="5529943"/>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Improvement in Per Capita Income/Wealth Generation:</a:t>
            </a:r>
          </a:p>
          <a:p>
            <a:r>
              <a:rPr lang="en-US" dirty="0">
                <a:latin typeface="Times New Roman" panose="02020603050405020304" pitchFamily="18" charset="0"/>
                <a:cs typeface="Times New Roman" panose="02020603050405020304" pitchFamily="18" charset="0"/>
              </a:rPr>
              <a:t>Entrepreneurship leads to increased per capita wealth generation and income.</a:t>
            </a:r>
          </a:p>
          <a:p>
            <a:r>
              <a:rPr lang="en-US" dirty="0">
                <a:latin typeface="Times New Roman" panose="02020603050405020304" pitchFamily="18" charset="0"/>
                <a:cs typeface="Times New Roman" panose="02020603050405020304" pitchFamily="18" charset="0"/>
              </a:rPr>
              <a:t>Historical examples show exponential growth in wealth through entrepreneurship.</a:t>
            </a:r>
          </a:p>
          <a:p>
            <a:pPr marL="0" indent="0">
              <a:buNone/>
            </a:pPr>
            <a:r>
              <a:rPr lang="en-US" b="1" dirty="0">
                <a:latin typeface="Times New Roman" panose="02020603050405020304" pitchFamily="18" charset="0"/>
                <a:cs typeface="Times New Roman" panose="02020603050405020304" pitchFamily="18" charset="0"/>
              </a:rPr>
              <a:t>Generation of Employment Opportunities:</a:t>
            </a:r>
          </a:p>
          <a:p>
            <a:r>
              <a:rPr lang="en-US" dirty="0">
                <a:latin typeface="Times New Roman" panose="02020603050405020304" pitchFamily="18" charset="0"/>
                <a:cs typeface="Times New Roman" panose="02020603050405020304" pitchFamily="18" charset="0"/>
              </a:rPr>
              <a:t>Entrepreneurs create new business enterprises and generate employment opportunities.</a:t>
            </a:r>
          </a:p>
          <a:p>
            <a:r>
              <a:rPr lang="en-US" dirty="0">
                <a:latin typeface="Times New Roman" panose="02020603050405020304" pitchFamily="18" charset="0"/>
                <a:cs typeface="Times New Roman" panose="02020603050405020304" pitchFamily="18" charset="0"/>
              </a:rPr>
              <a:t>Addresses the issue of unemployment and provides jobs for others.</a:t>
            </a:r>
          </a:p>
          <a:p>
            <a:pPr marL="0" indent="0">
              <a:buNone/>
            </a:pPr>
            <a:r>
              <a:rPr lang="en-US" b="1" dirty="0">
                <a:latin typeface="Times New Roman" panose="02020603050405020304" pitchFamily="18" charset="0"/>
                <a:cs typeface="Times New Roman" panose="02020603050405020304" pitchFamily="18" charset="0"/>
              </a:rPr>
              <a:t>Inspire Others Towards Entrepreneurship:</a:t>
            </a:r>
          </a:p>
          <a:p>
            <a:r>
              <a:rPr lang="en-US" dirty="0">
                <a:latin typeface="Times New Roman" panose="02020603050405020304" pitchFamily="18" charset="0"/>
                <a:cs typeface="Times New Roman" panose="02020603050405020304" pitchFamily="18" charset="0"/>
              </a:rPr>
              <a:t>Entrepreneurs create a chain reaction of entrepreneurial activity, inspiring others to become entrepreneurs.</a:t>
            </a:r>
          </a:p>
          <a:p>
            <a:r>
              <a:rPr lang="en-US" dirty="0">
                <a:latin typeface="Times New Roman" panose="02020603050405020304" pitchFamily="18" charset="0"/>
                <a:cs typeface="Times New Roman" panose="02020603050405020304" pitchFamily="18" charset="0"/>
              </a:rPr>
              <a:t>Existing ventures provide entrepreneurial opportunities to employees.</a:t>
            </a:r>
          </a:p>
          <a:p>
            <a:r>
              <a:rPr lang="en-US" dirty="0">
                <a:latin typeface="Times New Roman" panose="02020603050405020304" pitchFamily="18" charset="0"/>
                <a:cs typeface="Times New Roman" panose="02020603050405020304" pitchFamily="18" charset="0"/>
              </a:rPr>
              <a:t>Balanced Regional Development:</a:t>
            </a:r>
          </a:p>
          <a:p>
            <a:r>
              <a:rPr lang="en-US" dirty="0">
                <a:latin typeface="Times New Roman" panose="02020603050405020304" pitchFamily="18" charset="0"/>
                <a:cs typeface="Times New Roman" panose="02020603050405020304" pitchFamily="18" charset="0"/>
              </a:rPr>
              <a:t>Entrepreneurs set up industries in backward areas, balancing economic growth across regions.</a:t>
            </a:r>
          </a:p>
          <a:p>
            <a:r>
              <a:rPr lang="en-US" dirty="0">
                <a:latin typeface="Times New Roman" panose="02020603050405020304" pitchFamily="18" charset="0"/>
                <a:cs typeface="Times New Roman" panose="02020603050405020304" pitchFamily="18" charset="0"/>
              </a:rPr>
              <a:t>Avail subsidies and incentives offered by governments.</a:t>
            </a:r>
          </a:p>
        </p:txBody>
      </p:sp>
    </p:spTree>
    <p:extLst>
      <p:ext uri="{BB962C8B-B14F-4D97-AF65-F5344CB8AC3E}">
        <p14:creationId xmlns:p14="http://schemas.microsoft.com/office/powerpoint/2010/main" val="24362630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024"/>
          </a:xfrm>
        </p:spPr>
        <p:txBody>
          <a:bodyPr>
            <a:normAutofit/>
          </a:bodyPr>
          <a:lstStyle/>
          <a:p>
            <a:r>
              <a:rPr lang="en-US" sz="2400" dirty="0" smtClean="0">
                <a:latin typeface="Times New Roman" panose="02020603050405020304" pitchFamily="18" charset="0"/>
                <a:cs typeface="Times New Roman" panose="02020603050405020304" pitchFamily="18" charset="0"/>
              </a:rPr>
              <a:t>Continues..</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8571"/>
            <a:ext cx="10515600" cy="5538652"/>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Enhance the Number of Enterprises:</a:t>
            </a:r>
          </a:p>
          <a:p>
            <a:r>
              <a:rPr lang="en-US" sz="2400" dirty="0">
                <a:latin typeface="Times New Roman" panose="02020603050405020304" pitchFamily="18" charset="0"/>
                <a:cs typeface="Times New Roman" panose="02020603050405020304" pitchFamily="18" charset="0"/>
              </a:rPr>
              <a:t>Entrepreneurship leads to the creation of new firms and promotes competition and innovation.</a:t>
            </a:r>
          </a:p>
          <a:p>
            <a:r>
              <a:rPr lang="en-US" sz="2400" dirty="0">
                <a:latin typeface="Times New Roman" panose="02020603050405020304" pitchFamily="18" charset="0"/>
                <a:cs typeface="Times New Roman" panose="02020603050405020304" pitchFamily="18" charset="0"/>
              </a:rPr>
              <a:t>Increases the number of specialized niche firms.</a:t>
            </a:r>
          </a:p>
          <a:p>
            <a:pPr marL="0" indent="0">
              <a:buNone/>
            </a:pPr>
            <a:r>
              <a:rPr lang="en-US" sz="2400" b="1" dirty="0">
                <a:latin typeface="Times New Roman" panose="02020603050405020304" pitchFamily="18" charset="0"/>
                <a:cs typeface="Times New Roman" panose="02020603050405020304" pitchFamily="18" charset="0"/>
              </a:rPr>
              <a:t>Provide Diversity in Firms:</a:t>
            </a:r>
          </a:p>
          <a:p>
            <a:r>
              <a:rPr lang="en-US" sz="2400" dirty="0">
                <a:latin typeface="Times New Roman" panose="02020603050405020304" pitchFamily="18" charset="0"/>
                <a:cs typeface="Times New Roman" panose="02020603050405020304" pitchFamily="18" charset="0"/>
              </a:rPr>
              <a:t>Entrepreneurial activity results in diverse firms, fostering economic development and growth.</a:t>
            </a:r>
          </a:p>
          <a:p>
            <a:r>
              <a:rPr lang="en-US" sz="2400" dirty="0">
                <a:latin typeface="Times New Roman" panose="02020603050405020304" pitchFamily="18" charset="0"/>
                <a:cs typeface="Times New Roman" panose="02020603050405020304" pitchFamily="18" charset="0"/>
              </a:rPr>
              <a:t>Exchange of complementary knowledge across firms contributes to economic knowledge.</a:t>
            </a:r>
          </a:p>
          <a:p>
            <a:r>
              <a:rPr lang="en-US" sz="2400" dirty="0">
                <a:latin typeface="Times New Roman" panose="02020603050405020304" pitchFamily="18" charset="0"/>
                <a:cs typeface="Times New Roman" panose="02020603050405020304" pitchFamily="18" charset="0"/>
              </a:rPr>
              <a:t>Economic Independence:</a:t>
            </a:r>
          </a:p>
          <a:p>
            <a:r>
              <a:rPr lang="en-US" sz="2400" dirty="0">
                <a:latin typeface="Times New Roman" panose="02020603050405020304" pitchFamily="18" charset="0"/>
                <a:cs typeface="Times New Roman" panose="02020603050405020304" pitchFamily="18" charset="0"/>
              </a:rPr>
              <a:t>Entrepreneurs create industries that reduce dependence on imports and earn foreign exchange through exports.</a:t>
            </a:r>
          </a:p>
          <a:p>
            <a:r>
              <a:rPr lang="en-US" sz="2400" dirty="0">
                <a:latin typeface="Times New Roman" panose="02020603050405020304" pitchFamily="18" charset="0"/>
                <a:cs typeface="Times New Roman" panose="02020603050405020304" pitchFamily="18" charset="0"/>
              </a:rPr>
              <a:t>Contributes to the self-reliance and independence of a country</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2629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024"/>
          </a:xfrm>
        </p:spPr>
        <p:txBody>
          <a:bodyPr>
            <a:normAutofit/>
          </a:bodyPr>
          <a:lstStyle/>
          <a:p>
            <a:r>
              <a:rPr lang="en-US" sz="2400" dirty="0">
                <a:latin typeface="Times New Roman" panose="02020603050405020304" pitchFamily="18" charset="0"/>
                <a:cs typeface="Times New Roman" panose="02020603050405020304" pitchFamily="18" charset="0"/>
              </a:rPr>
              <a:t>Continues..</a:t>
            </a:r>
            <a:endParaRPr lang="en-US" sz="2400" dirty="0"/>
          </a:p>
        </p:txBody>
      </p:sp>
      <p:sp>
        <p:nvSpPr>
          <p:cNvPr id="3" name="Content Placeholder 2"/>
          <p:cNvSpPr>
            <a:spLocks noGrp="1"/>
          </p:cNvSpPr>
          <p:nvPr>
            <p:ph idx="1"/>
          </p:nvPr>
        </p:nvSpPr>
        <p:spPr>
          <a:xfrm>
            <a:off x="838200" y="1227908"/>
            <a:ext cx="10709366" cy="5416732"/>
          </a:xfrm>
        </p:spPr>
        <p:txBody>
          <a:bodyPr/>
          <a:lstStyle/>
          <a:p>
            <a:pPr marL="0" indent="0">
              <a:buNone/>
            </a:pPr>
            <a:r>
              <a:rPr lang="en-US" sz="2400" b="1" dirty="0">
                <a:latin typeface="Times New Roman" panose="02020603050405020304" pitchFamily="18" charset="0"/>
                <a:cs typeface="Times New Roman" panose="02020603050405020304" pitchFamily="18" charset="0"/>
              </a:rPr>
              <a:t>Combine Economic Factors:</a:t>
            </a:r>
          </a:p>
          <a:p>
            <a:r>
              <a:rPr lang="en-US" sz="2400" dirty="0">
                <a:latin typeface="Times New Roman" panose="02020603050405020304" pitchFamily="18" charset="0"/>
                <a:cs typeface="Times New Roman" panose="02020603050405020304" pitchFamily="18" charset="0"/>
              </a:rPr>
              <a:t>Entrepreneurs combine raw materials, labor, and capital to create products that satisfy human needs.</a:t>
            </a:r>
          </a:p>
          <a:p>
            <a:r>
              <a:rPr lang="en-US" sz="2400" dirty="0">
                <a:latin typeface="Times New Roman" panose="02020603050405020304" pitchFamily="18" charset="0"/>
                <a:cs typeface="Times New Roman" panose="02020603050405020304" pitchFamily="18" charset="0"/>
              </a:rPr>
              <a:t>Value is created by optimizing the combination of these economic factors.</a:t>
            </a:r>
          </a:p>
          <a:p>
            <a:pPr marL="0" indent="0">
              <a:buNone/>
            </a:pPr>
            <a:r>
              <a:rPr lang="en-US" sz="2400" b="1" dirty="0">
                <a:latin typeface="Times New Roman" panose="02020603050405020304" pitchFamily="18" charset="0"/>
                <a:cs typeface="Times New Roman" panose="02020603050405020304" pitchFamily="18" charset="0"/>
              </a:rPr>
              <a:t>Provide Market Efficiency:</a:t>
            </a:r>
          </a:p>
          <a:p>
            <a:r>
              <a:rPr lang="en-US" sz="2400" dirty="0">
                <a:latin typeface="Times New Roman" panose="02020603050405020304" pitchFamily="18" charset="0"/>
                <a:cs typeface="Times New Roman" panose="02020603050405020304" pitchFamily="18" charset="0"/>
              </a:rPr>
              <a:t>Entrepreneurial competition leads to optimal resource distribution and maximizes satisfaction.</a:t>
            </a:r>
          </a:p>
          <a:p>
            <a:r>
              <a:rPr lang="en-US" sz="2400" dirty="0">
                <a:latin typeface="Times New Roman" panose="02020603050405020304" pitchFamily="18" charset="0"/>
                <a:cs typeface="Times New Roman" panose="02020603050405020304" pitchFamily="18" charset="0"/>
              </a:rPr>
              <a:t>Enhances market efficiency by preventing excessive profit demands.</a:t>
            </a:r>
          </a:p>
          <a:p>
            <a:pPr marL="0" indent="0">
              <a:buNone/>
            </a:pPr>
            <a:r>
              <a:rPr lang="en-US" sz="2400" dirty="0">
                <a:latin typeface="Times New Roman" panose="02020603050405020304" pitchFamily="18" charset="0"/>
                <a:cs typeface="Times New Roman" panose="02020603050405020304" pitchFamily="18" charset="0"/>
              </a:rPr>
              <a:t>Accepting Risk:</a:t>
            </a:r>
          </a:p>
          <a:p>
            <a:r>
              <a:rPr lang="en-US" sz="2400" dirty="0">
                <a:latin typeface="Times New Roman" panose="02020603050405020304" pitchFamily="18" charset="0"/>
                <a:cs typeface="Times New Roman" panose="02020603050405020304" pitchFamily="18" charset="0"/>
              </a:rPr>
              <a:t>Entrepreneurs accept risk on behalf of others and navigate uncertainties.</a:t>
            </a:r>
          </a:p>
          <a:p>
            <a:r>
              <a:rPr lang="en-US" sz="2400" dirty="0">
                <a:latin typeface="Times New Roman" panose="02020603050405020304" pitchFamily="18" charset="0"/>
                <a:cs typeface="Times New Roman" panose="02020603050405020304" pitchFamily="18" charset="0"/>
              </a:rPr>
              <a:t>Primary function of entrepreneurs is to manage and mitigate risks.</a:t>
            </a:r>
          </a:p>
        </p:txBody>
      </p:sp>
    </p:spTree>
    <p:extLst>
      <p:ext uri="{BB962C8B-B14F-4D97-AF65-F5344CB8AC3E}">
        <p14:creationId xmlns:p14="http://schemas.microsoft.com/office/powerpoint/2010/main" val="27681849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5103"/>
          </a:xfrm>
        </p:spPr>
        <p:txBody>
          <a:bodyPr>
            <a:noAutofit/>
          </a:bodyPr>
          <a:lstStyle/>
          <a:p>
            <a:r>
              <a:rPr lang="en-US" sz="2400" dirty="0">
                <a:latin typeface="Times New Roman" panose="02020603050405020304" pitchFamily="18" charset="0"/>
                <a:cs typeface="Times New Roman" panose="02020603050405020304" pitchFamily="18" charset="0"/>
              </a:rPr>
              <a:t>Continues..</a:t>
            </a:r>
            <a:endParaRPr lang="en-US" sz="2400" dirty="0"/>
          </a:p>
        </p:txBody>
      </p:sp>
      <p:sp>
        <p:nvSpPr>
          <p:cNvPr id="3" name="Content Placeholder 2"/>
          <p:cNvSpPr>
            <a:spLocks noGrp="1"/>
          </p:cNvSpPr>
          <p:nvPr>
            <p:ph idx="1"/>
          </p:nvPr>
        </p:nvSpPr>
        <p:spPr>
          <a:xfrm>
            <a:off x="505097" y="1018903"/>
            <a:ext cx="11425646" cy="5495108"/>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Maximize Investor's Return:</a:t>
            </a:r>
          </a:p>
          <a:p>
            <a:r>
              <a:rPr lang="en-US" sz="2400" dirty="0">
                <a:latin typeface="Times New Roman" panose="02020603050405020304" pitchFamily="18" charset="0"/>
                <a:cs typeface="Times New Roman" panose="02020603050405020304" pitchFamily="18" charset="0"/>
              </a:rPr>
              <a:t>Entrepreneurs create and run organizations that maximize long-term profit for investors.</a:t>
            </a:r>
          </a:p>
          <a:p>
            <a:r>
              <a:rPr lang="en-US" sz="2400" dirty="0">
                <a:latin typeface="Times New Roman" panose="02020603050405020304" pitchFamily="18" charset="0"/>
                <a:cs typeface="Times New Roman" panose="02020603050405020304" pitchFamily="18" charset="0"/>
              </a:rPr>
              <a:t>Generates overall economic efficiency.</a:t>
            </a:r>
          </a:p>
          <a:p>
            <a:pPr marL="0" indent="0">
              <a:buNone/>
            </a:pPr>
            <a:r>
              <a:rPr lang="en-US" sz="2400" dirty="0" smtClean="0">
                <a:latin typeface="Times New Roman" panose="02020603050405020304" pitchFamily="18" charset="0"/>
                <a:cs typeface="Times New Roman" panose="02020603050405020304" pitchFamily="18" charset="0"/>
              </a:rPr>
              <a:t>Entrepreneurial </a:t>
            </a:r>
            <a:r>
              <a:rPr lang="en-US" sz="2400" dirty="0">
                <a:latin typeface="Times New Roman" panose="02020603050405020304" pitchFamily="18" charset="0"/>
                <a:cs typeface="Times New Roman" panose="02020603050405020304" pitchFamily="18" charset="0"/>
              </a:rPr>
              <a:t>Competence and Environment:</a:t>
            </a:r>
          </a:p>
          <a:p>
            <a:r>
              <a:rPr lang="en-US" sz="2400" dirty="0">
                <a:latin typeface="Times New Roman" panose="02020603050405020304" pitchFamily="18" charset="0"/>
                <a:cs typeface="Times New Roman" panose="02020603050405020304" pitchFamily="18" charset="0"/>
              </a:rPr>
              <a:t>Entrepreneurial Mindset:</a:t>
            </a:r>
          </a:p>
          <a:p>
            <a:r>
              <a:rPr lang="en-US" sz="2400" dirty="0">
                <a:solidFill>
                  <a:srgbClr val="FF0000"/>
                </a:solidFill>
                <a:latin typeface="Times New Roman" panose="02020603050405020304" pitchFamily="18" charset="0"/>
                <a:cs typeface="Times New Roman" panose="02020603050405020304" pitchFamily="18" charset="0"/>
              </a:rPr>
              <a:t>1.1 Who Becomes an Entrepreneur:</a:t>
            </a:r>
          </a:p>
          <a:p>
            <a:r>
              <a:rPr lang="en-US" sz="2400" dirty="0">
                <a:latin typeface="Times New Roman" panose="02020603050405020304" pitchFamily="18" charset="0"/>
                <a:cs typeface="Times New Roman" panose="02020603050405020304" pitchFamily="18" charset="0"/>
              </a:rPr>
              <a:t>Young professionals, inventors, and excluded individuals can become entrepreneurs.</a:t>
            </a:r>
          </a:p>
          <a:p>
            <a:r>
              <a:rPr lang="en-US" sz="2400" dirty="0">
                <a:latin typeface="Times New Roman" panose="02020603050405020304" pitchFamily="18" charset="0"/>
                <a:cs typeface="Times New Roman" panose="02020603050405020304" pitchFamily="18" charset="0"/>
              </a:rPr>
              <a:t>Young, educated individuals often skip working for established organizations and start their own ventures.</a:t>
            </a:r>
          </a:p>
          <a:p>
            <a:r>
              <a:rPr lang="en-US" sz="2400" dirty="0">
                <a:latin typeface="Times New Roman" panose="02020603050405020304" pitchFamily="18" charset="0"/>
                <a:cs typeface="Times New Roman" panose="02020603050405020304" pitchFamily="18" charset="0"/>
              </a:rPr>
              <a:t>Inventors focus on presenting their innovations to the market.</a:t>
            </a:r>
          </a:p>
          <a:p>
            <a:r>
              <a:rPr lang="en-US" sz="2400" dirty="0">
                <a:latin typeface="Times New Roman" panose="02020603050405020304" pitchFamily="18" charset="0"/>
                <a:cs typeface="Times New Roman" panose="02020603050405020304" pitchFamily="18" charset="0"/>
              </a:rPr>
              <a:t>Excluded individuals form their own networks due to limited opportunities.</a:t>
            </a:r>
          </a:p>
        </p:txBody>
      </p:sp>
    </p:spTree>
    <p:extLst>
      <p:ext uri="{BB962C8B-B14F-4D97-AF65-F5344CB8AC3E}">
        <p14:creationId xmlns:p14="http://schemas.microsoft.com/office/powerpoint/2010/main" val="16333555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r>
              <a:rPr lang="en-US" sz="2000" dirty="0">
                <a:latin typeface="Times New Roman" panose="02020603050405020304" pitchFamily="18" charset="0"/>
                <a:cs typeface="Times New Roman" panose="02020603050405020304" pitchFamily="18" charset="0"/>
              </a:rPr>
              <a:t>Continues..</a:t>
            </a:r>
            <a:endParaRPr lang="en-US" sz="2000" dirty="0"/>
          </a:p>
        </p:txBody>
      </p:sp>
      <p:sp>
        <p:nvSpPr>
          <p:cNvPr id="3" name="Content Placeholder 2"/>
          <p:cNvSpPr>
            <a:spLocks noGrp="1"/>
          </p:cNvSpPr>
          <p:nvPr>
            <p:ph idx="1"/>
          </p:nvPr>
        </p:nvSpPr>
        <p:spPr>
          <a:xfrm>
            <a:off x="365760" y="975360"/>
            <a:ext cx="11486606" cy="5625737"/>
          </a:xfrm>
        </p:spPr>
        <p:txBody>
          <a:bodyPr>
            <a:normAutofit/>
          </a:bodyPr>
          <a:lstStyle/>
          <a:p>
            <a:pPr marL="0" indent="0">
              <a:buNone/>
            </a:pPr>
            <a:r>
              <a:rPr lang="en-US" b="1" dirty="0">
                <a:solidFill>
                  <a:srgbClr val="00B050"/>
                </a:solidFill>
                <a:latin typeface="Times New Roman" panose="02020603050405020304" pitchFamily="18" charset="0"/>
                <a:cs typeface="Times New Roman" panose="02020603050405020304" pitchFamily="18" charset="0"/>
              </a:rPr>
              <a:t>1.2 Qualities of an Entrepreneur</a:t>
            </a:r>
            <a:r>
              <a:rPr lang="en-US" b="1" dirty="0" smtClean="0">
                <a:solidFill>
                  <a:srgbClr val="00B050"/>
                </a:solidFill>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 order to be successful, an entrepreneur should have the following qualities: </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1. Opportunity-seeking</a:t>
            </a:r>
            <a:r>
              <a:rPr lang="en-US" sz="2000" dirty="0">
                <a:solidFill>
                  <a:srgbClr val="FF0000"/>
                </a:solidFill>
                <a:latin typeface="Times New Roman" panose="02020603050405020304" pitchFamily="18" charset="0"/>
                <a:cs typeface="Times New Roman" panose="02020603050405020304" pitchFamily="18" charset="0"/>
              </a:rPr>
              <a:t>, </a:t>
            </a:r>
            <a:endParaRPr lang="en-US" sz="2000" dirty="0" smtClean="0">
              <a:solidFill>
                <a:srgbClr val="FF0000"/>
              </a:solidFill>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rise </a:t>
            </a:r>
            <a:r>
              <a:rPr lang="en-US" sz="2000" dirty="0">
                <a:latin typeface="Times New Roman" panose="02020603050405020304" pitchFamily="18" charset="0"/>
                <a:cs typeface="Times New Roman" panose="02020603050405020304" pitchFamily="18" charset="0"/>
              </a:rPr>
              <a:t>to a demand for a fresh product, service, or business.</a:t>
            </a:r>
          </a:p>
          <a:p>
            <a:r>
              <a:rPr lang="en-US" sz="2000" dirty="0" smtClean="0">
                <a:latin typeface="Times New Roman" panose="02020603050405020304" pitchFamily="18" charset="0"/>
                <a:cs typeface="Times New Roman" panose="02020603050405020304" pitchFamily="18" charset="0"/>
              </a:rPr>
              <a:t>involve </a:t>
            </a:r>
            <a:r>
              <a:rPr lang="en-US" sz="2000" dirty="0">
                <a:latin typeface="Times New Roman" panose="02020603050405020304" pitchFamily="18" charset="0"/>
                <a:cs typeface="Times New Roman" panose="02020603050405020304" pitchFamily="18" charset="0"/>
              </a:rPr>
              <a:t>factors such as access to credit, suitable workspaces, education, and training.</a:t>
            </a:r>
          </a:p>
          <a:p>
            <a:r>
              <a:rPr lang="en-US" sz="2000" dirty="0">
                <a:latin typeface="Times New Roman" panose="02020603050405020304" pitchFamily="18" charset="0"/>
                <a:cs typeface="Times New Roman" panose="02020603050405020304" pitchFamily="18" charset="0"/>
              </a:rPr>
              <a:t>Entrepreneurs actively search for and recognize opportunities.</a:t>
            </a:r>
          </a:p>
          <a:p>
            <a:r>
              <a:rPr lang="en-US" sz="2000" dirty="0" smtClean="0">
                <a:latin typeface="Times New Roman" panose="02020603050405020304" pitchFamily="18" charset="0"/>
                <a:cs typeface="Times New Roman" panose="02020603050405020304" pitchFamily="18" charset="0"/>
              </a:rPr>
              <a:t>take </a:t>
            </a:r>
            <a:r>
              <a:rPr lang="en-US" sz="2000" dirty="0">
                <a:latin typeface="Times New Roman" panose="02020603050405020304" pitchFamily="18" charset="0"/>
                <a:cs typeface="Times New Roman" panose="02020603050405020304" pitchFamily="18" charset="0"/>
              </a:rPr>
              <a:t>advantage of an opportunity by transforming it into a practical and attainable objective or plan.</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2. Persevering, (work hard) </a:t>
            </a:r>
            <a:endParaRPr lang="en-US" sz="2000"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An entrepreneur always makes concerted efforts towards the successful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completion of a goal.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An </a:t>
            </a:r>
            <a:r>
              <a:rPr lang="en-US" sz="2000" dirty="0">
                <a:latin typeface="Times New Roman" panose="02020603050405020304" pitchFamily="18" charset="0"/>
                <a:cs typeface="Times New Roman" panose="02020603050405020304" pitchFamily="18" charset="0"/>
              </a:rPr>
              <a:t>entrepreneur perseveres and is undeterred by uncertainties, risks,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obstacles, or difficulties which could challenge the achievement of the ultimate goal </a:t>
            </a:r>
            <a:br>
              <a:rPr lang="en-US" sz="2000" dirty="0">
                <a:latin typeface="Times New Roman" panose="02020603050405020304" pitchFamily="18" charset="0"/>
                <a:cs typeface="Times New Roman" panose="02020603050405020304" pitchFamily="18" charset="0"/>
              </a:rPr>
            </a:br>
            <a:endParaRPr lang="en-US" sz="2000" dirty="0" smtClean="0">
              <a:solidFill>
                <a:srgbClr val="FF0000"/>
              </a:solidFill>
              <a:latin typeface="Times New Roman" panose="02020603050405020304" pitchFamily="18" charset="0"/>
              <a:cs typeface="Times New Roman" panose="02020603050405020304" pitchFamily="18" charset="0"/>
            </a:endParaRPr>
          </a:p>
          <a:p>
            <a:pPr marL="0" indent="0">
              <a:buNone/>
            </a:pPr>
            <a:endParaRPr lang="en-US" sz="2000" dirty="0" smtClean="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9499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36063"/>
          </a:xfrm>
        </p:spPr>
        <p:txBody>
          <a:bodyPr>
            <a:normAutofit/>
          </a:bodyPr>
          <a:lstStyle/>
          <a:p>
            <a:r>
              <a:rPr lang="en-US" sz="2400" dirty="0" smtClean="0">
                <a:solidFill>
                  <a:srgbClr val="FF0000"/>
                </a:solidFill>
                <a:latin typeface="Times New Roman" panose="02020603050405020304" pitchFamily="18" charset="0"/>
                <a:cs typeface="Times New Roman" panose="02020603050405020304" pitchFamily="18" charset="0"/>
              </a:rPr>
              <a:t>Continues…</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01189"/>
            <a:ext cx="10515600" cy="5643154"/>
          </a:xfrm>
        </p:spPr>
        <p:txBody>
          <a:bodyPr>
            <a:normAutofit/>
          </a:bodyPr>
          <a:lstStyle/>
          <a:p>
            <a:pPr marL="0" indent="0">
              <a:buNone/>
            </a:pPr>
            <a:r>
              <a:rPr lang="en-US" dirty="0" smtClean="0">
                <a:solidFill>
                  <a:srgbClr val="FF0000"/>
                </a:solidFill>
                <a:latin typeface="Times New Roman" panose="02020603050405020304" pitchFamily="18" charset="0"/>
                <a:cs typeface="Times New Roman" panose="02020603050405020304" pitchFamily="18" charset="0"/>
              </a:rPr>
              <a:t>3. Risk-taking</a:t>
            </a:r>
            <a:r>
              <a:rPr lang="en-US" dirty="0">
                <a:solidFill>
                  <a:srgbClr val="FF0000"/>
                </a:solidFill>
                <a:latin typeface="Times New Roman" panose="02020603050405020304" pitchFamily="18" charset="0"/>
                <a:cs typeface="Times New Roman" panose="02020603050405020304" pitchFamily="18" charset="0"/>
              </a:rPr>
              <a:t>, </a:t>
            </a:r>
            <a:endParaRPr lang="en-US"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Set their own objectives where there is moderate risk of failure and take calculated</a:t>
            </a:r>
          </a:p>
          <a:p>
            <a:pPr marL="0" indent="0">
              <a:buNone/>
            </a:pPr>
            <a:r>
              <a:rPr lang="en-US" dirty="0">
                <a:latin typeface="Times New Roman" panose="02020603050405020304" pitchFamily="18" charset="0"/>
                <a:cs typeface="Times New Roman" panose="02020603050405020304" pitchFamily="18" charset="0"/>
              </a:rPr>
              <a:t>risks</a:t>
            </a:r>
          </a:p>
          <a:p>
            <a:pPr marL="0" indent="0">
              <a:buNone/>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Gain satisfaction from completing a job well</a:t>
            </a:r>
          </a:p>
          <a:p>
            <a:pPr marL="0" indent="0">
              <a:buNone/>
            </a:pPr>
            <a:r>
              <a:rPr lang="en-US" sz="2400" dirty="0">
                <a:latin typeface="Times New Roman" panose="02020603050405020304" pitchFamily="18" charset="0"/>
                <a:cs typeface="Times New Roman" panose="02020603050405020304" pitchFamily="18" charset="0"/>
              </a:rPr>
              <a:t> Not be afraid of public opinion, skepticism</a:t>
            </a:r>
          </a:p>
          <a:p>
            <a:pPr marL="0" indent="0">
              <a:buNone/>
            </a:pPr>
            <a:r>
              <a:rPr lang="en-US" sz="2400" dirty="0">
                <a:latin typeface="Times New Roman" panose="02020603050405020304" pitchFamily="18" charset="0"/>
                <a:cs typeface="Times New Roman" panose="02020603050405020304" pitchFamily="18" charset="0"/>
              </a:rPr>
              <a:t> Take responsibility for their own actions</a:t>
            </a:r>
          </a:p>
          <a:p>
            <a:pPr marL="0" indent="0">
              <a:buNone/>
            </a:pPr>
            <a:r>
              <a:rPr lang="en-US" sz="2400" b="1" dirty="0"/>
              <a:t>Importance of </a:t>
            </a:r>
            <a:r>
              <a:rPr lang="en-US" sz="2400" b="1" dirty="0" smtClean="0"/>
              <a:t>Risk-taking</a:t>
            </a:r>
            <a:r>
              <a:rPr lang="en-US" sz="2400" b="1" dirty="0"/>
              <a:t/>
            </a:r>
            <a:br>
              <a:rPr lang="en-US" sz="2400" b="1" dirty="0"/>
            </a:br>
            <a:r>
              <a:rPr lang="en-US" sz="2400" dirty="0"/>
              <a:t> Build self confidence</a:t>
            </a:r>
            <a:br>
              <a:rPr lang="en-US" sz="2400" dirty="0"/>
            </a:br>
            <a:r>
              <a:rPr lang="en-US" sz="2400" dirty="0"/>
              <a:t> Create a feeling of leadership</a:t>
            </a:r>
            <a:br>
              <a:rPr lang="en-US" sz="2400" dirty="0"/>
            </a:br>
            <a:r>
              <a:rPr lang="en-US" sz="2400" dirty="0"/>
              <a:t> Create strong motivation to complete a job well </a:t>
            </a:r>
            <a:br>
              <a:rPr lang="en-US" sz="2400" dirty="0"/>
            </a:br>
            <a:endParaRPr lang="en-US" sz="2400" dirty="0"/>
          </a:p>
        </p:txBody>
      </p:sp>
    </p:spTree>
    <p:extLst>
      <p:ext uri="{BB962C8B-B14F-4D97-AF65-F5344CB8AC3E}">
        <p14:creationId xmlns:p14="http://schemas.microsoft.com/office/powerpoint/2010/main" val="42296341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r>
              <a:rPr lang="en-US" dirty="0" smtClean="0"/>
              <a:t>Continues….</a:t>
            </a:r>
            <a:endParaRPr lang="en-US" dirty="0"/>
          </a:p>
        </p:txBody>
      </p:sp>
      <p:sp>
        <p:nvSpPr>
          <p:cNvPr id="3" name="Content Placeholder 2"/>
          <p:cNvSpPr>
            <a:spLocks noGrp="1"/>
          </p:cNvSpPr>
          <p:nvPr>
            <p:ph idx="1"/>
          </p:nvPr>
        </p:nvSpPr>
        <p:spPr>
          <a:xfrm>
            <a:off x="339634" y="1105989"/>
            <a:ext cx="11014166" cy="5468982"/>
          </a:xfrm>
        </p:spPr>
        <p:txBody>
          <a:bodyPr>
            <a:normAutofit/>
          </a:bodyPr>
          <a:lstStyle/>
          <a:p>
            <a:pPr marL="0" indent="0">
              <a:buNone/>
            </a:pPr>
            <a:r>
              <a:rPr lang="en-US" dirty="0" smtClean="0">
                <a:solidFill>
                  <a:srgbClr val="FF0000"/>
                </a:solidFill>
              </a:rPr>
              <a:t>4. Demanding </a:t>
            </a:r>
            <a:r>
              <a:rPr lang="en-US" dirty="0">
                <a:solidFill>
                  <a:srgbClr val="FF0000"/>
                </a:solidFill>
              </a:rPr>
              <a:t>efficiency and quality, </a:t>
            </a:r>
            <a:endParaRPr lang="en-US" dirty="0" smtClean="0">
              <a:solidFill>
                <a:srgbClr val="FF0000"/>
              </a:solidFill>
            </a:endParaRPr>
          </a:p>
          <a:p>
            <a:r>
              <a:rPr lang="en-US" dirty="0"/>
              <a:t>Being efficient means producing results with little wasted effort</a:t>
            </a:r>
            <a:r>
              <a:rPr lang="en-US" dirty="0" smtClean="0"/>
              <a:t>.</a:t>
            </a:r>
          </a:p>
          <a:p>
            <a:pPr>
              <a:buFontTx/>
              <a:buChar char="-"/>
            </a:pPr>
            <a:r>
              <a:rPr lang="en-US" dirty="0" smtClean="0"/>
              <a:t>Reduction </a:t>
            </a:r>
            <a:r>
              <a:rPr lang="en-US" dirty="0"/>
              <a:t>of </a:t>
            </a:r>
            <a:r>
              <a:rPr lang="en-US" dirty="0" smtClean="0"/>
              <a:t>waste, </a:t>
            </a:r>
          </a:p>
          <a:p>
            <a:pPr>
              <a:buFontTx/>
              <a:buChar char="-"/>
            </a:pPr>
            <a:r>
              <a:rPr lang="en-US" dirty="0" smtClean="0"/>
              <a:t>Cost-effectiveness.</a:t>
            </a:r>
          </a:p>
          <a:p>
            <a:pPr>
              <a:buFontTx/>
              <a:buChar char="-"/>
            </a:pPr>
            <a:r>
              <a:rPr lang="en-US" dirty="0" smtClean="0"/>
              <a:t> An </a:t>
            </a:r>
            <a:r>
              <a:rPr lang="en-US" dirty="0"/>
              <a:t>increase in market </a:t>
            </a:r>
            <a:r>
              <a:rPr lang="en-US" dirty="0" smtClean="0"/>
              <a:t>share</a:t>
            </a:r>
          </a:p>
          <a:p>
            <a:pPr>
              <a:buFontTx/>
              <a:buChar char="-"/>
            </a:pPr>
            <a:r>
              <a:rPr lang="en-US" dirty="0"/>
              <a:t>Better </a:t>
            </a:r>
            <a:r>
              <a:rPr lang="en-US" dirty="0" smtClean="0"/>
              <a:t>profitability, </a:t>
            </a:r>
          </a:p>
          <a:p>
            <a:pPr>
              <a:buFontTx/>
              <a:buChar char="-"/>
            </a:pPr>
            <a:r>
              <a:rPr lang="en-US" dirty="0" smtClean="0"/>
              <a:t>Social responsibility</a:t>
            </a:r>
          </a:p>
          <a:p>
            <a:pPr>
              <a:buFontTx/>
              <a:buChar char="-"/>
            </a:pPr>
            <a:r>
              <a:rPr lang="en-US" dirty="0"/>
              <a:t>- Reputation</a:t>
            </a:r>
          </a:p>
          <a:p>
            <a:endParaRPr lang="en-US" dirty="0"/>
          </a:p>
        </p:txBody>
      </p:sp>
    </p:spTree>
    <p:extLst>
      <p:ext uri="{BB962C8B-B14F-4D97-AF65-F5344CB8AC3E}">
        <p14:creationId xmlns:p14="http://schemas.microsoft.com/office/powerpoint/2010/main" val="3461605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068"/>
          </a:xfrm>
        </p:spPr>
        <p:txBody>
          <a:bodyPr>
            <a:normAutofit fontScale="90000"/>
          </a:bodyPr>
          <a:lstStyle/>
          <a:p>
            <a:r>
              <a:rPr lang="en-US" dirty="0" smtClean="0"/>
              <a:t>Continues…</a:t>
            </a:r>
            <a:endParaRPr lang="en-US" dirty="0"/>
          </a:p>
        </p:txBody>
      </p:sp>
      <p:sp>
        <p:nvSpPr>
          <p:cNvPr id="3" name="Content Placeholder 2"/>
          <p:cNvSpPr>
            <a:spLocks noGrp="1"/>
          </p:cNvSpPr>
          <p:nvPr>
            <p:ph idx="1"/>
          </p:nvPr>
        </p:nvSpPr>
        <p:spPr>
          <a:xfrm>
            <a:off x="838200" y="1201783"/>
            <a:ext cx="10515600" cy="4975180"/>
          </a:xfrm>
        </p:spPr>
        <p:txBody>
          <a:bodyPr>
            <a:normAutofit/>
          </a:bodyPr>
          <a:lstStyle/>
          <a:p>
            <a:pPr marL="0" indent="0">
              <a:buNone/>
            </a:pPr>
            <a:r>
              <a:rPr lang="en-US" dirty="0" smtClean="0">
                <a:solidFill>
                  <a:srgbClr val="FF0000"/>
                </a:solidFill>
              </a:rPr>
              <a:t>5. Information-seeking</a:t>
            </a:r>
            <a:r>
              <a:rPr lang="en-US" dirty="0">
                <a:solidFill>
                  <a:srgbClr val="FF0000"/>
                </a:solidFill>
              </a:rPr>
              <a:t>, </a:t>
            </a:r>
            <a:endParaRPr lang="en-US" dirty="0" smtClean="0">
              <a:solidFill>
                <a:srgbClr val="FF0000"/>
              </a:solidFill>
            </a:endParaRPr>
          </a:p>
          <a:p>
            <a:r>
              <a:rPr lang="en-US" dirty="0"/>
              <a:t>Successful entrepreneurs do not rely on </a:t>
            </a:r>
            <a:r>
              <a:rPr lang="en-US" dirty="0">
                <a:solidFill>
                  <a:srgbClr val="FF0000"/>
                </a:solidFill>
              </a:rPr>
              <a:t>guesswork</a:t>
            </a:r>
            <a:r>
              <a:rPr lang="en-US" dirty="0"/>
              <a:t> and do not rely on </a:t>
            </a:r>
            <a:r>
              <a:rPr lang="en-US" dirty="0">
                <a:solidFill>
                  <a:srgbClr val="0070C0"/>
                </a:solidFill>
              </a:rPr>
              <a:t>others for information</a:t>
            </a:r>
            <a:r>
              <a:rPr lang="en-US" dirty="0"/>
              <a:t>.</a:t>
            </a:r>
          </a:p>
          <a:p>
            <a:r>
              <a:rPr lang="en-US" dirty="0"/>
              <a:t>Instead, they </a:t>
            </a:r>
            <a:r>
              <a:rPr lang="en-US" dirty="0">
                <a:solidFill>
                  <a:srgbClr val="0070C0"/>
                </a:solidFill>
              </a:rPr>
              <a:t>spend time collecting information about their customers</a:t>
            </a:r>
            <a:r>
              <a:rPr lang="en-US" dirty="0"/>
              <a:t>, </a:t>
            </a:r>
            <a:r>
              <a:rPr lang="en-US" dirty="0">
                <a:solidFill>
                  <a:srgbClr val="00B050"/>
                </a:solidFill>
              </a:rPr>
              <a:t>competitors, suppliers, relevant technology and markets</a:t>
            </a:r>
            <a:r>
              <a:rPr lang="en-US" dirty="0"/>
              <a:t>.</a:t>
            </a:r>
          </a:p>
          <a:p>
            <a:r>
              <a:rPr lang="en-US" dirty="0"/>
              <a:t>Gathering relevant information is important to ensure that the entrepreneur </a:t>
            </a:r>
            <a:r>
              <a:rPr lang="en-US" dirty="0">
                <a:solidFill>
                  <a:srgbClr val="00B050"/>
                </a:solidFill>
              </a:rPr>
              <a:t>makes well informed decisions</a:t>
            </a:r>
            <a:r>
              <a:rPr lang="en-US" dirty="0"/>
              <a:t>.</a:t>
            </a:r>
          </a:p>
          <a:p>
            <a:r>
              <a:rPr lang="en-US" dirty="0"/>
              <a:t>Information on the area of market, supply, operations, finance, legislation, and infrastructure are important for entrepreneurs</a:t>
            </a:r>
          </a:p>
          <a:p>
            <a:endParaRPr lang="en-US" dirty="0"/>
          </a:p>
        </p:txBody>
      </p:sp>
    </p:spTree>
    <p:extLst>
      <p:ext uri="{BB962C8B-B14F-4D97-AF65-F5344CB8AC3E}">
        <p14:creationId xmlns:p14="http://schemas.microsoft.com/office/powerpoint/2010/main" val="2190035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7355"/>
          </a:xfrm>
        </p:spPr>
        <p:txBody>
          <a:bodyPr>
            <a:normAutofit fontScale="90000"/>
          </a:bodyPr>
          <a:lstStyle/>
          <a:p>
            <a:r>
              <a:rPr lang="en-US" dirty="0" smtClean="0"/>
              <a:t>Continues… </a:t>
            </a:r>
            <a:endParaRPr lang="en-US" dirty="0"/>
          </a:p>
        </p:txBody>
      </p:sp>
      <p:sp>
        <p:nvSpPr>
          <p:cNvPr id="3" name="Content Placeholder 2"/>
          <p:cNvSpPr>
            <a:spLocks noGrp="1"/>
          </p:cNvSpPr>
          <p:nvPr>
            <p:ph idx="1"/>
          </p:nvPr>
        </p:nvSpPr>
        <p:spPr>
          <a:xfrm>
            <a:off x="452846" y="1236616"/>
            <a:ext cx="10900954" cy="5312229"/>
          </a:xfrm>
        </p:spPr>
        <p:txBody>
          <a:bodyPr>
            <a:normAutofit fontScale="77500" lnSpcReduction="20000"/>
          </a:bodyPr>
          <a:lstStyle/>
          <a:p>
            <a:pPr marL="0" indent="0">
              <a:buNone/>
            </a:pPr>
            <a:r>
              <a:rPr lang="en-US" dirty="0" smtClean="0">
                <a:solidFill>
                  <a:srgbClr val="FF0000"/>
                </a:solidFill>
              </a:rPr>
              <a:t>6. Goal-setting </a:t>
            </a:r>
          </a:p>
          <a:p>
            <a:r>
              <a:rPr lang="en-US" dirty="0"/>
              <a:t>A Goal - is a general direction, </a:t>
            </a:r>
            <a:r>
              <a:rPr lang="en-US" dirty="0">
                <a:solidFill>
                  <a:srgbClr val="00B050"/>
                </a:solidFill>
              </a:rPr>
              <a:t>or long-term </a:t>
            </a:r>
            <a:r>
              <a:rPr lang="en-US" dirty="0"/>
              <a:t>aim that you want to </a:t>
            </a:r>
            <a:r>
              <a:rPr lang="en-US" dirty="0" smtClean="0"/>
              <a:t>accomplish.</a:t>
            </a:r>
          </a:p>
          <a:p>
            <a:r>
              <a:rPr lang="en-US" dirty="0" smtClean="0"/>
              <a:t>It </a:t>
            </a:r>
            <a:r>
              <a:rPr lang="en-US" dirty="0"/>
              <a:t>is not specific enough to be </a:t>
            </a:r>
            <a:r>
              <a:rPr lang="en-US" dirty="0" smtClean="0"/>
              <a:t>measured.</a:t>
            </a:r>
          </a:p>
          <a:p>
            <a:r>
              <a:rPr lang="en-US" dirty="0" smtClean="0"/>
              <a:t>It </a:t>
            </a:r>
            <a:r>
              <a:rPr lang="en-US" dirty="0"/>
              <a:t>is </a:t>
            </a:r>
            <a:r>
              <a:rPr lang="en-US" dirty="0">
                <a:solidFill>
                  <a:srgbClr val="00B050"/>
                </a:solidFill>
              </a:rPr>
              <a:t>large in scope</a:t>
            </a:r>
            <a:r>
              <a:rPr lang="en-US" dirty="0"/>
              <a:t>, </a:t>
            </a:r>
            <a:r>
              <a:rPr lang="en-US" dirty="0">
                <a:solidFill>
                  <a:srgbClr val="00B050"/>
                </a:solidFill>
              </a:rPr>
              <a:t>not necessarily time-bound</a:t>
            </a:r>
            <a:r>
              <a:rPr lang="en-US" dirty="0"/>
              <a:t>, and is something that people strive for by meeting certain objectives which will hopefully add up to eventually achieving the goal</a:t>
            </a:r>
            <a:r>
              <a:rPr lang="en-US" dirty="0" smtClean="0"/>
              <a:t>.</a:t>
            </a:r>
          </a:p>
          <a:p>
            <a:r>
              <a:rPr lang="en-US" dirty="0"/>
              <a:t>An entrepreneur must have a goal and an objective which is specific, measurable, attainable</a:t>
            </a:r>
          </a:p>
          <a:p>
            <a:r>
              <a:rPr lang="en-US" dirty="0"/>
              <a:t> </a:t>
            </a:r>
            <a:r>
              <a:rPr lang="en-US" dirty="0" smtClean="0"/>
              <a:t>Relevant</a:t>
            </a:r>
            <a:r>
              <a:rPr lang="en-US" dirty="0"/>
              <a:t>, and time bound (SMART).</a:t>
            </a:r>
          </a:p>
          <a:p>
            <a:pPr marL="0" indent="0">
              <a:buNone/>
            </a:pPr>
            <a:r>
              <a:rPr lang="en-US" dirty="0" smtClean="0">
                <a:solidFill>
                  <a:srgbClr val="FF0000"/>
                </a:solidFill>
              </a:rPr>
              <a:t>7. Planning</a:t>
            </a:r>
            <a:endParaRPr lang="en-US" dirty="0"/>
          </a:p>
          <a:p>
            <a:pPr marL="0" indent="0">
              <a:buNone/>
            </a:pPr>
            <a:r>
              <a:rPr lang="en-US" dirty="0" smtClean="0">
                <a:solidFill>
                  <a:srgbClr val="FF0000"/>
                </a:solidFill>
              </a:rPr>
              <a:t>8. Persuasion </a:t>
            </a:r>
            <a:r>
              <a:rPr lang="en-US" dirty="0">
                <a:solidFill>
                  <a:srgbClr val="FF0000"/>
                </a:solidFill>
              </a:rPr>
              <a:t>and networking</a:t>
            </a:r>
            <a:r>
              <a:rPr lang="en-US" dirty="0"/>
              <a:t>, </a:t>
            </a:r>
            <a:r>
              <a:rPr lang="en-US" dirty="0" smtClean="0"/>
              <a:t>( influencer)</a:t>
            </a:r>
          </a:p>
          <a:p>
            <a:r>
              <a:rPr lang="en-US" dirty="0"/>
              <a:t>Persuasion</a:t>
            </a:r>
            <a:r>
              <a:rPr lang="en-US" b="1" dirty="0"/>
              <a:t> </a:t>
            </a:r>
            <a:r>
              <a:rPr lang="en-US" dirty="0"/>
              <a:t>is a way of convincing someone to get something or make a decision in your </a:t>
            </a:r>
            <a:r>
              <a:rPr lang="en-US" dirty="0" smtClean="0"/>
              <a:t>favor.</a:t>
            </a:r>
          </a:p>
          <a:p>
            <a:r>
              <a:rPr lang="en-US" dirty="0" smtClean="0"/>
              <a:t>It </a:t>
            </a:r>
            <a:r>
              <a:rPr lang="en-US" dirty="0"/>
              <a:t>is inducing or taking a course of action or embracing a point of view by means of </a:t>
            </a:r>
            <a:r>
              <a:rPr lang="en-US" dirty="0" smtClean="0"/>
              <a:t>argument, reasoning</a:t>
            </a:r>
            <a:r>
              <a:rPr lang="en-US" dirty="0"/>
              <a:t>, or entreaty; to convince; to succeed in causing a person to do or consent to </a:t>
            </a:r>
            <a:r>
              <a:rPr lang="en-US" dirty="0" smtClean="0"/>
              <a:t>something; to </a:t>
            </a:r>
            <a:r>
              <a:rPr lang="en-US" dirty="0"/>
              <a:t>win someone over, as by reasoning or personal forcefulness; to cause to believe; to </a:t>
            </a:r>
            <a:r>
              <a:rPr lang="en-US" dirty="0" smtClean="0"/>
              <a:t>induce, urge</a:t>
            </a:r>
            <a:r>
              <a:rPr lang="en-US" dirty="0"/>
              <a:t>, or prevail upon successfully </a:t>
            </a:r>
            <a:endParaRPr lang="en-US" dirty="0" smtClean="0"/>
          </a:p>
          <a:p>
            <a:pPr marL="0" indent="0">
              <a:buNone/>
            </a:pPr>
            <a:endParaRPr lang="en-US" dirty="0"/>
          </a:p>
        </p:txBody>
      </p:sp>
    </p:spTree>
    <p:extLst>
      <p:ext uri="{BB962C8B-B14F-4D97-AF65-F5344CB8AC3E}">
        <p14:creationId xmlns:p14="http://schemas.microsoft.com/office/powerpoint/2010/main" val="18637914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09937"/>
          </a:xfrm>
        </p:spPr>
        <p:txBody>
          <a:bodyPr>
            <a:normAutofit fontScale="90000"/>
          </a:bodyPr>
          <a:lstStyle/>
          <a:p>
            <a:r>
              <a:rPr lang="en-US" dirty="0" smtClean="0"/>
              <a:t>Continues…</a:t>
            </a:r>
            <a:endParaRPr lang="en-US" dirty="0"/>
          </a:p>
        </p:txBody>
      </p:sp>
      <p:sp>
        <p:nvSpPr>
          <p:cNvPr id="3" name="Content Placeholder 2"/>
          <p:cNvSpPr>
            <a:spLocks noGrp="1"/>
          </p:cNvSpPr>
          <p:nvPr>
            <p:ph idx="1"/>
          </p:nvPr>
        </p:nvSpPr>
        <p:spPr>
          <a:xfrm>
            <a:off x="287383" y="775063"/>
            <a:ext cx="11066417" cy="5738947"/>
          </a:xfrm>
        </p:spPr>
        <p:txBody>
          <a:bodyPr>
            <a:normAutofit lnSpcReduction="10000"/>
          </a:bodyPr>
          <a:lstStyle/>
          <a:p>
            <a:pPr marL="0" indent="0">
              <a:buNone/>
            </a:pPr>
            <a:endParaRPr lang="en-US" b="1" dirty="0" smtClean="0"/>
          </a:p>
          <a:p>
            <a:pPr marL="0" indent="0">
              <a:buNone/>
            </a:pPr>
            <a:r>
              <a:rPr lang="en-US" dirty="0" smtClean="0"/>
              <a:t> </a:t>
            </a:r>
            <a:r>
              <a:rPr lang="en-US" b="1" dirty="0"/>
              <a:t>Importance of Persuasion in Business</a:t>
            </a:r>
            <a:br>
              <a:rPr lang="en-US" b="1" dirty="0"/>
            </a:br>
            <a:r>
              <a:rPr lang="en-US" dirty="0"/>
              <a:t> We purchase goods from people</a:t>
            </a:r>
            <a:br>
              <a:rPr lang="en-US" dirty="0"/>
            </a:br>
            <a:r>
              <a:rPr lang="en-US" dirty="0"/>
              <a:t> We sell goods to people</a:t>
            </a:r>
            <a:br>
              <a:rPr lang="en-US" dirty="0"/>
            </a:br>
            <a:r>
              <a:rPr lang="en-US" dirty="0"/>
              <a:t> We need support from people</a:t>
            </a:r>
            <a:br>
              <a:rPr lang="en-US" dirty="0"/>
            </a:br>
            <a:r>
              <a:rPr lang="en-US" dirty="0"/>
              <a:t> We work with people. </a:t>
            </a:r>
            <a:endParaRPr lang="en-US" b="1" dirty="0"/>
          </a:p>
          <a:p>
            <a:r>
              <a:rPr lang="en-US" b="1" dirty="0" smtClean="0"/>
              <a:t>Factors </a:t>
            </a:r>
            <a:r>
              <a:rPr lang="en-US" b="1" dirty="0"/>
              <a:t>that Affect Persuasion and Networking</a:t>
            </a:r>
            <a:br>
              <a:rPr lang="en-US" b="1" dirty="0"/>
            </a:br>
            <a:r>
              <a:rPr lang="en-US" dirty="0"/>
              <a:t> Socio-cultural background and perceptions</a:t>
            </a:r>
            <a:br>
              <a:rPr lang="en-US" dirty="0"/>
            </a:br>
            <a:r>
              <a:rPr lang="en-US" dirty="0"/>
              <a:t> Communication skills (both verbal and non-verbal).</a:t>
            </a:r>
            <a:br>
              <a:rPr lang="en-US" dirty="0"/>
            </a:br>
            <a:r>
              <a:rPr lang="en-US" dirty="0"/>
              <a:t> Negotiation skills </a:t>
            </a:r>
            <a:endParaRPr lang="en-US" dirty="0" smtClean="0"/>
          </a:p>
          <a:p>
            <a:pPr marL="0" indent="0">
              <a:buNone/>
            </a:pPr>
            <a:r>
              <a:rPr lang="en-US" dirty="0" smtClean="0">
                <a:solidFill>
                  <a:srgbClr val="FF0000"/>
                </a:solidFill>
              </a:rPr>
              <a:t>9. Building </a:t>
            </a:r>
            <a:r>
              <a:rPr lang="en-US" dirty="0">
                <a:solidFill>
                  <a:srgbClr val="FF0000"/>
                </a:solidFill>
              </a:rPr>
              <a:t>self-confidence,</a:t>
            </a:r>
          </a:p>
          <a:p>
            <a:pPr marL="0" indent="0">
              <a:buNone/>
            </a:pPr>
            <a:r>
              <a:rPr lang="en-US" dirty="0"/>
              <a:t> </a:t>
            </a:r>
            <a:r>
              <a:rPr lang="en-US" dirty="0" smtClean="0"/>
              <a:t>10. </a:t>
            </a:r>
            <a:r>
              <a:rPr lang="en-US" dirty="0" smtClean="0">
                <a:solidFill>
                  <a:srgbClr val="FF0000"/>
                </a:solidFill>
              </a:rPr>
              <a:t>listening </a:t>
            </a:r>
            <a:r>
              <a:rPr lang="en-US" dirty="0">
                <a:solidFill>
                  <a:srgbClr val="FF0000"/>
                </a:solidFill>
              </a:rPr>
              <a:t>to others,</a:t>
            </a:r>
          </a:p>
          <a:p>
            <a:pPr marL="0" indent="0">
              <a:buNone/>
            </a:pPr>
            <a:r>
              <a:rPr lang="en-US" dirty="0"/>
              <a:t/>
            </a:r>
            <a:br>
              <a:rPr lang="en-US" dirty="0"/>
            </a:br>
            <a:endParaRPr lang="en-US" dirty="0"/>
          </a:p>
        </p:txBody>
      </p:sp>
    </p:spTree>
    <p:extLst>
      <p:ext uri="{BB962C8B-B14F-4D97-AF65-F5344CB8AC3E}">
        <p14:creationId xmlns:p14="http://schemas.microsoft.com/office/powerpoint/2010/main" val="16245116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2521"/>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478971" y="966651"/>
            <a:ext cx="10874829" cy="5721532"/>
          </a:xfrm>
        </p:spPr>
        <p:txBody>
          <a:bodyPr>
            <a:normAutofit fontScale="70000" lnSpcReduction="20000"/>
          </a:bodyPr>
          <a:lstStyle/>
          <a:p>
            <a:pPr marL="0" indent="0">
              <a:buNone/>
            </a:pPr>
            <a:r>
              <a:rPr lang="en-US" sz="3400" dirty="0" smtClean="0">
                <a:solidFill>
                  <a:srgbClr val="FF0000"/>
                </a:solidFill>
              </a:rPr>
              <a:t>11. Demonstrating </a:t>
            </a:r>
            <a:r>
              <a:rPr lang="en-US" sz="3400" dirty="0">
                <a:solidFill>
                  <a:srgbClr val="FF0000"/>
                </a:solidFill>
              </a:rPr>
              <a:t>leadership</a:t>
            </a:r>
            <a:r>
              <a:rPr lang="en-US" sz="3400" dirty="0" smtClean="0">
                <a:solidFill>
                  <a:srgbClr val="FF0000"/>
                </a:solidFill>
              </a:rPr>
              <a:t>.</a:t>
            </a:r>
          </a:p>
          <a:p>
            <a:pPr marL="0" indent="0">
              <a:buNone/>
            </a:pPr>
            <a:r>
              <a:rPr lang="en-US" sz="2400" dirty="0"/>
              <a:t>An entrepreneur does not only do things by him/herself, </a:t>
            </a:r>
            <a:r>
              <a:rPr lang="en-US" sz="2400" dirty="0" smtClean="0"/>
              <a:t>but also </a:t>
            </a:r>
            <a:r>
              <a:rPr lang="en-US" sz="2400" dirty="0"/>
              <a:t>gets things done through others. Entrepreneurs inspire, encourage and lead others </a:t>
            </a:r>
            <a:r>
              <a:rPr lang="en-US" sz="2400" dirty="0" smtClean="0"/>
              <a:t>to undertake </a:t>
            </a:r>
            <a:r>
              <a:rPr lang="en-US" sz="2400" dirty="0"/>
              <a:t>the given duties in time </a:t>
            </a:r>
            <a:endParaRPr lang="en-US" sz="2400" dirty="0">
              <a:solidFill>
                <a:srgbClr val="FF0000"/>
              </a:solidFill>
            </a:endParaRPr>
          </a:p>
          <a:p>
            <a:pPr marL="0" indent="0">
              <a:buNone/>
            </a:pPr>
            <a:r>
              <a:rPr lang="en-US" b="1" dirty="0" smtClean="0">
                <a:solidFill>
                  <a:schemeClr val="accent1"/>
                </a:solidFill>
              </a:rPr>
              <a:t>Entrepreneurial Skills</a:t>
            </a:r>
          </a:p>
          <a:p>
            <a:pPr>
              <a:buFontTx/>
              <a:buChar char="-"/>
            </a:pPr>
            <a:r>
              <a:rPr lang="en-US" dirty="0"/>
              <a:t>A skill is simply knowledge which is demonstrated by action.</a:t>
            </a:r>
          </a:p>
          <a:p>
            <a:pPr>
              <a:buFontTx/>
              <a:buChar char="-"/>
            </a:pPr>
            <a:r>
              <a:rPr lang="en-US" dirty="0"/>
              <a:t>It is an ability to perform in a certain way.</a:t>
            </a:r>
          </a:p>
          <a:p>
            <a:pPr>
              <a:buFontTx/>
              <a:buChar char="-"/>
            </a:pPr>
            <a:r>
              <a:rPr lang="en-US" dirty="0"/>
              <a:t>An entrepreneur is someone who has a good business idea and can turn that idea into reality.</a:t>
            </a:r>
          </a:p>
          <a:p>
            <a:pPr>
              <a:buFontTx/>
              <a:buChar char="-"/>
            </a:pPr>
            <a:r>
              <a:rPr lang="en-US" dirty="0"/>
              <a:t>To be successful, an entrepreneur must not only identify an opportunity but also understand it in great depth.</a:t>
            </a:r>
          </a:p>
          <a:p>
            <a:pPr>
              <a:buFontTx/>
              <a:buChar char="-"/>
            </a:pPr>
            <a:r>
              <a:rPr lang="en-US" dirty="0"/>
              <a:t>He or she must be able to spot a gap in the market and recognize what new products or services fill the gap.</a:t>
            </a:r>
          </a:p>
          <a:p>
            <a:pPr>
              <a:buFontTx/>
              <a:buChar char="-"/>
            </a:pPr>
            <a:r>
              <a:rPr lang="en-US" dirty="0"/>
              <a:t>He or she must know what features it will have and why they will appeal to the customer.</a:t>
            </a:r>
          </a:p>
          <a:p>
            <a:pPr>
              <a:buFontTx/>
              <a:buChar char="-"/>
            </a:pPr>
            <a:r>
              <a:rPr lang="en-US" dirty="0"/>
              <a:t>The entrepreneur must also know how to inform the customer about it and how to deliver the new offerings.</a:t>
            </a:r>
          </a:p>
          <a:p>
            <a:pPr>
              <a:buFontTx/>
              <a:buChar char="-"/>
            </a:pPr>
            <a:r>
              <a:rPr lang="en-US" dirty="0"/>
              <a:t>All this calls for an intimate knowledge of a particular sector of industry.</a:t>
            </a:r>
          </a:p>
          <a:p>
            <a:pPr>
              <a:buFontTx/>
              <a:buChar char="-"/>
            </a:pPr>
            <a:r>
              <a:rPr lang="en-US" dirty="0"/>
              <a:t>Turning an idea into reality calls upon two sorts of skills, these are</a:t>
            </a:r>
            <a:r>
              <a:rPr lang="en-US" dirty="0" smtClean="0"/>
              <a:t>:</a:t>
            </a:r>
          </a:p>
          <a:p>
            <a:pPr>
              <a:buFontTx/>
              <a:buChar char="-"/>
            </a:pPr>
            <a:r>
              <a:rPr lang="en-US" b="1" dirty="0" smtClean="0">
                <a:solidFill>
                  <a:schemeClr val="accent1"/>
                </a:solidFill>
              </a:rPr>
              <a:t>I</a:t>
            </a:r>
            <a:r>
              <a:rPr lang="en-US" b="1" dirty="0">
                <a:solidFill>
                  <a:schemeClr val="accent1"/>
                </a:solidFill>
              </a:rPr>
              <a:t>. General management skills </a:t>
            </a:r>
            <a:r>
              <a:rPr lang="en-US" b="1" dirty="0" smtClean="0">
                <a:solidFill>
                  <a:schemeClr val="accent1"/>
                </a:solidFill>
              </a:rPr>
              <a:t>and</a:t>
            </a:r>
          </a:p>
          <a:p>
            <a:pPr>
              <a:buFontTx/>
              <a:buChar char="-"/>
            </a:pPr>
            <a:r>
              <a:rPr lang="en-US" b="1" dirty="0" smtClean="0">
                <a:solidFill>
                  <a:schemeClr val="accent1"/>
                </a:solidFill>
              </a:rPr>
              <a:t>II. People </a:t>
            </a:r>
            <a:r>
              <a:rPr lang="en-US" b="1" dirty="0">
                <a:solidFill>
                  <a:schemeClr val="accent1"/>
                </a:solidFill>
              </a:rPr>
              <a:t>management skills</a:t>
            </a:r>
          </a:p>
        </p:txBody>
      </p:sp>
    </p:spTree>
    <p:extLst>
      <p:ext uri="{BB962C8B-B14F-4D97-AF65-F5344CB8AC3E}">
        <p14:creationId xmlns:p14="http://schemas.microsoft.com/office/powerpoint/2010/main" val="12401155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57686"/>
          </a:xfrm>
        </p:spPr>
        <p:txBody>
          <a:bodyPr>
            <a:normAutofit fontScale="90000"/>
          </a:bodyPr>
          <a:lstStyle/>
          <a:p>
            <a:r>
              <a:rPr lang="en-US" dirty="0"/>
              <a:t>Continues…</a:t>
            </a:r>
          </a:p>
        </p:txBody>
      </p:sp>
      <p:sp>
        <p:nvSpPr>
          <p:cNvPr id="3" name="Content Placeholder 2"/>
          <p:cNvSpPr>
            <a:spLocks noGrp="1"/>
          </p:cNvSpPr>
          <p:nvPr>
            <p:ph idx="1"/>
          </p:nvPr>
        </p:nvSpPr>
        <p:spPr>
          <a:xfrm>
            <a:off x="838200" y="1071154"/>
            <a:ext cx="10515600" cy="5451566"/>
          </a:xfrm>
        </p:spPr>
        <p:txBody>
          <a:bodyPr>
            <a:normAutofit fontScale="92500" lnSpcReduction="20000"/>
          </a:bodyPr>
          <a:lstStyle/>
          <a:p>
            <a:pPr marL="0" indent="0">
              <a:buNone/>
            </a:pPr>
            <a:r>
              <a:rPr lang="en-US" b="1" dirty="0"/>
              <a:t>General Management Skills</a:t>
            </a:r>
            <a:r>
              <a:rPr lang="en-US" dirty="0"/>
              <a:t>: </a:t>
            </a:r>
            <a:endParaRPr lang="en-US" dirty="0" smtClean="0"/>
          </a:p>
          <a:p>
            <a:pPr marL="0" indent="0">
              <a:buNone/>
            </a:pPr>
            <a:r>
              <a:rPr lang="en-US" dirty="0" smtClean="0"/>
              <a:t>These </a:t>
            </a:r>
            <a:r>
              <a:rPr lang="en-US" dirty="0"/>
              <a:t>are skills required to organize the physical and </a:t>
            </a:r>
            <a:r>
              <a:rPr lang="en-US" dirty="0" smtClean="0"/>
              <a:t>financial resources </a:t>
            </a:r>
            <a:r>
              <a:rPr lang="en-US" dirty="0"/>
              <a:t>needed to run the </a:t>
            </a:r>
            <a:r>
              <a:rPr lang="en-US" dirty="0" smtClean="0"/>
              <a:t>venture. </a:t>
            </a:r>
          </a:p>
          <a:p>
            <a:pPr marL="0" indent="0">
              <a:buNone/>
            </a:pPr>
            <a:r>
              <a:rPr lang="en-US" dirty="0" smtClean="0"/>
              <a:t>Some </a:t>
            </a:r>
            <a:r>
              <a:rPr lang="en-US" dirty="0"/>
              <a:t>of the most important general </a:t>
            </a:r>
            <a:r>
              <a:rPr lang="en-US" dirty="0" smtClean="0"/>
              <a:t>management  </a:t>
            </a:r>
            <a:r>
              <a:rPr lang="en-US" dirty="0"/>
              <a:t>business skills are:</a:t>
            </a:r>
          </a:p>
          <a:p>
            <a:pPr marL="0" indent="0">
              <a:buNone/>
            </a:pPr>
            <a:r>
              <a:rPr lang="en-US" dirty="0" smtClean="0">
                <a:solidFill>
                  <a:srgbClr val="FF0000"/>
                </a:solidFill>
              </a:rPr>
              <a:t>Strategy </a:t>
            </a:r>
            <a:r>
              <a:rPr lang="en-US" dirty="0">
                <a:solidFill>
                  <a:srgbClr val="FF0000"/>
                </a:solidFill>
              </a:rPr>
              <a:t>Skills </a:t>
            </a:r>
            <a:r>
              <a:rPr lang="en-US" dirty="0"/>
              <a:t>– An ability to consider the business as a whole, to understand how </a:t>
            </a:r>
            <a:r>
              <a:rPr lang="en-US" dirty="0" smtClean="0"/>
              <a:t>it  </a:t>
            </a:r>
            <a:r>
              <a:rPr lang="en-US" dirty="0"/>
              <a:t>fits within its market place, how it can organize itself to deliver value to </a:t>
            </a:r>
            <a:r>
              <a:rPr lang="en-US" dirty="0" smtClean="0"/>
              <a:t>its customers</a:t>
            </a:r>
            <a:r>
              <a:rPr lang="en-US" dirty="0"/>
              <a:t>, and the ways in which it does this better than its competitors</a:t>
            </a:r>
            <a:r>
              <a:rPr lang="en-US" dirty="0" smtClean="0"/>
              <a:t>.</a:t>
            </a:r>
            <a:endParaRPr lang="en-US" dirty="0"/>
          </a:p>
          <a:p>
            <a:pPr marL="0" indent="0">
              <a:buNone/>
            </a:pPr>
            <a:r>
              <a:rPr lang="en-US" dirty="0" smtClean="0"/>
              <a:t> </a:t>
            </a:r>
            <a:r>
              <a:rPr lang="en-US" dirty="0">
                <a:solidFill>
                  <a:srgbClr val="FF0000"/>
                </a:solidFill>
              </a:rPr>
              <a:t>Planning Skills </a:t>
            </a:r>
            <a:r>
              <a:rPr lang="en-US" dirty="0"/>
              <a:t>– An ability to consider what the future might offer, how it </a:t>
            </a:r>
            <a:r>
              <a:rPr lang="en-US" dirty="0" smtClean="0"/>
              <a:t>will impact </a:t>
            </a:r>
            <a:r>
              <a:rPr lang="en-US" dirty="0"/>
              <a:t>on the business and what needs to be done to prepare for it now.</a:t>
            </a:r>
          </a:p>
          <a:p>
            <a:pPr marL="0" indent="0">
              <a:buNone/>
            </a:pPr>
            <a:r>
              <a:rPr lang="en-US" dirty="0" smtClean="0">
                <a:solidFill>
                  <a:srgbClr val="FF0000"/>
                </a:solidFill>
              </a:rPr>
              <a:t>Marketing </a:t>
            </a:r>
            <a:r>
              <a:rPr lang="en-US" dirty="0">
                <a:solidFill>
                  <a:srgbClr val="FF0000"/>
                </a:solidFill>
              </a:rPr>
              <a:t>Skills </a:t>
            </a:r>
            <a:r>
              <a:rPr lang="en-US" dirty="0"/>
              <a:t>– An ability to see past the firm's offerings and their features, to </a:t>
            </a:r>
            <a:r>
              <a:rPr lang="en-US" dirty="0" smtClean="0"/>
              <a:t>be able </a:t>
            </a:r>
            <a:r>
              <a:rPr lang="en-US" dirty="0"/>
              <a:t>to see how they satisfy the customer's needs and why the customer finds </a:t>
            </a:r>
            <a:r>
              <a:rPr lang="en-US" dirty="0" smtClean="0"/>
              <a:t>them attractive.</a:t>
            </a:r>
            <a:endParaRPr lang="en-US" dirty="0"/>
          </a:p>
          <a:p>
            <a:pPr marL="0" indent="0">
              <a:buNone/>
            </a:pPr>
            <a:r>
              <a:rPr lang="en-US" dirty="0" smtClean="0">
                <a:solidFill>
                  <a:srgbClr val="FF0000"/>
                </a:solidFill>
              </a:rPr>
              <a:t>Financial </a:t>
            </a:r>
            <a:r>
              <a:rPr lang="en-US" dirty="0">
                <a:solidFill>
                  <a:srgbClr val="FF0000"/>
                </a:solidFill>
              </a:rPr>
              <a:t>Skills </a:t>
            </a:r>
            <a:r>
              <a:rPr lang="en-US" dirty="0"/>
              <a:t>– An ability to manage money; to be able to keep track of</a:t>
            </a:r>
          </a:p>
          <a:p>
            <a:pPr marL="0" indent="0">
              <a:buNone/>
            </a:pPr>
            <a:r>
              <a:rPr lang="en-US" dirty="0" smtClean="0"/>
              <a:t> expenditure </a:t>
            </a:r>
            <a:r>
              <a:rPr lang="en-US" dirty="0"/>
              <a:t>and to monitor cash-flow, but also an ability to assess investments </a:t>
            </a:r>
            <a:r>
              <a:rPr lang="en-US" dirty="0" smtClean="0"/>
              <a:t>in terms </a:t>
            </a:r>
            <a:r>
              <a:rPr lang="en-US" dirty="0"/>
              <a:t>of their potential and their risks.</a:t>
            </a:r>
          </a:p>
          <a:p>
            <a:endParaRPr lang="en-US" dirty="0"/>
          </a:p>
        </p:txBody>
      </p:sp>
    </p:spTree>
    <p:extLst>
      <p:ext uri="{BB962C8B-B14F-4D97-AF65-F5344CB8AC3E}">
        <p14:creationId xmlns:p14="http://schemas.microsoft.com/office/powerpoint/2010/main" val="4085248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27354"/>
          </a:xfrm>
        </p:spPr>
        <p:txBody>
          <a:bodyPr>
            <a:normAutofit fontScale="90000"/>
          </a:bodyPr>
          <a:lstStyle/>
          <a:p>
            <a:r>
              <a:rPr lang="en-US" dirty="0"/>
              <a:t>Continues…</a:t>
            </a:r>
          </a:p>
        </p:txBody>
      </p:sp>
      <p:sp>
        <p:nvSpPr>
          <p:cNvPr id="3" name="Content Placeholder 2"/>
          <p:cNvSpPr>
            <a:spLocks noGrp="1"/>
          </p:cNvSpPr>
          <p:nvPr>
            <p:ph idx="1"/>
          </p:nvPr>
        </p:nvSpPr>
        <p:spPr>
          <a:xfrm>
            <a:off x="461554" y="1341120"/>
            <a:ext cx="10892246" cy="5233851"/>
          </a:xfrm>
        </p:spPr>
        <p:txBody>
          <a:bodyPr>
            <a:normAutofit/>
          </a:bodyPr>
          <a:lstStyle/>
          <a:p>
            <a:r>
              <a:rPr lang="en-US" b="1" i="1" dirty="0">
                <a:solidFill>
                  <a:srgbClr val="FF0000"/>
                </a:solidFill>
              </a:rPr>
              <a:t>Project Management Skills </a:t>
            </a:r>
            <a:r>
              <a:rPr lang="en-US" b="1" dirty="0"/>
              <a:t>– </a:t>
            </a:r>
            <a:r>
              <a:rPr lang="en-US" dirty="0"/>
              <a:t>An ability to organize projects, to set </a:t>
            </a:r>
            <a:r>
              <a:rPr lang="en-US" dirty="0" smtClean="0"/>
              <a:t>specific objectives</a:t>
            </a:r>
            <a:r>
              <a:rPr lang="en-US" dirty="0"/>
              <a:t>, to set schedules and to ensure that the necessary resources are in the </a:t>
            </a:r>
            <a:r>
              <a:rPr lang="en-US" dirty="0" smtClean="0"/>
              <a:t>right plat </a:t>
            </a:r>
            <a:r>
              <a:rPr lang="en-US" dirty="0"/>
              <a:t>of the right time.</a:t>
            </a:r>
            <a:br>
              <a:rPr lang="en-US" dirty="0"/>
            </a:br>
            <a:r>
              <a:rPr lang="en-US" b="1" i="1" dirty="0" smtClean="0">
                <a:solidFill>
                  <a:srgbClr val="FF0000"/>
                </a:solidFill>
              </a:rPr>
              <a:t>Time </a:t>
            </a:r>
            <a:r>
              <a:rPr lang="en-US" b="1" i="1" dirty="0">
                <a:solidFill>
                  <a:srgbClr val="FF0000"/>
                </a:solidFill>
              </a:rPr>
              <a:t>Management Skills </a:t>
            </a:r>
            <a:r>
              <a:rPr lang="en-US" b="1" dirty="0"/>
              <a:t>– </a:t>
            </a:r>
            <a:r>
              <a:rPr lang="en-US" dirty="0"/>
              <a:t>An ability to use time productively, to be able </a:t>
            </a:r>
            <a:r>
              <a:rPr lang="en-US" dirty="0" smtClean="0"/>
              <a:t>to priorities </a:t>
            </a:r>
            <a:r>
              <a:rPr lang="en-US" dirty="0"/>
              <a:t>important jobs and to get things done to schedule </a:t>
            </a:r>
            <a:br>
              <a:rPr lang="en-US" dirty="0"/>
            </a:br>
            <a:r>
              <a:rPr lang="en-US" b="1" dirty="0"/>
              <a:t>II) People Management Skills</a:t>
            </a:r>
            <a:r>
              <a:rPr lang="en-US" dirty="0"/>
              <a:t> </a:t>
            </a:r>
            <a:endParaRPr lang="en-US" dirty="0" smtClean="0"/>
          </a:p>
          <a:p>
            <a:pPr marL="0" indent="0">
              <a:buNone/>
            </a:pPr>
            <a:r>
              <a:rPr lang="en-US" dirty="0" smtClean="0"/>
              <a:t>- Businesses </a:t>
            </a:r>
            <a:r>
              <a:rPr lang="en-US" dirty="0"/>
              <a:t>are made by people.</a:t>
            </a:r>
          </a:p>
          <a:p>
            <a:pPr marL="0" indent="0">
              <a:buNone/>
            </a:pPr>
            <a:r>
              <a:rPr lang="en-US" dirty="0" smtClean="0"/>
              <a:t>- A </a:t>
            </a:r>
            <a:r>
              <a:rPr lang="en-US" dirty="0"/>
              <a:t>business can only </a:t>
            </a:r>
            <a:r>
              <a:rPr lang="en-US" dirty="0" smtClean="0"/>
              <a:t>be successful </a:t>
            </a:r>
            <a:r>
              <a:rPr lang="en-US" dirty="0"/>
              <a:t>if the peoples who make it up are properly directed and are committed to make </a:t>
            </a:r>
            <a:r>
              <a:rPr lang="en-US" dirty="0" smtClean="0"/>
              <a:t>an effort </a:t>
            </a:r>
            <a:r>
              <a:rPr lang="en-US" dirty="0"/>
              <a:t>on its behalf.</a:t>
            </a:r>
          </a:p>
          <a:p>
            <a:pPr marL="0" indent="0">
              <a:buNone/>
            </a:pPr>
            <a:r>
              <a:rPr lang="en-US" dirty="0" smtClean="0"/>
              <a:t>- An </a:t>
            </a:r>
            <a:r>
              <a:rPr lang="en-US" dirty="0"/>
              <a:t>entrepreneurial venture also needs the support of people from </a:t>
            </a:r>
            <a:r>
              <a:rPr lang="en-US" dirty="0" smtClean="0"/>
              <a:t>outside the </a:t>
            </a:r>
            <a:r>
              <a:rPr lang="en-US" dirty="0"/>
              <a:t>organization such as customers, suppliers and investors.</a:t>
            </a:r>
          </a:p>
        </p:txBody>
      </p:sp>
    </p:spTree>
    <p:extLst>
      <p:ext uri="{BB962C8B-B14F-4D97-AF65-F5344CB8AC3E}">
        <p14:creationId xmlns:p14="http://schemas.microsoft.com/office/powerpoint/2010/main" val="1750493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838200" y="1193074"/>
            <a:ext cx="10515600" cy="5242560"/>
          </a:xfrm>
        </p:spPr>
        <p:txBody>
          <a:bodyPr>
            <a:normAutofit lnSpcReduction="10000"/>
          </a:bodyPr>
          <a:lstStyle/>
          <a:p>
            <a:r>
              <a:rPr lang="en-US" dirty="0"/>
              <a:t>To be effective, an </a:t>
            </a:r>
            <a:r>
              <a:rPr lang="en-US" dirty="0" smtClean="0"/>
              <a:t>entrepreneur needs </a:t>
            </a:r>
            <a:r>
              <a:rPr lang="en-US" dirty="0"/>
              <a:t>to demonstrative a wide variety of skills in the way he/she deals with other peoples</a:t>
            </a:r>
            <a:r>
              <a:rPr lang="en-US" dirty="0" smtClean="0"/>
              <a:t>.</a:t>
            </a:r>
          </a:p>
          <a:p>
            <a:r>
              <a:rPr lang="en-US" dirty="0"/>
              <a:t> Some of the more important skills we might include under this heading are</a:t>
            </a:r>
            <a:r>
              <a:rPr lang="en-US" dirty="0" smtClean="0"/>
              <a:t>:  </a:t>
            </a:r>
          </a:p>
          <a:p>
            <a:r>
              <a:rPr lang="en-US" dirty="0" smtClean="0">
                <a:solidFill>
                  <a:srgbClr val="FF0000"/>
                </a:solidFill>
              </a:rPr>
              <a:t>Communication Skills:</a:t>
            </a:r>
            <a:r>
              <a:rPr lang="en-US" dirty="0" smtClean="0"/>
              <a:t> </a:t>
            </a:r>
            <a:r>
              <a:rPr lang="en-US" dirty="0"/>
              <a:t>An ability to use spoken and written language to </a:t>
            </a:r>
            <a:r>
              <a:rPr lang="en-US" dirty="0" smtClean="0"/>
              <a:t>express </a:t>
            </a:r>
            <a:r>
              <a:rPr lang="en-US" dirty="0"/>
              <a:t>ideas and inform others</a:t>
            </a:r>
            <a:r>
              <a:rPr lang="en-US" dirty="0" smtClean="0"/>
              <a:t>.</a:t>
            </a:r>
          </a:p>
          <a:p>
            <a:r>
              <a:rPr lang="en-US" b="1" i="1" dirty="0"/>
              <a:t>Leadership Skills </a:t>
            </a:r>
            <a:r>
              <a:rPr lang="en-US" dirty="0"/>
              <a:t>– An ability to inspire people to work in a specific way and </a:t>
            </a:r>
            <a:r>
              <a:rPr lang="en-US" dirty="0" smtClean="0"/>
              <a:t>to undertake </a:t>
            </a:r>
            <a:r>
              <a:rPr lang="en-US" dirty="0"/>
              <a:t>the tasks that are necessary for the success of the venture </a:t>
            </a:r>
            <a:endParaRPr lang="en-US" dirty="0" smtClean="0"/>
          </a:p>
          <a:p>
            <a:r>
              <a:rPr lang="en-US" dirty="0"/>
              <a:t>Being able to </a:t>
            </a:r>
            <a:r>
              <a:rPr lang="en-US" b="1" dirty="0"/>
              <a:t>motivate</a:t>
            </a:r>
            <a:r>
              <a:rPr lang="en-US" dirty="0"/>
              <a:t> demands an </a:t>
            </a:r>
            <a:r>
              <a:rPr lang="en-US" dirty="0" smtClean="0"/>
              <a:t>understanding of </a:t>
            </a:r>
            <a:r>
              <a:rPr lang="en-US" dirty="0"/>
              <a:t>what drives people and what they expect from their </a:t>
            </a:r>
            <a:r>
              <a:rPr lang="en-US" dirty="0" smtClean="0"/>
              <a:t>jobs.</a:t>
            </a:r>
          </a:p>
          <a:p>
            <a:r>
              <a:rPr lang="en-US" b="1" dirty="0" smtClean="0"/>
              <a:t>Effective</a:t>
            </a:r>
            <a:r>
              <a:rPr lang="en-US" b="1" dirty="0"/>
              <a:t> </a:t>
            </a:r>
            <a:r>
              <a:rPr lang="en-US" b="1" dirty="0" smtClean="0"/>
              <a:t>Delegation </a:t>
            </a:r>
            <a:r>
              <a:rPr lang="en-US" dirty="0"/>
              <a:t>involves more than instructing.</a:t>
            </a:r>
          </a:p>
        </p:txBody>
      </p:sp>
    </p:spTree>
    <p:extLst>
      <p:ext uri="{BB962C8B-B14F-4D97-AF65-F5344CB8AC3E}">
        <p14:creationId xmlns:p14="http://schemas.microsoft.com/office/powerpoint/2010/main" val="28207805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1858"/>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838200" y="1332411"/>
            <a:ext cx="10515600" cy="5233852"/>
          </a:xfrm>
        </p:spPr>
        <p:txBody>
          <a:bodyPr>
            <a:normAutofit/>
          </a:bodyPr>
          <a:lstStyle/>
          <a:p>
            <a:r>
              <a:rPr lang="en-US" sz="2400" dirty="0"/>
              <a:t>It demands a full understanding of </a:t>
            </a:r>
            <a:r>
              <a:rPr lang="en-US" sz="2400" dirty="0" smtClean="0"/>
              <a:t>the skills </a:t>
            </a:r>
            <a:r>
              <a:rPr lang="en-US" sz="2400" dirty="0"/>
              <a:t>that people possess how they use them and how they might be </a:t>
            </a:r>
            <a:r>
              <a:rPr lang="en-US" sz="2400"/>
              <a:t>developed </a:t>
            </a:r>
            <a:r>
              <a:rPr lang="en-US" sz="2400" smtClean="0"/>
              <a:t>to </a:t>
            </a:r>
            <a:r>
              <a:rPr lang="en-US" sz="2400" dirty="0"/>
              <a:t>fulfill future needs</a:t>
            </a:r>
            <a:r>
              <a:rPr lang="en-US" sz="2400" dirty="0" smtClean="0"/>
              <a:t>.</a:t>
            </a:r>
          </a:p>
          <a:p>
            <a:r>
              <a:rPr lang="en-US" sz="2400" b="1" dirty="0"/>
              <a:t>Negotiation Skills </a:t>
            </a:r>
            <a:r>
              <a:rPr lang="en-US" sz="2400" dirty="0"/>
              <a:t>– An ability to understand what is wanted from a situations, </a:t>
            </a:r>
            <a:r>
              <a:rPr lang="en-US" sz="2400" dirty="0" smtClean="0"/>
              <a:t>what </a:t>
            </a:r>
            <a:r>
              <a:rPr lang="en-US" sz="2400" dirty="0"/>
              <a:t>is motivating others in that situation and recognize the possibilities of </a:t>
            </a:r>
            <a:r>
              <a:rPr lang="en-US" sz="2400" dirty="0" smtClean="0"/>
              <a:t>maximizing  </a:t>
            </a:r>
            <a:r>
              <a:rPr lang="en-US" sz="2400" dirty="0"/>
              <a:t>the </a:t>
            </a:r>
            <a:r>
              <a:rPr lang="en-US" sz="2400" dirty="0" smtClean="0"/>
              <a:t>outcomes </a:t>
            </a:r>
            <a:r>
              <a:rPr lang="en-US" sz="2400" dirty="0"/>
              <a:t>for all </a:t>
            </a:r>
            <a:r>
              <a:rPr lang="en-US" sz="2400" dirty="0" smtClean="0"/>
              <a:t>parties.</a:t>
            </a:r>
          </a:p>
          <a:p>
            <a:pPr marL="0" indent="0">
              <a:buNone/>
            </a:pPr>
            <a:r>
              <a:rPr lang="en-US" b="1" dirty="0">
                <a:solidFill>
                  <a:schemeClr val="accent1"/>
                </a:solidFill>
              </a:rPr>
              <a:t>The Entrepreneurial </a:t>
            </a:r>
            <a:r>
              <a:rPr lang="en-US" b="1" dirty="0" smtClean="0">
                <a:solidFill>
                  <a:schemeClr val="accent1"/>
                </a:solidFill>
              </a:rPr>
              <a:t>Tasks:</a:t>
            </a:r>
            <a:r>
              <a:rPr lang="en-US" sz="2400" dirty="0" smtClean="0">
                <a:solidFill>
                  <a:schemeClr val="accent1"/>
                </a:solidFill>
              </a:rPr>
              <a:t> </a:t>
            </a:r>
          </a:p>
          <a:p>
            <a:pPr marL="0" indent="0">
              <a:buNone/>
            </a:pPr>
            <a:r>
              <a:rPr lang="en-US" sz="2000" b="1" dirty="0"/>
              <a:t>Owning </a:t>
            </a:r>
            <a:r>
              <a:rPr lang="en-US" sz="2000" b="1" dirty="0" smtClean="0"/>
              <a:t>Organizations, </a:t>
            </a:r>
            <a:r>
              <a:rPr lang="en-US" sz="2000" dirty="0"/>
              <a:t>Founding New Organizations, Bringing Innovations to Market, Identification of Market Opportunity, Application of Expertise, Provision of </a:t>
            </a:r>
            <a:r>
              <a:rPr lang="en-US" sz="2000" dirty="0" smtClean="0"/>
              <a:t>leadership and The </a:t>
            </a:r>
            <a:r>
              <a:rPr lang="en-US" sz="2000" dirty="0"/>
              <a:t>entrepreneur as manager</a:t>
            </a:r>
            <a:r>
              <a:rPr lang="en-US" sz="2400" dirty="0"/>
              <a:t/>
            </a:r>
            <a:br>
              <a:rPr lang="en-US" sz="2400" dirty="0"/>
            </a:br>
            <a:r>
              <a:rPr lang="en-US" b="1" dirty="0"/>
              <a:t>Who Benefits from the entrepreneur’s Wealth?</a:t>
            </a:r>
            <a:r>
              <a:rPr lang="en-US" sz="2400" dirty="0"/>
              <a:t> </a:t>
            </a:r>
            <a:br>
              <a:rPr lang="en-US" sz="2400" dirty="0"/>
            </a:br>
            <a:r>
              <a:rPr lang="en-US" sz="2400" dirty="0"/>
              <a:t/>
            </a:r>
            <a:br>
              <a:rPr lang="en-US" sz="2400" dirty="0"/>
            </a:br>
            <a:endParaRPr lang="en-US" sz="2400" dirty="0" smtClean="0"/>
          </a:p>
          <a:p>
            <a:endParaRPr lang="en-US" sz="2400" dirty="0"/>
          </a:p>
        </p:txBody>
      </p:sp>
    </p:spTree>
    <p:extLst>
      <p:ext uri="{BB962C8B-B14F-4D97-AF65-F5344CB8AC3E}">
        <p14:creationId xmlns:p14="http://schemas.microsoft.com/office/powerpoint/2010/main" val="8757486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278674" y="1402080"/>
            <a:ext cx="11075126" cy="5251269"/>
          </a:xfrm>
        </p:spPr>
        <p:txBody>
          <a:bodyPr>
            <a:normAutofit/>
          </a:bodyPr>
          <a:lstStyle/>
          <a:p>
            <a:pPr marL="0" indent="0">
              <a:buNone/>
            </a:pPr>
            <a:r>
              <a:rPr lang="en-US" dirty="0"/>
              <a:t>No entrepreneur works in a vacuum. The venture they create touches the lives of many </a:t>
            </a:r>
            <a:r>
              <a:rPr lang="en-US" dirty="0" smtClean="0"/>
              <a:t>other people.</a:t>
            </a:r>
          </a:p>
          <a:p>
            <a:r>
              <a:rPr lang="en-US" dirty="0" smtClean="0"/>
              <a:t>To </a:t>
            </a:r>
            <a:r>
              <a:rPr lang="en-US" dirty="0"/>
              <a:t>drive his/her venture forward, the entrepreneur calls up on the support of a number </a:t>
            </a:r>
            <a:r>
              <a:rPr lang="en-US" dirty="0" smtClean="0"/>
              <a:t>of different </a:t>
            </a:r>
            <a:r>
              <a:rPr lang="en-US" dirty="0"/>
              <a:t>groups. In return for their support these groups expect to be rewarded from the </a:t>
            </a:r>
            <a:r>
              <a:rPr lang="en-US" dirty="0" smtClean="0"/>
              <a:t>success of </a:t>
            </a:r>
            <a:r>
              <a:rPr lang="en-US" dirty="0"/>
              <a:t>the </a:t>
            </a:r>
            <a:r>
              <a:rPr lang="en-US" dirty="0" smtClean="0"/>
              <a:t>venture.</a:t>
            </a:r>
          </a:p>
          <a:p>
            <a:r>
              <a:rPr lang="en-US" dirty="0" smtClean="0"/>
              <a:t>Peoples </a:t>
            </a:r>
            <a:r>
              <a:rPr lang="en-US" dirty="0"/>
              <a:t>who have a part to play in the entrepreneurial venture generally are </a:t>
            </a:r>
            <a:r>
              <a:rPr lang="en-US" dirty="0" smtClean="0"/>
              <a:t>called stakeholder</a:t>
            </a:r>
            <a:r>
              <a:rPr lang="en-US" dirty="0"/>
              <a:t>. </a:t>
            </a:r>
            <a:endParaRPr lang="en-US" dirty="0" smtClean="0"/>
          </a:p>
          <a:p>
            <a:r>
              <a:rPr lang="en-US" dirty="0" smtClean="0">
                <a:solidFill>
                  <a:srgbClr val="FF0000"/>
                </a:solidFill>
              </a:rPr>
              <a:t>The </a:t>
            </a:r>
            <a:r>
              <a:rPr lang="en-US" dirty="0">
                <a:solidFill>
                  <a:srgbClr val="FF0000"/>
                </a:solidFill>
              </a:rPr>
              <a:t>stakeholder groups are</a:t>
            </a:r>
            <a:r>
              <a:rPr lang="en-US" dirty="0"/>
              <a:t>; employees, investor, supplier, customer, the </a:t>
            </a:r>
            <a:r>
              <a:rPr lang="en-US" dirty="0" smtClean="0"/>
              <a:t>local community </a:t>
            </a:r>
            <a:r>
              <a:rPr lang="en-US" dirty="0"/>
              <a:t>and government. </a:t>
            </a:r>
          </a:p>
        </p:txBody>
      </p:sp>
    </p:spTree>
    <p:extLst>
      <p:ext uri="{BB962C8B-B14F-4D97-AF65-F5344CB8AC3E}">
        <p14:creationId xmlns:p14="http://schemas.microsoft.com/office/powerpoint/2010/main" val="812141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8315"/>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235131" y="1193074"/>
            <a:ext cx="11678195" cy="5434149"/>
          </a:xfrm>
        </p:spPr>
        <p:txBody>
          <a:bodyPr>
            <a:normAutofit fontScale="92500" lnSpcReduction="10000"/>
          </a:bodyPr>
          <a:lstStyle/>
          <a:p>
            <a:pPr marL="0" indent="0">
              <a:buNone/>
            </a:pPr>
            <a:r>
              <a:rPr lang="en-US" dirty="0" smtClean="0">
                <a:solidFill>
                  <a:srgbClr val="FF0000"/>
                </a:solidFill>
              </a:rPr>
              <a:t>Entrepreneurship </a:t>
            </a:r>
            <a:r>
              <a:rPr lang="en-US" dirty="0">
                <a:solidFill>
                  <a:srgbClr val="FF0000"/>
                </a:solidFill>
              </a:rPr>
              <a:t>and </a:t>
            </a:r>
            <a:r>
              <a:rPr lang="en-US" dirty="0" smtClean="0">
                <a:solidFill>
                  <a:srgbClr val="FF0000"/>
                </a:solidFill>
              </a:rPr>
              <a:t>Environment</a:t>
            </a:r>
          </a:p>
          <a:p>
            <a:r>
              <a:rPr lang="en-US" sz="2400" dirty="0"/>
              <a:t>The business environment refers to external factors that impact a business and determine its effectiveness. </a:t>
            </a:r>
            <a:endParaRPr lang="en-US" sz="2400" dirty="0" smtClean="0"/>
          </a:p>
          <a:p>
            <a:r>
              <a:rPr lang="en-US" sz="2400" dirty="0" smtClean="0"/>
              <a:t>It </a:t>
            </a:r>
            <a:r>
              <a:rPr lang="en-US" sz="2400" dirty="0"/>
              <a:t>can be either healthy or unhealthy</a:t>
            </a:r>
            <a:r>
              <a:rPr lang="en-US" sz="2400" dirty="0" smtClean="0"/>
              <a:t>.</a:t>
            </a:r>
          </a:p>
          <a:p>
            <a:r>
              <a:rPr lang="en-US" sz="2400" dirty="0" smtClean="0"/>
              <a:t> </a:t>
            </a:r>
            <a:r>
              <a:rPr lang="en-US" sz="2400" dirty="0"/>
              <a:t>A healthy business environment means favorable conditions for business growth, while an unhealthy environment implies conditions that are hostile or unfavorable to business operations. </a:t>
            </a:r>
            <a:endParaRPr lang="en-US" sz="2400" dirty="0" smtClean="0"/>
          </a:p>
          <a:p>
            <a:r>
              <a:rPr lang="en-US" sz="2400" dirty="0" smtClean="0"/>
              <a:t>The </a:t>
            </a:r>
            <a:r>
              <a:rPr lang="en-US" sz="2400" dirty="0"/>
              <a:t>success of a business is influenced by the economic system and other environmental conditions</a:t>
            </a:r>
            <a:r>
              <a:rPr lang="en-US" sz="2400" dirty="0" smtClean="0"/>
              <a:t>.</a:t>
            </a:r>
          </a:p>
          <a:p>
            <a:r>
              <a:rPr lang="en-US" sz="2400" dirty="0" smtClean="0"/>
              <a:t> </a:t>
            </a:r>
            <a:r>
              <a:rPr lang="en-US" sz="2400" dirty="0"/>
              <a:t>Businesses need to adapt to the prevailing conditions, but they also try to influence and shape the environment. </a:t>
            </a:r>
            <a:endParaRPr lang="en-US" sz="2400" dirty="0" smtClean="0"/>
          </a:p>
          <a:p>
            <a:r>
              <a:rPr lang="en-US" sz="2400" dirty="0" smtClean="0"/>
              <a:t>When </a:t>
            </a:r>
            <a:r>
              <a:rPr lang="en-US" sz="2400" dirty="0"/>
              <a:t>business concerns operate successfully, they contribute to improving the economic and social conditions in the country. </a:t>
            </a:r>
            <a:endParaRPr lang="en-US" sz="2400" dirty="0" smtClean="0"/>
          </a:p>
          <a:p>
            <a:r>
              <a:rPr lang="en-US" sz="2400" dirty="0" smtClean="0"/>
              <a:t>Ignoring </a:t>
            </a:r>
            <a:r>
              <a:rPr lang="en-US" sz="2400" dirty="0"/>
              <a:t>the environment can have severe consequences, such as reduced profit margins, missed expansion opportunities, social hostility, and an inhospitable social environment for business operations.</a:t>
            </a:r>
          </a:p>
        </p:txBody>
      </p:sp>
    </p:spTree>
    <p:extLst>
      <p:ext uri="{BB962C8B-B14F-4D97-AF65-F5344CB8AC3E}">
        <p14:creationId xmlns:p14="http://schemas.microsoft.com/office/powerpoint/2010/main" val="1520651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18646"/>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139337" y="1105988"/>
            <a:ext cx="11686903" cy="5512525"/>
          </a:xfrm>
        </p:spPr>
        <p:txBody>
          <a:bodyPr>
            <a:normAutofit/>
          </a:bodyPr>
          <a:lstStyle/>
          <a:p>
            <a:pPr marL="0" indent="0">
              <a:buNone/>
            </a:pPr>
            <a:r>
              <a:rPr lang="en-US" dirty="0"/>
              <a:t>Studying the business environment offers several benefits</a:t>
            </a:r>
            <a:r>
              <a:rPr lang="en-US" dirty="0" smtClean="0"/>
              <a:t>:</a:t>
            </a:r>
            <a:endParaRPr lang="en-US" dirty="0"/>
          </a:p>
          <a:p>
            <a:r>
              <a:rPr lang="en-US" dirty="0"/>
              <a:t>Information: It provides essential information about the environment necessary for the successful operation of business firms</a:t>
            </a:r>
            <a:r>
              <a:rPr lang="en-US" dirty="0" smtClean="0"/>
              <a:t>.</a:t>
            </a:r>
            <a:endParaRPr lang="en-US" dirty="0"/>
          </a:p>
          <a:p>
            <a:r>
              <a:rPr lang="en-US" dirty="0"/>
              <a:t>Expansion Opportunities: It creates new avenues for entrepreneurial operations, allowing entrepreneurs to explore new ideas and ventures when they find a supportive environment</a:t>
            </a:r>
            <a:r>
              <a:rPr lang="en-US" dirty="0" smtClean="0"/>
              <a:t>.</a:t>
            </a:r>
            <a:endParaRPr lang="en-US" dirty="0"/>
          </a:p>
          <a:p>
            <a:r>
              <a:rPr lang="en-US" dirty="0"/>
              <a:t>Dynamic Approach: Knowledge about the changing environment enables businessmen to adapt their strategies and maintain harmony between business operations and the environment</a:t>
            </a:r>
            <a:r>
              <a:rPr lang="en-US" dirty="0" smtClean="0"/>
              <a:t>.</a:t>
            </a:r>
            <a:endParaRPr lang="en-US" dirty="0"/>
          </a:p>
          <a:p>
            <a:r>
              <a:rPr lang="en-US" dirty="0"/>
              <a:t>Shaping the Environment: By studying the environment, entrepreneurs can make it favorable for business growth, leading to popular support and increased opportunities.</a:t>
            </a:r>
          </a:p>
        </p:txBody>
      </p:sp>
    </p:spTree>
    <p:extLst>
      <p:ext uri="{BB962C8B-B14F-4D97-AF65-F5344CB8AC3E}">
        <p14:creationId xmlns:p14="http://schemas.microsoft.com/office/powerpoint/2010/main" val="3693547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48978"/>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838199" y="949234"/>
            <a:ext cx="10909663" cy="5660572"/>
          </a:xfrm>
        </p:spPr>
        <p:txBody>
          <a:bodyPr>
            <a:normAutofit lnSpcReduction="10000"/>
          </a:bodyPr>
          <a:lstStyle/>
          <a:p>
            <a:pPr marL="0" indent="0">
              <a:buNone/>
            </a:pPr>
            <a:r>
              <a:rPr lang="en-US" b="1" dirty="0">
                <a:solidFill>
                  <a:srgbClr val="FF0000"/>
                </a:solidFill>
              </a:rPr>
              <a:t>Phases of Business Environment</a:t>
            </a:r>
            <a:r>
              <a:rPr lang="en-US" dirty="0">
                <a:solidFill>
                  <a:srgbClr val="FF0000"/>
                </a:solidFill>
              </a:rPr>
              <a:t> </a:t>
            </a:r>
            <a:endParaRPr lang="en-US" dirty="0" smtClean="0"/>
          </a:p>
          <a:p>
            <a:r>
              <a:rPr lang="en-US" dirty="0" smtClean="0"/>
              <a:t>Business </a:t>
            </a:r>
            <a:r>
              <a:rPr lang="en-US" dirty="0"/>
              <a:t>environment may be classified into two broad categories; namely external; and </a:t>
            </a:r>
            <a:r>
              <a:rPr lang="en-US" dirty="0" smtClean="0"/>
              <a:t>internal environment</a:t>
            </a:r>
          </a:p>
          <a:p>
            <a:r>
              <a:rPr lang="en-US" b="1" dirty="0"/>
              <a:t>External </a:t>
            </a:r>
            <a:r>
              <a:rPr lang="en-US" b="1" dirty="0" smtClean="0"/>
              <a:t>Environment</a:t>
            </a:r>
          </a:p>
          <a:p>
            <a:pPr marL="0" indent="0">
              <a:buNone/>
            </a:pPr>
            <a:r>
              <a:rPr lang="en-US" dirty="0" smtClean="0"/>
              <a:t> </a:t>
            </a:r>
            <a:r>
              <a:rPr lang="en-US" dirty="0"/>
              <a:t>It is the environment which is external to the business and hardly to influence </a:t>
            </a:r>
            <a:r>
              <a:rPr lang="en-US" dirty="0" smtClean="0"/>
              <a:t>independently. The </a:t>
            </a:r>
            <a:r>
              <a:rPr lang="en-US" dirty="0"/>
              <a:t>following are the components of external </a:t>
            </a:r>
            <a:r>
              <a:rPr lang="en-US" dirty="0" smtClean="0"/>
              <a:t>environment.</a:t>
            </a:r>
          </a:p>
          <a:p>
            <a:pPr marL="0" indent="0">
              <a:buNone/>
            </a:pPr>
            <a:r>
              <a:rPr lang="en-US" dirty="0" err="1"/>
              <a:t>i</a:t>
            </a:r>
            <a:r>
              <a:rPr lang="en-US" dirty="0"/>
              <a:t>) Economic Environment, ii) Legal Environment, iii) Political Environment, iv) Socio-Cultural Environment, v) Demographic </a:t>
            </a:r>
            <a:r>
              <a:rPr lang="en-US" dirty="0" smtClean="0"/>
              <a:t>Environment</a:t>
            </a:r>
          </a:p>
          <a:p>
            <a:r>
              <a:rPr lang="en-US" b="1" dirty="0" smtClean="0"/>
              <a:t>Internal </a:t>
            </a:r>
            <a:r>
              <a:rPr lang="en-US" b="1" dirty="0"/>
              <a:t>Environment</a:t>
            </a:r>
          </a:p>
          <a:p>
            <a:pPr marL="0" indent="0">
              <a:buNone/>
            </a:pPr>
            <a:r>
              <a:rPr lang="en-US" dirty="0" smtClean="0"/>
              <a:t>Internal </a:t>
            </a:r>
            <a:r>
              <a:rPr lang="en-US" dirty="0"/>
              <a:t>environment is the environment which is under the control of a given </a:t>
            </a:r>
            <a:r>
              <a:rPr lang="en-US" dirty="0" smtClean="0"/>
              <a:t>organization. Following </a:t>
            </a:r>
            <a:r>
              <a:rPr lang="en-US" dirty="0"/>
              <a:t>are the components of internal environment of a business:</a:t>
            </a:r>
            <a:br>
              <a:rPr lang="en-US" dirty="0"/>
            </a:br>
            <a:endParaRPr lang="en-US" dirty="0"/>
          </a:p>
        </p:txBody>
      </p:sp>
    </p:spTree>
    <p:extLst>
      <p:ext uri="{BB962C8B-B14F-4D97-AF65-F5344CB8AC3E}">
        <p14:creationId xmlns:p14="http://schemas.microsoft.com/office/powerpoint/2010/main" val="3264188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109"/>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838200" y="1158240"/>
            <a:ext cx="10953206" cy="5320937"/>
          </a:xfrm>
        </p:spPr>
        <p:txBody>
          <a:bodyPr>
            <a:normAutofit fontScale="85000" lnSpcReduction="20000"/>
          </a:bodyPr>
          <a:lstStyle/>
          <a:p>
            <a:r>
              <a:rPr lang="en-US" dirty="0" smtClean="0"/>
              <a:t>I) </a:t>
            </a:r>
            <a:r>
              <a:rPr lang="en-US" dirty="0"/>
              <a:t>Raw Material, ii) Production/Operation, </a:t>
            </a:r>
            <a:r>
              <a:rPr lang="en-US" dirty="0" smtClean="0"/>
              <a:t>iii) Finance</a:t>
            </a:r>
            <a:r>
              <a:rPr lang="en-US" dirty="0"/>
              <a:t>, </a:t>
            </a:r>
            <a:r>
              <a:rPr lang="en-US" dirty="0" smtClean="0"/>
              <a:t>Iv</a:t>
            </a:r>
            <a:r>
              <a:rPr lang="en-US" dirty="0"/>
              <a:t>) Human </a:t>
            </a:r>
            <a:r>
              <a:rPr lang="en-US" dirty="0" smtClean="0"/>
              <a:t>Resource</a:t>
            </a:r>
          </a:p>
          <a:p>
            <a:pPr marL="0" indent="0">
              <a:buNone/>
            </a:pPr>
            <a:r>
              <a:rPr lang="en-US" dirty="0" smtClean="0">
                <a:solidFill>
                  <a:srgbClr val="FF0000"/>
                </a:solidFill>
              </a:rPr>
              <a:t>Environmental </a:t>
            </a:r>
            <a:r>
              <a:rPr lang="en-US" dirty="0">
                <a:solidFill>
                  <a:srgbClr val="FF0000"/>
                </a:solidFill>
              </a:rPr>
              <a:t>Factors Affecting </a:t>
            </a:r>
            <a:r>
              <a:rPr lang="en-US" dirty="0" smtClean="0">
                <a:solidFill>
                  <a:srgbClr val="FF0000"/>
                </a:solidFill>
              </a:rPr>
              <a:t>Entrepreneurship</a:t>
            </a:r>
          </a:p>
          <a:p>
            <a:pPr marL="0" indent="0">
              <a:buNone/>
            </a:pPr>
            <a:r>
              <a:rPr lang="en-US" dirty="0"/>
              <a:t>Some of the environmental factors which hinder entrepreneurial growth are given below:</a:t>
            </a:r>
          </a:p>
          <a:p>
            <a:pPr marL="0" indent="0">
              <a:buNone/>
            </a:pPr>
            <a:r>
              <a:rPr lang="en-US" dirty="0"/>
              <a:t> Sudden changes in Government policy.</a:t>
            </a:r>
          </a:p>
          <a:p>
            <a:pPr marL="0" indent="0">
              <a:buNone/>
            </a:pPr>
            <a:r>
              <a:rPr lang="en-US" dirty="0"/>
              <a:t> Sudden political upsurge.</a:t>
            </a:r>
          </a:p>
          <a:p>
            <a:pPr marL="0" indent="0">
              <a:buNone/>
            </a:pPr>
            <a:r>
              <a:rPr lang="en-US" dirty="0"/>
              <a:t> Outbreak of war or regional conflicts.</a:t>
            </a:r>
          </a:p>
          <a:p>
            <a:pPr marL="0" indent="0">
              <a:buNone/>
            </a:pPr>
            <a:r>
              <a:rPr lang="en-US" dirty="0"/>
              <a:t> Political instability or hostile Government attitude towards industry.</a:t>
            </a:r>
          </a:p>
          <a:p>
            <a:pPr marL="0" indent="0">
              <a:buNone/>
            </a:pPr>
            <a:r>
              <a:rPr lang="en-US" dirty="0"/>
              <a:t> Excessive red-</a:t>
            </a:r>
            <a:r>
              <a:rPr lang="en-US" dirty="0" err="1"/>
              <a:t>tapism</a:t>
            </a:r>
            <a:r>
              <a:rPr lang="en-US" dirty="0"/>
              <a:t> and corruption among Government agencies.</a:t>
            </a:r>
          </a:p>
          <a:p>
            <a:pPr marL="0" indent="0">
              <a:buNone/>
            </a:pPr>
            <a:r>
              <a:rPr lang="en-US" dirty="0"/>
              <a:t> Ideological and social conflicts.</a:t>
            </a:r>
          </a:p>
          <a:p>
            <a:pPr marL="0" indent="0">
              <a:buNone/>
            </a:pPr>
            <a:r>
              <a:rPr lang="en-US" dirty="0"/>
              <a:t> Unreliable supply of power, materials, finance, labor and other inputs.</a:t>
            </a:r>
          </a:p>
          <a:p>
            <a:pPr marL="0" indent="0">
              <a:buNone/>
            </a:pPr>
            <a:r>
              <a:rPr lang="en-US" dirty="0"/>
              <a:t> Rise in the cost of inputs.</a:t>
            </a:r>
          </a:p>
          <a:p>
            <a:pPr marL="0" indent="0">
              <a:buNone/>
            </a:pPr>
            <a:r>
              <a:rPr lang="en-US" dirty="0"/>
              <a:t> Unfavorable market fluctuations.</a:t>
            </a:r>
          </a:p>
          <a:p>
            <a:pPr marL="0" indent="0">
              <a:buNone/>
            </a:pPr>
            <a:r>
              <a:rPr lang="en-US" dirty="0"/>
              <a:t> Non-cooperative attitude of banks and financial institutions.</a:t>
            </a:r>
          </a:p>
        </p:txBody>
      </p:sp>
    </p:spTree>
    <p:extLst>
      <p:ext uri="{BB962C8B-B14F-4D97-AF65-F5344CB8AC3E}">
        <p14:creationId xmlns:p14="http://schemas.microsoft.com/office/powerpoint/2010/main" val="3644431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83812"/>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339634" y="1018902"/>
            <a:ext cx="11451772" cy="5442857"/>
          </a:xfrm>
        </p:spPr>
        <p:txBody>
          <a:bodyPr>
            <a:normAutofit fontScale="85000" lnSpcReduction="20000"/>
          </a:bodyPr>
          <a:lstStyle/>
          <a:p>
            <a:pPr marL="0" indent="0">
              <a:buNone/>
            </a:pPr>
            <a:r>
              <a:rPr lang="en-US" dirty="0" smtClean="0">
                <a:solidFill>
                  <a:srgbClr val="FF0000"/>
                </a:solidFill>
              </a:rPr>
              <a:t>Creativity</a:t>
            </a:r>
            <a:r>
              <a:rPr lang="en-US" dirty="0">
                <a:solidFill>
                  <a:srgbClr val="FF0000"/>
                </a:solidFill>
              </a:rPr>
              <a:t>, Innovation and </a:t>
            </a:r>
            <a:r>
              <a:rPr lang="en-US" dirty="0" smtClean="0">
                <a:solidFill>
                  <a:srgbClr val="FF0000"/>
                </a:solidFill>
              </a:rPr>
              <a:t>Entrepreneurship</a:t>
            </a:r>
          </a:p>
          <a:p>
            <a:pPr marL="0" indent="0">
              <a:buNone/>
            </a:pPr>
            <a:r>
              <a:rPr lang="en-US" sz="2400" dirty="0"/>
              <a:t>Creativity, innovation and entrepreneurship, have been recognized as important contributors to </a:t>
            </a:r>
            <a:r>
              <a:rPr lang="en-US" sz="2400" dirty="0" smtClean="0"/>
              <a:t>a nation’s </a:t>
            </a:r>
            <a:r>
              <a:rPr lang="en-US" sz="2400" dirty="0"/>
              <a:t>economic </a:t>
            </a:r>
            <a:r>
              <a:rPr lang="en-US" sz="2400" dirty="0" smtClean="0"/>
              <a:t>growth.</a:t>
            </a:r>
          </a:p>
          <a:p>
            <a:r>
              <a:rPr lang="en-US" sz="2400" dirty="0" smtClean="0"/>
              <a:t>These </a:t>
            </a:r>
            <a:r>
              <a:rPr lang="en-US" sz="2400" dirty="0"/>
              <a:t>three terminologies are chronologically interrelated and it </a:t>
            </a:r>
            <a:r>
              <a:rPr lang="en-US" sz="2400" dirty="0" smtClean="0"/>
              <a:t>is very </a:t>
            </a:r>
            <a:r>
              <a:rPr lang="en-US" sz="2400" dirty="0"/>
              <a:t>important to look in to them to get their </a:t>
            </a:r>
            <a:r>
              <a:rPr lang="en-US" sz="2400" dirty="0" smtClean="0"/>
              <a:t>full </a:t>
            </a:r>
            <a:r>
              <a:rPr lang="en-US" sz="2400" dirty="0"/>
              <a:t>picture</a:t>
            </a:r>
            <a:r>
              <a:rPr lang="en-US" sz="2400" dirty="0" smtClean="0"/>
              <a:t>.</a:t>
            </a:r>
          </a:p>
          <a:p>
            <a:pPr marL="0" indent="0">
              <a:buNone/>
            </a:pPr>
            <a:r>
              <a:rPr lang="en-US" sz="2400" dirty="0" smtClean="0">
                <a:solidFill>
                  <a:srgbClr val="FF0000"/>
                </a:solidFill>
              </a:rPr>
              <a:t>Creativity: </a:t>
            </a:r>
            <a:r>
              <a:rPr lang="en-US" sz="2400" dirty="0" smtClean="0"/>
              <a:t>is </a:t>
            </a:r>
            <a:r>
              <a:rPr lang="en-US" sz="2400" dirty="0"/>
              <a:t>the inclination to generate or recognize ideas, alternatives, or possibilities that can be valuable in problem-solving, communication, and entertainment. </a:t>
            </a:r>
            <a:endParaRPr lang="en-US" sz="2400" dirty="0" smtClean="0"/>
          </a:p>
          <a:p>
            <a:r>
              <a:rPr lang="en-US" sz="2400" dirty="0" smtClean="0"/>
              <a:t>It </a:t>
            </a:r>
            <a:r>
              <a:rPr lang="en-US" sz="2400" dirty="0"/>
              <a:t>involves the ability to generate new ideas and perceive problems and opportunities from different perspectives. </a:t>
            </a:r>
            <a:endParaRPr lang="en-US" sz="2400" dirty="0" smtClean="0"/>
          </a:p>
          <a:p>
            <a:r>
              <a:rPr lang="en-US" sz="2400" dirty="0" smtClean="0"/>
              <a:t>Creativity </a:t>
            </a:r>
            <a:r>
              <a:rPr lang="en-US" sz="2400" dirty="0"/>
              <a:t>is a process that can be honed through practice, rather than merely an attitude. It leads to the formation of ideas with potential value by combining elements that were previously thought to be unrelated. </a:t>
            </a:r>
            <a:endParaRPr lang="en-US" sz="2400" dirty="0" smtClean="0"/>
          </a:p>
          <a:p>
            <a:r>
              <a:rPr lang="en-US" sz="2400" dirty="0" smtClean="0"/>
              <a:t>Being </a:t>
            </a:r>
            <a:r>
              <a:rPr lang="en-US" sz="2400" dirty="0"/>
              <a:t>creative requires viewing things in new and unexpected ways, generating unique possibilities and alternatives. </a:t>
            </a:r>
            <a:endParaRPr lang="en-US" sz="2400" dirty="0" smtClean="0"/>
          </a:p>
          <a:p>
            <a:r>
              <a:rPr lang="en-US" sz="2400" dirty="0" smtClean="0"/>
              <a:t>This </a:t>
            </a:r>
            <a:r>
              <a:rPr lang="en-US" sz="2400" dirty="0"/>
              <a:t>ability is not random but is connected to other important thinking qualities such as flexibility, tolerance for ambiguity, and a curiosity for the unknown. </a:t>
            </a:r>
            <a:endParaRPr lang="en-US" sz="2400" dirty="0" smtClean="0"/>
          </a:p>
          <a:p>
            <a:r>
              <a:rPr lang="en-US" sz="2400" dirty="0" smtClean="0"/>
              <a:t>Ultimately</a:t>
            </a:r>
            <a:r>
              <a:rPr lang="en-US" sz="2400" dirty="0"/>
              <a:t>, creativity involves developing novel and potentially useful ideas for products, practices, services, or procedures within an organization.</a:t>
            </a:r>
          </a:p>
        </p:txBody>
      </p:sp>
    </p:spTree>
    <p:extLst>
      <p:ext uri="{BB962C8B-B14F-4D97-AF65-F5344CB8AC3E}">
        <p14:creationId xmlns:p14="http://schemas.microsoft.com/office/powerpoint/2010/main" val="1399794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2818"/>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Continues…</a:t>
            </a:r>
            <a:endParaRPr lang="en-US" dirty="0"/>
          </a:p>
        </p:txBody>
      </p:sp>
      <p:sp>
        <p:nvSpPr>
          <p:cNvPr id="3" name="Content Placeholder 2"/>
          <p:cNvSpPr>
            <a:spLocks noGrp="1"/>
          </p:cNvSpPr>
          <p:nvPr>
            <p:ph idx="1"/>
          </p:nvPr>
        </p:nvSpPr>
        <p:spPr>
          <a:xfrm>
            <a:off x="496389" y="1297576"/>
            <a:ext cx="11521440" cy="5364481"/>
          </a:xfrm>
        </p:spPr>
        <p:txBody>
          <a:bodyPr>
            <a:normAutofit fontScale="92500" lnSpcReduction="20000"/>
          </a:bodyPr>
          <a:lstStyle/>
          <a:p>
            <a:pPr marL="0" indent="0">
              <a:buNone/>
            </a:pPr>
            <a:r>
              <a:rPr lang="en-US" b="1" dirty="0">
                <a:solidFill>
                  <a:srgbClr val="FF0000"/>
                </a:solidFill>
              </a:rPr>
              <a:t>Steps in the Creative Process</a:t>
            </a:r>
            <a:r>
              <a:rPr lang="en-US" dirty="0">
                <a:solidFill>
                  <a:srgbClr val="FF0000"/>
                </a:solidFill>
              </a:rPr>
              <a:t> </a:t>
            </a:r>
            <a:r>
              <a:rPr lang="en-US" dirty="0"/>
              <a:t/>
            </a:r>
            <a:br>
              <a:rPr lang="en-US" dirty="0"/>
            </a:br>
            <a:r>
              <a:rPr lang="en-US" dirty="0"/>
              <a:t>Step1: Opportunity or problem </a:t>
            </a:r>
            <a:r>
              <a:rPr lang="en-US" dirty="0" smtClean="0"/>
              <a:t>Recognition</a:t>
            </a:r>
          </a:p>
          <a:p>
            <a:pPr marL="0" indent="0">
              <a:buNone/>
            </a:pPr>
            <a:r>
              <a:rPr lang="en-US" dirty="0"/>
              <a:t>Step2: </a:t>
            </a:r>
            <a:r>
              <a:rPr lang="en-US" dirty="0" smtClean="0"/>
              <a:t>Immersion</a:t>
            </a:r>
          </a:p>
          <a:p>
            <a:pPr marL="0" indent="0">
              <a:buNone/>
            </a:pPr>
            <a:r>
              <a:rPr lang="en-US" dirty="0"/>
              <a:t>Step 3: </a:t>
            </a:r>
            <a:r>
              <a:rPr lang="en-US" dirty="0" smtClean="0"/>
              <a:t>Incubation</a:t>
            </a:r>
          </a:p>
          <a:p>
            <a:pPr marL="0" indent="0">
              <a:buNone/>
            </a:pPr>
            <a:r>
              <a:rPr lang="en-US" dirty="0"/>
              <a:t>Step 4: </a:t>
            </a:r>
            <a:r>
              <a:rPr lang="en-US" dirty="0" smtClean="0"/>
              <a:t>Insight</a:t>
            </a:r>
          </a:p>
          <a:p>
            <a:pPr marL="0" indent="0">
              <a:buNone/>
            </a:pPr>
            <a:r>
              <a:rPr lang="en-US" dirty="0"/>
              <a:t>Step 5: Verification and </a:t>
            </a:r>
            <a:r>
              <a:rPr lang="en-US" dirty="0" smtClean="0"/>
              <a:t>Application</a:t>
            </a:r>
          </a:p>
          <a:p>
            <a:pPr marL="0" indent="0">
              <a:buNone/>
            </a:pPr>
            <a:r>
              <a:rPr lang="en-US" dirty="0">
                <a:solidFill>
                  <a:srgbClr val="FF0000"/>
                </a:solidFill>
              </a:rPr>
              <a:t>Barriers to </a:t>
            </a:r>
            <a:r>
              <a:rPr lang="en-US" dirty="0" smtClean="0">
                <a:solidFill>
                  <a:srgbClr val="FF0000"/>
                </a:solidFill>
              </a:rPr>
              <a:t>Creativity</a:t>
            </a:r>
          </a:p>
          <a:p>
            <a:pPr marL="0" indent="0">
              <a:buNone/>
            </a:pPr>
            <a:r>
              <a:rPr lang="en-US" sz="2600" dirty="0"/>
              <a:t>Be aware that there are numerous barriers to creativity, including:</a:t>
            </a:r>
          </a:p>
          <a:p>
            <a:pPr marL="0" indent="0">
              <a:buNone/>
            </a:pPr>
            <a:r>
              <a:rPr lang="en-US" sz="2600" dirty="0"/>
              <a:t>1. searching for the one ‘right’ answer</a:t>
            </a:r>
          </a:p>
          <a:p>
            <a:pPr marL="0" indent="0">
              <a:buNone/>
            </a:pPr>
            <a:r>
              <a:rPr lang="en-US" sz="2600" dirty="0"/>
              <a:t>2. focusing on being logical</a:t>
            </a:r>
          </a:p>
          <a:p>
            <a:pPr marL="0" indent="0">
              <a:buNone/>
            </a:pPr>
            <a:r>
              <a:rPr lang="en-US" sz="2600" dirty="0"/>
              <a:t>3. blindly following the rules</a:t>
            </a:r>
          </a:p>
          <a:p>
            <a:pPr marL="0" indent="0">
              <a:buNone/>
            </a:pPr>
            <a:r>
              <a:rPr lang="en-US" sz="2600" dirty="0"/>
              <a:t>4. constantly being practical</a:t>
            </a:r>
          </a:p>
          <a:p>
            <a:pPr marL="0" indent="0">
              <a:buNone/>
            </a:pPr>
            <a:r>
              <a:rPr lang="en-US" sz="2600" dirty="0"/>
              <a:t>5. viewing play as frivolous</a:t>
            </a:r>
          </a:p>
        </p:txBody>
      </p:sp>
    </p:spTree>
    <p:extLst>
      <p:ext uri="{BB962C8B-B14F-4D97-AF65-F5344CB8AC3E}">
        <p14:creationId xmlns:p14="http://schemas.microsoft.com/office/powerpoint/2010/main" val="4276726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36063"/>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Continues…</a:t>
            </a:r>
            <a:endParaRPr lang="en-US" sz="2400" dirty="0"/>
          </a:p>
        </p:txBody>
      </p:sp>
      <p:sp>
        <p:nvSpPr>
          <p:cNvPr id="3" name="Content Placeholder 2"/>
          <p:cNvSpPr>
            <a:spLocks noGrp="1"/>
          </p:cNvSpPr>
          <p:nvPr>
            <p:ph idx="1"/>
          </p:nvPr>
        </p:nvSpPr>
        <p:spPr>
          <a:xfrm>
            <a:off x="452846" y="896983"/>
            <a:ext cx="11373394" cy="5730239"/>
          </a:xfrm>
        </p:spPr>
        <p:txBody>
          <a:bodyPr>
            <a:normAutofit/>
          </a:bodyPr>
          <a:lstStyle/>
          <a:p>
            <a:pPr marL="0" indent="0">
              <a:buNone/>
            </a:pPr>
            <a:r>
              <a:rPr lang="en-US" dirty="0" smtClean="0"/>
              <a:t>6. becoming </a:t>
            </a:r>
            <a:r>
              <a:rPr lang="en-US" dirty="0"/>
              <a:t>overly specialized</a:t>
            </a:r>
          </a:p>
          <a:p>
            <a:pPr marL="0" indent="0">
              <a:buNone/>
            </a:pPr>
            <a:r>
              <a:rPr lang="en-US" dirty="0"/>
              <a:t>7. avoiding ambiguity</a:t>
            </a:r>
          </a:p>
          <a:p>
            <a:pPr marL="0" indent="0">
              <a:buNone/>
            </a:pPr>
            <a:r>
              <a:rPr lang="en-US" dirty="0"/>
              <a:t>8. fearing looking foolish</a:t>
            </a:r>
          </a:p>
          <a:p>
            <a:pPr marL="0" indent="0">
              <a:buNone/>
            </a:pPr>
            <a:r>
              <a:rPr lang="en-US" dirty="0"/>
              <a:t>9. fearing mistakes and failure</a:t>
            </a:r>
          </a:p>
          <a:p>
            <a:pPr marL="0" indent="0">
              <a:buNone/>
            </a:pPr>
            <a:r>
              <a:rPr lang="en-US" dirty="0"/>
              <a:t>10. believing that ‘I’m not </a:t>
            </a:r>
            <a:r>
              <a:rPr lang="en-US" dirty="0" smtClean="0"/>
              <a:t>creative</a:t>
            </a:r>
          </a:p>
          <a:p>
            <a:pPr marL="0" indent="0">
              <a:buNone/>
            </a:pPr>
            <a:r>
              <a:rPr lang="en-US" dirty="0"/>
              <a:t> </a:t>
            </a:r>
            <a:r>
              <a:rPr lang="en-US" dirty="0" smtClean="0">
                <a:solidFill>
                  <a:srgbClr val="FF0000"/>
                </a:solidFill>
              </a:rPr>
              <a:t>Innovation</a:t>
            </a:r>
          </a:p>
          <a:p>
            <a:r>
              <a:rPr lang="en-US" dirty="0"/>
              <a:t>Innovation is a vital aspect of the entrepreneurial process and serves as a means to capitalize on opportunities. </a:t>
            </a:r>
          </a:p>
          <a:p>
            <a:r>
              <a:rPr lang="en-US" dirty="0"/>
              <a:t>It involves implementing new ideas at the individual, group, or organizational level. </a:t>
            </a:r>
          </a:p>
          <a:p>
            <a:r>
              <a:rPr lang="en-US" dirty="0"/>
              <a:t>Innovation is a deliberate process of intentional change aimed at creating value by seizing opportunities and seeking advantages.</a:t>
            </a:r>
          </a:p>
          <a:p>
            <a:pPr marL="0" indent="0">
              <a:buNone/>
            </a:pPr>
            <a:endParaRPr lang="en-US" dirty="0">
              <a:solidFill>
                <a:srgbClr val="FF0000"/>
              </a:solidFill>
            </a:endParaRPr>
          </a:p>
        </p:txBody>
      </p:sp>
    </p:spTree>
    <p:extLst>
      <p:ext uri="{BB962C8B-B14F-4D97-AF65-F5344CB8AC3E}">
        <p14:creationId xmlns:p14="http://schemas.microsoft.com/office/powerpoint/2010/main" val="3493068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05732"/>
          </a:xfrm>
        </p:spPr>
        <p:txBody>
          <a:bodyPr>
            <a:normAutofit/>
          </a:bodyPr>
          <a:lstStyle/>
          <a:p>
            <a:r>
              <a:rPr lang="en-US" sz="2400" dirty="0" smtClean="0"/>
              <a:t>Continues…</a:t>
            </a:r>
            <a:endParaRPr lang="en-US" sz="2400" dirty="0"/>
          </a:p>
        </p:txBody>
      </p:sp>
      <p:sp>
        <p:nvSpPr>
          <p:cNvPr id="3" name="Content Placeholder 2"/>
          <p:cNvSpPr>
            <a:spLocks noGrp="1"/>
          </p:cNvSpPr>
          <p:nvPr>
            <p:ph idx="1"/>
          </p:nvPr>
        </p:nvSpPr>
        <p:spPr>
          <a:xfrm>
            <a:off x="339633" y="1097280"/>
            <a:ext cx="11530149" cy="5460274"/>
          </a:xfrm>
        </p:spPr>
        <p:txBody>
          <a:bodyPr>
            <a:normAutofit/>
          </a:bodyPr>
          <a:lstStyle/>
          <a:p>
            <a:pPr marL="0" indent="0">
              <a:buNone/>
            </a:pPr>
            <a:r>
              <a:rPr lang="en-US" dirty="0" smtClean="0"/>
              <a:t>There </a:t>
            </a:r>
            <a:r>
              <a:rPr lang="en-US" dirty="0"/>
              <a:t>are four distinct types of innovation</a:t>
            </a:r>
            <a:r>
              <a:rPr lang="en-US" dirty="0" smtClean="0"/>
              <a:t>:</a:t>
            </a:r>
            <a:endParaRPr lang="en-US" dirty="0"/>
          </a:p>
          <a:p>
            <a:r>
              <a:rPr lang="en-US" dirty="0">
                <a:solidFill>
                  <a:schemeClr val="accent1"/>
                </a:solidFill>
              </a:rPr>
              <a:t>Invention: </a:t>
            </a:r>
            <a:r>
              <a:rPr lang="en-US" dirty="0"/>
              <a:t>This refers to the creation of a completely new product, service, or process that did not exist before</a:t>
            </a:r>
            <a:r>
              <a:rPr lang="en-US" dirty="0" smtClean="0"/>
              <a:t>.</a:t>
            </a:r>
            <a:endParaRPr lang="en-US" dirty="0"/>
          </a:p>
          <a:p>
            <a:r>
              <a:rPr lang="en-US" dirty="0">
                <a:solidFill>
                  <a:schemeClr val="accent1"/>
                </a:solidFill>
              </a:rPr>
              <a:t>Extension: </a:t>
            </a:r>
            <a:r>
              <a:rPr lang="en-US" dirty="0"/>
              <a:t>It involves expanding or extending an existing product, service, or process to reach new markets or meet additional needs</a:t>
            </a:r>
            <a:r>
              <a:rPr lang="en-US" dirty="0" smtClean="0"/>
              <a:t>.</a:t>
            </a:r>
            <a:endParaRPr lang="en-US" dirty="0"/>
          </a:p>
          <a:p>
            <a:r>
              <a:rPr lang="en-US" dirty="0">
                <a:solidFill>
                  <a:schemeClr val="accent1"/>
                </a:solidFill>
              </a:rPr>
              <a:t>Duplication</a:t>
            </a:r>
            <a:r>
              <a:rPr lang="en-US" dirty="0"/>
              <a:t>: This type of innovation involves replicating an already existing product, service, or process, often with improvements or modifications</a:t>
            </a:r>
            <a:r>
              <a:rPr lang="en-US" dirty="0" smtClean="0"/>
              <a:t>.</a:t>
            </a:r>
            <a:endParaRPr lang="en-US" dirty="0"/>
          </a:p>
          <a:p>
            <a:r>
              <a:rPr lang="en-US" dirty="0">
                <a:solidFill>
                  <a:schemeClr val="accent1"/>
                </a:solidFill>
              </a:rPr>
              <a:t>Synthesis</a:t>
            </a:r>
            <a:r>
              <a:rPr lang="en-US" dirty="0"/>
              <a:t>: This type of innovation combines existing concepts and factors to create a new formulation, bringing together different elements to generate innovative solutions</a:t>
            </a:r>
            <a:r>
              <a:rPr lang="en-US" dirty="0" smtClean="0"/>
              <a:t>.</a:t>
            </a:r>
          </a:p>
          <a:p>
            <a:pPr marL="0" indent="0">
              <a:buNone/>
            </a:pPr>
            <a:endParaRPr lang="en-US" dirty="0"/>
          </a:p>
        </p:txBody>
      </p:sp>
    </p:spTree>
    <p:extLst>
      <p:ext uri="{BB962C8B-B14F-4D97-AF65-F5344CB8AC3E}">
        <p14:creationId xmlns:p14="http://schemas.microsoft.com/office/powerpoint/2010/main" val="1490384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8315"/>
          </a:xfrm>
        </p:spPr>
        <p:txBody>
          <a:bodyPr>
            <a:normAutofit/>
          </a:bodyPr>
          <a:lstStyle/>
          <a:p>
            <a:r>
              <a:rPr lang="en-US" sz="2400" b="1" dirty="0" smtClean="0"/>
              <a:t>Continues…..</a:t>
            </a:r>
            <a:endParaRPr lang="en-US" sz="2400" b="1" dirty="0"/>
          </a:p>
        </p:txBody>
      </p:sp>
      <p:sp>
        <p:nvSpPr>
          <p:cNvPr id="3" name="Content Placeholder 2"/>
          <p:cNvSpPr>
            <a:spLocks noGrp="1"/>
          </p:cNvSpPr>
          <p:nvPr>
            <p:ph idx="1"/>
          </p:nvPr>
        </p:nvSpPr>
        <p:spPr>
          <a:xfrm>
            <a:off x="400593" y="940526"/>
            <a:ext cx="11295017" cy="5712823"/>
          </a:xfrm>
        </p:spPr>
        <p:txBody>
          <a:bodyPr>
            <a:normAutofit fontScale="92500" lnSpcReduction="10000"/>
          </a:bodyPr>
          <a:lstStyle/>
          <a:p>
            <a:pPr marL="0" indent="0">
              <a:buNone/>
            </a:pPr>
            <a:r>
              <a:rPr lang="en-US" sz="2400" dirty="0">
                <a:solidFill>
                  <a:srgbClr val="FF0000"/>
                </a:solidFill>
              </a:rPr>
              <a:t>The Innovation </a:t>
            </a:r>
            <a:r>
              <a:rPr lang="en-US" sz="2400" dirty="0" smtClean="0">
                <a:solidFill>
                  <a:srgbClr val="FF0000"/>
                </a:solidFill>
              </a:rPr>
              <a:t>Process</a:t>
            </a:r>
          </a:p>
          <a:p>
            <a:pPr marL="0" indent="0">
              <a:buNone/>
            </a:pPr>
            <a:r>
              <a:rPr lang="en-US" sz="2400" dirty="0" smtClean="0"/>
              <a:t>1. </a:t>
            </a:r>
            <a:r>
              <a:rPr lang="en-US" sz="2000" dirty="0" smtClean="0"/>
              <a:t>Analytical </a:t>
            </a:r>
            <a:r>
              <a:rPr lang="en-US" sz="2000" dirty="0"/>
              <a:t>planning: carefully identifying the product or service features, design </a:t>
            </a:r>
            <a:r>
              <a:rPr lang="en-US" sz="2000" dirty="0" smtClean="0"/>
              <a:t>as well </a:t>
            </a:r>
            <a:r>
              <a:rPr lang="en-US" sz="2000" dirty="0"/>
              <a:t>as the resources that will be needed.</a:t>
            </a:r>
          </a:p>
          <a:p>
            <a:pPr marL="0" indent="0">
              <a:buNone/>
            </a:pPr>
            <a:r>
              <a:rPr lang="en-US" sz="2000" dirty="0"/>
              <a:t>2. Resources organization: obtaining the required resources, materials, </a:t>
            </a:r>
            <a:r>
              <a:rPr lang="en-US" sz="2000" dirty="0" smtClean="0"/>
              <a:t>technology, human </a:t>
            </a:r>
            <a:r>
              <a:rPr lang="en-US" sz="2000" dirty="0"/>
              <a:t>or capital resources</a:t>
            </a:r>
          </a:p>
          <a:p>
            <a:pPr marL="0" indent="0">
              <a:buNone/>
            </a:pPr>
            <a:r>
              <a:rPr lang="en-US" sz="2000" dirty="0"/>
              <a:t>3. Implementation: applying the resources in order to accomplish the plans</a:t>
            </a:r>
          </a:p>
          <a:p>
            <a:pPr marL="0" indent="0">
              <a:buNone/>
            </a:pPr>
            <a:r>
              <a:rPr lang="en-US" sz="2000" dirty="0"/>
              <a:t>4. Commercial application: the provision of values to customers, reward </a:t>
            </a:r>
            <a:r>
              <a:rPr lang="en-US" sz="2000" dirty="0" smtClean="0"/>
              <a:t>employees and </a:t>
            </a:r>
            <a:r>
              <a:rPr lang="en-US" sz="2000" dirty="0"/>
              <a:t>satisfy the stakeholders</a:t>
            </a:r>
            <a:r>
              <a:rPr lang="en-US" sz="2000" dirty="0" smtClean="0"/>
              <a:t>.</a:t>
            </a:r>
          </a:p>
          <a:p>
            <a:pPr marL="0" indent="0">
              <a:buNone/>
            </a:pPr>
            <a:r>
              <a:rPr lang="en-US" sz="2000" dirty="0">
                <a:solidFill>
                  <a:srgbClr val="FF0000"/>
                </a:solidFill>
              </a:rPr>
              <a:t>Areas of </a:t>
            </a:r>
            <a:r>
              <a:rPr lang="en-US" sz="2000" dirty="0" smtClean="0">
                <a:solidFill>
                  <a:srgbClr val="FF0000"/>
                </a:solidFill>
              </a:rPr>
              <a:t>Innovation</a:t>
            </a:r>
          </a:p>
          <a:p>
            <a:pPr marL="457200" indent="-457200">
              <a:buAutoNum type="alphaUcPeriod"/>
            </a:pPr>
            <a:r>
              <a:rPr lang="en-US" sz="2000" dirty="0" smtClean="0"/>
              <a:t>New </a:t>
            </a:r>
            <a:r>
              <a:rPr lang="en-US" sz="2000" dirty="0"/>
              <a:t>product</a:t>
            </a:r>
            <a:r>
              <a:rPr lang="en-US" sz="2000" dirty="0" smtClean="0"/>
              <a:t>,</a:t>
            </a:r>
          </a:p>
          <a:p>
            <a:pPr marL="457200" indent="-457200">
              <a:buAutoNum type="alphaUcPeriod"/>
            </a:pPr>
            <a:r>
              <a:rPr lang="en-US" sz="2000" dirty="0" smtClean="0"/>
              <a:t> </a:t>
            </a:r>
            <a:r>
              <a:rPr lang="en-US" sz="2000" dirty="0"/>
              <a:t>New Services, </a:t>
            </a:r>
            <a:endParaRPr lang="en-US" sz="2000" dirty="0" smtClean="0"/>
          </a:p>
          <a:p>
            <a:pPr marL="457200" indent="-457200">
              <a:buAutoNum type="alphaUcPeriod"/>
            </a:pPr>
            <a:r>
              <a:rPr lang="en-US" sz="2000" dirty="0" smtClean="0"/>
              <a:t>New </a:t>
            </a:r>
            <a:r>
              <a:rPr lang="en-US" sz="2000" dirty="0"/>
              <a:t>Production Techniques, </a:t>
            </a:r>
            <a:endParaRPr lang="en-US" sz="2000" dirty="0" smtClean="0"/>
          </a:p>
          <a:p>
            <a:pPr marL="457200" indent="-457200">
              <a:buAutoNum type="alphaUcPeriod"/>
            </a:pPr>
            <a:r>
              <a:rPr lang="en-US" sz="2000" dirty="0" smtClean="0"/>
              <a:t>New </a:t>
            </a:r>
            <a:r>
              <a:rPr lang="en-US" sz="2000" dirty="0"/>
              <a:t>Way of Delivering the Product or Service to the Customer</a:t>
            </a:r>
            <a:r>
              <a:rPr lang="en-US" sz="2000" dirty="0" smtClean="0"/>
              <a:t>,</a:t>
            </a:r>
          </a:p>
          <a:p>
            <a:pPr marL="457200" indent="-457200">
              <a:buAutoNum type="alphaUcPeriod"/>
            </a:pPr>
            <a:r>
              <a:rPr lang="en-US" sz="2000" dirty="0" smtClean="0"/>
              <a:t> </a:t>
            </a:r>
            <a:r>
              <a:rPr lang="en-US" sz="2000" dirty="0"/>
              <a:t>New Operating Practices, </a:t>
            </a:r>
            <a:endParaRPr lang="en-US" sz="2000" dirty="0" smtClean="0"/>
          </a:p>
          <a:p>
            <a:pPr marL="457200" indent="-457200">
              <a:buAutoNum type="alphaUcPeriod"/>
            </a:pPr>
            <a:r>
              <a:rPr lang="en-US" sz="2000" dirty="0" smtClean="0"/>
              <a:t>New </a:t>
            </a:r>
            <a:r>
              <a:rPr lang="en-US" sz="2000" dirty="0"/>
              <a:t>Means of Informing the Customer about the Product</a:t>
            </a:r>
            <a:r>
              <a:rPr lang="en-US" sz="2000" dirty="0" smtClean="0"/>
              <a:t>,</a:t>
            </a:r>
          </a:p>
          <a:p>
            <a:pPr marL="457200" indent="-457200">
              <a:buAutoNum type="alphaUcPeriod"/>
            </a:pPr>
            <a:r>
              <a:rPr lang="en-US" sz="2000" dirty="0" smtClean="0"/>
              <a:t> </a:t>
            </a:r>
            <a:r>
              <a:rPr lang="en-US" sz="2000" dirty="0"/>
              <a:t>New Means of Managing Relationship within the Organization, </a:t>
            </a:r>
            <a:endParaRPr lang="en-US" sz="2000" dirty="0" smtClean="0"/>
          </a:p>
          <a:p>
            <a:pPr marL="457200" indent="-457200">
              <a:buAutoNum type="alphaUcPeriod"/>
            </a:pPr>
            <a:r>
              <a:rPr lang="en-US" sz="2000" dirty="0" smtClean="0"/>
              <a:t>New </a:t>
            </a:r>
            <a:r>
              <a:rPr lang="en-US" sz="2000" dirty="0"/>
              <a:t>Ways of Managing Relationships between Organizations</a:t>
            </a:r>
            <a:endParaRPr lang="en-US" sz="2000" dirty="0" smtClean="0"/>
          </a:p>
          <a:p>
            <a:pPr marL="0" indent="0">
              <a:buNone/>
            </a:pPr>
            <a:endParaRPr lang="en-US" sz="2400" dirty="0">
              <a:solidFill>
                <a:srgbClr val="FF0000"/>
              </a:solidFill>
            </a:endParaRPr>
          </a:p>
        </p:txBody>
      </p:sp>
    </p:spTree>
    <p:extLst>
      <p:ext uri="{BB962C8B-B14F-4D97-AF65-F5344CB8AC3E}">
        <p14:creationId xmlns:p14="http://schemas.microsoft.com/office/powerpoint/2010/main" val="2043216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8944"/>
          </a:xfrm>
        </p:spPr>
        <p:txBody>
          <a:bodyPr>
            <a:normAutofit fontScale="90000"/>
          </a:bodyPr>
          <a:lstStyle/>
          <a:p>
            <a:r>
              <a:rPr lang="en-US" dirty="0" smtClean="0"/>
              <a:t>Continues…</a:t>
            </a:r>
            <a:endParaRPr lang="en-US" dirty="0"/>
          </a:p>
        </p:txBody>
      </p:sp>
      <p:sp>
        <p:nvSpPr>
          <p:cNvPr id="3" name="Content Placeholder 2"/>
          <p:cNvSpPr>
            <a:spLocks noGrp="1"/>
          </p:cNvSpPr>
          <p:nvPr>
            <p:ph idx="1"/>
          </p:nvPr>
        </p:nvSpPr>
        <p:spPr>
          <a:xfrm>
            <a:off x="838200" y="984070"/>
            <a:ext cx="10515600" cy="5192893"/>
          </a:xfrm>
        </p:spPr>
        <p:txBody>
          <a:bodyPr/>
          <a:lstStyle/>
          <a:p>
            <a:r>
              <a:rPr lang="en-US" dirty="0" smtClean="0"/>
              <a:t>Therefore, </a:t>
            </a:r>
          </a:p>
          <a:p>
            <a:pPr marL="0" indent="0">
              <a:buNone/>
            </a:pPr>
            <a:r>
              <a:rPr lang="en-US" dirty="0"/>
              <a:t>Entrepreneurship = creativity + </a:t>
            </a:r>
            <a:r>
              <a:rPr lang="en-US" dirty="0" smtClean="0"/>
              <a:t>innovation</a:t>
            </a:r>
          </a:p>
          <a:p>
            <a:pPr marL="0" indent="0">
              <a:buNone/>
            </a:pPr>
            <a:endParaRPr lang="en-US" dirty="0"/>
          </a:p>
          <a:p>
            <a:pPr marL="0" indent="0">
              <a:buNone/>
            </a:pPr>
            <a:endParaRPr lang="en-US" dirty="0" smtClean="0"/>
          </a:p>
          <a:p>
            <a:pPr marL="0" indent="0">
              <a:buNone/>
            </a:pPr>
            <a:endParaRPr lang="en-US" dirty="0"/>
          </a:p>
          <a:p>
            <a:pPr marL="0" indent="0" algn="ctr">
              <a:buNone/>
            </a:pPr>
            <a:r>
              <a:rPr lang="en-US" dirty="0" smtClean="0">
                <a:solidFill>
                  <a:schemeClr val="accent1"/>
                </a:solidFill>
              </a:rPr>
              <a:t>Wish U a wonderful Reading!</a:t>
            </a:r>
            <a:endParaRPr lang="en-US" dirty="0">
              <a:solidFill>
                <a:schemeClr val="accent1"/>
              </a:solidFill>
            </a:endParaRPr>
          </a:p>
        </p:txBody>
      </p:sp>
    </p:spTree>
    <p:extLst>
      <p:ext uri="{BB962C8B-B14F-4D97-AF65-F5344CB8AC3E}">
        <p14:creationId xmlns:p14="http://schemas.microsoft.com/office/powerpoint/2010/main" val="2988645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TotalTime>
  <Words>2838</Words>
  <Application>Microsoft Office PowerPoint</Application>
  <PresentationFormat>Widescreen</PresentationFormat>
  <Paragraphs>271</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Addis Ababa Science and Technology University </vt:lpstr>
      <vt:lpstr> Attributes/ elements of Entrepreneurship: </vt:lpstr>
      <vt:lpstr>Continues…</vt:lpstr>
      <vt:lpstr>Types of Entrepreneurs </vt:lpstr>
      <vt:lpstr>Role of Entrepreneurs in Economic Development:</vt:lpstr>
      <vt:lpstr>Continues..</vt:lpstr>
      <vt:lpstr>Continues..</vt:lpstr>
      <vt:lpstr>Continues..</vt:lpstr>
      <vt:lpstr>Continues..</vt:lpstr>
      <vt:lpstr>Continues…</vt:lpstr>
      <vt:lpstr>Continues….</vt:lpstr>
      <vt:lpstr>Continues…</vt:lpstr>
      <vt:lpstr>Continues… </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lpstr>Continues…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Administrative &amp; Business Communication </dc:title>
  <dc:creator>Windows User</dc:creator>
  <cp:lastModifiedBy>Windows User</cp:lastModifiedBy>
  <cp:revision>99</cp:revision>
  <dcterms:created xsi:type="dcterms:W3CDTF">2023-11-01T16:33:59Z</dcterms:created>
  <dcterms:modified xsi:type="dcterms:W3CDTF">2025-11-25T10:56:15Z</dcterms:modified>
</cp:coreProperties>
</file>