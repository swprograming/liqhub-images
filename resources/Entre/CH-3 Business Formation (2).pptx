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258" r:id="rId2"/>
    <p:sldId id="285" r:id="rId3"/>
    <p:sldId id="286" r:id="rId4"/>
    <p:sldId id="287" r:id="rId5"/>
    <p:sldId id="288" r:id="rId6"/>
    <p:sldId id="289" r:id="rId7"/>
    <p:sldId id="321" r:id="rId8"/>
    <p:sldId id="322" r:id="rId9"/>
    <p:sldId id="291" r:id="rId10"/>
    <p:sldId id="292" r:id="rId11"/>
    <p:sldId id="293" r:id="rId12"/>
    <p:sldId id="294" r:id="rId13"/>
    <p:sldId id="295" r:id="rId14"/>
    <p:sldId id="325" r:id="rId15"/>
    <p:sldId id="302" r:id="rId16"/>
    <p:sldId id="303" r:id="rId17"/>
    <p:sldId id="304" r:id="rId18"/>
    <p:sldId id="305" r:id="rId19"/>
    <p:sldId id="306" r:id="rId20"/>
    <p:sldId id="307" r:id="rId21"/>
    <p:sldId id="308" r:id="rId22"/>
    <p:sldId id="309" r:id="rId23"/>
    <p:sldId id="310" r:id="rId24"/>
    <p:sldId id="311" r:id="rId25"/>
    <p:sldId id="312" r:id="rId26"/>
    <p:sldId id="329" r:id="rId27"/>
    <p:sldId id="330" r:id="rId28"/>
    <p:sldId id="331" r:id="rId29"/>
    <p:sldId id="314" r:id="rId30"/>
    <p:sldId id="315" r:id="rId31"/>
    <p:sldId id="316" r:id="rId32"/>
    <p:sldId id="332" r:id="rId33"/>
    <p:sldId id="317" r:id="rId34"/>
    <p:sldId id="318" r:id="rId35"/>
    <p:sldId id="319" r:id="rId36"/>
    <p:sldId id="320" r:id="rId37"/>
    <p:sldId id="283"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128" y="80"/>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63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770CB8-D465-452C-A8DD-7E4D0F8C5A22}" type="doc">
      <dgm:prSet loTypeId="urn:microsoft.com/office/officeart/2005/8/layout/process2" loCatId="process" qsTypeId="urn:microsoft.com/office/officeart/2005/8/quickstyle/simple1" qsCatId="simple" csTypeId="urn:microsoft.com/office/officeart/2005/8/colors/accent1_2" csCatId="accent1" phldr="1"/>
      <dgm:spPr/>
    </dgm:pt>
    <dgm:pt modelId="{2BE8B127-C662-44F2-8FEC-5148814D548D}">
      <dgm:prSet phldrT="[Text]" custT="1"/>
      <dgm:spPr/>
      <dgm:t>
        <a:bodyPr/>
        <a:lstStyle/>
        <a:p>
          <a:r>
            <a:rPr lang="en-US" sz="1800" dirty="0">
              <a:latin typeface="+mj-lt"/>
            </a:rPr>
            <a:t>Macro </a:t>
          </a:r>
        </a:p>
        <a:p>
          <a:r>
            <a:rPr lang="en-US" sz="1800" dirty="0">
              <a:latin typeface="+mj-lt"/>
            </a:rPr>
            <a:t>Environmental </a:t>
          </a:r>
          <a:r>
            <a:rPr lang="en-US" sz="1800" dirty="0" smtClean="0">
              <a:latin typeface="+mj-lt"/>
            </a:rPr>
            <a:t>Analysis</a:t>
          </a:r>
          <a:endParaRPr lang="en-US" sz="1800" dirty="0">
            <a:latin typeface="+mj-lt"/>
          </a:endParaRPr>
        </a:p>
      </dgm:t>
    </dgm:pt>
    <dgm:pt modelId="{CC537005-0A36-4628-A775-DE588CB9CB98}" type="parTrans" cxnId="{4C607502-AA81-475C-B1CA-CB85D733FFD9}">
      <dgm:prSet/>
      <dgm:spPr/>
      <dgm:t>
        <a:bodyPr/>
        <a:lstStyle/>
        <a:p>
          <a:endParaRPr lang="en-US"/>
        </a:p>
      </dgm:t>
    </dgm:pt>
    <dgm:pt modelId="{DA76B808-A19C-4727-BB5C-576110C1BF37}" type="sibTrans" cxnId="{4C607502-AA81-475C-B1CA-CB85D733FFD9}">
      <dgm:prSet/>
      <dgm:spPr/>
      <dgm:t>
        <a:bodyPr/>
        <a:lstStyle/>
        <a:p>
          <a:endParaRPr lang="en-US"/>
        </a:p>
      </dgm:t>
    </dgm:pt>
    <dgm:pt modelId="{DDF5CC5F-600F-4D0A-A5B6-577349120C74}">
      <dgm:prSet phldrT="[Text]" custT="1"/>
      <dgm:spPr/>
      <dgm:t>
        <a:bodyPr/>
        <a:lstStyle/>
        <a:p>
          <a:r>
            <a:rPr lang="en-US" sz="1800" dirty="0">
              <a:latin typeface="+mj-lt"/>
            </a:rPr>
            <a:t>Sectoral Analysis</a:t>
          </a:r>
        </a:p>
      </dgm:t>
    </dgm:pt>
    <dgm:pt modelId="{2E46CA86-2A78-4D1C-B34A-32D778D0001C}" type="parTrans" cxnId="{2DE04A40-22AA-48EC-AEC0-C05EDD01E9E5}">
      <dgm:prSet/>
      <dgm:spPr/>
      <dgm:t>
        <a:bodyPr/>
        <a:lstStyle/>
        <a:p>
          <a:endParaRPr lang="en-US"/>
        </a:p>
      </dgm:t>
    </dgm:pt>
    <dgm:pt modelId="{0D3392B6-E906-47FB-A657-3C8D45386BE5}" type="sibTrans" cxnId="{2DE04A40-22AA-48EC-AEC0-C05EDD01E9E5}">
      <dgm:prSet/>
      <dgm:spPr/>
      <dgm:t>
        <a:bodyPr/>
        <a:lstStyle/>
        <a:p>
          <a:endParaRPr lang="en-US"/>
        </a:p>
      </dgm:t>
    </dgm:pt>
    <dgm:pt modelId="{E9A7502F-1C03-4A84-B52B-AA155B6C4A13}">
      <dgm:prSet phldrT="[Text]" custT="1"/>
      <dgm:spPr/>
      <dgm:t>
        <a:bodyPr/>
        <a:lstStyle/>
        <a:p>
          <a:r>
            <a:rPr lang="en-US" sz="1800">
              <a:latin typeface="+mj-lt"/>
            </a:rPr>
            <a:t>SWOT Analysis</a:t>
          </a:r>
        </a:p>
      </dgm:t>
    </dgm:pt>
    <dgm:pt modelId="{08BBF38D-CE3C-49DA-9062-F4F4B99160F7}" type="parTrans" cxnId="{C95C3D36-8917-4535-A95B-A6B4CC047FB7}">
      <dgm:prSet/>
      <dgm:spPr/>
      <dgm:t>
        <a:bodyPr/>
        <a:lstStyle/>
        <a:p>
          <a:endParaRPr lang="en-US"/>
        </a:p>
      </dgm:t>
    </dgm:pt>
    <dgm:pt modelId="{B1E2084D-E37C-46B6-82B7-EF8024E751DC}" type="sibTrans" cxnId="{C95C3D36-8917-4535-A95B-A6B4CC047FB7}">
      <dgm:prSet/>
      <dgm:spPr/>
      <dgm:t>
        <a:bodyPr/>
        <a:lstStyle/>
        <a:p>
          <a:endParaRPr lang="en-US"/>
        </a:p>
      </dgm:t>
    </dgm:pt>
    <dgm:pt modelId="{BFED8AB5-98B5-4B02-BB08-C808630628B8}">
      <dgm:prSet phldrT="[Text]" custT="1"/>
      <dgm:spPr/>
      <dgm:t>
        <a:bodyPr/>
        <a:lstStyle/>
        <a:p>
          <a:r>
            <a:rPr lang="en-US" sz="1800">
              <a:latin typeface="+mj-lt"/>
            </a:rPr>
            <a:t>Product/Service</a:t>
          </a:r>
        </a:p>
      </dgm:t>
    </dgm:pt>
    <dgm:pt modelId="{EC54AC12-F35C-4B39-A58C-52D27CD2D7EA}" type="parTrans" cxnId="{BE98E325-549C-4ABD-92AE-E31E022906AF}">
      <dgm:prSet/>
      <dgm:spPr/>
      <dgm:t>
        <a:bodyPr/>
        <a:lstStyle/>
        <a:p>
          <a:endParaRPr lang="en-US"/>
        </a:p>
      </dgm:t>
    </dgm:pt>
    <dgm:pt modelId="{DA3CE910-62DB-4E3E-A3B2-666E879F39F3}" type="sibTrans" cxnId="{BE98E325-549C-4ABD-92AE-E31E022906AF}">
      <dgm:prSet/>
      <dgm:spPr/>
      <dgm:t>
        <a:bodyPr/>
        <a:lstStyle/>
        <a:p>
          <a:endParaRPr lang="en-US"/>
        </a:p>
      </dgm:t>
    </dgm:pt>
    <dgm:pt modelId="{84EC7890-494A-47CF-B895-B8CB49498E92}" type="pres">
      <dgm:prSet presAssocID="{B6770CB8-D465-452C-A8DD-7E4D0F8C5A22}" presName="linearFlow" presStyleCnt="0">
        <dgm:presLayoutVars>
          <dgm:resizeHandles val="exact"/>
        </dgm:presLayoutVars>
      </dgm:prSet>
      <dgm:spPr/>
    </dgm:pt>
    <dgm:pt modelId="{5E34A750-428A-4E62-94B9-A36E41F8390B}" type="pres">
      <dgm:prSet presAssocID="{2BE8B127-C662-44F2-8FEC-5148814D548D}" presName="node" presStyleLbl="node1" presStyleIdx="0" presStyleCnt="4" custScaleX="197280">
        <dgm:presLayoutVars>
          <dgm:bulletEnabled val="1"/>
        </dgm:presLayoutVars>
      </dgm:prSet>
      <dgm:spPr/>
      <dgm:t>
        <a:bodyPr/>
        <a:lstStyle/>
        <a:p>
          <a:endParaRPr lang="en-US"/>
        </a:p>
      </dgm:t>
    </dgm:pt>
    <dgm:pt modelId="{20126974-A2D5-42CE-96EC-08D1250B785C}" type="pres">
      <dgm:prSet presAssocID="{DA76B808-A19C-4727-BB5C-576110C1BF37}" presName="sibTrans" presStyleLbl="sibTrans2D1" presStyleIdx="0" presStyleCnt="3"/>
      <dgm:spPr/>
      <dgm:t>
        <a:bodyPr/>
        <a:lstStyle/>
        <a:p>
          <a:endParaRPr lang="en-US"/>
        </a:p>
      </dgm:t>
    </dgm:pt>
    <dgm:pt modelId="{F59DF444-3EAF-4890-B3D7-A98891BD5F05}" type="pres">
      <dgm:prSet presAssocID="{DA76B808-A19C-4727-BB5C-576110C1BF37}" presName="connectorText" presStyleLbl="sibTrans2D1" presStyleIdx="0" presStyleCnt="3"/>
      <dgm:spPr/>
      <dgm:t>
        <a:bodyPr/>
        <a:lstStyle/>
        <a:p>
          <a:endParaRPr lang="en-US"/>
        </a:p>
      </dgm:t>
    </dgm:pt>
    <dgm:pt modelId="{19228817-6F19-4B2B-B36A-7984741E5F9F}" type="pres">
      <dgm:prSet presAssocID="{DDF5CC5F-600F-4D0A-A5B6-577349120C74}" presName="node" presStyleLbl="node1" presStyleIdx="1" presStyleCnt="4" custScaleX="197280">
        <dgm:presLayoutVars>
          <dgm:bulletEnabled val="1"/>
        </dgm:presLayoutVars>
      </dgm:prSet>
      <dgm:spPr/>
      <dgm:t>
        <a:bodyPr/>
        <a:lstStyle/>
        <a:p>
          <a:endParaRPr lang="en-US"/>
        </a:p>
      </dgm:t>
    </dgm:pt>
    <dgm:pt modelId="{0F07593C-778E-4D8D-8FD0-6C9EEB5E1680}" type="pres">
      <dgm:prSet presAssocID="{0D3392B6-E906-47FB-A657-3C8D45386BE5}" presName="sibTrans" presStyleLbl="sibTrans2D1" presStyleIdx="1" presStyleCnt="3"/>
      <dgm:spPr/>
      <dgm:t>
        <a:bodyPr/>
        <a:lstStyle/>
        <a:p>
          <a:endParaRPr lang="en-US"/>
        </a:p>
      </dgm:t>
    </dgm:pt>
    <dgm:pt modelId="{77999F62-355B-4AB9-BE6D-D35D3B60EABD}" type="pres">
      <dgm:prSet presAssocID="{0D3392B6-E906-47FB-A657-3C8D45386BE5}" presName="connectorText" presStyleLbl="sibTrans2D1" presStyleIdx="1" presStyleCnt="3"/>
      <dgm:spPr/>
      <dgm:t>
        <a:bodyPr/>
        <a:lstStyle/>
        <a:p>
          <a:endParaRPr lang="en-US"/>
        </a:p>
      </dgm:t>
    </dgm:pt>
    <dgm:pt modelId="{69856630-D234-44C8-BDB3-711A4A5E1F69}" type="pres">
      <dgm:prSet presAssocID="{E9A7502F-1C03-4A84-B52B-AA155B6C4A13}" presName="node" presStyleLbl="node1" presStyleIdx="2" presStyleCnt="4" custScaleX="197280">
        <dgm:presLayoutVars>
          <dgm:bulletEnabled val="1"/>
        </dgm:presLayoutVars>
      </dgm:prSet>
      <dgm:spPr/>
      <dgm:t>
        <a:bodyPr/>
        <a:lstStyle/>
        <a:p>
          <a:endParaRPr lang="en-US"/>
        </a:p>
      </dgm:t>
    </dgm:pt>
    <dgm:pt modelId="{2C996EA1-29C1-4A87-ABAB-E5D4EA651A6B}" type="pres">
      <dgm:prSet presAssocID="{B1E2084D-E37C-46B6-82B7-EF8024E751DC}" presName="sibTrans" presStyleLbl="sibTrans2D1" presStyleIdx="2" presStyleCnt="3"/>
      <dgm:spPr/>
      <dgm:t>
        <a:bodyPr/>
        <a:lstStyle/>
        <a:p>
          <a:endParaRPr lang="en-US"/>
        </a:p>
      </dgm:t>
    </dgm:pt>
    <dgm:pt modelId="{49133BA5-4C13-4412-BD9D-4E7B1B6F37A2}" type="pres">
      <dgm:prSet presAssocID="{B1E2084D-E37C-46B6-82B7-EF8024E751DC}" presName="connectorText" presStyleLbl="sibTrans2D1" presStyleIdx="2" presStyleCnt="3"/>
      <dgm:spPr/>
      <dgm:t>
        <a:bodyPr/>
        <a:lstStyle/>
        <a:p>
          <a:endParaRPr lang="en-US"/>
        </a:p>
      </dgm:t>
    </dgm:pt>
    <dgm:pt modelId="{8A727F07-F8B5-472E-8565-DD382DB35C33}" type="pres">
      <dgm:prSet presAssocID="{BFED8AB5-98B5-4B02-BB08-C808630628B8}" presName="node" presStyleLbl="node1" presStyleIdx="3" presStyleCnt="4" custScaleX="197280">
        <dgm:presLayoutVars>
          <dgm:bulletEnabled val="1"/>
        </dgm:presLayoutVars>
      </dgm:prSet>
      <dgm:spPr/>
      <dgm:t>
        <a:bodyPr/>
        <a:lstStyle/>
        <a:p>
          <a:endParaRPr lang="en-US"/>
        </a:p>
      </dgm:t>
    </dgm:pt>
  </dgm:ptLst>
  <dgm:cxnLst>
    <dgm:cxn modelId="{321D92FC-27EB-405A-8A69-B3C7E0A08E63}" type="presOf" srcId="{DA76B808-A19C-4727-BB5C-576110C1BF37}" destId="{F59DF444-3EAF-4890-B3D7-A98891BD5F05}" srcOrd="1" destOrd="0" presId="urn:microsoft.com/office/officeart/2005/8/layout/process2"/>
    <dgm:cxn modelId="{4C607502-AA81-475C-B1CA-CB85D733FFD9}" srcId="{B6770CB8-D465-452C-A8DD-7E4D0F8C5A22}" destId="{2BE8B127-C662-44F2-8FEC-5148814D548D}" srcOrd="0" destOrd="0" parTransId="{CC537005-0A36-4628-A775-DE588CB9CB98}" sibTransId="{DA76B808-A19C-4727-BB5C-576110C1BF37}"/>
    <dgm:cxn modelId="{0A313F35-5659-4B04-A599-18DF22BF0998}" type="presOf" srcId="{B6770CB8-D465-452C-A8DD-7E4D0F8C5A22}" destId="{84EC7890-494A-47CF-B895-B8CB49498E92}" srcOrd="0" destOrd="0" presId="urn:microsoft.com/office/officeart/2005/8/layout/process2"/>
    <dgm:cxn modelId="{81FFB8CC-222F-4D45-BD9C-7D6B84021A0E}" type="presOf" srcId="{B1E2084D-E37C-46B6-82B7-EF8024E751DC}" destId="{2C996EA1-29C1-4A87-ABAB-E5D4EA651A6B}" srcOrd="0" destOrd="0" presId="urn:microsoft.com/office/officeart/2005/8/layout/process2"/>
    <dgm:cxn modelId="{E2BC419D-6175-47D9-9E08-B17F6F3D3745}" type="presOf" srcId="{DA76B808-A19C-4727-BB5C-576110C1BF37}" destId="{20126974-A2D5-42CE-96EC-08D1250B785C}" srcOrd="0" destOrd="0" presId="urn:microsoft.com/office/officeart/2005/8/layout/process2"/>
    <dgm:cxn modelId="{BE98E325-549C-4ABD-92AE-E31E022906AF}" srcId="{B6770CB8-D465-452C-A8DD-7E4D0F8C5A22}" destId="{BFED8AB5-98B5-4B02-BB08-C808630628B8}" srcOrd="3" destOrd="0" parTransId="{EC54AC12-F35C-4B39-A58C-52D27CD2D7EA}" sibTransId="{DA3CE910-62DB-4E3E-A3B2-666E879F39F3}"/>
    <dgm:cxn modelId="{DEF3325F-998B-4540-977A-023A518843D2}" type="presOf" srcId="{B1E2084D-E37C-46B6-82B7-EF8024E751DC}" destId="{49133BA5-4C13-4412-BD9D-4E7B1B6F37A2}" srcOrd="1" destOrd="0" presId="urn:microsoft.com/office/officeart/2005/8/layout/process2"/>
    <dgm:cxn modelId="{A8512B3A-9F38-4459-8BF0-8A9D54EE7EB9}" type="presOf" srcId="{DDF5CC5F-600F-4D0A-A5B6-577349120C74}" destId="{19228817-6F19-4B2B-B36A-7984741E5F9F}" srcOrd="0" destOrd="0" presId="urn:microsoft.com/office/officeart/2005/8/layout/process2"/>
    <dgm:cxn modelId="{C95C3D36-8917-4535-A95B-A6B4CC047FB7}" srcId="{B6770CB8-D465-452C-A8DD-7E4D0F8C5A22}" destId="{E9A7502F-1C03-4A84-B52B-AA155B6C4A13}" srcOrd="2" destOrd="0" parTransId="{08BBF38D-CE3C-49DA-9062-F4F4B99160F7}" sibTransId="{B1E2084D-E37C-46B6-82B7-EF8024E751DC}"/>
    <dgm:cxn modelId="{1641D299-5B59-4ECB-9653-37F3D52E8185}" type="presOf" srcId="{0D3392B6-E906-47FB-A657-3C8D45386BE5}" destId="{77999F62-355B-4AB9-BE6D-D35D3B60EABD}" srcOrd="1" destOrd="0" presId="urn:microsoft.com/office/officeart/2005/8/layout/process2"/>
    <dgm:cxn modelId="{9390284E-706C-425F-A909-7659BD28353D}" type="presOf" srcId="{E9A7502F-1C03-4A84-B52B-AA155B6C4A13}" destId="{69856630-D234-44C8-BDB3-711A4A5E1F69}" srcOrd="0" destOrd="0" presId="urn:microsoft.com/office/officeart/2005/8/layout/process2"/>
    <dgm:cxn modelId="{8A35AF4F-9F38-4BAF-9ED3-161B60EBE735}" type="presOf" srcId="{BFED8AB5-98B5-4B02-BB08-C808630628B8}" destId="{8A727F07-F8B5-472E-8565-DD382DB35C33}" srcOrd="0" destOrd="0" presId="urn:microsoft.com/office/officeart/2005/8/layout/process2"/>
    <dgm:cxn modelId="{EE39D8F6-BC68-4E4C-83D7-387C2532AC18}" type="presOf" srcId="{0D3392B6-E906-47FB-A657-3C8D45386BE5}" destId="{0F07593C-778E-4D8D-8FD0-6C9EEB5E1680}" srcOrd="0" destOrd="0" presId="urn:microsoft.com/office/officeart/2005/8/layout/process2"/>
    <dgm:cxn modelId="{2DE04A40-22AA-48EC-AEC0-C05EDD01E9E5}" srcId="{B6770CB8-D465-452C-A8DD-7E4D0F8C5A22}" destId="{DDF5CC5F-600F-4D0A-A5B6-577349120C74}" srcOrd="1" destOrd="0" parTransId="{2E46CA86-2A78-4D1C-B34A-32D778D0001C}" sibTransId="{0D3392B6-E906-47FB-A657-3C8D45386BE5}"/>
    <dgm:cxn modelId="{B0F0457F-47A6-4ED1-9D09-1779142D8B68}" type="presOf" srcId="{2BE8B127-C662-44F2-8FEC-5148814D548D}" destId="{5E34A750-428A-4E62-94B9-A36E41F8390B}" srcOrd="0" destOrd="0" presId="urn:microsoft.com/office/officeart/2005/8/layout/process2"/>
    <dgm:cxn modelId="{17344689-0229-4E16-BD33-0812C4DFB43B}" type="presParOf" srcId="{84EC7890-494A-47CF-B895-B8CB49498E92}" destId="{5E34A750-428A-4E62-94B9-A36E41F8390B}" srcOrd="0" destOrd="0" presId="urn:microsoft.com/office/officeart/2005/8/layout/process2"/>
    <dgm:cxn modelId="{CBD259FF-3600-4FD7-BEDE-969E3E81C16F}" type="presParOf" srcId="{84EC7890-494A-47CF-B895-B8CB49498E92}" destId="{20126974-A2D5-42CE-96EC-08D1250B785C}" srcOrd="1" destOrd="0" presId="urn:microsoft.com/office/officeart/2005/8/layout/process2"/>
    <dgm:cxn modelId="{B4C71EFC-7398-4AF3-B1FB-B7ED65F3E067}" type="presParOf" srcId="{20126974-A2D5-42CE-96EC-08D1250B785C}" destId="{F59DF444-3EAF-4890-B3D7-A98891BD5F05}" srcOrd="0" destOrd="0" presId="urn:microsoft.com/office/officeart/2005/8/layout/process2"/>
    <dgm:cxn modelId="{3E596A04-6FB1-4317-A89B-B42A8C0AD01D}" type="presParOf" srcId="{84EC7890-494A-47CF-B895-B8CB49498E92}" destId="{19228817-6F19-4B2B-B36A-7984741E5F9F}" srcOrd="2" destOrd="0" presId="urn:microsoft.com/office/officeart/2005/8/layout/process2"/>
    <dgm:cxn modelId="{E53D363D-6156-4DC5-9909-5E34DF960C85}" type="presParOf" srcId="{84EC7890-494A-47CF-B895-B8CB49498E92}" destId="{0F07593C-778E-4D8D-8FD0-6C9EEB5E1680}" srcOrd="3" destOrd="0" presId="urn:microsoft.com/office/officeart/2005/8/layout/process2"/>
    <dgm:cxn modelId="{877D523E-E4DA-41FF-8B12-3A23BF4231A2}" type="presParOf" srcId="{0F07593C-778E-4D8D-8FD0-6C9EEB5E1680}" destId="{77999F62-355B-4AB9-BE6D-D35D3B60EABD}" srcOrd="0" destOrd="0" presId="urn:microsoft.com/office/officeart/2005/8/layout/process2"/>
    <dgm:cxn modelId="{A85BFC72-514A-49C6-8036-CE453F961534}" type="presParOf" srcId="{84EC7890-494A-47CF-B895-B8CB49498E92}" destId="{69856630-D234-44C8-BDB3-711A4A5E1F69}" srcOrd="4" destOrd="0" presId="urn:microsoft.com/office/officeart/2005/8/layout/process2"/>
    <dgm:cxn modelId="{5451E433-7333-4A00-B1B5-4DEF43EB22FE}" type="presParOf" srcId="{84EC7890-494A-47CF-B895-B8CB49498E92}" destId="{2C996EA1-29C1-4A87-ABAB-E5D4EA651A6B}" srcOrd="5" destOrd="0" presId="urn:microsoft.com/office/officeart/2005/8/layout/process2"/>
    <dgm:cxn modelId="{D0D02D90-F701-4841-B3A5-F6DA0DD3109F}" type="presParOf" srcId="{2C996EA1-29C1-4A87-ABAB-E5D4EA651A6B}" destId="{49133BA5-4C13-4412-BD9D-4E7B1B6F37A2}" srcOrd="0" destOrd="0" presId="urn:microsoft.com/office/officeart/2005/8/layout/process2"/>
    <dgm:cxn modelId="{548A4FF2-782E-4C1A-BC97-7CCF28D9FC91}" type="presParOf" srcId="{84EC7890-494A-47CF-B895-B8CB49498E92}" destId="{8A727F07-F8B5-472E-8565-DD382DB35C33}"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34A750-428A-4E62-94B9-A36E41F8390B}">
      <dsp:nvSpPr>
        <dsp:cNvPr id="0" name=""/>
        <dsp:cNvSpPr/>
      </dsp:nvSpPr>
      <dsp:spPr>
        <a:xfrm>
          <a:off x="1486952" y="4417"/>
          <a:ext cx="5255694" cy="8212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latin typeface="+mj-lt"/>
            </a:rPr>
            <a:t>Macro </a:t>
          </a:r>
        </a:p>
        <a:p>
          <a:pPr lvl="0" algn="ctr" defTabSz="800100">
            <a:lnSpc>
              <a:spcPct val="90000"/>
            </a:lnSpc>
            <a:spcBef>
              <a:spcPct val="0"/>
            </a:spcBef>
            <a:spcAft>
              <a:spcPct val="35000"/>
            </a:spcAft>
          </a:pPr>
          <a:r>
            <a:rPr lang="en-US" sz="1800" kern="1200" dirty="0">
              <a:latin typeface="+mj-lt"/>
            </a:rPr>
            <a:t>Environmental </a:t>
          </a:r>
          <a:r>
            <a:rPr lang="en-US" sz="1800" kern="1200" dirty="0" smtClean="0">
              <a:latin typeface="+mj-lt"/>
            </a:rPr>
            <a:t>Analysis</a:t>
          </a:r>
          <a:endParaRPr lang="en-US" sz="1800" kern="1200" dirty="0">
            <a:latin typeface="+mj-lt"/>
          </a:endParaRPr>
        </a:p>
      </dsp:txBody>
      <dsp:txXfrm>
        <a:off x="1511007" y="28472"/>
        <a:ext cx="5207584" cy="773185"/>
      </dsp:txXfrm>
    </dsp:sp>
    <dsp:sp modelId="{20126974-A2D5-42CE-96EC-08D1250B785C}">
      <dsp:nvSpPr>
        <dsp:cNvPr id="0" name=""/>
        <dsp:cNvSpPr/>
      </dsp:nvSpPr>
      <dsp:spPr>
        <a:xfrm rot="5400000">
          <a:off x="3960807" y="846246"/>
          <a:ext cx="307985" cy="3695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n-US" sz="1300" kern="1200"/>
        </a:p>
      </dsp:txBody>
      <dsp:txXfrm rot="-5400000">
        <a:off x="4003926" y="877045"/>
        <a:ext cx="221749" cy="215590"/>
      </dsp:txXfrm>
    </dsp:sp>
    <dsp:sp modelId="{19228817-6F19-4B2B-B36A-7984741E5F9F}">
      <dsp:nvSpPr>
        <dsp:cNvPr id="0" name=""/>
        <dsp:cNvSpPr/>
      </dsp:nvSpPr>
      <dsp:spPr>
        <a:xfrm>
          <a:off x="1486952" y="1236361"/>
          <a:ext cx="5255694" cy="8212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latin typeface="+mj-lt"/>
            </a:rPr>
            <a:t>Sectoral Analysis</a:t>
          </a:r>
        </a:p>
      </dsp:txBody>
      <dsp:txXfrm>
        <a:off x="1511007" y="1260416"/>
        <a:ext cx="5207584" cy="773185"/>
      </dsp:txXfrm>
    </dsp:sp>
    <dsp:sp modelId="{0F07593C-778E-4D8D-8FD0-6C9EEB5E1680}">
      <dsp:nvSpPr>
        <dsp:cNvPr id="0" name=""/>
        <dsp:cNvSpPr/>
      </dsp:nvSpPr>
      <dsp:spPr>
        <a:xfrm rot="5400000">
          <a:off x="3960807" y="2078189"/>
          <a:ext cx="307985" cy="3695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n-US" sz="1300" kern="1200"/>
        </a:p>
      </dsp:txBody>
      <dsp:txXfrm rot="-5400000">
        <a:off x="4003926" y="2108988"/>
        <a:ext cx="221749" cy="215590"/>
      </dsp:txXfrm>
    </dsp:sp>
    <dsp:sp modelId="{69856630-D234-44C8-BDB3-711A4A5E1F69}">
      <dsp:nvSpPr>
        <dsp:cNvPr id="0" name=""/>
        <dsp:cNvSpPr/>
      </dsp:nvSpPr>
      <dsp:spPr>
        <a:xfrm>
          <a:off x="1486952" y="2468305"/>
          <a:ext cx="5255694" cy="8212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a:latin typeface="+mj-lt"/>
            </a:rPr>
            <a:t>SWOT Analysis</a:t>
          </a:r>
        </a:p>
      </dsp:txBody>
      <dsp:txXfrm>
        <a:off x="1511007" y="2492360"/>
        <a:ext cx="5207584" cy="773185"/>
      </dsp:txXfrm>
    </dsp:sp>
    <dsp:sp modelId="{2C996EA1-29C1-4A87-ABAB-E5D4EA651A6B}">
      <dsp:nvSpPr>
        <dsp:cNvPr id="0" name=""/>
        <dsp:cNvSpPr/>
      </dsp:nvSpPr>
      <dsp:spPr>
        <a:xfrm rot="5400000">
          <a:off x="3960807" y="3310133"/>
          <a:ext cx="307985" cy="3695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n-US" sz="1300" kern="1200"/>
        </a:p>
      </dsp:txBody>
      <dsp:txXfrm rot="-5400000">
        <a:off x="4003926" y="3340932"/>
        <a:ext cx="221749" cy="215590"/>
      </dsp:txXfrm>
    </dsp:sp>
    <dsp:sp modelId="{8A727F07-F8B5-472E-8565-DD382DB35C33}">
      <dsp:nvSpPr>
        <dsp:cNvPr id="0" name=""/>
        <dsp:cNvSpPr/>
      </dsp:nvSpPr>
      <dsp:spPr>
        <a:xfrm>
          <a:off x="1486952" y="3700249"/>
          <a:ext cx="5255694" cy="8212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a:latin typeface="+mj-lt"/>
            </a:rPr>
            <a:t>Product/Service</a:t>
          </a:r>
        </a:p>
      </dsp:txBody>
      <dsp:txXfrm>
        <a:off x="1511007" y="3724304"/>
        <a:ext cx="5207584" cy="773185"/>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4606B48-D486-4EDE-829B-C5142277330C}" type="datetimeFigureOut">
              <a:rPr lang="en-US" smtClean="0"/>
              <a:pPr/>
              <a:t>4/2/2025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E8AB7B4-20B8-48E8-A770-CBC86B781843}" type="slidenum">
              <a:rPr lang="en-US" smtClean="0"/>
              <a:pPr/>
              <a:t>‹#›</a:t>
            </a:fld>
            <a:endParaRPr lang="en-US"/>
          </a:p>
        </p:txBody>
      </p:sp>
    </p:spTree>
    <p:extLst>
      <p:ext uri="{BB962C8B-B14F-4D97-AF65-F5344CB8AC3E}">
        <p14:creationId xmlns:p14="http://schemas.microsoft.com/office/powerpoint/2010/main" val="5870064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5A1733-74E6-493B-8549-E5C2F44238C9}" type="datetimeFigureOut">
              <a:rPr lang="en-US" smtClean="0"/>
              <a:pPr/>
              <a:t>4/2/2025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7A16B18-3CDD-43A6-B4D9-9854D89FBB50}" type="slidenum">
              <a:rPr lang="en-US" smtClean="0"/>
              <a:pPr/>
              <a:t>‹#›</a:t>
            </a:fld>
            <a:endParaRPr lang="en-US"/>
          </a:p>
        </p:txBody>
      </p:sp>
    </p:spTree>
    <p:extLst>
      <p:ext uri="{BB962C8B-B14F-4D97-AF65-F5344CB8AC3E}">
        <p14:creationId xmlns:p14="http://schemas.microsoft.com/office/powerpoint/2010/main" val="3960379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9579671-E897-4230-BACA-A8E116CA1339}" type="slidenum">
              <a:rPr lang="en-US" smtClean="0"/>
              <a:pPr/>
              <a:t>30</a:t>
            </a:fld>
            <a:endParaRPr lang="en-US"/>
          </a:p>
        </p:txBody>
      </p:sp>
    </p:spTree>
    <p:extLst>
      <p:ext uri="{BB962C8B-B14F-4D97-AF65-F5344CB8AC3E}">
        <p14:creationId xmlns:p14="http://schemas.microsoft.com/office/powerpoint/2010/main" val="2524433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3C926A1-73A1-49BE-9EF7-218433A9A47D}" type="datetimeFigureOut">
              <a:rPr lang="en-US" smtClean="0"/>
              <a:pPr/>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B6BB10-D2B2-4707-8354-C4FC7F5C8B9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3C926A1-73A1-49BE-9EF7-218433A9A47D}" type="datetimeFigureOut">
              <a:rPr lang="en-US" smtClean="0"/>
              <a:pPr/>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B6BB10-D2B2-4707-8354-C4FC7F5C8B9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3C926A1-73A1-49BE-9EF7-218433A9A47D}" type="datetimeFigureOut">
              <a:rPr lang="en-US" smtClean="0"/>
              <a:pPr/>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B6BB10-D2B2-4707-8354-C4FC7F5C8B9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3C926A1-73A1-49BE-9EF7-218433A9A47D}" type="datetimeFigureOut">
              <a:rPr lang="en-US" smtClean="0"/>
              <a:pPr/>
              <a:t>4/2/2025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B6BB10-D2B2-4707-8354-C4FC7F5C8B9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3C926A1-73A1-49BE-9EF7-218433A9A47D}" type="datetimeFigureOut">
              <a:rPr lang="en-US" smtClean="0"/>
              <a:pPr/>
              <a:t>4/2/2025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B6BB10-D2B2-4707-8354-C4FC7F5C8B9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3C926A1-73A1-49BE-9EF7-218433A9A47D}" type="datetimeFigureOut">
              <a:rPr lang="en-US" smtClean="0"/>
              <a:pPr/>
              <a:t>4/2/2025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B6BB10-D2B2-4707-8354-C4FC7F5C8B9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C926A1-73A1-49BE-9EF7-218433A9A47D}" type="datetimeFigureOut">
              <a:rPr lang="en-US" smtClean="0"/>
              <a:pPr/>
              <a:t>4/2/2025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B6BB10-D2B2-4707-8354-C4FC7F5C8B9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3C926A1-73A1-49BE-9EF7-218433A9A47D}" type="datetimeFigureOut">
              <a:rPr lang="en-US" smtClean="0"/>
              <a:pPr/>
              <a:t>4/2/2025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B6BB10-D2B2-4707-8354-C4FC7F5C8B9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3C926A1-73A1-49BE-9EF7-218433A9A47D}" type="datetimeFigureOut">
              <a:rPr lang="en-US" smtClean="0"/>
              <a:pPr/>
              <a:t>4/2/2025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B6BB10-D2B2-4707-8354-C4FC7F5C8B9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3C926A1-73A1-49BE-9EF7-218433A9A47D}" type="datetimeFigureOut">
              <a:rPr lang="en-US" smtClean="0"/>
              <a:pPr/>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B6BB10-D2B2-4707-8354-C4FC7F5C8B9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3C926A1-73A1-49BE-9EF7-218433A9A47D}" type="datetimeFigureOut">
              <a:rPr lang="en-US" smtClean="0"/>
              <a:pPr/>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B6BB10-D2B2-4707-8354-C4FC7F5C8B9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C926A1-73A1-49BE-9EF7-218433A9A47D}" type="datetimeFigureOut">
              <a:rPr lang="en-US" smtClean="0"/>
              <a:pPr/>
              <a:t>4/2/2025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B6BB10-D2B2-4707-8354-C4FC7F5C8B9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0C8F73F7-2596-4A49-B172-B9A4726ABF21}"/>
              </a:ext>
            </a:extLst>
          </p:cNvPr>
          <p:cNvSpPr>
            <a:spLocks noGrp="1"/>
          </p:cNvSpPr>
          <p:nvPr>
            <p:ph type="title"/>
          </p:nvPr>
        </p:nvSpPr>
        <p:spPr>
          <a:xfrm>
            <a:off x="609600" y="1981200"/>
            <a:ext cx="7848600" cy="946150"/>
          </a:xfrm>
          <a:solidFill>
            <a:schemeClr val="accent2"/>
          </a:solidFill>
        </p:spPr>
        <p:txBody>
          <a:bodyPr>
            <a:normAutofit fontScale="90000"/>
          </a:bodyPr>
          <a:lstStyle/>
          <a:p>
            <a:pPr algn="ctr" eaLnBrk="1" hangingPunct="1"/>
            <a:r>
              <a:rPr lang="en-US" altLang="en-US" sz="6000" dirty="0" smtClean="0">
                <a:solidFill>
                  <a:schemeClr val="tx1"/>
                </a:solidFill>
                <a:latin typeface="Comic Sans MS" pitchFamily="66" charset="0"/>
                <a:cs typeface="Times New Roman" panose="02020603050405020304" pitchFamily="18" charset="0"/>
              </a:rPr>
              <a:t>CHAPTER THREE</a:t>
            </a:r>
            <a:endParaRPr lang="en-US" altLang="en-US" sz="5400" dirty="0">
              <a:solidFill>
                <a:schemeClr val="tx1"/>
              </a:solidFill>
              <a:latin typeface="Comic Sans MS" pitchFamily="66" charset="0"/>
              <a:cs typeface="Times New Roman" panose="02020603050405020304" pitchFamily="18" charset="0"/>
            </a:endParaRPr>
          </a:p>
        </p:txBody>
      </p:sp>
      <p:sp>
        <p:nvSpPr>
          <p:cNvPr id="10243" name="Content Placeholder 2">
            <a:extLst>
              <a:ext uri="{FF2B5EF4-FFF2-40B4-BE49-F238E27FC236}">
                <a16:creationId xmlns:a16="http://schemas.microsoft.com/office/drawing/2014/main" id="{1AEA0E9C-02A4-4E48-A611-9C346B4142E6}"/>
              </a:ext>
            </a:extLst>
          </p:cNvPr>
          <p:cNvSpPr>
            <a:spLocks noGrp="1"/>
          </p:cNvSpPr>
          <p:nvPr>
            <p:ph idx="1"/>
          </p:nvPr>
        </p:nvSpPr>
        <p:spPr>
          <a:xfrm>
            <a:off x="533400" y="3200400"/>
            <a:ext cx="8153400" cy="1371600"/>
          </a:xfrm>
        </p:spPr>
        <p:txBody>
          <a:bodyPr>
            <a:normAutofit/>
          </a:bodyPr>
          <a:lstStyle/>
          <a:p>
            <a:pPr marL="0" indent="0" algn="ctr">
              <a:buClr>
                <a:srgbClr val="0289EE"/>
              </a:buClr>
              <a:buNone/>
            </a:pPr>
            <a:r>
              <a:rPr lang="en-US" sz="4800" b="1" cap="all" dirty="0" smtClean="0"/>
              <a:t>BUSINESS FORMATION</a:t>
            </a:r>
            <a:endParaRPr lang="en-US" altLang="en-US" sz="4800" b="1" dirty="0" smtClean="0">
              <a:latin typeface="Comic Sans MS" pitchFamily="66" charset="0"/>
            </a:endParaRPr>
          </a:p>
        </p:txBody>
      </p:sp>
      <p:sp>
        <p:nvSpPr>
          <p:cNvPr id="3" name="Date Placeholder 2">
            <a:extLst>
              <a:ext uri="{FF2B5EF4-FFF2-40B4-BE49-F238E27FC236}">
                <a16:creationId xmlns:a16="http://schemas.microsoft.com/office/drawing/2014/main" id="{2E696BA9-89DA-4123-B036-F0333B349771}"/>
              </a:ext>
            </a:extLst>
          </p:cNvPr>
          <p:cNvSpPr>
            <a:spLocks noGrp="1"/>
          </p:cNvSpPr>
          <p:nvPr>
            <p:ph type="dt" sz="quarter" idx="10"/>
          </p:nvPr>
        </p:nvSpPr>
        <p:spPr/>
        <p:txBody>
          <a:bodyPr/>
          <a:lstStyle/>
          <a:p>
            <a:pPr>
              <a:defRPr/>
            </a:pPr>
            <a:fld id="{8A0ECD4D-EE92-4605-B554-2559B2C03302}" type="datetime1">
              <a:rPr lang="en-US"/>
              <a:pPr>
                <a:defRPr/>
              </a:pPr>
              <a:t>4/2/2025</a:t>
            </a:fld>
            <a:endParaRPr lang="en-US" dirty="0"/>
          </a:p>
        </p:txBody>
      </p:sp>
      <p:sp>
        <p:nvSpPr>
          <p:cNvPr id="4" name="Footer Placeholder 3">
            <a:extLst>
              <a:ext uri="{FF2B5EF4-FFF2-40B4-BE49-F238E27FC236}">
                <a16:creationId xmlns:a16="http://schemas.microsoft.com/office/drawing/2014/main" id="{2B208E8B-45E7-4A8B-B1F3-E10C7DE17C15}"/>
              </a:ext>
            </a:extLst>
          </p:cNvPr>
          <p:cNvSpPr>
            <a:spLocks noGrp="1"/>
          </p:cNvSpPr>
          <p:nvPr>
            <p:ph type="ftr" sz="quarter" idx="11"/>
          </p:nvPr>
        </p:nvSpPr>
        <p:spPr/>
        <p:txBody>
          <a:bodyPr/>
          <a:lstStyle/>
          <a:p>
            <a:pPr>
              <a:defRPr/>
            </a:pPr>
            <a:r>
              <a:rPr lang="en-US"/>
              <a:t>SM</a:t>
            </a:r>
          </a:p>
        </p:txBody>
      </p:sp>
      <p:sp>
        <p:nvSpPr>
          <p:cNvPr id="10246" name="Slide Number Placeholder 1">
            <a:extLst>
              <a:ext uri="{FF2B5EF4-FFF2-40B4-BE49-F238E27FC236}">
                <a16:creationId xmlns:a16="http://schemas.microsoft.com/office/drawing/2014/main" id="{668E1109-13FF-4145-8A08-655154B417C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a:solidFill>
                  <a:srgbClr val="045C75"/>
                </a:solidFill>
              </a:rPr>
              <a:t>Ch 1 -</a:t>
            </a:r>
            <a:fld id="{8E6E0F83-851D-42BD-9F5C-DE257A73C437}" type="slidenum">
              <a:rPr lang="en-US" altLang="en-US" smtClean="0">
                <a:solidFill>
                  <a:srgbClr val="045C75"/>
                </a:solidFill>
              </a:rPr>
              <a:pPr/>
              <a:t>1</a:t>
            </a:fld>
            <a:endParaRPr lang="en-US" altLang="en-US">
              <a:solidFill>
                <a:srgbClr val="045C75"/>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685799"/>
          </a:xfrm>
        </p:spPr>
        <p:txBody>
          <a:bodyPr>
            <a:normAutofit fontScale="90000"/>
          </a:bodyPr>
          <a:lstStyle/>
          <a:p>
            <a:r>
              <a:rPr lang="en-US" dirty="0" smtClean="0"/>
              <a:t/>
            </a:r>
            <a:br>
              <a:rPr lang="en-US" dirty="0" smtClean="0"/>
            </a:br>
            <a:r>
              <a:rPr lang="en-US" dirty="0" smtClean="0"/>
              <a:t/>
            </a:r>
            <a:br>
              <a:rPr lang="en-US" dirty="0" smtClean="0"/>
            </a:br>
            <a:r>
              <a:rPr lang="en-US" sz="3200" b="1" dirty="0" smtClean="0"/>
              <a:t> INTRODUCTION </a:t>
            </a:r>
            <a:r>
              <a:rPr lang="en-US" dirty="0"/>
              <a:t/>
            </a:r>
            <a:br>
              <a:rPr lang="en-US" dirty="0"/>
            </a:br>
            <a:endParaRPr lang="en-US" dirty="0"/>
          </a:p>
        </p:txBody>
      </p:sp>
      <p:sp>
        <p:nvSpPr>
          <p:cNvPr id="3" name="Subtitle 2"/>
          <p:cNvSpPr>
            <a:spLocks noGrp="1"/>
          </p:cNvSpPr>
          <p:nvPr>
            <p:ph type="subTitle" idx="1"/>
          </p:nvPr>
        </p:nvSpPr>
        <p:spPr>
          <a:xfrm>
            <a:off x="304800" y="990600"/>
            <a:ext cx="8458200" cy="5791200"/>
          </a:xfrm>
        </p:spPr>
        <p:txBody>
          <a:bodyPr>
            <a:normAutofit/>
          </a:bodyPr>
          <a:lstStyle/>
          <a:p>
            <a:pPr lvl="1" indent="-457200" algn="just">
              <a:buFont typeface="Wingdings" pitchFamily="2" charset="2"/>
              <a:buChar char="§"/>
            </a:pPr>
            <a:r>
              <a:rPr lang="en-US" sz="2400" dirty="0" smtClean="0">
                <a:solidFill>
                  <a:schemeClr val="tx1"/>
                </a:solidFill>
              </a:rPr>
              <a:t>A business formation deals with the formalization and actual implementation of business ideas in to practice.</a:t>
            </a:r>
          </a:p>
          <a:p>
            <a:pPr marL="0" lvl="1" algn="l"/>
            <a:r>
              <a:rPr lang="en-US" b="1" dirty="0" smtClean="0"/>
              <a:t> </a:t>
            </a:r>
            <a:endParaRPr lang="en-US" b="1" dirty="0"/>
          </a:p>
          <a:p>
            <a:pPr algn="l"/>
            <a:endParaRPr lang="en-US" b="1" dirty="0"/>
          </a:p>
        </p:txBody>
      </p:sp>
    </p:spTree>
    <p:extLst>
      <p:ext uri="{BB962C8B-B14F-4D97-AF65-F5344CB8AC3E}">
        <p14:creationId xmlns:p14="http://schemas.microsoft.com/office/powerpoint/2010/main" val="2482318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b="1" dirty="0" smtClean="0"/>
              <a:t/>
            </a:r>
            <a:br>
              <a:rPr lang="en-US" b="1" dirty="0" smtClean="0"/>
            </a:br>
            <a:r>
              <a:rPr lang="en-US" sz="3100" b="1" dirty="0" smtClean="0"/>
              <a:t>3.2 The Concept of Small Business Development</a:t>
            </a:r>
            <a:r>
              <a:rPr lang="en-US" b="1" dirty="0" smtClean="0"/>
              <a:t/>
            </a:r>
            <a:br>
              <a:rPr lang="en-US" b="1" dirty="0" smtClean="0"/>
            </a:br>
            <a:endParaRPr lang="en-US" dirty="0"/>
          </a:p>
        </p:txBody>
      </p:sp>
      <p:sp>
        <p:nvSpPr>
          <p:cNvPr id="3" name="Content Placeholder 2"/>
          <p:cNvSpPr>
            <a:spLocks noGrp="1"/>
          </p:cNvSpPr>
          <p:nvPr>
            <p:ph idx="1"/>
          </p:nvPr>
        </p:nvSpPr>
        <p:spPr>
          <a:xfrm>
            <a:off x="228600" y="533400"/>
            <a:ext cx="8610600" cy="6324600"/>
          </a:xfrm>
        </p:spPr>
        <p:txBody>
          <a:bodyPr>
            <a:normAutofit fontScale="92500"/>
          </a:bodyPr>
          <a:lstStyle/>
          <a:p>
            <a:pPr marL="514350" indent="-514350" algn="just">
              <a:buFont typeface="Wingdings" pitchFamily="2" charset="2"/>
              <a:buChar char="§"/>
            </a:pPr>
            <a:r>
              <a:rPr lang="en-US" b="1" dirty="0" smtClean="0"/>
              <a:t>Based </a:t>
            </a:r>
            <a:r>
              <a:rPr lang="en-US" b="1" dirty="0"/>
              <a:t>on </a:t>
            </a:r>
            <a:r>
              <a:rPr lang="en-US" b="1" dirty="0" smtClean="0"/>
              <a:t>socio-economic</a:t>
            </a:r>
            <a:r>
              <a:rPr lang="en-US" dirty="0" smtClean="0"/>
              <a:t> </a:t>
            </a:r>
            <a:r>
              <a:rPr lang="en-US" dirty="0"/>
              <a:t>conditions, countries define small business differently</a:t>
            </a:r>
            <a:r>
              <a:rPr lang="en-US" dirty="0" smtClean="0"/>
              <a:t>.</a:t>
            </a:r>
          </a:p>
          <a:p>
            <a:pPr marL="514350" indent="-514350" algn="just">
              <a:buFont typeface="Wingdings" pitchFamily="2" charset="2"/>
              <a:buChar char="§"/>
            </a:pPr>
            <a:r>
              <a:rPr lang="en-US" dirty="0" smtClean="0"/>
              <a:t>But </a:t>
            </a:r>
            <a:r>
              <a:rPr lang="en-US" dirty="0"/>
              <a:t>all may use size and economic criteria as a base to define small business</a:t>
            </a:r>
            <a:r>
              <a:rPr lang="en-US" dirty="0" smtClean="0"/>
              <a:t>.</a:t>
            </a:r>
          </a:p>
          <a:p>
            <a:pPr algn="just"/>
            <a:r>
              <a:rPr lang="en-US" b="1" dirty="0" smtClean="0">
                <a:solidFill>
                  <a:srgbClr val="FF0000"/>
                </a:solidFill>
              </a:rPr>
              <a:t>Size</a:t>
            </a:r>
            <a:r>
              <a:rPr lang="en-US" b="1" dirty="0" smtClean="0"/>
              <a:t>:</a:t>
            </a:r>
            <a:r>
              <a:rPr lang="en-US" dirty="0" smtClean="0"/>
              <a:t> Include number </a:t>
            </a:r>
            <a:r>
              <a:rPr lang="en-US" dirty="0"/>
              <a:t>of employees </a:t>
            </a:r>
            <a:r>
              <a:rPr lang="en-US" dirty="0" smtClean="0"/>
              <a:t>and </a:t>
            </a:r>
            <a:r>
              <a:rPr lang="en-US" dirty="0"/>
              <a:t>startup </a:t>
            </a:r>
            <a:r>
              <a:rPr lang="en-US" dirty="0" smtClean="0"/>
              <a:t>capital and doesn’t always </a:t>
            </a:r>
            <a:r>
              <a:rPr lang="en-US" dirty="0"/>
              <a:t>reflect the true nature of an </a:t>
            </a:r>
            <a:r>
              <a:rPr lang="en-US" dirty="0" smtClean="0"/>
              <a:t>enterprise as qualitative characteristics also used </a:t>
            </a:r>
            <a:r>
              <a:rPr lang="en-US" dirty="0"/>
              <a:t>to differentiate small business from other business. </a:t>
            </a:r>
            <a:endParaRPr lang="en-US" dirty="0" smtClean="0"/>
          </a:p>
          <a:p>
            <a:pPr algn="just"/>
            <a:r>
              <a:rPr lang="en-US" dirty="0" smtClean="0">
                <a:solidFill>
                  <a:srgbClr val="FF0000"/>
                </a:solidFill>
              </a:rPr>
              <a:t>The </a:t>
            </a:r>
            <a:r>
              <a:rPr lang="en-US" dirty="0">
                <a:solidFill>
                  <a:srgbClr val="FF0000"/>
                </a:solidFill>
              </a:rPr>
              <a:t>economic/control </a:t>
            </a:r>
            <a:r>
              <a:rPr lang="en-US" dirty="0" smtClean="0">
                <a:solidFill>
                  <a:srgbClr val="FF0000"/>
                </a:solidFill>
              </a:rPr>
              <a:t> </a:t>
            </a:r>
            <a:r>
              <a:rPr lang="en-US" dirty="0"/>
              <a:t>covers market share, independence and personalized management. </a:t>
            </a:r>
          </a:p>
        </p:txBody>
      </p:sp>
    </p:spTree>
    <p:extLst>
      <p:ext uri="{BB962C8B-B14F-4D97-AF65-F5344CB8AC3E}">
        <p14:creationId xmlns:p14="http://schemas.microsoft.com/office/powerpoint/2010/main" val="5364687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304800" y="685800"/>
            <a:ext cx="8305800" cy="5943600"/>
          </a:xfrm>
          <a:ln>
            <a:solidFill>
              <a:srgbClr val="FF0000"/>
            </a:solidFill>
          </a:ln>
        </p:spPr>
        <p:txBody>
          <a:bodyPr>
            <a:normAutofit fontScale="92500" lnSpcReduction="10000"/>
          </a:bodyPr>
          <a:lstStyle/>
          <a:p>
            <a:pPr algn="just"/>
            <a:r>
              <a:rPr lang="en-US" dirty="0"/>
              <a:t>Micro and small enterprises (MSEs) </a:t>
            </a:r>
            <a:r>
              <a:rPr lang="en-US" dirty="0" smtClean="0"/>
              <a:t>play </a:t>
            </a:r>
            <a:r>
              <a:rPr lang="en-US" dirty="0"/>
              <a:t>an important role in both developed and developing economies. </a:t>
            </a:r>
            <a:endParaRPr lang="en-US" dirty="0" smtClean="0"/>
          </a:p>
          <a:p>
            <a:pPr algn="just"/>
            <a:r>
              <a:rPr lang="en-US" dirty="0" smtClean="0">
                <a:solidFill>
                  <a:srgbClr val="FF0000"/>
                </a:solidFill>
              </a:rPr>
              <a:t>Ethiopia </a:t>
            </a:r>
            <a:r>
              <a:rPr lang="en-US" dirty="0">
                <a:solidFill>
                  <a:srgbClr val="FF0000"/>
                </a:solidFill>
              </a:rPr>
              <a:t>is no exception and MSEs </a:t>
            </a:r>
            <a:r>
              <a:rPr lang="en-US" dirty="0" smtClean="0">
                <a:solidFill>
                  <a:srgbClr val="FF0000"/>
                </a:solidFill>
              </a:rPr>
              <a:t>could occupy </a:t>
            </a:r>
            <a:r>
              <a:rPr lang="en-US" dirty="0">
                <a:solidFill>
                  <a:srgbClr val="FF0000"/>
                </a:solidFill>
              </a:rPr>
              <a:t>a prominent position in the development of the Ethiopian economy.  </a:t>
            </a:r>
          </a:p>
          <a:p>
            <a:pPr algn="just"/>
            <a:r>
              <a:rPr lang="en-US" i="1" dirty="0" smtClean="0">
                <a:solidFill>
                  <a:srgbClr val="FF0000"/>
                </a:solidFill>
              </a:rPr>
              <a:t>Less </a:t>
            </a:r>
            <a:r>
              <a:rPr lang="en-US" i="1" dirty="0">
                <a:solidFill>
                  <a:srgbClr val="FF0000"/>
                </a:solidFill>
              </a:rPr>
              <a:t>capital, enjoy quick returns and have the flexibility to handle the </a:t>
            </a:r>
            <a:r>
              <a:rPr lang="en-US" i="1" dirty="0" smtClean="0">
                <a:solidFill>
                  <a:srgbClr val="FF0000"/>
                </a:solidFill>
              </a:rPr>
              <a:t>vagaries (</a:t>
            </a:r>
            <a:r>
              <a:rPr lang="en-US" i="1" dirty="0">
                <a:solidFill>
                  <a:srgbClr val="FF0000"/>
                </a:solidFill>
              </a:rPr>
              <a:t>change) of the </a:t>
            </a:r>
            <a:r>
              <a:rPr lang="en-US" i="1" dirty="0" smtClean="0">
                <a:solidFill>
                  <a:srgbClr val="FF0000"/>
                </a:solidFill>
              </a:rPr>
              <a:t>market.</a:t>
            </a:r>
          </a:p>
          <a:p>
            <a:pPr algn="just"/>
            <a:r>
              <a:rPr lang="en-US" dirty="0" smtClean="0"/>
              <a:t>, </a:t>
            </a:r>
            <a:r>
              <a:rPr lang="en-US" dirty="0"/>
              <a:t>they have to face </a:t>
            </a:r>
            <a:r>
              <a:rPr lang="en-US" i="1" dirty="0"/>
              <a:t>many problems like lack of finance, poor operations management, lack of experience, poor financial management</a:t>
            </a:r>
            <a:r>
              <a:rPr lang="en-US" dirty="0"/>
              <a:t>, etc,. </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649089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b="1" dirty="0" smtClean="0"/>
              <a:t/>
            </a:r>
            <a:br>
              <a:rPr lang="en-US" b="1" dirty="0" smtClean="0"/>
            </a:br>
            <a:r>
              <a:rPr lang="en-US" sz="3600" b="1" dirty="0" smtClean="0"/>
              <a:t>3.3  Forms of Business organizations </a:t>
            </a:r>
            <a:r>
              <a:rPr lang="en-US" b="1" dirty="0" smtClean="0"/>
              <a:t/>
            </a:r>
            <a:br>
              <a:rPr lang="en-US" b="1" dirty="0" smtClean="0"/>
            </a:br>
            <a:endParaRPr lang="en-US" dirty="0"/>
          </a:p>
        </p:txBody>
      </p:sp>
      <p:sp>
        <p:nvSpPr>
          <p:cNvPr id="3" name="Content Placeholder 2"/>
          <p:cNvSpPr>
            <a:spLocks noGrp="1"/>
          </p:cNvSpPr>
          <p:nvPr>
            <p:ph idx="1"/>
          </p:nvPr>
        </p:nvSpPr>
        <p:spPr>
          <a:xfrm>
            <a:off x="228600" y="609600"/>
            <a:ext cx="8686800" cy="5943600"/>
          </a:xfrm>
        </p:spPr>
        <p:txBody>
          <a:bodyPr/>
          <a:lstStyle/>
          <a:p>
            <a:pPr marL="0" indent="0">
              <a:buNone/>
            </a:pPr>
            <a:endParaRPr lang="en-US" sz="2800" dirty="0" smtClean="0"/>
          </a:p>
          <a:p>
            <a:pPr marL="0" indent="0">
              <a:buNone/>
            </a:pPr>
            <a:r>
              <a:rPr lang="en-US" sz="2800" dirty="0" smtClean="0"/>
              <a:t>There are three basic legal forms of businesses. </a:t>
            </a:r>
            <a:endParaRPr lang="en-US" sz="2800" dirty="0"/>
          </a:p>
          <a:p>
            <a:pPr marL="1428750" lvl="2" indent="-514350" algn="just">
              <a:buFont typeface="Wingdings" pitchFamily="2" charset="2"/>
              <a:buChar char="§"/>
            </a:pPr>
            <a:r>
              <a:rPr lang="en-US" sz="2800" dirty="0" smtClean="0"/>
              <a:t>Proprietorship</a:t>
            </a:r>
            <a:endParaRPr lang="en-US" sz="2800" dirty="0"/>
          </a:p>
          <a:p>
            <a:pPr marL="1428750" lvl="2" indent="-514350" algn="just">
              <a:buFont typeface="Wingdings" pitchFamily="2" charset="2"/>
              <a:buChar char="§"/>
            </a:pPr>
            <a:r>
              <a:rPr lang="en-US" sz="2800" dirty="0" smtClean="0"/>
              <a:t>Partnership and </a:t>
            </a:r>
            <a:endParaRPr lang="en-US" sz="2800" dirty="0"/>
          </a:p>
          <a:p>
            <a:pPr marL="1428750" lvl="2" indent="-514350" algn="just">
              <a:buFont typeface="Wingdings" pitchFamily="2" charset="2"/>
              <a:buChar char="§"/>
            </a:pPr>
            <a:r>
              <a:rPr lang="en-US" sz="2800" dirty="0" smtClean="0"/>
              <a:t>Corporation </a:t>
            </a:r>
          </a:p>
          <a:p>
            <a:pPr lvl="0"/>
            <a:endParaRPr lang="en-US" dirty="0"/>
          </a:p>
          <a:p>
            <a:endParaRPr lang="en-US" dirty="0"/>
          </a:p>
        </p:txBody>
      </p:sp>
    </p:spTree>
    <p:extLst>
      <p:ext uri="{BB962C8B-B14F-4D97-AF65-F5344CB8AC3E}">
        <p14:creationId xmlns:p14="http://schemas.microsoft.com/office/powerpoint/2010/main" val="11912725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sz="4000" b="1" dirty="0" smtClean="0"/>
              <a:t>Description </a:t>
            </a:r>
            <a:r>
              <a:rPr lang="en-US" sz="4000" b="1" dirty="0"/>
              <a:t>o</a:t>
            </a:r>
            <a:r>
              <a:rPr lang="en-US" sz="4000" b="1" dirty="0" smtClean="0"/>
              <a:t>f Legal Forms of Business</a:t>
            </a:r>
            <a:endParaRPr lang="en-US" b="1" dirty="0"/>
          </a:p>
        </p:txBody>
      </p:sp>
      <p:sp>
        <p:nvSpPr>
          <p:cNvPr id="3" name="Content Placeholder 2"/>
          <p:cNvSpPr>
            <a:spLocks noGrp="1"/>
          </p:cNvSpPr>
          <p:nvPr>
            <p:ph idx="1"/>
          </p:nvPr>
        </p:nvSpPr>
        <p:spPr>
          <a:xfrm>
            <a:off x="228600" y="762000"/>
            <a:ext cx="8458200" cy="5791200"/>
          </a:xfrm>
        </p:spPr>
        <p:txBody>
          <a:bodyPr>
            <a:normAutofit/>
          </a:bodyPr>
          <a:lstStyle/>
          <a:p>
            <a:pPr algn="just"/>
            <a:r>
              <a:rPr lang="en-US" sz="2400" dirty="0" smtClean="0"/>
              <a:t>The legal </a:t>
            </a:r>
            <a:r>
              <a:rPr lang="en-US" sz="2400" dirty="0"/>
              <a:t>forms are </a:t>
            </a:r>
            <a:r>
              <a:rPr lang="en-US" sz="2400" dirty="0" smtClean="0"/>
              <a:t>classified based on </a:t>
            </a:r>
          </a:p>
          <a:p>
            <a:pPr lvl="2" algn="just"/>
            <a:r>
              <a:rPr lang="en-US" sz="2800" dirty="0" smtClean="0"/>
              <a:t>Ownership  </a:t>
            </a:r>
          </a:p>
          <a:p>
            <a:pPr lvl="2" algn="just"/>
            <a:r>
              <a:rPr lang="en-US" sz="2800" dirty="0" smtClean="0"/>
              <a:t>Liability </a:t>
            </a:r>
          </a:p>
          <a:p>
            <a:pPr lvl="2" algn="just"/>
            <a:r>
              <a:rPr lang="en-US" sz="2800" dirty="0" smtClean="0"/>
              <a:t>Start-up costs </a:t>
            </a:r>
          </a:p>
          <a:p>
            <a:pPr lvl="2" algn="just"/>
            <a:r>
              <a:rPr lang="en-US" sz="2800" dirty="0" smtClean="0"/>
              <a:t>Continuity</a:t>
            </a:r>
          </a:p>
          <a:p>
            <a:pPr lvl="2" algn="just"/>
            <a:r>
              <a:rPr lang="en-US" sz="2800" dirty="0" smtClean="0"/>
              <a:t>Transferability </a:t>
            </a:r>
            <a:r>
              <a:rPr lang="en-US" sz="2800" dirty="0"/>
              <a:t>of </a:t>
            </a:r>
            <a:r>
              <a:rPr lang="en-US" sz="2800" dirty="0" smtClean="0"/>
              <a:t>interest </a:t>
            </a:r>
          </a:p>
          <a:p>
            <a:pPr lvl="2" algn="just"/>
            <a:r>
              <a:rPr lang="en-US" sz="2800" dirty="0" smtClean="0"/>
              <a:t>Capital requirements </a:t>
            </a:r>
          </a:p>
          <a:p>
            <a:pPr lvl="2" algn="just"/>
            <a:r>
              <a:rPr lang="en-US" sz="2800" dirty="0" smtClean="0"/>
              <a:t>Management control </a:t>
            </a:r>
          </a:p>
          <a:p>
            <a:pPr lvl="2" algn="just"/>
            <a:r>
              <a:rPr lang="en-US" sz="2800" dirty="0" smtClean="0"/>
              <a:t>Distribution </a:t>
            </a:r>
            <a:r>
              <a:rPr lang="en-US" sz="2800" dirty="0"/>
              <a:t>of </a:t>
            </a:r>
            <a:r>
              <a:rPr lang="en-US" sz="2800" dirty="0" smtClean="0"/>
              <a:t>profits or losses</a:t>
            </a:r>
          </a:p>
          <a:p>
            <a:pPr lvl="2" algn="just"/>
            <a:r>
              <a:rPr lang="en-US" sz="2800" dirty="0" smtClean="0"/>
              <a:t>Attractiveness </a:t>
            </a:r>
            <a:r>
              <a:rPr lang="en-US" sz="2800" dirty="0"/>
              <a:t>for raising capital</a:t>
            </a:r>
            <a:r>
              <a:rPr lang="en-US" sz="2800" dirty="0" smtClean="0"/>
              <a:t>.</a:t>
            </a:r>
            <a:endParaRPr lang="en-US" sz="3200" dirty="0" smtClean="0"/>
          </a:p>
          <a:p>
            <a:endParaRPr lang="en-US" dirty="0"/>
          </a:p>
        </p:txBody>
      </p:sp>
    </p:spTree>
    <p:extLst>
      <p:ext uri="{BB962C8B-B14F-4D97-AF65-F5344CB8AC3E}">
        <p14:creationId xmlns:p14="http://schemas.microsoft.com/office/powerpoint/2010/main" val="42650341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04800" y="173182"/>
            <a:ext cx="8458200" cy="6400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Grp="1" noChangeAspect="1" noChangeArrowheads="1"/>
          </p:cNvPicPr>
          <p:nvPr>
            <p:ph idx="1"/>
          </p:nvPr>
        </p:nvPicPr>
        <p:blipFill>
          <a:blip r:embed="rId2"/>
          <a:srcRect/>
          <a:stretch>
            <a:fillRect/>
          </a:stretch>
        </p:blipFill>
        <p:spPr bwMode="auto">
          <a:xfrm>
            <a:off x="304800" y="685800"/>
            <a:ext cx="8534400" cy="594360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417638"/>
          </a:xfrm>
        </p:spPr>
        <p:txBody>
          <a:bodyPr>
            <a:noAutofit/>
          </a:bodyPr>
          <a:lstStyle/>
          <a:p>
            <a:r>
              <a:rPr lang="en-US" sz="2800" b="1" dirty="0"/>
              <a:t>3.4 </a:t>
            </a:r>
            <a:r>
              <a:rPr lang="en-US" sz="2800" b="1" dirty="0" smtClean="0"/>
              <a:t>Definition and Role/Importance of SMEs in Developing Countries</a:t>
            </a:r>
            <a:r>
              <a:rPr lang="en-US" sz="2800" b="1" dirty="0"/>
              <a:t/>
            </a:r>
            <a:br>
              <a:rPr lang="en-US" sz="2800" b="1" dirty="0"/>
            </a:br>
            <a:endParaRPr lang="en-US" sz="2800" dirty="0"/>
          </a:p>
        </p:txBody>
      </p:sp>
      <p:sp>
        <p:nvSpPr>
          <p:cNvPr id="3" name="Content Placeholder 2"/>
          <p:cNvSpPr>
            <a:spLocks noGrp="1"/>
          </p:cNvSpPr>
          <p:nvPr>
            <p:ph idx="1"/>
          </p:nvPr>
        </p:nvSpPr>
        <p:spPr>
          <a:xfrm>
            <a:off x="304800" y="914400"/>
            <a:ext cx="8458200" cy="5638800"/>
          </a:xfrm>
        </p:spPr>
        <p:txBody>
          <a:bodyPr>
            <a:normAutofit/>
          </a:bodyPr>
          <a:lstStyle/>
          <a:p>
            <a:pPr marL="0" indent="0" algn="just">
              <a:buNone/>
            </a:pPr>
            <a:r>
              <a:rPr lang="en-US" sz="2800" b="1" dirty="0"/>
              <a:t>3.4.1 Definition of </a:t>
            </a:r>
            <a:r>
              <a:rPr lang="en-US" sz="2800" b="1" dirty="0" smtClean="0"/>
              <a:t>MSEs</a:t>
            </a:r>
          </a:p>
          <a:p>
            <a:pPr marL="514350" indent="-514350" algn="just">
              <a:buFont typeface="+mj-lt"/>
              <a:buAutoNum type="arabicPeriod"/>
            </a:pPr>
            <a:r>
              <a:rPr lang="en-US" sz="2800" b="1" dirty="0" smtClean="0"/>
              <a:t>Size Criteria approaches</a:t>
            </a:r>
          </a:p>
          <a:p>
            <a:pPr marL="514350" indent="-514350" algn="just">
              <a:buFont typeface="Wingdings" pitchFamily="2" charset="2"/>
              <a:buChar char="§"/>
            </a:pPr>
            <a:r>
              <a:rPr lang="en-US" sz="2800" dirty="0" smtClean="0"/>
              <a:t>Though the criteria </a:t>
            </a:r>
            <a:r>
              <a:rPr lang="en-US" sz="2800" dirty="0"/>
              <a:t>used to measure the size </a:t>
            </a:r>
            <a:r>
              <a:rPr lang="en-US" sz="2800" dirty="0" smtClean="0"/>
              <a:t>(scale of operation) of </a:t>
            </a:r>
            <a:r>
              <a:rPr lang="en-US" sz="2800" dirty="0"/>
              <a:t>businesses </a:t>
            </a:r>
            <a:r>
              <a:rPr lang="en-US" sz="2800" dirty="0" smtClean="0"/>
              <a:t>vary.</a:t>
            </a:r>
          </a:p>
          <a:p>
            <a:pPr marL="514350" indent="-514350" algn="just">
              <a:buFont typeface="Wingdings" pitchFamily="2" charset="2"/>
              <a:buChar char="§"/>
            </a:pPr>
            <a:r>
              <a:rPr lang="en-US" sz="2800" dirty="0" smtClean="0"/>
              <a:t>The most widely used yardsticks are;</a:t>
            </a:r>
          </a:p>
          <a:p>
            <a:pPr marL="1771650" lvl="3" indent="-514350" algn="just">
              <a:buFont typeface="Wingdings" pitchFamily="2" charset="2"/>
              <a:buChar char="§"/>
            </a:pPr>
            <a:r>
              <a:rPr lang="en-US" sz="2400" dirty="0" smtClean="0"/>
              <a:t>The </a:t>
            </a:r>
            <a:r>
              <a:rPr lang="en-US" sz="2400" dirty="0"/>
              <a:t>number of </a:t>
            </a:r>
            <a:r>
              <a:rPr lang="en-US" sz="2400" dirty="0" smtClean="0"/>
              <a:t>employees</a:t>
            </a:r>
          </a:p>
          <a:p>
            <a:pPr marL="1771650" lvl="3" indent="-514350" algn="just">
              <a:buFont typeface="Wingdings" pitchFamily="2" charset="2"/>
              <a:buChar char="§"/>
            </a:pPr>
            <a:r>
              <a:rPr lang="en-US" sz="2400" dirty="0" smtClean="0"/>
              <a:t>Volume, </a:t>
            </a:r>
            <a:r>
              <a:rPr lang="en-US" sz="2400" dirty="0"/>
              <a:t>and value of sales </a:t>
            </a:r>
            <a:r>
              <a:rPr lang="en-US" sz="2400" dirty="0" smtClean="0"/>
              <a:t>turnover</a:t>
            </a:r>
          </a:p>
          <a:p>
            <a:pPr marL="1771650" lvl="3" indent="-514350" algn="just">
              <a:buFont typeface="Wingdings" pitchFamily="2" charset="2"/>
              <a:buChar char="§"/>
            </a:pPr>
            <a:r>
              <a:rPr lang="en-US" sz="2400" dirty="0" smtClean="0"/>
              <a:t>Asset </a:t>
            </a:r>
            <a:r>
              <a:rPr lang="en-US" sz="2400" dirty="0"/>
              <a:t>size, and volume of </a:t>
            </a:r>
            <a:r>
              <a:rPr lang="en-US" sz="2400" dirty="0" smtClean="0"/>
              <a:t>deposits</a:t>
            </a:r>
          </a:p>
          <a:p>
            <a:pPr marL="1771650" lvl="3" indent="-514350" algn="just">
              <a:buFont typeface="Wingdings" pitchFamily="2" charset="2"/>
              <a:buChar char="§"/>
            </a:pPr>
            <a:r>
              <a:rPr lang="en-US" sz="2400" dirty="0" smtClean="0"/>
              <a:t>Total </a:t>
            </a:r>
            <a:r>
              <a:rPr lang="en-US" sz="2400" dirty="0"/>
              <a:t>capital </a:t>
            </a:r>
            <a:r>
              <a:rPr lang="en-US" sz="2400" dirty="0" smtClean="0"/>
              <a:t>investment</a:t>
            </a:r>
          </a:p>
          <a:p>
            <a:pPr marL="1771650" lvl="3" indent="-514350" algn="just">
              <a:buFont typeface="Wingdings" pitchFamily="2" charset="2"/>
              <a:buChar char="§"/>
            </a:pPr>
            <a:r>
              <a:rPr lang="en-US" sz="2400" dirty="0" smtClean="0"/>
              <a:t>Volume/value </a:t>
            </a:r>
            <a:r>
              <a:rPr lang="en-US" sz="2400" dirty="0"/>
              <a:t>of production, and </a:t>
            </a:r>
            <a:endParaRPr lang="en-US" sz="2400" dirty="0" smtClean="0"/>
          </a:p>
          <a:p>
            <a:pPr marL="1771650" lvl="3" indent="-514350" algn="just">
              <a:buFont typeface="Wingdings" pitchFamily="2" charset="2"/>
              <a:buChar char="§"/>
            </a:pPr>
            <a:r>
              <a:rPr lang="en-US" sz="2400" dirty="0" smtClean="0"/>
              <a:t>A </a:t>
            </a:r>
            <a:r>
              <a:rPr lang="en-US" sz="2400" dirty="0"/>
              <a:t>combination of the stated </a:t>
            </a:r>
            <a:r>
              <a:rPr lang="en-US" sz="2400" dirty="0" smtClean="0"/>
              <a:t>factors</a:t>
            </a:r>
          </a:p>
          <a:p>
            <a:pPr>
              <a:buFont typeface="Wingdings" pitchFamily="2" charset="2"/>
              <a:buChar char="Ø"/>
            </a:pPr>
            <a:endParaRPr lang="en-US" sz="2800" dirty="0" smtClean="0"/>
          </a:p>
          <a:p>
            <a:pPr marL="0" indent="0">
              <a:buNone/>
            </a:pPr>
            <a:endParaRPr lang="en-US" sz="2400" dirty="0"/>
          </a:p>
        </p:txBody>
      </p:sp>
    </p:spTree>
    <p:extLst>
      <p:ext uri="{BB962C8B-B14F-4D97-AF65-F5344CB8AC3E}">
        <p14:creationId xmlns:p14="http://schemas.microsoft.com/office/powerpoint/2010/main" val="35585429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33400"/>
          </a:xfrm>
        </p:spPr>
        <p:txBody>
          <a:bodyPr>
            <a:normAutofit fontScale="90000"/>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381000" y="533400"/>
            <a:ext cx="8305800" cy="6324600"/>
          </a:xfrm>
        </p:spPr>
        <p:txBody>
          <a:bodyPr>
            <a:normAutofit/>
          </a:bodyPr>
          <a:lstStyle/>
          <a:p>
            <a:pPr marL="514350" indent="-514350" algn="just">
              <a:buFont typeface="Wingdings" pitchFamily="2" charset="2"/>
              <a:buChar char="§"/>
            </a:pPr>
            <a:r>
              <a:rPr lang="en-US" sz="2800" dirty="0" smtClean="0"/>
              <a:t>The general </a:t>
            </a:r>
            <a:r>
              <a:rPr lang="en-US" sz="2800" dirty="0"/>
              <a:t>criteria are suggested by Small Business Administration (SBA</a:t>
            </a:r>
            <a:r>
              <a:rPr lang="en-US" sz="2800" dirty="0" smtClean="0"/>
              <a:t>).</a:t>
            </a:r>
          </a:p>
          <a:p>
            <a:pPr marL="1314450" lvl="2" indent="-514350" algn="just">
              <a:buFont typeface="Wingdings" pitchFamily="2" charset="2"/>
              <a:buChar char="§"/>
            </a:pPr>
            <a:r>
              <a:rPr lang="en-US" dirty="0" smtClean="0"/>
              <a:t>Own</a:t>
            </a:r>
            <a:r>
              <a:rPr lang="en-US" i="1" dirty="0" smtClean="0"/>
              <a:t>ed</a:t>
            </a:r>
            <a:r>
              <a:rPr lang="en-US" i="1" dirty="0" smtClean="0">
                <a:solidFill>
                  <a:srgbClr val="FF0000"/>
                </a:solidFill>
              </a:rPr>
              <a:t> and financed by one </a:t>
            </a:r>
            <a:r>
              <a:rPr lang="en-US" i="1" dirty="0">
                <a:solidFill>
                  <a:srgbClr val="FF0000"/>
                </a:solidFill>
              </a:rPr>
              <a:t>individual </a:t>
            </a:r>
            <a:r>
              <a:rPr lang="en-US" dirty="0"/>
              <a:t>or a </a:t>
            </a:r>
            <a:r>
              <a:rPr lang="en-US" i="1" dirty="0">
                <a:solidFill>
                  <a:srgbClr val="FF0000"/>
                </a:solidFill>
              </a:rPr>
              <a:t>small </a:t>
            </a:r>
            <a:r>
              <a:rPr lang="en-US" i="1" dirty="0" smtClean="0">
                <a:solidFill>
                  <a:srgbClr val="FF0000"/>
                </a:solidFill>
              </a:rPr>
              <a:t>group</a:t>
            </a:r>
            <a:r>
              <a:rPr lang="en-US" dirty="0" smtClean="0"/>
              <a:t>/</a:t>
            </a:r>
            <a:r>
              <a:rPr lang="en-US" dirty="0"/>
              <a:t> 15 or 20 owners </a:t>
            </a:r>
            <a:r>
              <a:rPr lang="en-US" dirty="0" smtClean="0"/>
              <a:t> </a:t>
            </a:r>
            <a:r>
              <a:rPr lang="en-US" dirty="0"/>
              <a:t>in a rare </a:t>
            </a:r>
            <a:r>
              <a:rPr lang="en-US" dirty="0" smtClean="0"/>
              <a:t>case/.  </a:t>
            </a:r>
            <a:endParaRPr lang="en-US" dirty="0"/>
          </a:p>
          <a:p>
            <a:pPr marL="1314450" lvl="2" indent="-514350" algn="just">
              <a:buFont typeface="Wingdings" pitchFamily="2" charset="2"/>
              <a:buChar char="§"/>
            </a:pPr>
            <a:r>
              <a:rPr lang="en-US" dirty="0" smtClean="0"/>
              <a:t>The </a:t>
            </a:r>
            <a:r>
              <a:rPr lang="en-US" dirty="0"/>
              <a:t>firm’s operations are </a:t>
            </a:r>
            <a:r>
              <a:rPr lang="en-US" i="1" dirty="0"/>
              <a:t>geographically </a:t>
            </a:r>
            <a:r>
              <a:rPr lang="en-US" i="1" dirty="0" smtClean="0"/>
              <a:t>localized</a:t>
            </a:r>
            <a:r>
              <a:rPr lang="en-US" dirty="0" smtClean="0"/>
              <a:t>.</a:t>
            </a:r>
          </a:p>
          <a:p>
            <a:pPr marL="1314450" lvl="2" indent="-514350" algn="just">
              <a:buFont typeface="Wingdings" pitchFamily="2" charset="2"/>
              <a:buChar char="§"/>
            </a:pPr>
            <a:r>
              <a:rPr lang="en-US" dirty="0" smtClean="0"/>
              <a:t>The </a:t>
            </a:r>
            <a:r>
              <a:rPr lang="en-US" i="1" dirty="0">
                <a:solidFill>
                  <a:srgbClr val="FF0000"/>
                </a:solidFill>
              </a:rPr>
              <a:t>business is </a:t>
            </a:r>
            <a:r>
              <a:rPr lang="en-US" i="1" dirty="0" smtClean="0">
                <a:solidFill>
                  <a:srgbClr val="FF0000"/>
                </a:solidFill>
              </a:rPr>
              <a:t>small </a:t>
            </a:r>
            <a:r>
              <a:rPr lang="en-US" dirty="0" smtClean="0"/>
              <a:t>Compared </a:t>
            </a:r>
            <a:r>
              <a:rPr lang="en-US" dirty="0"/>
              <a:t>to the biggest firms in the </a:t>
            </a:r>
            <a:r>
              <a:rPr lang="en-US" dirty="0" smtClean="0"/>
              <a:t>industry</a:t>
            </a:r>
          </a:p>
          <a:p>
            <a:pPr marL="1314450" lvl="2" indent="-514350" algn="just">
              <a:buFont typeface="Wingdings" pitchFamily="2" charset="2"/>
              <a:buChar char="§"/>
            </a:pPr>
            <a:r>
              <a:rPr lang="en-US" dirty="0" smtClean="0"/>
              <a:t>The </a:t>
            </a:r>
            <a:r>
              <a:rPr lang="en-US" dirty="0"/>
              <a:t>number of employees in the business is usually </a:t>
            </a:r>
            <a:r>
              <a:rPr lang="en-US" i="1" dirty="0"/>
              <a:t>fewer than 100.</a:t>
            </a:r>
          </a:p>
          <a:p>
            <a:pPr>
              <a:buNone/>
            </a:pPr>
            <a:endParaRPr lang="en-US" dirty="0"/>
          </a:p>
        </p:txBody>
      </p:sp>
    </p:spTree>
    <p:extLst>
      <p:ext uri="{BB962C8B-B14F-4D97-AF65-F5344CB8AC3E}">
        <p14:creationId xmlns:p14="http://schemas.microsoft.com/office/powerpoint/2010/main" val="4929462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Autofit/>
          </a:bodyPr>
          <a:lstStyle/>
          <a:p>
            <a:r>
              <a:rPr lang="en-US" sz="3600" dirty="0" smtClean="0">
                <a:effectLst>
                  <a:outerShdw blurRad="38100" dist="38100" dir="2700000" algn="tl">
                    <a:srgbClr val="000000">
                      <a:alpha val="43137"/>
                    </a:srgbClr>
                  </a:outerShdw>
                </a:effectLst>
              </a:rPr>
              <a:t/>
            </a:r>
            <a:br>
              <a:rPr lang="en-US" sz="3600" dirty="0" smtClean="0">
                <a:effectLst>
                  <a:outerShdw blurRad="38100" dist="38100" dir="2700000" algn="tl">
                    <a:srgbClr val="000000">
                      <a:alpha val="43137"/>
                    </a:srgbClr>
                  </a:outerShdw>
                </a:effectLst>
              </a:rPr>
            </a:br>
            <a:r>
              <a:rPr lang="en-US" sz="3600" b="1" dirty="0" smtClean="0"/>
              <a:t>2. </a:t>
            </a:r>
            <a:r>
              <a:rPr lang="en-US" sz="3200" b="1" dirty="0" smtClean="0"/>
              <a:t>Economic/control</a:t>
            </a:r>
            <a:r>
              <a:rPr lang="en-US" sz="3600" b="1" dirty="0" smtClean="0"/>
              <a:t> </a:t>
            </a:r>
            <a:r>
              <a:rPr lang="en-US" sz="3600" b="1" dirty="0"/>
              <a:t>criteria approach.</a:t>
            </a:r>
            <a:r>
              <a:rPr lang="en-US" sz="3600" dirty="0"/>
              <a:t/>
            </a:r>
            <a:br>
              <a:rPr lang="en-US" sz="3600" dirty="0"/>
            </a:br>
            <a:endParaRPr lang="en-US" sz="3600" dirty="0"/>
          </a:p>
        </p:txBody>
      </p:sp>
      <p:sp>
        <p:nvSpPr>
          <p:cNvPr id="3" name="Content Placeholder 2"/>
          <p:cNvSpPr>
            <a:spLocks noGrp="1"/>
          </p:cNvSpPr>
          <p:nvPr>
            <p:ph idx="1"/>
          </p:nvPr>
        </p:nvSpPr>
        <p:spPr>
          <a:xfrm>
            <a:off x="228600" y="533400"/>
            <a:ext cx="8534400" cy="6324600"/>
          </a:xfrm>
        </p:spPr>
        <p:txBody>
          <a:bodyPr>
            <a:normAutofit fontScale="92500"/>
          </a:bodyPr>
          <a:lstStyle/>
          <a:p>
            <a:pPr marL="0" indent="0" algn="just">
              <a:buNone/>
            </a:pPr>
            <a:r>
              <a:rPr lang="en-US" dirty="0" smtClean="0"/>
              <a:t>Covers </a:t>
            </a:r>
            <a:r>
              <a:rPr lang="en-US" dirty="0" smtClean="0">
                <a:solidFill>
                  <a:srgbClr val="FF0000"/>
                </a:solidFill>
              </a:rPr>
              <a:t>four </a:t>
            </a:r>
            <a:r>
              <a:rPr lang="en-US" dirty="0">
                <a:solidFill>
                  <a:srgbClr val="FF0000"/>
                </a:solidFill>
              </a:rPr>
              <a:t>characteristics </a:t>
            </a:r>
            <a:r>
              <a:rPr lang="en-US" dirty="0" smtClean="0"/>
              <a:t>:</a:t>
            </a:r>
            <a:endParaRPr lang="en-US" dirty="0"/>
          </a:p>
          <a:p>
            <a:pPr algn="just">
              <a:buFont typeface="Wingdings" pitchFamily="2" charset="2"/>
              <a:buChar char="§"/>
            </a:pPr>
            <a:r>
              <a:rPr lang="en-US" i="1" u="sng" dirty="0" smtClean="0"/>
              <a:t>Small market share:</a:t>
            </a:r>
            <a:r>
              <a:rPr lang="en-US" dirty="0" smtClean="0"/>
              <a:t> it is  not </a:t>
            </a:r>
            <a:r>
              <a:rPr lang="en-US" dirty="0"/>
              <a:t>large enough </a:t>
            </a:r>
            <a:r>
              <a:rPr lang="en-US" dirty="0" smtClean="0"/>
              <a:t>and unable  </a:t>
            </a:r>
            <a:r>
              <a:rPr lang="en-US" dirty="0"/>
              <a:t>to influence the prices of national quantities of goods sold to any significant extent.  </a:t>
            </a:r>
          </a:p>
          <a:p>
            <a:pPr algn="just">
              <a:buFont typeface="Wingdings" pitchFamily="2" charset="2"/>
              <a:buChar char="§"/>
            </a:pPr>
            <a:r>
              <a:rPr lang="en-US" i="1" u="sng" dirty="0" smtClean="0"/>
              <a:t>Independence:</a:t>
            </a:r>
            <a:r>
              <a:rPr lang="en-US" dirty="0" smtClean="0"/>
              <a:t>  ,the </a:t>
            </a:r>
            <a:r>
              <a:rPr lang="en-US" dirty="0"/>
              <a:t>owner </a:t>
            </a:r>
            <a:r>
              <a:rPr lang="en-US" dirty="0" smtClean="0"/>
              <a:t>control  </a:t>
            </a:r>
            <a:r>
              <a:rPr lang="en-US" dirty="0"/>
              <a:t>the business himself/herself. </a:t>
            </a:r>
            <a:endParaRPr lang="en-US" dirty="0" smtClean="0"/>
          </a:p>
          <a:p>
            <a:pPr marL="342900" lvl="4" indent="-342900" algn="just">
              <a:buFont typeface="Wingdings" pitchFamily="2" charset="2"/>
              <a:buChar char="§"/>
            </a:pPr>
            <a:r>
              <a:rPr lang="en-US" sz="3200" i="1" u="sng" dirty="0" smtClean="0"/>
              <a:t>Personalized Management:</a:t>
            </a:r>
            <a:r>
              <a:rPr lang="en-US" sz="3200" dirty="0" smtClean="0"/>
              <a:t> little delegation/ </a:t>
            </a:r>
            <a:r>
              <a:rPr lang="en-US" sz="3200" dirty="0"/>
              <a:t>the owner actively participates in all aspects of the management of the </a:t>
            </a:r>
            <a:r>
              <a:rPr lang="en-US" sz="3200" dirty="0" smtClean="0"/>
              <a:t>business</a:t>
            </a:r>
          </a:p>
          <a:p>
            <a:pPr marL="342900" lvl="4" indent="-342900" algn="just">
              <a:buFont typeface="Wingdings" pitchFamily="2" charset="2"/>
              <a:buChar char="§"/>
            </a:pPr>
            <a:r>
              <a:rPr lang="en-US" sz="3200" i="1" u="sng" dirty="0" smtClean="0"/>
              <a:t>Limited geographical area </a:t>
            </a:r>
            <a:r>
              <a:rPr lang="en-US" sz="3200" i="1" u="sng" dirty="0"/>
              <a:t>of </a:t>
            </a:r>
            <a:r>
              <a:rPr lang="en-US" sz="3200" i="1" u="sng" dirty="0" smtClean="0"/>
              <a:t>operation;</a:t>
            </a:r>
            <a:r>
              <a:rPr lang="en-US" sz="3200" dirty="0" smtClean="0"/>
              <a:t> </a:t>
            </a:r>
            <a:r>
              <a:rPr lang="en-US" sz="3200" dirty="0"/>
              <a:t>The </a:t>
            </a:r>
            <a:r>
              <a:rPr lang="en-US" sz="3200" dirty="0" smtClean="0"/>
              <a:t> operation </a:t>
            </a:r>
            <a:r>
              <a:rPr lang="en-US" sz="3200" dirty="0"/>
              <a:t>of a small firm is often local. </a:t>
            </a:r>
          </a:p>
          <a:p>
            <a:pPr marL="0" lvl="0" indent="0">
              <a:buNone/>
            </a:pPr>
            <a:endParaRPr lang="en-US" sz="3300" dirty="0"/>
          </a:p>
          <a:p>
            <a:pPr>
              <a:buFont typeface="Wingdings" pitchFamily="2" charset="2"/>
              <a:buChar char="v"/>
            </a:pPr>
            <a:endParaRPr lang="en-US" sz="3300" dirty="0"/>
          </a:p>
          <a:p>
            <a:pPr marL="1828800" lvl="4" indent="0">
              <a:buNone/>
            </a:pPr>
            <a:endParaRPr lang="en-US" sz="3300" dirty="0"/>
          </a:p>
          <a:p>
            <a:endParaRPr lang="en-US" sz="3300" dirty="0"/>
          </a:p>
        </p:txBody>
      </p:sp>
    </p:spTree>
    <p:extLst>
      <p:ext uri="{BB962C8B-B14F-4D97-AF65-F5344CB8AC3E}">
        <p14:creationId xmlns:p14="http://schemas.microsoft.com/office/powerpoint/2010/main" val="20980512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a:solidFill>
            <a:srgbClr val="FFFF00"/>
          </a:solidFill>
        </p:spPr>
        <p:txBody>
          <a:bodyPr>
            <a:noAutofit/>
          </a:bodyPr>
          <a:lstStyle/>
          <a:p>
            <a:r>
              <a:rPr lang="en-US" sz="3200" b="1" dirty="0" smtClean="0"/>
              <a:t/>
            </a:r>
            <a:br>
              <a:rPr lang="en-US" sz="3200" b="1" dirty="0" smtClean="0"/>
            </a:br>
            <a:r>
              <a:rPr lang="en-US" sz="2400" b="1" dirty="0" smtClean="0"/>
              <a:t>3.4.2 </a:t>
            </a:r>
            <a:r>
              <a:rPr lang="en-US" sz="2400" b="1" dirty="0"/>
              <a:t>Role/Importance of MSEs in Developing </a:t>
            </a:r>
            <a:r>
              <a:rPr lang="en-US" sz="2400" b="1" dirty="0" smtClean="0"/>
              <a:t>Countries</a:t>
            </a:r>
            <a:br>
              <a:rPr lang="en-US" sz="2400" b="1" dirty="0" smtClean="0"/>
            </a:br>
            <a:r>
              <a:rPr lang="en-US" sz="2400" b="1" dirty="0" smtClean="0"/>
              <a:t>(Reading Assignment)</a:t>
            </a:r>
            <a:r>
              <a:rPr lang="en-US" sz="3200" b="1" dirty="0"/>
              <a:t/>
            </a:r>
            <a:br>
              <a:rPr lang="en-US" sz="3200" b="1" dirty="0"/>
            </a:br>
            <a:endParaRPr lang="en-US" sz="3200" dirty="0"/>
          </a:p>
        </p:txBody>
      </p:sp>
      <p:sp>
        <p:nvSpPr>
          <p:cNvPr id="3" name="Content Placeholder 2"/>
          <p:cNvSpPr>
            <a:spLocks noGrp="1"/>
          </p:cNvSpPr>
          <p:nvPr>
            <p:ph idx="1"/>
          </p:nvPr>
        </p:nvSpPr>
        <p:spPr>
          <a:xfrm>
            <a:off x="304800" y="1143000"/>
            <a:ext cx="8534400" cy="5562600"/>
          </a:xfrm>
        </p:spPr>
        <p:txBody>
          <a:bodyPr>
            <a:normAutofit/>
          </a:bodyPr>
          <a:lstStyle/>
          <a:p>
            <a:pPr marL="971550" lvl="1" indent="-514350">
              <a:buFont typeface="Wingdings" pitchFamily="2" charset="2"/>
              <a:buChar char="§"/>
            </a:pPr>
            <a:r>
              <a:rPr lang="en-US" sz="2600" b="1" i="1" dirty="0" smtClean="0"/>
              <a:t>Large </a:t>
            </a:r>
            <a:r>
              <a:rPr lang="en-US" sz="2600" b="1" i="1" dirty="0"/>
              <a:t>Employment Opportunities:</a:t>
            </a:r>
            <a:r>
              <a:rPr lang="en-US" sz="2600" i="1" dirty="0"/>
              <a:t>	</a:t>
            </a:r>
            <a:r>
              <a:rPr lang="en-US" sz="2600" i="1" dirty="0" smtClean="0"/>
              <a:t> </a:t>
            </a:r>
            <a:endParaRPr lang="en-US" sz="2600" i="1" dirty="0"/>
          </a:p>
          <a:p>
            <a:pPr marL="971550" lvl="1" indent="-514350">
              <a:buFont typeface="Wingdings" pitchFamily="2" charset="2"/>
              <a:buChar char="§"/>
            </a:pPr>
            <a:r>
              <a:rPr lang="en-US" sz="2600" b="1" i="1" dirty="0"/>
              <a:t>Balanced Regional Development/ Removing Regional </a:t>
            </a:r>
            <a:r>
              <a:rPr lang="en-US" sz="2600" b="1" i="1" dirty="0" smtClean="0"/>
              <a:t>Imbalance</a:t>
            </a:r>
            <a:r>
              <a:rPr lang="en-US" sz="2600" i="1" dirty="0" smtClean="0"/>
              <a:t>  </a:t>
            </a:r>
            <a:endParaRPr lang="en-US" sz="2600" i="1" dirty="0"/>
          </a:p>
          <a:p>
            <a:pPr marL="971550" lvl="1" indent="-514350">
              <a:buFont typeface="Wingdings" pitchFamily="2" charset="2"/>
              <a:buChar char="§"/>
            </a:pPr>
            <a:r>
              <a:rPr lang="en-US" sz="2600" b="1" i="1" dirty="0"/>
              <a:t>Equitable Distribution of Wealth</a:t>
            </a:r>
            <a:r>
              <a:rPr lang="en-US" sz="2600" i="1" dirty="0"/>
              <a:t> </a:t>
            </a:r>
            <a:r>
              <a:rPr lang="en-US" sz="2600" b="1" i="1" dirty="0"/>
              <a:t>and Decentralization of Economic </a:t>
            </a:r>
            <a:r>
              <a:rPr lang="en-US" sz="2600" b="1" i="1" dirty="0" smtClean="0"/>
              <a:t>Power</a:t>
            </a:r>
            <a:r>
              <a:rPr lang="en-US" sz="2600" i="1" dirty="0" smtClean="0"/>
              <a:t> </a:t>
            </a:r>
            <a:endParaRPr lang="en-US" sz="2600" i="1" dirty="0"/>
          </a:p>
          <a:p>
            <a:pPr marL="971550" lvl="1" indent="-514350">
              <a:buFont typeface="Wingdings" pitchFamily="2" charset="2"/>
              <a:buChar char="§"/>
            </a:pPr>
            <a:r>
              <a:rPr lang="en-US" sz="2600" b="1" i="1" dirty="0"/>
              <a:t>Unregulated Growth of Large-scale industries </a:t>
            </a:r>
            <a:r>
              <a:rPr lang="en-US" sz="2600" b="1" i="1" dirty="0" smtClean="0"/>
              <a:t>  </a:t>
            </a:r>
            <a:endParaRPr lang="en-US" sz="2600" b="1" i="1" dirty="0"/>
          </a:p>
          <a:p>
            <a:pPr marL="971550" lvl="1" indent="-514350">
              <a:buFont typeface="Wingdings" pitchFamily="2" charset="2"/>
              <a:buChar char="§"/>
            </a:pPr>
            <a:r>
              <a:rPr lang="en-US" sz="2600" b="1" i="1" dirty="0"/>
              <a:t>Dispersal over Wide </a:t>
            </a:r>
            <a:r>
              <a:rPr lang="en-US" sz="2600" b="1" i="1" dirty="0" smtClean="0"/>
              <a:t>Areas</a:t>
            </a:r>
            <a:r>
              <a:rPr lang="en-US" sz="2600" i="1" dirty="0" smtClean="0"/>
              <a:t> </a:t>
            </a:r>
            <a:endParaRPr lang="en-US" sz="2600" i="1" dirty="0"/>
          </a:p>
          <a:p>
            <a:pPr marL="971550" lvl="1" indent="-514350">
              <a:buFont typeface="Wingdings" pitchFamily="2" charset="2"/>
              <a:buChar char="§"/>
            </a:pPr>
            <a:r>
              <a:rPr lang="en-US" sz="2600" b="1" i="1" dirty="0"/>
              <a:t>Higher Standard of </a:t>
            </a:r>
            <a:r>
              <a:rPr lang="en-US" sz="2600" b="1" i="1" dirty="0" smtClean="0"/>
              <a:t>Living</a:t>
            </a:r>
            <a:r>
              <a:rPr lang="en-US" sz="2600" i="1" dirty="0" smtClean="0"/>
              <a:t> </a:t>
            </a:r>
            <a:endParaRPr lang="en-US" sz="2600" i="1" dirty="0"/>
          </a:p>
          <a:p>
            <a:pPr marL="971550" lvl="1" indent="-514350">
              <a:buFont typeface="Wingdings" pitchFamily="2" charset="2"/>
              <a:buChar char="§"/>
            </a:pPr>
            <a:r>
              <a:rPr lang="en-US" sz="2600" b="1" i="1" dirty="0"/>
              <a:t>Mobilization of Locals Resources/Symbols of National </a:t>
            </a:r>
            <a:r>
              <a:rPr lang="en-US" sz="2600" b="1" i="1" dirty="0" smtClean="0"/>
              <a:t>Identity</a:t>
            </a:r>
            <a:endParaRPr lang="en-US" sz="2600" i="1" dirty="0"/>
          </a:p>
        </p:txBody>
      </p:sp>
    </p:spTree>
    <p:extLst>
      <p:ext uri="{BB962C8B-B14F-4D97-AF65-F5344CB8AC3E}">
        <p14:creationId xmlns:p14="http://schemas.microsoft.com/office/powerpoint/2010/main" val="17136633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dirty="0" smtClean="0"/>
              <a:t>Con’t…</a:t>
            </a:r>
            <a:endParaRPr lang="en-US" dirty="0"/>
          </a:p>
        </p:txBody>
      </p:sp>
      <p:sp>
        <p:nvSpPr>
          <p:cNvPr id="3" name="Content Placeholder 2"/>
          <p:cNvSpPr>
            <a:spLocks noGrp="1"/>
          </p:cNvSpPr>
          <p:nvPr>
            <p:ph idx="1"/>
          </p:nvPr>
        </p:nvSpPr>
        <p:spPr>
          <a:xfrm>
            <a:off x="228600" y="609600"/>
            <a:ext cx="8686800" cy="5943600"/>
          </a:xfrm>
        </p:spPr>
        <p:txBody>
          <a:bodyPr>
            <a:normAutofit/>
          </a:bodyPr>
          <a:lstStyle/>
          <a:p>
            <a:pPr marL="971550" lvl="1" indent="-514350">
              <a:buFont typeface="Wingdings" pitchFamily="2" charset="2"/>
              <a:buChar char="§"/>
            </a:pPr>
            <a:r>
              <a:rPr lang="en-US" sz="2600" b="1" i="1" dirty="0"/>
              <a:t>Innovative and Productive /Simple Technology</a:t>
            </a:r>
          </a:p>
          <a:p>
            <a:pPr marL="971550" lvl="1" indent="-514350">
              <a:buFont typeface="Wingdings" pitchFamily="2" charset="2"/>
              <a:buChar char="§"/>
            </a:pPr>
            <a:r>
              <a:rPr lang="en-US" sz="2600" b="1" i="1" dirty="0"/>
              <a:t>Less Dependence on Foreign Capital/ Export </a:t>
            </a:r>
            <a:r>
              <a:rPr lang="en-US" sz="2600" b="1" i="1" dirty="0" smtClean="0"/>
              <a:t>Promotion</a:t>
            </a:r>
          </a:p>
          <a:p>
            <a:pPr marL="971550" lvl="1" indent="-514350">
              <a:buFont typeface="Wingdings" pitchFamily="2" charset="2"/>
              <a:buChar char="§"/>
            </a:pPr>
            <a:r>
              <a:rPr lang="en-US" sz="2600" b="1" i="1" dirty="0" smtClean="0"/>
              <a:t>Promotion </a:t>
            </a:r>
            <a:r>
              <a:rPr lang="en-US" sz="2600" b="1" i="1" dirty="0"/>
              <a:t>of Self </a:t>
            </a:r>
            <a:r>
              <a:rPr lang="en-US" sz="2600" b="1" i="1" dirty="0" smtClean="0"/>
              <a:t>Employment</a:t>
            </a:r>
            <a:endParaRPr lang="en-US" sz="2600" b="1" i="1" dirty="0"/>
          </a:p>
          <a:p>
            <a:pPr marL="971550" lvl="1" indent="-514350">
              <a:buFont typeface="Wingdings" pitchFamily="2" charset="2"/>
              <a:buChar char="§"/>
            </a:pPr>
            <a:r>
              <a:rPr lang="en-US" sz="2600" b="1" i="1" dirty="0" smtClean="0"/>
              <a:t>Protection </a:t>
            </a:r>
            <a:r>
              <a:rPr lang="en-US" sz="2600" b="1" i="1" dirty="0"/>
              <a:t>of </a:t>
            </a:r>
            <a:r>
              <a:rPr lang="en-US" sz="2600" b="1" i="1" dirty="0" smtClean="0"/>
              <a:t>Environment</a:t>
            </a:r>
            <a:endParaRPr lang="en-US" sz="2600" b="1" i="1" dirty="0"/>
          </a:p>
          <a:p>
            <a:pPr marL="971550" lvl="1" indent="-514350">
              <a:buFont typeface="Wingdings" pitchFamily="2" charset="2"/>
              <a:buChar char="§"/>
            </a:pPr>
            <a:r>
              <a:rPr lang="en-US" sz="2600" b="1" i="1" dirty="0"/>
              <a:t>Shorter Gestation </a:t>
            </a:r>
            <a:r>
              <a:rPr lang="en-US" sz="2600" b="1" i="1" dirty="0" smtClean="0"/>
              <a:t>Period</a:t>
            </a:r>
            <a:endParaRPr lang="en-US" sz="2600" b="1" i="1" dirty="0"/>
          </a:p>
          <a:p>
            <a:pPr marL="971550" lvl="1" indent="-514350">
              <a:buFont typeface="Wingdings" pitchFamily="2" charset="2"/>
              <a:buChar char="§"/>
            </a:pPr>
            <a:r>
              <a:rPr lang="en-US" sz="2400" b="1" i="1" dirty="0"/>
              <a:t>Facilitate Development of Large Scale </a:t>
            </a:r>
            <a:r>
              <a:rPr lang="en-US" sz="2400" b="1" i="1" dirty="0" smtClean="0"/>
              <a:t>Enterprises</a:t>
            </a:r>
            <a:endParaRPr lang="en-US" sz="2400" b="1" i="1" dirty="0"/>
          </a:p>
          <a:p>
            <a:pPr marL="971550" lvl="1" indent="-514350">
              <a:buFont typeface="Wingdings" pitchFamily="2" charset="2"/>
              <a:buChar char="§"/>
            </a:pPr>
            <a:r>
              <a:rPr lang="en-US" sz="2600" b="1" i="1" dirty="0"/>
              <a:t>Individual Tastes, Fashions, and Personalized </a:t>
            </a:r>
            <a:r>
              <a:rPr lang="en-US" sz="2600" b="1" i="1" dirty="0" smtClean="0"/>
              <a:t>Services </a:t>
            </a:r>
            <a:endParaRPr lang="en-US" sz="2600" b="1" i="1" dirty="0"/>
          </a:p>
          <a:p>
            <a:pPr marL="971550" lvl="1" indent="-514350">
              <a:buFont typeface="Wingdings" pitchFamily="2" charset="2"/>
              <a:buChar char="§"/>
            </a:pPr>
            <a:r>
              <a:rPr lang="en-US" sz="2600" b="1" i="1" dirty="0"/>
              <a:t>More Employment Creation </a:t>
            </a:r>
            <a:r>
              <a:rPr lang="en-US" sz="2600" b="1" i="1" dirty="0" smtClean="0"/>
              <a:t>Capacity</a:t>
            </a:r>
            <a:endParaRPr lang="en-US" sz="2600" b="1" i="1" dirty="0"/>
          </a:p>
        </p:txBody>
      </p:sp>
    </p:spTree>
    <p:extLst>
      <p:ext uri="{BB962C8B-B14F-4D97-AF65-F5344CB8AC3E}">
        <p14:creationId xmlns:p14="http://schemas.microsoft.com/office/powerpoint/2010/main" val="30270608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fontScale="90000"/>
          </a:bodyPr>
          <a:lstStyle/>
          <a:p>
            <a:r>
              <a:rPr lang="en-US" b="1" dirty="0" smtClean="0"/>
              <a:t/>
            </a:r>
            <a:br>
              <a:rPr lang="en-US" b="1" dirty="0" smtClean="0"/>
            </a:br>
            <a:r>
              <a:rPr lang="en-US" sz="4000" b="1" dirty="0" smtClean="0"/>
              <a:t>3.5 </a:t>
            </a:r>
            <a:r>
              <a:rPr lang="en-US" sz="4000" b="1" dirty="0"/>
              <a:t>Setting up Small Scale Business</a:t>
            </a:r>
            <a:r>
              <a:rPr lang="en-US" b="1" dirty="0"/>
              <a:t/>
            </a:r>
            <a:br>
              <a:rPr lang="en-US" b="1" dirty="0"/>
            </a:b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304800" y="2438400"/>
            <a:ext cx="8610600" cy="4267200"/>
          </a:xfrm>
          <a:prstGeom prst="rect">
            <a:avLst/>
          </a:prstGeom>
          <a:noFill/>
          <a:ln w="9525">
            <a:noFill/>
            <a:miter lim="800000"/>
            <a:headEnd/>
            <a:tailEnd/>
          </a:ln>
        </p:spPr>
      </p:pic>
      <p:sp>
        <p:nvSpPr>
          <p:cNvPr id="5" name="Rectangle 4"/>
          <p:cNvSpPr/>
          <p:nvPr/>
        </p:nvSpPr>
        <p:spPr>
          <a:xfrm>
            <a:off x="381000" y="838200"/>
            <a:ext cx="8305800" cy="1323439"/>
          </a:xfrm>
          <a:prstGeom prst="rect">
            <a:avLst/>
          </a:prstGeom>
        </p:spPr>
        <p:txBody>
          <a:bodyPr wrap="square">
            <a:spAutoFit/>
          </a:bodyPr>
          <a:lstStyle/>
          <a:p>
            <a:pPr algn="just"/>
            <a:r>
              <a:rPr lang="en-US" sz="2000" dirty="0" smtClean="0"/>
              <a:t>The entrepreneurial process of launching a new venture can be divided into three key stages of: Discovery; Evaluation; and Implementation. These can be further sub-divided into seven steps as shown below:</a:t>
            </a:r>
            <a:endParaRPr lang="en-US" sz="2000" dirty="0"/>
          </a:p>
        </p:txBody>
      </p:sp>
    </p:spTree>
    <p:extLst>
      <p:ext uri="{BB962C8B-B14F-4D97-AF65-F5344CB8AC3E}">
        <p14:creationId xmlns:p14="http://schemas.microsoft.com/office/powerpoint/2010/main" val="6713951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Autofit/>
          </a:bodyPr>
          <a:lstStyle/>
          <a:p>
            <a:r>
              <a:rPr lang="en-US" sz="3200" b="1" dirty="0"/>
              <a:t>Environmental Analysis</a:t>
            </a:r>
            <a:endParaRPr lang="en-US" sz="3200" dirty="0"/>
          </a:p>
        </p:txBody>
      </p:sp>
      <p:sp>
        <p:nvSpPr>
          <p:cNvPr id="3" name="Content Placeholder 2"/>
          <p:cNvSpPr>
            <a:spLocks noGrp="1"/>
          </p:cNvSpPr>
          <p:nvPr>
            <p:ph idx="1"/>
          </p:nvPr>
        </p:nvSpPr>
        <p:spPr>
          <a:xfrm>
            <a:off x="0" y="533400"/>
            <a:ext cx="9067800" cy="6324600"/>
          </a:xfrm>
        </p:spPr>
        <p:txBody>
          <a:bodyPr>
            <a:normAutofit/>
          </a:bodyPr>
          <a:lstStyle/>
          <a:p>
            <a:pPr marL="514350" indent="-514350" algn="just">
              <a:buFont typeface="Wingdings" pitchFamily="2" charset="2"/>
              <a:buChar char="§"/>
            </a:pPr>
            <a:r>
              <a:rPr lang="en-US" dirty="0" smtClean="0"/>
              <a:t>For </a:t>
            </a:r>
            <a:r>
              <a:rPr lang="en-US" dirty="0"/>
              <a:t>an analysis of the environment of entrepreneurship you would be required to develop an understanding of </a:t>
            </a:r>
            <a:r>
              <a:rPr lang="en-US" dirty="0" smtClean="0"/>
              <a:t>macroeconomic and </a:t>
            </a:r>
            <a:r>
              <a:rPr lang="en-US" dirty="0"/>
              <a:t>industry/sector specific factors</a:t>
            </a:r>
            <a:r>
              <a:rPr lang="en-US" dirty="0" smtClean="0"/>
              <a:t>.</a:t>
            </a:r>
            <a:r>
              <a:rPr lang="en-US" dirty="0"/>
              <a:t> </a:t>
            </a:r>
          </a:p>
          <a:p>
            <a:pPr marL="514350" lvl="0" indent="-514350" algn="just">
              <a:buFont typeface="Wingdings" pitchFamily="2" charset="2"/>
              <a:buChar char="§"/>
            </a:pPr>
            <a:r>
              <a:rPr lang="en-US" b="1" dirty="0"/>
              <a:t>Macro Environment</a:t>
            </a:r>
            <a:endParaRPr lang="en-US" dirty="0"/>
          </a:p>
          <a:p>
            <a:pPr marL="914400" lvl="1" indent="-514350" algn="just">
              <a:buFont typeface="Wingdings" pitchFamily="2" charset="2"/>
              <a:buChar char="§"/>
            </a:pPr>
            <a:r>
              <a:rPr lang="en-US" dirty="0" smtClean="0"/>
              <a:t>Consists </a:t>
            </a:r>
            <a:r>
              <a:rPr lang="en-US" dirty="0"/>
              <a:t>of the political, technological, social, legal and economic environments. </a:t>
            </a:r>
            <a:r>
              <a:rPr lang="en-US" dirty="0" smtClean="0"/>
              <a:t> </a:t>
            </a:r>
            <a:endParaRPr lang="en-US" dirty="0"/>
          </a:p>
          <a:p>
            <a:pPr marL="514350" lvl="0" indent="-514350" algn="just">
              <a:buFont typeface="Wingdings" pitchFamily="2" charset="2"/>
              <a:buChar char="§"/>
            </a:pPr>
            <a:r>
              <a:rPr lang="en-US" b="1" dirty="0"/>
              <a:t>Sectoral Analysis</a:t>
            </a:r>
            <a:endParaRPr lang="en-US" dirty="0"/>
          </a:p>
          <a:p>
            <a:pPr marL="914400" lvl="1" indent="-514350" algn="just">
              <a:buFont typeface="Wingdings" pitchFamily="2" charset="2"/>
              <a:buChar char="§"/>
            </a:pPr>
            <a:r>
              <a:rPr lang="en-US" dirty="0" smtClean="0"/>
              <a:t>Study </a:t>
            </a:r>
            <a:r>
              <a:rPr lang="en-US" dirty="0"/>
              <a:t>the sector or industry conditions in which the entrepreneur proposes to launch a </a:t>
            </a:r>
            <a:r>
              <a:rPr lang="en-US" dirty="0" smtClean="0"/>
              <a:t>venture. </a:t>
            </a: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37247152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b="1" dirty="0" smtClean="0"/>
              <a:t/>
            </a:r>
            <a:br>
              <a:rPr lang="en-US" b="1" dirty="0" smtClean="0"/>
            </a:br>
            <a:r>
              <a:rPr lang="en-US" dirty="0"/>
              <a:t/>
            </a:r>
            <a:br>
              <a:rPr lang="en-US" dirty="0"/>
            </a:br>
            <a:endParaRPr lang="en-US" dirty="0"/>
          </a:p>
        </p:txBody>
      </p:sp>
      <p:sp>
        <p:nvSpPr>
          <p:cNvPr id="3" name="Content Placeholder 2"/>
          <p:cNvSpPr>
            <a:spLocks noGrp="1"/>
          </p:cNvSpPr>
          <p:nvPr>
            <p:ph idx="1"/>
          </p:nvPr>
        </p:nvSpPr>
        <p:spPr>
          <a:xfrm>
            <a:off x="304800" y="685800"/>
            <a:ext cx="8382000" cy="5867400"/>
          </a:xfrm>
        </p:spPr>
        <p:txBody>
          <a:bodyPr/>
          <a:lstStyle/>
          <a:p>
            <a:pPr algn="ctr">
              <a:buNone/>
            </a:pPr>
            <a:r>
              <a:rPr lang="en-US" b="1" dirty="0" smtClean="0"/>
              <a:t>SWOT Analysis</a:t>
            </a:r>
            <a:endParaRPr lang="en-US" dirty="0" smtClean="0"/>
          </a:p>
          <a:p>
            <a:pPr algn="just"/>
            <a:r>
              <a:rPr lang="en-US" dirty="0" smtClean="0"/>
              <a:t>A </a:t>
            </a:r>
            <a:r>
              <a:rPr lang="en-US" dirty="0"/>
              <a:t>SWOT analysis </a:t>
            </a:r>
            <a:r>
              <a:rPr lang="en-US" dirty="0" smtClean="0"/>
              <a:t>helps </a:t>
            </a:r>
            <a:r>
              <a:rPr lang="en-US" dirty="0"/>
              <a:t>the entrepreneur to clearly identify his/her own strengths and weaknesses as well as the opportunities and threats in the environment. </a:t>
            </a:r>
            <a:endParaRPr lang="en-US" dirty="0" smtClean="0"/>
          </a:p>
          <a:p>
            <a:endParaRPr lang="en-US" dirty="0"/>
          </a:p>
          <a:p>
            <a:endParaRPr lang="en-US" dirty="0"/>
          </a:p>
        </p:txBody>
      </p:sp>
    </p:spTree>
    <p:extLst>
      <p:ext uri="{BB962C8B-B14F-4D97-AF65-F5344CB8AC3E}">
        <p14:creationId xmlns:p14="http://schemas.microsoft.com/office/powerpoint/2010/main" val="38039734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dirty="0" err="1" smtClean="0"/>
              <a:t>con’t</a:t>
            </a:r>
            <a:r>
              <a:rPr lang="en-US" dirty="0" smtClean="0"/>
              <a:t>…</a:t>
            </a:r>
            <a:endParaRPr lang="en-US" dirty="0"/>
          </a:p>
        </p:txBody>
      </p:sp>
      <p:graphicFrame>
        <p:nvGraphicFramePr>
          <p:cNvPr id="5" name="Content Placeholder 4"/>
          <p:cNvGraphicFramePr>
            <a:graphicFrameLocks noGrp="1"/>
          </p:cNvGraphicFramePr>
          <p:nvPr>
            <p:ph idx="1"/>
          </p:nvPr>
        </p:nvGraphicFramePr>
        <p:xfrm>
          <a:off x="685800" y="9906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6625" name="Rectangle 1"/>
          <p:cNvSpPr>
            <a:spLocks noChangeArrowheads="1"/>
          </p:cNvSpPr>
          <p:nvPr/>
        </p:nvSpPr>
        <p:spPr bwMode="auto">
          <a:xfrm>
            <a:off x="2286000" y="5943600"/>
            <a:ext cx="50292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mbria" pitchFamily="18" charset="0"/>
                <a:ea typeface="Calibri" pitchFamily="34" charset="0"/>
                <a:cs typeface="Times New Roman" pitchFamily="18" charset="0"/>
              </a:rPr>
              <a:t>Fig 3.2 Hierarchical Environmental Analysis</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9544775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fontScale="90000"/>
          </a:bodyPr>
          <a:lstStyle/>
          <a:p>
            <a:r>
              <a:rPr lang="en-US" sz="3600" b="1" dirty="0" smtClean="0"/>
              <a:t/>
            </a:r>
            <a:br>
              <a:rPr lang="en-US" sz="3600" b="1" dirty="0" smtClean="0"/>
            </a:br>
            <a:r>
              <a:rPr lang="en-US" sz="3100" b="1" dirty="0" smtClean="0"/>
              <a:t>3.6 </a:t>
            </a:r>
            <a:r>
              <a:rPr lang="en-US" sz="3100" b="1" dirty="0"/>
              <a:t>Small Business Failure and Success Factors</a:t>
            </a:r>
            <a:br>
              <a:rPr lang="en-US" sz="3100" b="1" dirty="0"/>
            </a:br>
            <a:endParaRPr lang="en-US" dirty="0"/>
          </a:p>
        </p:txBody>
      </p:sp>
      <p:sp>
        <p:nvSpPr>
          <p:cNvPr id="3" name="Content Placeholder 2"/>
          <p:cNvSpPr>
            <a:spLocks noGrp="1"/>
          </p:cNvSpPr>
          <p:nvPr>
            <p:ph idx="1"/>
          </p:nvPr>
        </p:nvSpPr>
        <p:spPr>
          <a:xfrm>
            <a:off x="381000" y="609600"/>
            <a:ext cx="8382000" cy="6019800"/>
          </a:xfrm>
        </p:spPr>
        <p:txBody>
          <a:bodyPr>
            <a:normAutofit fontScale="92500"/>
          </a:bodyPr>
          <a:lstStyle/>
          <a:p>
            <a:pPr marL="0" indent="0" algn="just">
              <a:buNone/>
            </a:pPr>
            <a:r>
              <a:rPr lang="en-US" sz="3000" b="1" dirty="0" smtClean="0">
                <a:latin typeface="+mj-lt"/>
                <a:ea typeface="+mj-ea"/>
                <a:cs typeface="+mj-cs"/>
              </a:rPr>
              <a:t>3.6.1 </a:t>
            </a:r>
            <a:r>
              <a:rPr lang="en-US" sz="3000" b="1" dirty="0">
                <a:latin typeface="+mj-lt"/>
                <a:ea typeface="+mj-ea"/>
                <a:cs typeface="+mj-cs"/>
              </a:rPr>
              <a:t>Small Business Failure </a:t>
            </a:r>
            <a:r>
              <a:rPr lang="en-US" sz="3000" b="1" dirty="0" smtClean="0">
                <a:latin typeface="+mj-lt"/>
                <a:ea typeface="+mj-ea"/>
                <a:cs typeface="+mj-cs"/>
              </a:rPr>
              <a:t>Factors</a:t>
            </a:r>
          </a:p>
          <a:p>
            <a:pPr marL="0" indent="0" algn="just">
              <a:buNone/>
            </a:pPr>
            <a:r>
              <a:rPr lang="en-US" sz="3000" b="1" dirty="0">
                <a:latin typeface="+mj-lt"/>
                <a:ea typeface="+mj-ea"/>
                <a:cs typeface="+mj-cs"/>
              </a:rPr>
              <a:t/>
            </a:r>
            <a:br>
              <a:rPr lang="en-US" sz="3000" b="1" dirty="0">
                <a:latin typeface="+mj-lt"/>
                <a:ea typeface="+mj-ea"/>
                <a:cs typeface="+mj-cs"/>
              </a:rPr>
            </a:br>
            <a:r>
              <a:rPr lang="en-US" sz="3000" b="1" dirty="0" smtClean="0">
                <a:latin typeface="+mj-lt"/>
                <a:ea typeface="+mj-ea"/>
                <a:cs typeface="+mj-cs"/>
              </a:rPr>
              <a:t> What </a:t>
            </a:r>
            <a:r>
              <a:rPr lang="en-US" sz="3000" b="1" dirty="0">
                <a:latin typeface="+mj-lt"/>
                <a:ea typeface="+mj-ea"/>
                <a:cs typeface="+mj-cs"/>
              </a:rPr>
              <a:t>Is Business Failure</a:t>
            </a:r>
            <a:r>
              <a:rPr lang="en-US" sz="3000" b="1" dirty="0" smtClean="0">
                <a:latin typeface="+mj-lt"/>
                <a:ea typeface="+mj-ea"/>
                <a:cs typeface="+mj-cs"/>
              </a:rPr>
              <a:t>?</a:t>
            </a:r>
          </a:p>
          <a:p>
            <a:pPr marL="514350" indent="-514350" algn="just">
              <a:buFont typeface="+mj-lt"/>
              <a:buAutoNum type="arabicParenR"/>
            </a:pPr>
            <a:r>
              <a:rPr lang="en-US" dirty="0" smtClean="0"/>
              <a:t>Actions </a:t>
            </a:r>
            <a:r>
              <a:rPr lang="en-US" dirty="0"/>
              <a:t>such as </a:t>
            </a:r>
            <a:r>
              <a:rPr lang="en-US" i="1" dirty="0"/>
              <a:t>bankruptcy, foreclosure, or voluntary withdrawal from the business with a financial loss to a </a:t>
            </a:r>
            <a:r>
              <a:rPr lang="en-US" i="1" dirty="0" smtClean="0"/>
              <a:t>creditor </a:t>
            </a:r>
            <a:r>
              <a:rPr lang="en-US" i="1" dirty="0" smtClean="0">
                <a:effectLst>
                  <a:outerShdw blurRad="38100" dist="38100" dir="2700000" algn="tl">
                    <a:srgbClr val="000000">
                      <a:alpha val="43137"/>
                    </a:srgbClr>
                  </a:outerShdw>
                </a:effectLst>
              </a:rPr>
              <a:t> </a:t>
            </a:r>
            <a:r>
              <a:rPr lang="en-US" dirty="0" smtClean="0"/>
              <a:t>or</a:t>
            </a:r>
          </a:p>
          <a:p>
            <a:pPr marL="514350" indent="-514350" algn="just">
              <a:buFont typeface="+mj-lt"/>
              <a:buAutoNum type="arabicParenR"/>
            </a:pPr>
            <a:r>
              <a:rPr lang="en-US" i="1" dirty="0" smtClean="0"/>
              <a:t>A Court action </a:t>
            </a:r>
            <a:r>
              <a:rPr lang="en-US" i="1" dirty="0"/>
              <a:t>such as receivership </a:t>
            </a:r>
            <a:r>
              <a:rPr lang="en-US" dirty="0"/>
              <a:t>(taken over involuntarily) or </a:t>
            </a:r>
            <a:r>
              <a:rPr lang="en-US" i="1" dirty="0"/>
              <a:t>reorganization </a:t>
            </a:r>
            <a:r>
              <a:rPr lang="en-US" dirty="0"/>
              <a:t>(receiving protection from creditors).</a:t>
            </a:r>
          </a:p>
          <a:p>
            <a:pPr marL="0" indent="0">
              <a:buNone/>
            </a:pPr>
            <a:r>
              <a:rPr lang="en-US" dirty="0"/>
              <a:t/>
            </a:r>
            <a:br>
              <a:rPr lang="en-US" dirty="0"/>
            </a:br>
            <a:endParaRPr lang="en-US" dirty="0"/>
          </a:p>
        </p:txBody>
      </p:sp>
    </p:spTree>
    <p:extLst>
      <p:ext uri="{BB962C8B-B14F-4D97-AF65-F5344CB8AC3E}">
        <p14:creationId xmlns:p14="http://schemas.microsoft.com/office/powerpoint/2010/main" val="25307677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fontScale="90000"/>
          </a:bodyPr>
          <a:lstStyle/>
          <a:p>
            <a:r>
              <a:rPr lang="en-US" b="1" dirty="0" smtClean="0"/>
              <a:t/>
            </a:r>
            <a:br>
              <a:rPr lang="en-US" b="1" dirty="0" smtClean="0"/>
            </a:br>
            <a:r>
              <a:rPr lang="en-US" b="1" dirty="0" smtClean="0"/>
              <a:t>Causes </a:t>
            </a:r>
            <a:r>
              <a:rPr lang="en-US" b="1" dirty="0"/>
              <a:t>of Business Failure</a:t>
            </a:r>
            <a:r>
              <a:rPr lang="en-US" dirty="0"/>
              <a:t/>
            </a:r>
            <a:br>
              <a:rPr lang="en-US" dirty="0"/>
            </a:br>
            <a:endParaRPr lang="en-US" dirty="0"/>
          </a:p>
        </p:txBody>
      </p:sp>
      <p:sp>
        <p:nvSpPr>
          <p:cNvPr id="3" name="Content Placeholder 2"/>
          <p:cNvSpPr>
            <a:spLocks noGrp="1"/>
          </p:cNvSpPr>
          <p:nvPr>
            <p:ph idx="1"/>
          </p:nvPr>
        </p:nvSpPr>
        <p:spPr>
          <a:xfrm>
            <a:off x="304800" y="609600"/>
            <a:ext cx="8534400" cy="6172200"/>
          </a:xfrm>
        </p:spPr>
        <p:txBody>
          <a:bodyPr>
            <a:normAutofit lnSpcReduction="10000"/>
          </a:bodyPr>
          <a:lstStyle/>
          <a:p>
            <a:pPr algn="just">
              <a:buFont typeface="Wingdings" pitchFamily="2" charset="2"/>
              <a:buChar char="ü"/>
            </a:pPr>
            <a:r>
              <a:rPr lang="en-US" dirty="0" smtClean="0"/>
              <a:t>The </a:t>
            </a:r>
            <a:r>
              <a:rPr lang="en-US" dirty="0"/>
              <a:t>most common causes are </a:t>
            </a:r>
            <a:r>
              <a:rPr lang="en-US" dirty="0">
                <a:solidFill>
                  <a:srgbClr val="FF0000"/>
                </a:solidFill>
              </a:rPr>
              <a:t>inadequate management </a:t>
            </a:r>
            <a:r>
              <a:rPr lang="en-US" dirty="0">
                <a:solidFill>
                  <a:srgbClr val="002060"/>
                </a:solidFill>
              </a:rPr>
              <a:t>and</a:t>
            </a:r>
            <a:r>
              <a:rPr lang="en-US" dirty="0">
                <a:solidFill>
                  <a:srgbClr val="FF0000"/>
                </a:solidFill>
              </a:rPr>
              <a:t> financing.</a:t>
            </a:r>
          </a:p>
          <a:p>
            <a:pPr marL="571500" indent="-571500" algn="just">
              <a:buFont typeface="+mj-lt"/>
              <a:buAutoNum type="romanUcPeriod"/>
            </a:pPr>
            <a:r>
              <a:rPr lang="en-US" b="1" i="1" dirty="0"/>
              <a:t>Inadequate </a:t>
            </a:r>
            <a:r>
              <a:rPr lang="en-US" b="1" i="1" dirty="0" smtClean="0"/>
              <a:t>Management;</a:t>
            </a:r>
            <a:endParaRPr lang="en-US" dirty="0"/>
          </a:p>
          <a:p>
            <a:pPr algn="just"/>
            <a:r>
              <a:rPr lang="en-US" dirty="0" smtClean="0"/>
              <a:t>89 % of </a:t>
            </a:r>
            <a:r>
              <a:rPr lang="en-US" dirty="0"/>
              <a:t>failure of </a:t>
            </a:r>
            <a:r>
              <a:rPr lang="en-US" dirty="0" smtClean="0"/>
              <a:t>the </a:t>
            </a:r>
            <a:r>
              <a:rPr lang="en-US" dirty="0"/>
              <a:t>businesses</a:t>
            </a:r>
            <a:r>
              <a:rPr lang="en-US" dirty="0" smtClean="0"/>
              <a:t> is </a:t>
            </a:r>
            <a:r>
              <a:rPr lang="en-US" dirty="0">
                <a:solidFill>
                  <a:srgbClr val="002060"/>
                </a:solidFill>
              </a:rPr>
              <a:t>internal </a:t>
            </a:r>
            <a:r>
              <a:rPr lang="en-US" dirty="0" smtClean="0">
                <a:solidFill>
                  <a:srgbClr val="002060"/>
                </a:solidFill>
              </a:rPr>
              <a:t>factors</a:t>
            </a:r>
            <a:r>
              <a:rPr lang="en-US" dirty="0" smtClean="0">
                <a:solidFill>
                  <a:schemeClr val="tx2">
                    <a:lumMod val="60000"/>
                    <a:lumOff val="40000"/>
                  </a:schemeClr>
                </a:solidFill>
              </a:rPr>
              <a:t> </a:t>
            </a:r>
            <a:r>
              <a:rPr lang="en-US" dirty="0" smtClean="0"/>
              <a:t>(controllable factors)</a:t>
            </a:r>
          </a:p>
          <a:p>
            <a:pPr lvl="2" algn="just">
              <a:buFont typeface="Wingdings" pitchFamily="2" charset="2"/>
              <a:buChar char="§"/>
            </a:pPr>
            <a:r>
              <a:rPr lang="en-US" sz="2600" dirty="0" smtClean="0">
                <a:solidFill>
                  <a:srgbClr val="002060"/>
                </a:solidFill>
              </a:rPr>
              <a:t>Adequate capital</a:t>
            </a:r>
          </a:p>
          <a:p>
            <a:pPr lvl="2" algn="just">
              <a:buFont typeface="Wingdings" pitchFamily="2" charset="2"/>
              <a:buChar char="§"/>
            </a:pPr>
            <a:r>
              <a:rPr lang="en-US" sz="2600" dirty="0" smtClean="0">
                <a:solidFill>
                  <a:srgbClr val="002060"/>
                </a:solidFill>
              </a:rPr>
              <a:t>Cash  flow  </a:t>
            </a:r>
          </a:p>
          <a:p>
            <a:pPr lvl="2" algn="just">
              <a:buFont typeface="Wingdings" pitchFamily="2" charset="2"/>
              <a:buChar char="§"/>
            </a:pPr>
            <a:r>
              <a:rPr lang="en-US" sz="2600" dirty="0" smtClean="0">
                <a:solidFill>
                  <a:srgbClr val="002060"/>
                </a:solidFill>
              </a:rPr>
              <a:t>Facilities/equipment </a:t>
            </a:r>
          </a:p>
          <a:p>
            <a:pPr lvl="2" algn="just">
              <a:buFont typeface="Wingdings" pitchFamily="2" charset="2"/>
              <a:buChar char="§"/>
            </a:pPr>
            <a:r>
              <a:rPr lang="en-US" sz="2600" dirty="0" smtClean="0">
                <a:solidFill>
                  <a:srgbClr val="002060"/>
                </a:solidFill>
              </a:rPr>
              <a:t>Inventory control</a:t>
            </a:r>
          </a:p>
          <a:p>
            <a:pPr lvl="2" algn="just">
              <a:buFont typeface="Wingdings" pitchFamily="2" charset="2"/>
              <a:buChar char="§"/>
            </a:pPr>
            <a:r>
              <a:rPr lang="en-US" sz="2600" dirty="0" smtClean="0">
                <a:solidFill>
                  <a:srgbClr val="002060"/>
                </a:solidFill>
              </a:rPr>
              <a:t>Human  resources</a:t>
            </a:r>
          </a:p>
          <a:p>
            <a:pPr lvl="2" algn="just">
              <a:buFont typeface="Wingdings" pitchFamily="2" charset="2"/>
              <a:buChar char="§"/>
            </a:pPr>
            <a:r>
              <a:rPr lang="en-US" sz="2600" dirty="0" smtClean="0">
                <a:solidFill>
                  <a:srgbClr val="002060"/>
                </a:solidFill>
              </a:rPr>
              <a:t>Leadership </a:t>
            </a:r>
          </a:p>
          <a:p>
            <a:pPr lvl="2" algn="just">
              <a:buFont typeface="Wingdings" pitchFamily="2" charset="2"/>
              <a:buChar char="§"/>
            </a:pPr>
            <a:r>
              <a:rPr lang="en-US" sz="2600" dirty="0" smtClean="0">
                <a:solidFill>
                  <a:srgbClr val="002060"/>
                </a:solidFill>
              </a:rPr>
              <a:t>Organizational structure</a:t>
            </a:r>
          </a:p>
          <a:p>
            <a:pPr lvl="2" algn="just">
              <a:buFont typeface="Wingdings" pitchFamily="2" charset="2"/>
              <a:buChar char="§"/>
            </a:pPr>
            <a:r>
              <a:rPr lang="en-US" sz="2600" dirty="0" smtClean="0">
                <a:solidFill>
                  <a:srgbClr val="002060"/>
                </a:solidFill>
              </a:rPr>
              <a:t>Accounting systems</a:t>
            </a:r>
            <a:endParaRPr lang="en-US" sz="2600" dirty="0">
              <a:solidFill>
                <a:srgbClr val="002060"/>
              </a:solidFill>
            </a:endParaRPr>
          </a:p>
          <a:p>
            <a:endParaRPr lang="en-US" dirty="0"/>
          </a:p>
        </p:txBody>
      </p:sp>
    </p:spTree>
    <p:extLst>
      <p:ext uri="{BB962C8B-B14F-4D97-AF65-F5344CB8AC3E}">
        <p14:creationId xmlns:p14="http://schemas.microsoft.com/office/powerpoint/2010/main" val="28812275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33400"/>
            <a:ext cx="8534400" cy="5943600"/>
          </a:xfrm>
        </p:spPr>
        <p:txBody>
          <a:bodyPr>
            <a:normAutofit/>
          </a:bodyPr>
          <a:lstStyle/>
          <a:p>
            <a:pPr marL="571500" indent="-571500">
              <a:buFont typeface="+mj-lt"/>
              <a:buAutoNum type="romanUcPeriod" startAt="2"/>
            </a:pPr>
            <a:r>
              <a:rPr lang="en-US" b="1" i="1" dirty="0"/>
              <a:t>Inadequate Financing:  </a:t>
            </a:r>
            <a:endParaRPr lang="en-US" b="1" i="1" dirty="0" smtClean="0"/>
          </a:p>
          <a:p>
            <a:pPr marL="514350" indent="-514350" algn="just">
              <a:buFont typeface="Wingdings" pitchFamily="2" charset="2"/>
              <a:buChar char="§"/>
            </a:pPr>
            <a:r>
              <a:rPr lang="en-US" dirty="0" smtClean="0"/>
              <a:t>Includes improper </a:t>
            </a:r>
            <a:r>
              <a:rPr lang="en-US" dirty="0"/>
              <a:t>managerial control as well as shortage of capital. </a:t>
            </a:r>
            <a:endParaRPr lang="en-US" dirty="0" smtClean="0"/>
          </a:p>
          <a:p>
            <a:pPr marL="971550" lvl="1" indent="-514350" algn="just">
              <a:buFont typeface="Wingdings" pitchFamily="2" charset="2"/>
              <a:buChar char="§"/>
            </a:pPr>
            <a:r>
              <a:rPr lang="en-US" dirty="0" smtClean="0"/>
              <a:t>You don’t have adequate funds to begin with, you will not be able to afford the facilities or personnel you need to start up the business correctly.</a:t>
            </a:r>
          </a:p>
          <a:p>
            <a:pPr marL="971550" lvl="1" indent="-514350" algn="just">
              <a:buFont typeface="Wingdings" pitchFamily="2" charset="2"/>
              <a:buChar char="§"/>
            </a:pPr>
            <a:r>
              <a:rPr lang="en-US" dirty="0" smtClean="0"/>
              <a:t>You </a:t>
            </a:r>
            <a:r>
              <a:rPr lang="en-US" dirty="0"/>
              <a:t>do possess adequate capital but do not manage your resources wisely, you may be unable to maintain adequate inventory or keep the balance needed to run the business.</a:t>
            </a:r>
          </a:p>
          <a:p>
            <a:endParaRPr lang="en-US" dirty="0"/>
          </a:p>
        </p:txBody>
      </p:sp>
    </p:spTree>
    <p:extLst>
      <p:ext uri="{BB962C8B-B14F-4D97-AF65-F5344CB8AC3E}">
        <p14:creationId xmlns:p14="http://schemas.microsoft.com/office/powerpoint/2010/main" val="41403120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304800" y="609600"/>
            <a:ext cx="8534400" cy="5943600"/>
          </a:xfrm>
        </p:spPr>
        <p:txBody>
          <a:bodyPr>
            <a:normAutofit/>
          </a:bodyPr>
          <a:lstStyle/>
          <a:p>
            <a:pPr algn="just">
              <a:buFont typeface="Wingdings" pitchFamily="2" charset="2"/>
              <a:buChar char="§"/>
            </a:pPr>
            <a:r>
              <a:rPr lang="en-US" dirty="0" smtClean="0"/>
              <a:t>In General, </a:t>
            </a:r>
            <a:r>
              <a:rPr lang="en-US" dirty="0"/>
              <a:t>There </a:t>
            </a:r>
            <a:r>
              <a:rPr lang="en-US" dirty="0" smtClean="0"/>
              <a:t>are various causes of failure ;</a:t>
            </a:r>
          </a:p>
          <a:p>
            <a:pPr marL="1371600" lvl="2" indent="-457200" algn="just">
              <a:buFont typeface="Wingdings" pitchFamily="2" charset="2"/>
              <a:buChar char="§"/>
            </a:pPr>
            <a:r>
              <a:rPr lang="en-US" sz="3200" dirty="0" smtClean="0"/>
              <a:t>Extend </a:t>
            </a:r>
            <a:r>
              <a:rPr lang="en-US" sz="3200" dirty="0"/>
              <a:t>too </a:t>
            </a:r>
            <a:endParaRPr lang="en-US" sz="3200" dirty="0" smtClean="0"/>
          </a:p>
          <a:p>
            <a:pPr marL="1371600" lvl="2" indent="-457200" algn="just">
              <a:buFont typeface="Wingdings" pitchFamily="2" charset="2"/>
              <a:buChar char="§"/>
            </a:pPr>
            <a:r>
              <a:rPr lang="en-US" sz="3200" dirty="0" smtClean="0"/>
              <a:t>Much credit</a:t>
            </a:r>
          </a:p>
          <a:p>
            <a:pPr marL="1371600" lvl="2" indent="-457200" algn="just">
              <a:buFont typeface="Wingdings" pitchFamily="2" charset="2"/>
              <a:buChar char="§"/>
            </a:pPr>
            <a:r>
              <a:rPr lang="en-US" sz="3200" dirty="0" smtClean="0"/>
              <a:t>Fail </a:t>
            </a:r>
            <a:r>
              <a:rPr lang="en-US" sz="3200" dirty="0"/>
              <a:t>to plan for the </a:t>
            </a:r>
            <a:r>
              <a:rPr lang="en-US" sz="3200" dirty="0" smtClean="0"/>
              <a:t>future</a:t>
            </a:r>
          </a:p>
          <a:p>
            <a:pPr marL="1371600" lvl="2" indent="-457200" algn="just">
              <a:buFont typeface="Wingdings" pitchFamily="2" charset="2"/>
              <a:buChar char="§"/>
            </a:pPr>
            <a:r>
              <a:rPr lang="en-US" sz="3200" dirty="0" smtClean="0"/>
              <a:t>Overinvest </a:t>
            </a:r>
            <a:r>
              <a:rPr lang="en-US" sz="3200" dirty="0"/>
              <a:t>in fixed assets </a:t>
            </a:r>
            <a:r>
              <a:rPr lang="en-US" sz="3200" dirty="0" smtClean="0"/>
              <a:t> </a:t>
            </a:r>
          </a:p>
          <a:p>
            <a:pPr marL="1371600" lvl="2" indent="-457200" algn="just">
              <a:buFont typeface="Wingdings" pitchFamily="2" charset="2"/>
              <a:buChar char="§"/>
            </a:pPr>
            <a:r>
              <a:rPr lang="en-US" sz="3200" dirty="0" smtClean="0"/>
              <a:t>Hire </a:t>
            </a:r>
            <a:r>
              <a:rPr lang="en-US" sz="3200" dirty="0"/>
              <a:t>the wrong people</a:t>
            </a:r>
            <a:r>
              <a:rPr lang="en-US" sz="3200" dirty="0" smtClean="0"/>
              <a:t>.</a:t>
            </a:r>
          </a:p>
        </p:txBody>
      </p:sp>
    </p:spTree>
    <p:extLst>
      <p:ext uri="{BB962C8B-B14F-4D97-AF65-F5344CB8AC3E}">
        <p14:creationId xmlns:p14="http://schemas.microsoft.com/office/powerpoint/2010/main" val="34275201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b="1" dirty="0" smtClean="0"/>
              <a:t/>
            </a:r>
            <a:br>
              <a:rPr lang="en-US" b="1" dirty="0" smtClean="0"/>
            </a:br>
            <a:r>
              <a:rPr lang="en-US" b="1" dirty="0" smtClean="0"/>
              <a:t>Business </a:t>
            </a:r>
            <a:r>
              <a:rPr lang="en-US" b="1" dirty="0"/>
              <a:t>Termination </a:t>
            </a:r>
            <a:r>
              <a:rPr lang="en-US" b="1" dirty="0" smtClean="0"/>
              <a:t>VS </a:t>
            </a:r>
            <a:r>
              <a:rPr lang="en-US" b="1" dirty="0"/>
              <a:t>Failure</a:t>
            </a:r>
            <a:r>
              <a:rPr lang="en-US" dirty="0"/>
              <a:t/>
            </a:r>
            <a:br>
              <a:rPr lang="en-US" dirty="0"/>
            </a:br>
            <a:endParaRPr lang="en-US" dirty="0"/>
          </a:p>
        </p:txBody>
      </p:sp>
      <p:sp>
        <p:nvSpPr>
          <p:cNvPr id="3" name="Content Placeholder 2"/>
          <p:cNvSpPr>
            <a:spLocks noGrp="1"/>
          </p:cNvSpPr>
          <p:nvPr>
            <p:ph idx="1"/>
          </p:nvPr>
        </p:nvSpPr>
        <p:spPr>
          <a:xfrm>
            <a:off x="228600" y="609600"/>
            <a:ext cx="8610600" cy="6248400"/>
          </a:xfrm>
        </p:spPr>
        <p:txBody>
          <a:bodyPr>
            <a:normAutofit/>
          </a:bodyPr>
          <a:lstStyle/>
          <a:p>
            <a:pPr algn="just"/>
            <a:r>
              <a:rPr lang="en-US" dirty="0"/>
              <a:t>A termination occurs when a business no longer exists </a:t>
            </a:r>
            <a:r>
              <a:rPr lang="en-US" dirty="0" smtClean="0"/>
              <a:t>for reasons of getting  </a:t>
            </a:r>
            <a:r>
              <a:rPr lang="en-US" dirty="0"/>
              <a:t>opportunity to sell </a:t>
            </a:r>
            <a:r>
              <a:rPr lang="en-US" dirty="0" smtClean="0"/>
              <a:t> for a profit</a:t>
            </a:r>
            <a:r>
              <a:rPr lang="en-US" dirty="0"/>
              <a:t>, </a:t>
            </a:r>
            <a:r>
              <a:rPr lang="en-US" dirty="0" smtClean="0"/>
              <a:t> to </a:t>
            </a:r>
            <a:r>
              <a:rPr lang="en-US" dirty="0"/>
              <a:t>move on to a new business ,</a:t>
            </a:r>
            <a:r>
              <a:rPr lang="en-US" dirty="0" smtClean="0"/>
              <a:t> </a:t>
            </a:r>
            <a:r>
              <a:rPr lang="en-US" dirty="0"/>
              <a:t>to retire, or </a:t>
            </a:r>
            <a:r>
              <a:rPr lang="en-US" dirty="0" smtClean="0"/>
              <a:t>lost </a:t>
            </a:r>
            <a:r>
              <a:rPr lang="en-US" dirty="0"/>
              <a:t>interest in the business</a:t>
            </a:r>
            <a:r>
              <a:rPr lang="en-US" dirty="0" smtClean="0"/>
              <a:t>.</a:t>
            </a:r>
          </a:p>
          <a:p>
            <a:pPr algn="just"/>
            <a:r>
              <a:rPr lang="en-US" dirty="0" smtClean="0"/>
              <a:t>If  </a:t>
            </a:r>
            <a:r>
              <a:rPr lang="en-US" dirty="0"/>
              <a:t>market for </a:t>
            </a:r>
            <a:r>
              <a:rPr lang="en-US" dirty="0" smtClean="0"/>
              <a:t>product  </a:t>
            </a:r>
            <a:r>
              <a:rPr lang="en-US" dirty="0"/>
              <a:t>have changed or become </a:t>
            </a:r>
            <a:r>
              <a:rPr lang="en-US" dirty="0" smtClean="0"/>
              <a:t>saturated, owner decided </a:t>
            </a:r>
            <a:r>
              <a:rPr lang="en-US" dirty="0"/>
              <a:t>it would be more appealing to work for someone else. </a:t>
            </a:r>
            <a:endParaRPr lang="en-US" dirty="0" smtClean="0"/>
          </a:p>
          <a:p>
            <a:pPr algn="just"/>
            <a:r>
              <a:rPr lang="en-US" dirty="0" smtClean="0"/>
              <a:t>A  </a:t>
            </a:r>
            <a:r>
              <a:rPr lang="en-US" dirty="0"/>
              <a:t>business failure occurs when a business closes with a financial loss to a creditor. </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3838854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rmAutofit/>
          </a:bodyPr>
          <a:lstStyle/>
          <a:p>
            <a:r>
              <a:rPr lang="en-US" sz="3600" b="1" dirty="0"/>
              <a:t>Mistakes Leading to Business Failure</a:t>
            </a:r>
            <a:endParaRPr lang="en-US" sz="3600" dirty="0"/>
          </a:p>
        </p:txBody>
      </p:sp>
      <p:sp>
        <p:nvSpPr>
          <p:cNvPr id="3" name="Content Placeholder 2"/>
          <p:cNvSpPr>
            <a:spLocks noGrp="1"/>
          </p:cNvSpPr>
          <p:nvPr>
            <p:ph idx="1"/>
          </p:nvPr>
        </p:nvSpPr>
        <p:spPr>
          <a:xfrm>
            <a:off x="228600" y="762000"/>
            <a:ext cx="8686800" cy="6096000"/>
          </a:xfrm>
        </p:spPr>
        <p:txBody>
          <a:bodyPr>
            <a:normAutofit/>
          </a:bodyPr>
          <a:lstStyle/>
          <a:p>
            <a:pPr marL="0" indent="0">
              <a:buNone/>
            </a:pPr>
            <a:r>
              <a:rPr lang="en-US" dirty="0" smtClean="0"/>
              <a:t> The most common mistakes are;</a:t>
            </a:r>
          </a:p>
          <a:p>
            <a:pPr marL="914400" lvl="1" indent="-514350" algn="just">
              <a:buFont typeface="Wingdings" pitchFamily="2" charset="2"/>
              <a:buChar char="§"/>
            </a:pPr>
            <a:r>
              <a:rPr lang="en-US" dirty="0" smtClean="0"/>
              <a:t>Neglect </a:t>
            </a:r>
            <a:r>
              <a:rPr lang="en-US" dirty="0"/>
              <a:t>to plan for the future </a:t>
            </a:r>
            <a:r>
              <a:rPr lang="en-US" dirty="0" smtClean="0"/>
              <a:t> </a:t>
            </a:r>
          </a:p>
          <a:p>
            <a:pPr marL="914400" lvl="1" indent="-514350" algn="just">
              <a:buFont typeface="Wingdings" pitchFamily="2" charset="2"/>
              <a:buChar char="§"/>
            </a:pPr>
            <a:r>
              <a:rPr lang="en-US" dirty="0" smtClean="0"/>
              <a:t>Lack of </a:t>
            </a:r>
            <a:r>
              <a:rPr lang="en-US" dirty="0"/>
              <a:t>commitment and hard </a:t>
            </a:r>
            <a:r>
              <a:rPr lang="en-US" dirty="0" smtClean="0"/>
              <a:t>work</a:t>
            </a:r>
          </a:p>
          <a:p>
            <a:pPr marL="914400" lvl="1" indent="-514350" algn="just">
              <a:buFont typeface="Wingdings" pitchFamily="2" charset="2"/>
              <a:buChar char="§"/>
            </a:pPr>
            <a:r>
              <a:rPr lang="en-US" dirty="0" smtClean="0"/>
              <a:t>No delegation/ </a:t>
            </a:r>
            <a:r>
              <a:rPr lang="en-US" dirty="0"/>
              <a:t>not hiring additional employees </a:t>
            </a:r>
            <a:r>
              <a:rPr lang="en-US" dirty="0" smtClean="0"/>
              <a:t> </a:t>
            </a:r>
          </a:p>
          <a:p>
            <a:pPr marL="914400" lvl="1" indent="-514350" algn="just">
              <a:buFont typeface="Wingdings" pitchFamily="2" charset="2"/>
              <a:buChar char="§"/>
            </a:pPr>
            <a:r>
              <a:rPr lang="en-US" dirty="0" smtClean="0"/>
              <a:t>Inaccurate </a:t>
            </a:r>
            <a:r>
              <a:rPr lang="en-US" dirty="0"/>
              <a:t>estimates of cash flow and capital </a:t>
            </a:r>
            <a:r>
              <a:rPr lang="en-US" dirty="0" smtClean="0"/>
              <a:t>requirements.</a:t>
            </a:r>
            <a:endParaRPr lang="en-US" dirty="0"/>
          </a:p>
          <a:p>
            <a:pPr marL="0" indent="0">
              <a:buNone/>
            </a:pPr>
            <a:endParaRPr lang="en-US" dirty="0"/>
          </a:p>
          <a:p>
            <a:endParaRPr lang="en-US" dirty="0"/>
          </a:p>
        </p:txBody>
      </p:sp>
    </p:spTree>
    <p:extLst>
      <p:ext uri="{BB962C8B-B14F-4D97-AF65-F5344CB8AC3E}">
        <p14:creationId xmlns:p14="http://schemas.microsoft.com/office/powerpoint/2010/main" val="26239898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fontScale="90000"/>
          </a:bodyPr>
          <a:lstStyle/>
          <a:p>
            <a:r>
              <a:rPr lang="en-US" b="1" dirty="0" smtClean="0"/>
              <a:t/>
            </a:r>
            <a:br>
              <a:rPr lang="en-US" b="1" dirty="0" smtClean="0"/>
            </a:br>
            <a:r>
              <a:rPr lang="en-US" sz="4000" b="1" dirty="0" smtClean="0"/>
              <a:t>3.6.2 </a:t>
            </a:r>
            <a:r>
              <a:rPr lang="en-US" sz="4000" b="1" dirty="0"/>
              <a:t>Small Business Success Factors</a:t>
            </a:r>
            <a:r>
              <a:rPr lang="en-US" b="1" dirty="0"/>
              <a:t/>
            </a:r>
            <a:br>
              <a:rPr lang="en-US" b="1" dirty="0"/>
            </a:br>
            <a:endParaRPr lang="en-US" dirty="0"/>
          </a:p>
        </p:txBody>
      </p:sp>
      <p:sp>
        <p:nvSpPr>
          <p:cNvPr id="3" name="Content Placeholder 2"/>
          <p:cNvSpPr>
            <a:spLocks noGrp="1"/>
          </p:cNvSpPr>
          <p:nvPr>
            <p:ph idx="1"/>
          </p:nvPr>
        </p:nvSpPr>
        <p:spPr>
          <a:xfrm>
            <a:off x="228600" y="609600"/>
            <a:ext cx="8610600" cy="6019800"/>
          </a:xfrm>
        </p:spPr>
        <p:txBody>
          <a:bodyPr>
            <a:normAutofit/>
          </a:bodyPr>
          <a:lstStyle/>
          <a:p>
            <a:pPr algn="just"/>
            <a:r>
              <a:rPr lang="en-US" dirty="0" smtClean="0"/>
              <a:t>Identifying failure factors can </a:t>
            </a:r>
            <a:r>
              <a:rPr lang="en-US" dirty="0"/>
              <a:t>discover ways to tilt the scales towards success. These success factors are categorized as:- </a:t>
            </a:r>
          </a:p>
          <a:p>
            <a:pPr marL="1028700" lvl="1" indent="-571500" algn="just">
              <a:buFont typeface="+mj-lt"/>
              <a:buAutoNum type="romanLcPeriod"/>
            </a:pPr>
            <a:r>
              <a:rPr lang="en-US" dirty="0"/>
              <a:t>Conducive Environment;</a:t>
            </a:r>
          </a:p>
          <a:p>
            <a:pPr marL="1028700" lvl="1" indent="-571500" algn="just">
              <a:buFont typeface="+mj-lt"/>
              <a:buAutoNum type="romanLcPeriod"/>
            </a:pPr>
            <a:r>
              <a:rPr lang="en-US" dirty="0"/>
              <a:t>Adequate Credit Assistance;</a:t>
            </a:r>
          </a:p>
          <a:p>
            <a:pPr marL="1028700" lvl="1" indent="-571500" algn="just">
              <a:buFont typeface="+mj-lt"/>
              <a:buAutoNum type="romanLcPeriod"/>
            </a:pPr>
            <a:r>
              <a:rPr lang="en-US" dirty="0"/>
              <a:t>Markets and Marketing Support.</a:t>
            </a:r>
          </a:p>
          <a:p>
            <a:pPr marL="571500" lvl="0" indent="-571500" algn="just">
              <a:buFont typeface="+mj-lt"/>
              <a:buAutoNum type="romanLcPeriod"/>
            </a:pPr>
            <a:r>
              <a:rPr lang="en-US" b="1" dirty="0"/>
              <a:t>Conducive Environment</a:t>
            </a:r>
            <a:endParaRPr lang="en-US" dirty="0"/>
          </a:p>
          <a:p>
            <a:pPr marL="514350" indent="-514350" algn="just">
              <a:buFont typeface="Wingdings" pitchFamily="2" charset="2"/>
              <a:buChar char="§"/>
            </a:pPr>
            <a:r>
              <a:rPr lang="en-US" i="1" dirty="0" smtClean="0"/>
              <a:t>Political</a:t>
            </a:r>
            <a:r>
              <a:rPr lang="en-US" b="1" dirty="0"/>
              <a:t>, </a:t>
            </a:r>
            <a:r>
              <a:rPr lang="en-US" i="1" dirty="0"/>
              <a:t>economic</a:t>
            </a:r>
            <a:r>
              <a:rPr lang="en-US" b="1" dirty="0"/>
              <a:t>, </a:t>
            </a:r>
            <a:r>
              <a:rPr lang="en-US" i="1" dirty="0"/>
              <a:t>technological</a:t>
            </a:r>
            <a:r>
              <a:rPr lang="en-US" b="1" dirty="0"/>
              <a:t> </a:t>
            </a:r>
            <a:r>
              <a:rPr lang="en-US" i="1" dirty="0"/>
              <a:t>and</a:t>
            </a:r>
            <a:r>
              <a:rPr lang="en-US" b="1" dirty="0"/>
              <a:t> </a:t>
            </a:r>
            <a:r>
              <a:rPr lang="en-US" i="1" dirty="0"/>
              <a:t>socio-cultural factors</a:t>
            </a:r>
            <a:r>
              <a:rPr lang="en-US" dirty="0"/>
              <a:t> </a:t>
            </a:r>
            <a:endParaRPr lang="en-US" dirty="0" smtClean="0"/>
          </a:p>
          <a:p>
            <a:endParaRPr lang="en-US" dirty="0"/>
          </a:p>
        </p:txBody>
      </p:sp>
    </p:spTree>
    <p:extLst>
      <p:ext uri="{BB962C8B-B14F-4D97-AF65-F5344CB8AC3E}">
        <p14:creationId xmlns:p14="http://schemas.microsoft.com/office/powerpoint/2010/main" val="31501282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534400" cy="5562600"/>
          </a:xfrm>
        </p:spPr>
        <p:txBody>
          <a:bodyPr>
            <a:normAutofit/>
          </a:bodyPr>
          <a:lstStyle/>
          <a:p>
            <a:pPr marL="571500" indent="-571500">
              <a:buFont typeface="+mj-lt"/>
              <a:buAutoNum type="romanLcPeriod" startAt="2"/>
            </a:pPr>
            <a:r>
              <a:rPr lang="en-US" b="1" dirty="0" smtClean="0"/>
              <a:t>Adequate Credit Assistance</a:t>
            </a:r>
            <a:r>
              <a:rPr lang="en-US" i="1" dirty="0" smtClean="0">
                <a:solidFill>
                  <a:srgbClr val="FF0000"/>
                </a:solidFill>
              </a:rPr>
              <a:t> </a:t>
            </a:r>
          </a:p>
          <a:p>
            <a:pPr lvl="2" algn="just">
              <a:buFont typeface="Wingdings" pitchFamily="2" charset="2"/>
              <a:buChar char="§"/>
            </a:pPr>
            <a:r>
              <a:rPr lang="en-US" i="1" dirty="0" smtClean="0">
                <a:solidFill>
                  <a:srgbClr val="002060"/>
                </a:solidFill>
              </a:rPr>
              <a:t>Adequate </a:t>
            </a:r>
            <a:r>
              <a:rPr lang="en-US" i="1" dirty="0">
                <a:solidFill>
                  <a:srgbClr val="002060"/>
                </a:solidFill>
              </a:rPr>
              <a:t>and timely supply of </a:t>
            </a:r>
            <a:r>
              <a:rPr lang="en-US" i="1" dirty="0" smtClean="0">
                <a:solidFill>
                  <a:srgbClr val="002060"/>
                </a:solidFill>
              </a:rPr>
              <a:t>credit</a:t>
            </a:r>
          </a:p>
          <a:p>
            <a:pPr lvl="2" algn="just">
              <a:buFont typeface="Wingdings" pitchFamily="2" charset="2"/>
              <a:buChar char="§"/>
            </a:pPr>
            <a:r>
              <a:rPr lang="en-US" i="1" dirty="0" smtClean="0">
                <a:solidFill>
                  <a:srgbClr val="002060"/>
                </a:solidFill>
              </a:rPr>
              <a:t>Special financing programs such as lower </a:t>
            </a:r>
            <a:r>
              <a:rPr lang="en-US" i="1" dirty="0">
                <a:solidFill>
                  <a:srgbClr val="002060"/>
                </a:solidFill>
              </a:rPr>
              <a:t>interest </a:t>
            </a:r>
            <a:r>
              <a:rPr lang="en-US" i="1" dirty="0" smtClean="0">
                <a:solidFill>
                  <a:srgbClr val="002060"/>
                </a:solidFill>
              </a:rPr>
              <a:t>rates; </a:t>
            </a:r>
            <a:r>
              <a:rPr lang="en-US" i="1" dirty="0">
                <a:solidFill>
                  <a:srgbClr val="002060"/>
                </a:solidFill>
              </a:rPr>
              <a:t>less collateral requirements and lower equity ratio</a:t>
            </a:r>
            <a:r>
              <a:rPr lang="en-US" dirty="0" smtClean="0">
                <a:solidFill>
                  <a:srgbClr val="002060"/>
                </a:solidFill>
              </a:rPr>
              <a:t>;</a:t>
            </a:r>
          </a:p>
          <a:p>
            <a:pPr lvl="2" algn="just">
              <a:buFont typeface="Wingdings" pitchFamily="2" charset="2"/>
              <a:buChar char="§"/>
            </a:pPr>
            <a:r>
              <a:rPr lang="en-US" dirty="0" smtClean="0">
                <a:solidFill>
                  <a:srgbClr val="002060"/>
                </a:solidFill>
              </a:rPr>
              <a:t>Various </a:t>
            </a:r>
            <a:r>
              <a:rPr lang="en-US" dirty="0">
                <a:solidFill>
                  <a:srgbClr val="002060"/>
                </a:solidFill>
              </a:rPr>
              <a:t>assistance schemes such as preparing the project study; etc. </a:t>
            </a:r>
          </a:p>
          <a:p>
            <a:pPr marL="571500" indent="-571500">
              <a:buFont typeface="+mj-lt"/>
              <a:buAutoNum type="romanLcPeriod" startAt="2"/>
            </a:pPr>
            <a:r>
              <a:rPr lang="en-US" b="1" dirty="0" smtClean="0"/>
              <a:t>Markets and Marketing Support</a:t>
            </a:r>
          </a:p>
          <a:p>
            <a:pPr lvl="2" algn="just">
              <a:buFont typeface="Wingdings" pitchFamily="2" charset="2"/>
              <a:buChar char="§"/>
            </a:pPr>
            <a:r>
              <a:rPr lang="en-US" dirty="0" smtClean="0">
                <a:solidFill>
                  <a:srgbClr val="002060"/>
                </a:solidFill>
              </a:rPr>
              <a:t>Small enterprises can sell their products as one body through closely-knit associations or organizations. </a:t>
            </a:r>
          </a:p>
          <a:p>
            <a:pPr lvl="2" algn="just">
              <a:buFont typeface="Wingdings" pitchFamily="2" charset="2"/>
              <a:buChar char="§"/>
            </a:pPr>
            <a:r>
              <a:rPr lang="en-US" dirty="0" smtClean="0">
                <a:solidFill>
                  <a:srgbClr val="002060"/>
                </a:solidFill>
              </a:rPr>
              <a:t>The government assist small groups of entrepreneurs in selling their products.</a:t>
            </a:r>
          </a:p>
          <a:p>
            <a:pPr lvl="2">
              <a:buFont typeface="Wingdings" pitchFamily="2" charset="2"/>
              <a:buChar char="§"/>
            </a:pPr>
            <a:endParaRPr lang="en-US" dirty="0"/>
          </a:p>
        </p:txBody>
      </p:sp>
    </p:spTree>
    <p:extLst>
      <p:ext uri="{BB962C8B-B14F-4D97-AF65-F5344CB8AC3E}">
        <p14:creationId xmlns:p14="http://schemas.microsoft.com/office/powerpoint/2010/main" val="1507146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a:buNone/>
            </a:pPr>
            <a:r>
              <a:rPr lang="en-US" dirty="0" smtClean="0"/>
              <a:t>Table 3.2. Improved definition of MSE</a:t>
            </a:r>
            <a:endParaRPr lang="en-US" dirty="0"/>
          </a:p>
        </p:txBody>
      </p:sp>
      <p:graphicFrame>
        <p:nvGraphicFramePr>
          <p:cNvPr id="5" name="Table 4"/>
          <p:cNvGraphicFramePr>
            <a:graphicFrameLocks noGrp="1"/>
          </p:cNvGraphicFramePr>
          <p:nvPr/>
        </p:nvGraphicFramePr>
        <p:xfrm>
          <a:off x="533401" y="2743200"/>
          <a:ext cx="8305800" cy="3139440"/>
        </p:xfrm>
        <a:graphic>
          <a:graphicData uri="http://schemas.openxmlformats.org/drawingml/2006/table">
            <a:tbl>
              <a:tblPr/>
              <a:tblGrid>
                <a:gridCol w="2129353">
                  <a:extLst>
                    <a:ext uri="{9D8B030D-6E8A-4147-A177-3AD203B41FA5}">
                      <a16:colId xmlns:a16="http://schemas.microsoft.com/office/drawing/2014/main" val="20000"/>
                    </a:ext>
                  </a:extLst>
                </a:gridCol>
                <a:gridCol w="1520967">
                  <a:extLst>
                    <a:ext uri="{9D8B030D-6E8A-4147-A177-3AD203B41FA5}">
                      <a16:colId xmlns:a16="http://schemas.microsoft.com/office/drawing/2014/main" val="20001"/>
                    </a:ext>
                  </a:extLst>
                </a:gridCol>
                <a:gridCol w="2327740">
                  <a:extLst>
                    <a:ext uri="{9D8B030D-6E8A-4147-A177-3AD203B41FA5}">
                      <a16:colId xmlns:a16="http://schemas.microsoft.com/office/drawing/2014/main" val="20002"/>
                    </a:ext>
                  </a:extLst>
                </a:gridCol>
                <a:gridCol w="2327740">
                  <a:extLst>
                    <a:ext uri="{9D8B030D-6E8A-4147-A177-3AD203B41FA5}">
                      <a16:colId xmlns:a16="http://schemas.microsoft.com/office/drawing/2014/main" val="20003"/>
                    </a:ext>
                  </a:extLst>
                </a:gridCol>
              </a:tblGrid>
              <a:tr h="579120">
                <a:tc>
                  <a:txBody>
                    <a:bodyPr/>
                    <a:lstStyle/>
                    <a:p>
                      <a:pPr marL="0" marR="0" algn="ctr">
                        <a:lnSpc>
                          <a:spcPct val="150000"/>
                        </a:lnSpc>
                        <a:spcBef>
                          <a:spcPts val="0"/>
                        </a:spcBef>
                        <a:spcAft>
                          <a:spcPts val="0"/>
                        </a:spcAft>
                      </a:pPr>
                      <a:r>
                        <a:rPr lang="en-US" sz="1800" b="1">
                          <a:solidFill>
                            <a:srgbClr val="FFFFFF"/>
                          </a:solidFill>
                          <a:latin typeface="+mj-lt"/>
                          <a:ea typeface="Calibri"/>
                          <a:cs typeface="Times New Roman"/>
                        </a:rPr>
                        <a:t>Level of Enterprise</a:t>
                      </a:r>
                      <a:endParaRPr lang="en-US" sz="1100">
                        <a:latin typeface="+mj-lt"/>
                        <a:ea typeface="Calibri"/>
                        <a:cs typeface="Times New Roman"/>
                      </a:endParaRPr>
                    </a:p>
                  </a:txBody>
                  <a:tcPr marL="58242" marR="58242" marT="0" marB="0">
                    <a:lnL w="12700" cap="flat" cmpd="sng" algn="ctr">
                      <a:solidFill>
                        <a:srgbClr val="8064A2"/>
                      </a:solidFill>
                      <a:prstDash val="solid"/>
                      <a:round/>
                      <a:headEnd type="none" w="med" len="med"/>
                      <a:tailEnd type="none" w="med" len="med"/>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solidFill>
                      <a:srgbClr val="8064A2"/>
                    </a:solidFill>
                  </a:tcPr>
                </a:tc>
                <a:tc>
                  <a:txBody>
                    <a:bodyPr/>
                    <a:lstStyle/>
                    <a:p>
                      <a:pPr marL="0" marR="0" algn="ctr">
                        <a:lnSpc>
                          <a:spcPct val="150000"/>
                        </a:lnSpc>
                        <a:spcBef>
                          <a:spcPts val="0"/>
                        </a:spcBef>
                        <a:spcAft>
                          <a:spcPts val="0"/>
                        </a:spcAft>
                      </a:pPr>
                      <a:r>
                        <a:rPr lang="en-US" sz="1800" b="1">
                          <a:solidFill>
                            <a:srgbClr val="FFFFFF"/>
                          </a:solidFill>
                          <a:latin typeface="+mj-lt"/>
                          <a:ea typeface="Calibri"/>
                          <a:cs typeface="Times New Roman"/>
                        </a:rPr>
                        <a:t>Sector </a:t>
                      </a:r>
                      <a:endParaRPr lang="en-US" sz="1100">
                        <a:latin typeface="+mj-lt"/>
                        <a:ea typeface="Calibri"/>
                        <a:cs typeface="Times New Roman"/>
                      </a:endParaRPr>
                    </a:p>
                  </a:txBody>
                  <a:tcPr marL="58242" marR="58242" marT="0" marB="0">
                    <a:lnL>
                      <a:noFill/>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solidFill>
                      <a:srgbClr val="8064A2"/>
                    </a:solidFill>
                  </a:tcPr>
                </a:tc>
                <a:tc>
                  <a:txBody>
                    <a:bodyPr/>
                    <a:lstStyle/>
                    <a:p>
                      <a:pPr marL="0" marR="0" algn="ctr">
                        <a:lnSpc>
                          <a:spcPct val="150000"/>
                        </a:lnSpc>
                        <a:spcBef>
                          <a:spcPts val="0"/>
                        </a:spcBef>
                        <a:spcAft>
                          <a:spcPts val="0"/>
                        </a:spcAft>
                      </a:pPr>
                      <a:r>
                        <a:rPr lang="en-US" sz="1800" b="1">
                          <a:solidFill>
                            <a:srgbClr val="FFFFFF"/>
                          </a:solidFill>
                          <a:latin typeface="+mj-lt"/>
                          <a:ea typeface="Calibri"/>
                          <a:cs typeface="Times New Roman"/>
                        </a:rPr>
                        <a:t>Human Power</a:t>
                      </a:r>
                      <a:endParaRPr lang="en-US" sz="1100">
                        <a:latin typeface="+mj-lt"/>
                        <a:ea typeface="Calibri"/>
                        <a:cs typeface="Times New Roman"/>
                      </a:endParaRPr>
                    </a:p>
                  </a:txBody>
                  <a:tcPr marL="58242" marR="58242" marT="0" marB="0">
                    <a:lnL>
                      <a:noFill/>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solidFill>
                      <a:srgbClr val="8064A2"/>
                    </a:solidFill>
                  </a:tcPr>
                </a:tc>
                <a:tc>
                  <a:txBody>
                    <a:bodyPr/>
                    <a:lstStyle/>
                    <a:p>
                      <a:pPr marL="0" marR="0" algn="ctr">
                        <a:lnSpc>
                          <a:spcPct val="150000"/>
                        </a:lnSpc>
                        <a:spcBef>
                          <a:spcPts val="0"/>
                        </a:spcBef>
                        <a:spcAft>
                          <a:spcPts val="0"/>
                        </a:spcAft>
                      </a:pPr>
                      <a:r>
                        <a:rPr lang="en-US" sz="1800" b="1">
                          <a:solidFill>
                            <a:srgbClr val="FFFFFF"/>
                          </a:solidFill>
                          <a:latin typeface="+mj-lt"/>
                          <a:ea typeface="Calibri"/>
                          <a:cs typeface="Times New Roman"/>
                        </a:rPr>
                        <a:t>Total Asset</a:t>
                      </a:r>
                      <a:endParaRPr lang="en-US" sz="1100">
                        <a:latin typeface="+mj-lt"/>
                        <a:ea typeface="Calibri"/>
                        <a:cs typeface="Times New Roman"/>
                      </a:endParaRPr>
                    </a:p>
                  </a:txBody>
                  <a:tcPr marL="58242" marR="58242" marT="0" marB="0">
                    <a:lnL>
                      <a:noFill/>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solidFill>
                      <a:srgbClr val="8064A2"/>
                    </a:solidFill>
                  </a:tcPr>
                </a:tc>
                <a:extLst>
                  <a:ext uri="{0D108BD9-81ED-4DB2-BD59-A6C34878D82A}">
                    <a16:rowId xmlns:a16="http://schemas.microsoft.com/office/drawing/2014/main" val="10000"/>
                  </a:ext>
                </a:extLst>
              </a:tr>
              <a:tr h="579120">
                <a:tc rowSpan="2">
                  <a:txBody>
                    <a:bodyPr/>
                    <a:lstStyle/>
                    <a:p>
                      <a:pPr marL="0" marR="0" algn="ctr">
                        <a:lnSpc>
                          <a:spcPct val="115000"/>
                        </a:lnSpc>
                        <a:spcBef>
                          <a:spcPts val="0"/>
                        </a:spcBef>
                        <a:spcAft>
                          <a:spcPts val="0"/>
                        </a:spcAft>
                      </a:pPr>
                      <a:endParaRPr lang="en-US" sz="1100" dirty="0">
                        <a:latin typeface="+mj-lt"/>
                        <a:ea typeface="Calibri"/>
                        <a:cs typeface="Times New Roman"/>
                      </a:endParaRPr>
                    </a:p>
                    <a:p>
                      <a:pPr marL="0" marR="0" algn="ctr">
                        <a:lnSpc>
                          <a:spcPct val="115000"/>
                        </a:lnSpc>
                        <a:spcBef>
                          <a:spcPts val="0"/>
                        </a:spcBef>
                        <a:spcAft>
                          <a:spcPts val="0"/>
                        </a:spcAft>
                      </a:pPr>
                      <a:endParaRPr lang="en-US" sz="1800" b="1" dirty="0" smtClean="0">
                        <a:latin typeface="+mj-lt"/>
                        <a:ea typeface="Calibri"/>
                        <a:cs typeface="Times New Roman"/>
                      </a:endParaRPr>
                    </a:p>
                    <a:p>
                      <a:pPr marL="0" marR="0" algn="ctr">
                        <a:lnSpc>
                          <a:spcPct val="115000"/>
                        </a:lnSpc>
                        <a:spcBef>
                          <a:spcPts val="0"/>
                        </a:spcBef>
                        <a:spcAft>
                          <a:spcPts val="0"/>
                        </a:spcAft>
                      </a:pPr>
                      <a:r>
                        <a:rPr lang="en-US" sz="1800" b="1" dirty="0" smtClean="0">
                          <a:latin typeface="+mj-lt"/>
                          <a:ea typeface="Calibri"/>
                          <a:cs typeface="Times New Roman"/>
                        </a:rPr>
                        <a:t>Micro </a:t>
                      </a:r>
                      <a:r>
                        <a:rPr lang="en-US" sz="1800" b="1" dirty="0">
                          <a:latin typeface="+mj-lt"/>
                          <a:ea typeface="Calibri"/>
                          <a:cs typeface="Times New Roman"/>
                        </a:rPr>
                        <a:t>Enterprise</a:t>
                      </a:r>
                      <a:endParaRPr lang="en-US" sz="1100" dirty="0">
                        <a:latin typeface="+mj-lt"/>
                        <a:ea typeface="Calibri"/>
                        <a:cs typeface="Times New Roman"/>
                      </a:endParaRPr>
                    </a:p>
                  </a:txBody>
                  <a:tcPr marL="58242" marR="58242" marT="0" marB="0">
                    <a:lnL w="12700" cap="flat" cmpd="sng" algn="ctr">
                      <a:solidFill>
                        <a:srgbClr val="8064A2"/>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a:latin typeface="+mj-lt"/>
                          <a:ea typeface="Calibri"/>
                          <a:cs typeface="Times New Roman"/>
                        </a:rPr>
                        <a:t>Industry </a:t>
                      </a:r>
                      <a:endParaRPr lang="en-US" sz="1100">
                        <a:latin typeface="+mj-lt"/>
                        <a:ea typeface="Calibri"/>
                        <a:cs typeface="Times New Roman"/>
                      </a:endParaRPr>
                    </a:p>
                  </a:txBody>
                  <a:tcPr marL="58242" marR="58242" marT="0" marB="0">
                    <a:lnL w="12700" cap="flat" cmpd="sng" algn="ctr">
                      <a:solidFill>
                        <a:srgbClr val="000000"/>
                      </a:solidFill>
                      <a:prstDash val="solid"/>
                      <a:round/>
                      <a:headEnd type="none" w="med" len="med"/>
                      <a:tailEnd type="none" w="med" len="med"/>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latin typeface="+mj-lt"/>
                          <a:ea typeface="Calibri"/>
                          <a:cs typeface="Times New Roman"/>
                        </a:rPr>
                        <a:t>≤5</a:t>
                      </a:r>
                      <a:endParaRPr lang="en-US" sz="1100" dirty="0">
                        <a:latin typeface="+mj-lt"/>
                        <a:ea typeface="Calibri"/>
                        <a:cs typeface="Times New Roman"/>
                      </a:endParaRPr>
                    </a:p>
                  </a:txBody>
                  <a:tcPr marL="58242" marR="58242" marT="0" marB="0">
                    <a:lnL>
                      <a:noFill/>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a:latin typeface="+mj-lt"/>
                          <a:ea typeface="Calibri"/>
                          <a:cs typeface="Times New Roman"/>
                        </a:rPr>
                        <a:t>Br ≤100,000</a:t>
                      </a:r>
                      <a:endParaRPr lang="en-US" sz="1100">
                        <a:latin typeface="+mj-lt"/>
                        <a:ea typeface="Calibri"/>
                        <a:cs typeface="Times New Roman"/>
                      </a:endParaRPr>
                    </a:p>
                  </a:txBody>
                  <a:tcPr marL="58242" marR="58242" marT="0" marB="0">
                    <a:lnL>
                      <a:noFill/>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extLst>
                  <a:ext uri="{0D108BD9-81ED-4DB2-BD59-A6C34878D82A}">
                    <a16:rowId xmlns:a16="http://schemas.microsoft.com/office/drawing/2014/main" val="10001"/>
                  </a:ext>
                </a:extLst>
              </a:tr>
              <a:tr h="579120">
                <a:tc vMerge="1">
                  <a:txBody>
                    <a:bodyPr/>
                    <a:lstStyle/>
                    <a:p>
                      <a:endParaRPr lang="en-US"/>
                    </a:p>
                  </a:txBody>
                  <a:tcPr/>
                </a:tc>
                <a:tc>
                  <a:txBody>
                    <a:bodyPr/>
                    <a:lstStyle/>
                    <a:p>
                      <a:pPr marL="0" marR="0" algn="ctr">
                        <a:lnSpc>
                          <a:spcPct val="150000"/>
                        </a:lnSpc>
                        <a:spcBef>
                          <a:spcPts val="0"/>
                        </a:spcBef>
                        <a:spcAft>
                          <a:spcPts val="0"/>
                        </a:spcAft>
                      </a:pPr>
                      <a:r>
                        <a:rPr lang="en-US" sz="1800">
                          <a:latin typeface="+mj-lt"/>
                          <a:ea typeface="Calibri"/>
                          <a:cs typeface="Times New Roman"/>
                        </a:rPr>
                        <a:t>Service</a:t>
                      </a:r>
                      <a:endParaRPr lang="en-US" sz="1100">
                        <a:latin typeface="+mj-lt"/>
                        <a:ea typeface="Calibri"/>
                        <a:cs typeface="Times New Roman"/>
                      </a:endParaRPr>
                    </a:p>
                  </a:txBody>
                  <a:tcPr marL="58242" marR="58242" marT="0" marB="0">
                    <a:lnL w="12700" cap="flat" cmpd="sng" algn="ctr">
                      <a:solidFill>
                        <a:srgbClr val="000000"/>
                      </a:solidFill>
                      <a:prstDash val="solid"/>
                      <a:round/>
                      <a:headEnd type="none" w="med" len="med"/>
                      <a:tailEnd type="none" w="med" len="med"/>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a:latin typeface="+mj-lt"/>
                          <a:ea typeface="Calibri"/>
                          <a:cs typeface="Times New Roman"/>
                        </a:rPr>
                        <a:t>≤5</a:t>
                      </a:r>
                      <a:endParaRPr lang="en-US" sz="1100">
                        <a:latin typeface="+mj-lt"/>
                        <a:ea typeface="Calibri"/>
                        <a:cs typeface="Times New Roman"/>
                      </a:endParaRPr>
                    </a:p>
                  </a:txBody>
                  <a:tcPr marL="58242" marR="58242" marT="0" marB="0">
                    <a:lnL>
                      <a:noFill/>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a:latin typeface="+mj-lt"/>
                          <a:ea typeface="Calibri"/>
                          <a:cs typeface="Times New Roman"/>
                        </a:rPr>
                        <a:t>Br ≤50,000</a:t>
                      </a:r>
                      <a:endParaRPr lang="en-US" sz="1100">
                        <a:latin typeface="+mj-lt"/>
                        <a:ea typeface="Calibri"/>
                        <a:cs typeface="Times New Roman"/>
                      </a:endParaRPr>
                    </a:p>
                  </a:txBody>
                  <a:tcPr marL="58242" marR="58242" marT="0" marB="0">
                    <a:lnL>
                      <a:noFill/>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extLst>
                  <a:ext uri="{0D108BD9-81ED-4DB2-BD59-A6C34878D82A}">
                    <a16:rowId xmlns:a16="http://schemas.microsoft.com/office/drawing/2014/main" val="10002"/>
                  </a:ext>
                </a:extLst>
              </a:tr>
              <a:tr h="579120">
                <a:tc rowSpan="2">
                  <a:txBody>
                    <a:bodyPr/>
                    <a:lstStyle/>
                    <a:p>
                      <a:pPr marL="0" marR="0" algn="ctr">
                        <a:lnSpc>
                          <a:spcPct val="115000"/>
                        </a:lnSpc>
                        <a:spcBef>
                          <a:spcPts val="0"/>
                        </a:spcBef>
                        <a:spcAft>
                          <a:spcPts val="0"/>
                        </a:spcAft>
                      </a:pPr>
                      <a:endParaRPr lang="en-US" sz="1100" dirty="0">
                        <a:latin typeface="+mj-lt"/>
                        <a:ea typeface="Calibri"/>
                        <a:cs typeface="Times New Roman"/>
                      </a:endParaRPr>
                    </a:p>
                    <a:p>
                      <a:pPr marL="0" marR="0" algn="ctr">
                        <a:lnSpc>
                          <a:spcPct val="115000"/>
                        </a:lnSpc>
                        <a:spcBef>
                          <a:spcPts val="0"/>
                        </a:spcBef>
                        <a:spcAft>
                          <a:spcPts val="0"/>
                        </a:spcAft>
                      </a:pPr>
                      <a:r>
                        <a:rPr lang="en-US" sz="1800" b="1" dirty="0">
                          <a:latin typeface="+mj-lt"/>
                          <a:ea typeface="Calibri"/>
                          <a:cs typeface="Times New Roman"/>
                        </a:rPr>
                        <a:t>Small Enterprise</a:t>
                      </a:r>
                      <a:endParaRPr lang="en-US" sz="1100" dirty="0">
                        <a:latin typeface="+mj-lt"/>
                        <a:ea typeface="Calibri"/>
                        <a:cs typeface="Times New Roman"/>
                      </a:endParaRPr>
                    </a:p>
                  </a:txBody>
                  <a:tcPr marL="58242" marR="58242" marT="0" marB="0">
                    <a:lnL w="12700" cap="flat" cmpd="sng" algn="ctr">
                      <a:solidFill>
                        <a:srgbClr val="8064A2"/>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a:latin typeface="+mj-lt"/>
                          <a:ea typeface="Calibri"/>
                          <a:cs typeface="Times New Roman"/>
                        </a:rPr>
                        <a:t>Industry </a:t>
                      </a:r>
                      <a:endParaRPr lang="en-US" sz="1100">
                        <a:latin typeface="+mj-lt"/>
                        <a:ea typeface="Calibri"/>
                        <a:cs typeface="Times New Roman"/>
                      </a:endParaRPr>
                    </a:p>
                  </a:txBody>
                  <a:tcPr marL="58242" marR="58242" marT="0" marB="0">
                    <a:lnL w="12700" cap="flat" cmpd="sng" algn="ctr">
                      <a:solidFill>
                        <a:srgbClr val="000000"/>
                      </a:solidFill>
                      <a:prstDash val="solid"/>
                      <a:round/>
                      <a:headEnd type="none" w="med" len="med"/>
                      <a:tailEnd type="none" w="med" len="med"/>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a:latin typeface="+mj-lt"/>
                          <a:ea typeface="Calibri"/>
                          <a:cs typeface="Times New Roman"/>
                        </a:rPr>
                        <a:t>6-30</a:t>
                      </a:r>
                      <a:endParaRPr lang="en-US" sz="1100">
                        <a:latin typeface="+mj-lt"/>
                        <a:ea typeface="Calibri"/>
                        <a:cs typeface="Times New Roman"/>
                      </a:endParaRPr>
                    </a:p>
                  </a:txBody>
                  <a:tcPr marL="58242" marR="58242" marT="0" marB="0">
                    <a:lnL>
                      <a:noFill/>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tc>
                  <a:txBody>
                    <a:bodyPr/>
                    <a:lstStyle/>
                    <a:p>
                      <a:pPr marL="91440" marR="0" algn="ctr">
                        <a:lnSpc>
                          <a:spcPct val="150000"/>
                        </a:lnSpc>
                        <a:spcBef>
                          <a:spcPts val="0"/>
                        </a:spcBef>
                        <a:spcAft>
                          <a:spcPts val="0"/>
                        </a:spcAft>
                      </a:pPr>
                      <a:r>
                        <a:rPr lang="en-US" sz="1800">
                          <a:latin typeface="+mj-lt"/>
                          <a:ea typeface="Calibri"/>
                          <a:cs typeface="Times New Roman"/>
                        </a:rPr>
                        <a:t>Br ≤1,500,000</a:t>
                      </a:r>
                      <a:endParaRPr lang="en-US" sz="1100">
                        <a:latin typeface="+mj-lt"/>
                        <a:ea typeface="Calibri"/>
                        <a:cs typeface="Times New Roman"/>
                      </a:endParaRPr>
                    </a:p>
                  </a:txBody>
                  <a:tcPr marL="58242" marR="58242" marT="0" marB="0">
                    <a:lnL>
                      <a:noFill/>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extLst>
                  <a:ext uri="{0D108BD9-81ED-4DB2-BD59-A6C34878D82A}">
                    <a16:rowId xmlns:a16="http://schemas.microsoft.com/office/drawing/2014/main" val="10003"/>
                  </a:ext>
                </a:extLst>
              </a:tr>
              <a:tr h="579120">
                <a:tc vMerge="1">
                  <a:txBody>
                    <a:bodyPr/>
                    <a:lstStyle/>
                    <a:p>
                      <a:endParaRPr lang="en-US"/>
                    </a:p>
                  </a:txBody>
                  <a:tcPr/>
                </a:tc>
                <a:tc>
                  <a:txBody>
                    <a:bodyPr/>
                    <a:lstStyle/>
                    <a:p>
                      <a:pPr marL="0" marR="0" algn="ctr">
                        <a:lnSpc>
                          <a:spcPct val="150000"/>
                        </a:lnSpc>
                        <a:spcBef>
                          <a:spcPts val="0"/>
                        </a:spcBef>
                        <a:spcAft>
                          <a:spcPts val="0"/>
                        </a:spcAft>
                      </a:pPr>
                      <a:r>
                        <a:rPr lang="en-US" sz="1800">
                          <a:latin typeface="+mj-lt"/>
                          <a:ea typeface="Calibri"/>
                          <a:cs typeface="Times New Roman"/>
                        </a:rPr>
                        <a:t>Service</a:t>
                      </a:r>
                      <a:endParaRPr lang="en-US" sz="1100">
                        <a:latin typeface="+mj-lt"/>
                        <a:ea typeface="Calibri"/>
                        <a:cs typeface="Times New Roman"/>
                      </a:endParaRPr>
                    </a:p>
                  </a:txBody>
                  <a:tcPr marL="58242" marR="58242" marT="0" marB="0">
                    <a:lnL w="12700" cap="flat" cmpd="sng" algn="ctr">
                      <a:solidFill>
                        <a:srgbClr val="000000"/>
                      </a:solidFill>
                      <a:prstDash val="solid"/>
                      <a:round/>
                      <a:headEnd type="none" w="med" len="med"/>
                      <a:tailEnd type="none" w="med" len="med"/>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a:latin typeface="+mj-lt"/>
                          <a:ea typeface="Calibri"/>
                          <a:cs typeface="Times New Roman"/>
                        </a:rPr>
                        <a:t>6-30</a:t>
                      </a:r>
                      <a:endParaRPr lang="en-US" sz="1100">
                        <a:latin typeface="+mj-lt"/>
                        <a:ea typeface="Calibri"/>
                        <a:cs typeface="Times New Roman"/>
                      </a:endParaRPr>
                    </a:p>
                  </a:txBody>
                  <a:tcPr marL="58242" marR="58242" marT="0" marB="0">
                    <a:lnL>
                      <a:noFill/>
                    </a:lnL>
                    <a:lnR>
                      <a:noFill/>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tc>
                  <a:txBody>
                    <a:bodyPr/>
                    <a:lstStyle/>
                    <a:p>
                      <a:pPr marL="91440" marR="0" algn="ctr">
                        <a:lnSpc>
                          <a:spcPct val="150000"/>
                        </a:lnSpc>
                        <a:spcBef>
                          <a:spcPts val="0"/>
                        </a:spcBef>
                        <a:spcAft>
                          <a:spcPts val="0"/>
                        </a:spcAft>
                      </a:pPr>
                      <a:r>
                        <a:rPr lang="en-US" sz="1800" dirty="0">
                          <a:latin typeface="+mj-lt"/>
                          <a:ea typeface="Calibri"/>
                          <a:cs typeface="Times New Roman"/>
                        </a:rPr>
                        <a:t>Br ≤500,000</a:t>
                      </a:r>
                      <a:endParaRPr lang="en-US" sz="1100" dirty="0">
                        <a:latin typeface="+mj-lt"/>
                        <a:ea typeface="Calibri"/>
                        <a:cs typeface="Times New Roman"/>
                      </a:endParaRPr>
                    </a:p>
                  </a:txBody>
                  <a:tcPr marL="58242" marR="58242" marT="0" marB="0">
                    <a:lnL>
                      <a:noFill/>
                    </a:lnL>
                    <a:lnR w="12700" cap="flat" cmpd="sng" algn="ctr">
                      <a:solidFill>
                        <a:srgbClr val="8064A2"/>
                      </a:solidFill>
                      <a:prstDash val="solid"/>
                      <a:round/>
                      <a:headEnd type="none" w="med" len="med"/>
                      <a:tailEnd type="none" w="med" len="med"/>
                    </a:lnR>
                    <a:lnT w="12700" cap="flat" cmpd="sng" algn="ctr">
                      <a:solidFill>
                        <a:srgbClr val="8064A2"/>
                      </a:solidFill>
                      <a:prstDash val="solid"/>
                      <a:round/>
                      <a:headEnd type="none" w="med" len="med"/>
                      <a:tailEnd type="none" w="med" len="med"/>
                    </a:lnT>
                    <a:lnB w="12700" cap="flat" cmpd="sng" algn="ctr">
                      <a:solidFill>
                        <a:srgbClr val="8064A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0181120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fontScale="90000"/>
          </a:bodyPr>
          <a:lstStyle/>
          <a:p>
            <a:r>
              <a:rPr lang="en-US" sz="2700" b="1" dirty="0" smtClean="0"/>
              <a:t/>
            </a:r>
            <a:br>
              <a:rPr lang="en-US" sz="2700" b="1" dirty="0" smtClean="0"/>
            </a:br>
            <a:r>
              <a:rPr lang="en-US" sz="2700" b="1" dirty="0"/>
              <a:t/>
            </a:r>
            <a:br>
              <a:rPr lang="en-US" sz="2700" b="1" dirty="0"/>
            </a:br>
            <a:r>
              <a:rPr lang="en-US" dirty="0"/>
              <a:t/>
            </a:r>
            <a:br>
              <a:rPr lang="en-US" dirty="0"/>
            </a:br>
            <a:endParaRPr lang="en-US" dirty="0"/>
          </a:p>
        </p:txBody>
      </p:sp>
      <p:sp>
        <p:nvSpPr>
          <p:cNvPr id="3" name="Content Placeholder 2"/>
          <p:cNvSpPr>
            <a:spLocks noGrp="1"/>
          </p:cNvSpPr>
          <p:nvPr>
            <p:ph idx="1"/>
          </p:nvPr>
        </p:nvSpPr>
        <p:spPr>
          <a:xfrm>
            <a:off x="304800" y="990600"/>
            <a:ext cx="8534400" cy="5791200"/>
          </a:xfrm>
        </p:spPr>
        <p:txBody>
          <a:bodyPr>
            <a:normAutofit/>
          </a:bodyPr>
          <a:lstStyle/>
          <a:p>
            <a:pPr lvl="0" algn="just"/>
            <a:r>
              <a:rPr lang="en-US" dirty="0" smtClean="0"/>
              <a:t>Priority Sectors and Sub-Sectors for MSEs Engagement In Ethiopia</a:t>
            </a:r>
            <a:endParaRPr lang="en-US" i="1" dirty="0" smtClean="0"/>
          </a:p>
          <a:p>
            <a:pPr lvl="2" algn="just">
              <a:buFont typeface="Wingdings" pitchFamily="2" charset="2"/>
              <a:buChar char="§"/>
            </a:pPr>
            <a:r>
              <a:rPr lang="en-US" sz="2800" i="1" dirty="0" smtClean="0"/>
              <a:t>Manufacturing</a:t>
            </a:r>
            <a:r>
              <a:rPr lang="en-US" sz="2800" dirty="0" smtClean="0"/>
              <a:t> Sector  </a:t>
            </a:r>
            <a:endParaRPr lang="en-US" sz="2800" dirty="0"/>
          </a:p>
          <a:p>
            <a:pPr lvl="2" algn="just">
              <a:buFont typeface="Wingdings" pitchFamily="2" charset="2"/>
              <a:buChar char="§"/>
            </a:pPr>
            <a:r>
              <a:rPr lang="en-US" sz="2800" dirty="0"/>
              <a:t>Construction </a:t>
            </a:r>
            <a:r>
              <a:rPr lang="en-US" sz="2800" dirty="0" smtClean="0"/>
              <a:t>Sectors    </a:t>
            </a:r>
            <a:endParaRPr lang="en-US" sz="2800" dirty="0"/>
          </a:p>
          <a:p>
            <a:pPr lvl="2" algn="just">
              <a:buFont typeface="Wingdings" pitchFamily="2" charset="2"/>
              <a:buChar char="§"/>
            </a:pPr>
            <a:r>
              <a:rPr lang="en-US" sz="2800" dirty="0"/>
              <a:t>Trade </a:t>
            </a:r>
            <a:r>
              <a:rPr lang="en-US" sz="2800" dirty="0" smtClean="0"/>
              <a:t>Sectors    </a:t>
            </a:r>
            <a:endParaRPr lang="en-US" sz="2800" dirty="0"/>
          </a:p>
          <a:p>
            <a:pPr lvl="2" algn="just">
              <a:buFont typeface="Wingdings" pitchFamily="2" charset="2"/>
              <a:buChar char="§"/>
            </a:pPr>
            <a:r>
              <a:rPr lang="en-US" sz="2800" dirty="0"/>
              <a:t>Service </a:t>
            </a:r>
            <a:r>
              <a:rPr lang="en-US" sz="2800" dirty="0" smtClean="0"/>
              <a:t>Sectors</a:t>
            </a:r>
            <a:endParaRPr lang="en-US" sz="2800" dirty="0"/>
          </a:p>
          <a:p>
            <a:pPr lvl="2" algn="just">
              <a:buFont typeface="Wingdings" pitchFamily="2" charset="2"/>
              <a:buChar char="§"/>
            </a:pPr>
            <a:r>
              <a:rPr lang="en-US" sz="2800" dirty="0"/>
              <a:t>Agriculture Sector (Urban Agriculture</a:t>
            </a:r>
            <a:r>
              <a:rPr lang="en-US" sz="2800" dirty="0" smtClean="0"/>
              <a:t>)</a:t>
            </a:r>
          </a:p>
          <a:p>
            <a:pPr lvl="0">
              <a:buNone/>
            </a:pPr>
            <a:endParaRPr lang="en-US" dirty="0"/>
          </a:p>
        </p:txBody>
      </p:sp>
    </p:spTree>
    <p:extLst>
      <p:ext uri="{BB962C8B-B14F-4D97-AF65-F5344CB8AC3E}">
        <p14:creationId xmlns:p14="http://schemas.microsoft.com/office/powerpoint/2010/main" val="9383058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pPr lvl="0"/>
            <a:r>
              <a:rPr lang="en-US" b="1" cap="all" dirty="0" smtClean="0"/>
              <a:t/>
            </a:r>
            <a:br>
              <a:rPr lang="en-US" b="1" cap="all" dirty="0" smtClean="0"/>
            </a:br>
            <a:r>
              <a:rPr lang="en-US" b="1" cap="all" dirty="0" smtClean="0"/>
              <a:t/>
            </a:r>
            <a:br>
              <a:rPr lang="en-US" b="1" cap="all" dirty="0" smtClean="0"/>
            </a:br>
            <a:r>
              <a:rPr lang="en-US" sz="3600" b="1" dirty="0" smtClean="0"/>
              <a:t>Levels </a:t>
            </a:r>
            <a:r>
              <a:rPr lang="en-US" sz="3600" b="1" dirty="0"/>
              <a:t>of MSEs in Ethiopia </a:t>
            </a:r>
            <a:r>
              <a:rPr lang="en-US" dirty="0"/>
              <a:t/>
            </a:r>
            <a:br>
              <a:rPr lang="en-US" dirty="0"/>
            </a:br>
            <a:r>
              <a:rPr lang="en-US" b="1" cap="all" dirty="0" smtClean="0"/>
              <a:t> </a:t>
            </a:r>
            <a:r>
              <a:rPr lang="en-US" sz="3600" b="1" cap="all" dirty="0" smtClean="0"/>
              <a:t/>
            </a:r>
            <a:br>
              <a:rPr lang="en-US" sz="3600" b="1" cap="all" dirty="0" smtClean="0"/>
            </a:br>
            <a:endParaRPr lang="en-US" dirty="0"/>
          </a:p>
        </p:txBody>
      </p:sp>
      <p:sp>
        <p:nvSpPr>
          <p:cNvPr id="3" name="Content Placeholder 2"/>
          <p:cNvSpPr>
            <a:spLocks noGrp="1"/>
          </p:cNvSpPr>
          <p:nvPr>
            <p:ph idx="1"/>
          </p:nvPr>
        </p:nvSpPr>
        <p:spPr>
          <a:xfrm>
            <a:off x="228600" y="609600"/>
            <a:ext cx="8610600" cy="5943600"/>
          </a:xfrm>
        </p:spPr>
        <p:txBody>
          <a:bodyPr>
            <a:normAutofit/>
          </a:bodyPr>
          <a:lstStyle/>
          <a:p>
            <a:r>
              <a:rPr lang="en-US" b="1" dirty="0" smtClean="0"/>
              <a:t>Start-up </a:t>
            </a:r>
          </a:p>
          <a:p>
            <a:r>
              <a:rPr lang="en-US" b="1" dirty="0" smtClean="0"/>
              <a:t>Growth Level</a:t>
            </a:r>
          </a:p>
          <a:p>
            <a:r>
              <a:rPr lang="en-US" b="1" dirty="0" smtClean="0"/>
              <a:t>Maturity Level</a:t>
            </a:r>
          </a:p>
          <a:p>
            <a:r>
              <a:rPr lang="en-US" b="1" dirty="0" smtClean="0"/>
              <a:t>Growth- </a:t>
            </a:r>
            <a:r>
              <a:rPr lang="en-US" b="1" dirty="0"/>
              <a:t>Medium </a:t>
            </a:r>
            <a:r>
              <a:rPr lang="en-US" b="1" dirty="0" smtClean="0"/>
              <a:t>Level </a:t>
            </a:r>
            <a:endParaRPr lang="en-US" b="1" dirty="0"/>
          </a:p>
          <a:p>
            <a:endParaRPr lang="en-US" sz="3600" dirty="0"/>
          </a:p>
        </p:txBody>
      </p:sp>
    </p:spTree>
    <p:extLst>
      <p:ext uri="{BB962C8B-B14F-4D97-AF65-F5344CB8AC3E}">
        <p14:creationId xmlns:p14="http://schemas.microsoft.com/office/powerpoint/2010/main" val="393293944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a:solidFill>
            <a:srgbClr val="FFFF00"/>
          </a:solidFill>
        </p:spPr>
        <p:txBody>
          <a:bodyPr>
            <a:normAutofit fontScale="90000"/>
          </a:bodyPr>
          <a:lstStyle/>
          <a:p>
            <a:r>
              <a:rPr lang="en-US" sz="2700" b="1" dirty="0" smtClean="0"/>
              <a:t/>
            </a:r>
            <a:br>
              <a:rPr lang="en-US" sz="2700" b="1" dirty="0" smtClean="0"/>
            </a:br>
            <a:r>
              <a:rPr lang="en-US" sz="2700" b="1" dirty="0" smtClean="0"/>
              <a:t/>
            </a:r>
            <a:br>
              <a:rPr lang="en-US" sz="2700" b="1" dirty="0" smtClean="0"/>
            </a:br>
            <a:r>
              <a:rPr lang="en-US" sz="2700" b="1" dirty="0" smtClean="0"/>
              <a:t/>
            </a:r>
            <a:br>
              <a:rPr lang="en-US" sz="2700" b="1" dirty="0" smtClean="0"/>
            </a:br>
            <a:r>
              <a:rPr lang="en-US" sz="3600" b="1" dirty="0" smtClean="0"/>
              <a:t>3.8 </a:t>
            </a:r>
            <a:r>
              <a:rPr lang="en-US" sz="3600" b="1" dirty="0"/>
              <a:t>Main Supporting Packages for MSEs Development in </a:t>
            </a:r>
            <a:r>
              <a:rPr lang="en-US" sz="3600" b="1" dirty="0" smtClean="0"/>
              <a:t>Ethiopia</a:t>
            </a:r>
            <a:br>
              <a:rPr lang="en-US" sz="3600" b="1" dirty="0" smtClean="0"/>
            </a:br>
            <a:r>
              <a:rPr lang="en-US" sz="3600" b="1" dirty="0" smtClean="0"/>
              <a:t>(Reading Assignment)</a:t>
            </a:r>
            <a:r>
              <a:rPr lang="en-US" b="1" dirty="0"/>
              <a:t/>
            </a:r>
            <a:br>
              <a:rPr lang="en-US" b="1" dirty="0"/>
            </a:br>
            <a:endParaRPr lang="en-US" dirty="0"/>
          </a:p>
        </p:txBody>
      </p:sp>
      <p:sp>
        <p:nvSpPr>
          <p:cNvPr id="3" name="Content Placeholder 2"/>
          <p:cNvSpPr>
            <a:spLocks noGrp="1"/>
          </p:cNvSpPr>
          <p:nvPr>
            <p:ph idx="1"/>
          </p:nvPr>
        </p:nvSpPr>
        <p:spPr>
          <a:xfrm>
            <a:off x="304800" y="1295400"/>
            <a:ext cx="8534400" cy="5334000"/>
          </a:xfrm>
        </p:spPr>
        <p:txBody>
          <a:bodyPr>
            <a:normAutofit fontScale="85000" lnSpcReduction="10000"/>
          </a:bodyPr>
          <a:lstStyle/>
          <a:p>
            <a:pPr marL="0" indent="0" algn="just">
              <a:buNone/>
            </a:pPr>
            <a:r>
              <a:rPr lang="en-US" sz="3000" dirty="0" smtClean="0"/>
              <a:t> In Ethiopia supporting </a:t>
            </a:r>
            <a:r>
              <a:rPr lang="en-US" sz="3000" dirty="0"/>
              <a:t>packages </a:t>
            </a:r>
            <a:r>
              <a:rPr lang="en-US" sz="3000" dirty="0" smtClean="0"/>
              <a:t>for MSEs includes;</a:t>
            </a:r>
          </a:p>
          <a:p>
            <a:pPr algn="just"/>
            <a:r>
              <a:rPr lang="en-US" dirty="0" smtClean="0"/>
              <a:t>Awareness </a:t>
            </a:r>
            <a:r>
              <a:rPr lang="en-US" dirty="0"/>
              <a:t>creation about the sector; </a:t>
            </a:r>
            <a:endParaRPr lang="en-US" dirty="0" smtClean="0"/>
          </a:p>
          <a:p>
            <a:pPr algn="just"/>
            <a:r>
              <a:rPr lang="en-US" dirty="0" smtClean="0"/>
              <a:t>Provision </a:t>
            </a:r>
            <a:r>
              <a:rPr lang="en-US" dirty="0"/>
              <a:t>of legal </a:t>
            </a:r>
            <a:r>
              <a:rPr lang="en-US" dirty="0" smtClean="0"/>
              <a:t>services to </a:t>
            </a:r>
            <a:r>
              <a:rPr lang="en-US" dirty="0"/>
              <a:t>form legal business enterprises</a:t>
            </a:r>
            <a:r>
              <a:rPr lang="en-US" dirty="0" smtClean="0"/>
              <a:t>;</a:t>
            </a:r>
          </a:p>
          <a:p>
            <a:pPr algn="just"/>
            <a:r>
              <a:rPr lang="en-US" dirty="0" smtClean="0"/>
              <a:t>Providing technical </a:t>
            </a:r>
            <a:r>
              <a:rPr lang="en-US" dirty="0"/>
              <a:t>and business management training; </a:t>
            </a:r>
            <a:endParaRPr lang="en-US" dirty="0" smtClean="0"/>
          </a:p>
          <a:p>
            <a:pPr algn="just"/>
            <a:r>
              <a:rPr lang="en-US" dirty="0" smtClean="0"/>
              <a:t>Financial </a:t>
            </a:r>
            <a:r>
              <a:rPr lang="en-US" dirty="0"/>
              <a:t>support based on personal saving, 20/80 (the beneficiaries are save 20% and the MFIs provide Loan 80% of the projects); </a:t>
            </a:r>
            <a:endParaRPr lang="en-US" dirty="0" smtClean="0"/>
          </a:p>
          <a:p>
            <a:pPr algn="just"/>
            <a:r>
              <a:rPr lang="en-US" dirty="0" smtClean="0"/>
              <a:t>Facilitate </a:t>
            </a:r>
            <a:r>
              <a:rPr lang="en-US" dirty="0"/>
              <a:t>working premises; industry extinction services and BDS provision; </a:t>
            </a:r>
            <a:endParaRPr lang="en-US" dirty="0" smtClean="0"/>
          </a:p>
          <a:p>
            <a:pPr algn="just"/>
            <a:r>
              <a:rPr lang="en-US" dirty="0" smtClean="0"/>
              <a:t>Bookkeeping </a:t>
            </a:r>
            <a:r>
              <a:rPr lang="en-US" dirty="0"/>
              <a:t>and audit services.</a:t>
            </a:r>
          </a:p>
          <a:p>
            <a:endParaRPr lang="en-US" dirty="0"/>
          </a:p>
        </p:txBody>
      </p:sp>
    </p:spTree>
    <p:extLst>
      <p:ext uri="{BB962C8B-B14F-4D97-AF65-F5344CB8AC3E}">
        <p14:creationId xmlns:p14="http://schemas.microsoft.com/office/powerpoint/2010/main" val="154308804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a:solidFill>
            <a:srgbClr val="FFFF00"/>
          </a:solidFill>
        </p:spPr>
        <p:txBody>
          <a:bodyPr>
            <a:normAutofit fontScale="90000"/>
          </a:bodyPr>
          <a:lstStyle/>
          <a:p>
            <a:r>
              <a:rPr lang="en-US" sz="3600" b="1" dirty="0" smtClean="0"/>
              <a:t/>
            </a:r>
            <a:br>
              <a:rPr lang="en-US" sz="3600" b="1" dirty="0" smtClean="0"/>
            </a:br>
            <a:r>
              <a:rPr lang="en-US" sz="3100" b="1" dirty="0" smtClean="0"/>
              <a:t>3.9 </a:t>
            </a:r>
            <a:r>
              <a:rPr lang="en-US" sz="3100" b="1" dirty="0"/>
              <a:t>Problems of Small Scale Business in Ethiopia</a:t>
            </a:r>
            <a:r>
              <a:rPr lang="en-US" b="1" dirty="0"/>
              <a:t/>
            </a:r>
            <a:br>
              <a:rPr lang="en-US" b="1" dirty="0"/>
            </a:br>
            <a:endParaRPr lang="en-US" dirty="0"/>
          </a:p>
        </p:txBody>
      </p:sp>
      <p:sp>
        <p:nvSpPr>
          <p:cNvPr id="3" name="Content Placeholder 2"/>
          <p:cNvSpPr>
            <a:spLocks noGrp="1"/>
          </p:cNvSpPr>
          <p:nvPr>
            <p:ph idx="1"/>
          </p:nvPr>
        </p:nvSpPr>
        <p:spPr>
          <a:xfrm>
            <a:off x="304800" y="914400"/>
            <a:ext cx="8458200" cy="5943600"/>
          </a:xfrm>
        </p:spPr>
        <p:txBody>
          <a:bodyPr>
            <a:normAutofit fontScale="92500" lnSpcReduction="20000"/>
          </a:bodyPr>
          <a:lstStyle/>
          <a:p>
            <a:pPr algn="just"/>
            <a:r>
              <a:rPr lang="en-US" dirty="0" smtClean="0"/>
              <a:t>Small-scale </a:t>
            </a:r>
            <a:r>
              <a:rPr lang="en-US" dirty="0"/>
              <a:t>businesses have not been able to contribute substantially to the economic development, particularly because of financial, production, and marketing problems. </a:t>
            </a:r>
            <a:endParaRPr lang="en-US" dirty="0" smtClean="0"/>
          </a:p>
          <a:p>
            <a:pPr algn="just"/>
            <a:r>
              <a:rPr lang="en-US" dirty="0" smtClean="0"/>
              <a:t>These </a:t>
            </a:r>
            <a:r>
              <a:rPr lang="en-US" dirty="0"/>
              <a:t>problems are still major handicaps to their development. Lack of adequate finance and credit has always been a major problem of the Ethiopian small business</a:t>
            </a:r>
            <a:r>
              <a:rPr lang="en-US" dirty="0" smtClean="0"/>
              <a:t>.</a:t>
            </a:r>
          </a:p>
          <a:p>
            <a:pPr algn="just"/>
            <a:endParaRPr lang="en-US" dirty="0"/>
          </a:p>
          <a:p>
            <a:pPr algn="just"/>
            <a:r>
              <a:rPr lang="en-US" dirty="0"/>
              <a:t>Small-scale units do not have easy access to the capital because they mostly organized on proprietary and partnership basis and are of very small size. </a:t>
            </a:r>
            <a:r>
              <a:rPr lang="en-US" dirty="0" smtClean="0"/>
              <a:t> </a:t>
            </a:r>
          </a:p>
          <a:p>
            <a:endParaRPr lang="en-US" dirty="0"/>
          </a:p>
        </p:txBody>
      </p:sp>
    </p:spTree>
    <p:extLst>
      <p:ext uri="{BB962C8B-B14F-4D97-AF65-F5344CB8AC3E}">
        <p14:creationId xmlns:p14="http://schemas.microsoft.com/office/powerpoint/2010/main" val="14265064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fontScale="90000"/>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0" y="685800"/>
            <a:ext cx="8839200" cy="6400800"/>
          </a:xfrm>
        </p:spPr>
        <p:txBody>
          <a:bodyPr>
            <a:normAutofit fontScale="92500" lnSpcReduction="20000"/>
          </a:bodyPr>
          <a:lstStyle/>
          <a:p>
            <a:pPr algn="just"/>
            <a:r>
              <a:rPr lang="en-US" dirty="0"/>
              <a:t>Small scale enterprises find it difficult to get raw materials of good quality at reasonable prices in the field of production. </a:t>
            </a:r>
          </a:p>
          <a:p>
            <a:pPr algn="just"/>
            <a:r>
              <a:rPr lang="en-US" dirty="0" smtClean="0"/>
              <a:t>Furthermore</a:t>
            </a:r>
            <a:r>
              <a:rPr lang="en-US" dirty="0"/>
              <a:t>, the techniques of production, which the enterprises have adopted, are usually outdated. Because of their poor financial position they are not able to buy new equipment, consequently their productivity suffers. </a:t>
            </a:r>
          </a:p>
          <a:p>
            <a:pPr algn="just"/>
            <a:r>
              <a:rPr lang="en-US" dirty="0" smtClean="0"/>
              <a:t>How </a:t>
            </a:r>
            <a:r>
              <a:rPr lang="en-US" dirty="0"/>
              <a:t>ever,  Small business’s owner can avoid some of the common  by knowing the business in depth; developing a solid business plan; managing financial resources; understanding financial statements; and learning to manage people effectively.</a:t>
            </a:r>
          </a:p>
          <a:p>
            <a:endParaRPr lang="en-US" dirty="0"/>
          </a:p>
          <a:p>
            <a:endParaRPr lang="en-US" dirty="0"/>
          </a:p>
        </p:txBody>
      </p:sp>
    </p:spTree>
    <p:extLst>
      <p:ext uri="{BB962C8B-B14F-4D97-AF65-F5344CB8AC3E}">
        <p14:creationId xmlns:p14="http://schemas.microsoft.com/office/powerpoint/2010/main" val="129031246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noAutofit/>
          </a:bodyPr>
          <a:lstStyle/>
          <a:p>
            <a:r>
              <a:rPr lang="en-US" sz="3600" b="1" dirty="0" smtClean="0"/>
              <a:t>3.10 Organizational Structure and Entrepreneurial Team Formation</a:t>
            </a:r>
            <a:endParaRPr lang="en-US" sz="3600" dirty="0"/>
          </a:p>
        </p:txBody>
      </p:sp>
      <p:sp>
        <p:nvSpPr>
          <p:cNvPr id="3" name="Content Placeholder 2"/>
          <p:cNvSpPr>
            <a:spLocks noGrp="1"/>
          </p:cNvSpPr>
          <p:nvPr>
            <p:ph idx="1"/>
          </p:nvPr>
        </p:nvSpPr>
        <p:spPr/>
        <p:txBody>
          <a:bodyPr>
            <a:normAutofit fontScale="70000" lnSpcReduction="20000"/>
          </a:bodyPr>
          <a:lstStyle/>
          <a:p>
            <a:pPr marL="514350" indent="-514350">
              <a:buNone/>
            </a:pPr>
            <a:r>
              <a:rPr lang="en-US" b="1" dirty="0" smtClean="0"/>
              <a:t>3.10.1 Introduction</a:t>
            </a:r>
            <a:endParaRPr lang="en-US" dirty="0" smtClean="0"/>
          </a:p>
          <a:p>
            <a:pPr algn="just"/>
            <a:r>
              <a:rPr lang="en-US" dirty="0" smtClean="0"/>
              <a:t>We can perceive from the experiences of companies the importance of employees and their loyalty and commitment to the organization. Also significant to potential investors is the management team and its ability and commitment to the new venture.</a:t>
            </a:r>
          </a:p>
          <a:p>
            <a:pPr algn="just"/>
            <a:r>
              <a:rPr lang="en-US" dirty="0" smtClean="0"/>
              <a:t>Investors will usually demand that the management team not attempt to operate the business as a sideline or part-time venture while employed full time elsewhere. It is assumed that the management team is prepared to operate the business full time and at a modest salary. It is unacceptable for the entrepreneurs to try to draw a large salary out of the new venture, and investors may perceive any attempt to do so as a lack of psychological commitment to the business.</a:t>
            </a:r>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a:solidFill>
            <a:srgbClr val="FFFF00"/>
          </a:solidFill>
        </p:spPr>
        <p:txBody>
          <a:bodyPr>
            <a:normAutofit fontScale="90000"/>
          </a:bodyPr>
          <a:lstStyle/>
          <a:p>
            <a:r>
              <a:rPr lang="en-US" sz="2700" b="1" dirty="0" smtClean="0"/>
              <a:t/>
            </a:r>
            <a:br>
              <a:rPr lang="en-US" sz="2700" b="1" dirty="0" smtClean="0"/>
            </a:br>
            <a:r>
              <a:rPr lang="en-US" b="1" dirty="0" smtClean="0"/>
              <a:t> 3.10.2 Designing the Organization</a:t>
            </a:r>
            <a:endParaRPr lang="en-US" dirty="0"/>
          </a:p>
        </p:txBody>
      </p:sp>
      <p:sp>
        <p:nvSpPr>
          <p:cNvPr id="3" name="Content Placeholder 2"/>
          <p:cNvSpPr>
            <a:spLocks noGrp="1"/>
          </p:cNvSpPr>
          <p:nvPr>
            <p:ph idx="1"/>
          </p:nvPr>
        </p:nvSpPr>
        <p:spPr>
          <a:xfrm>
            <a:off x="304800" y="914400"/>
            <a:ext cx="8458200" cy="5943600"/>
          </a:xfrm>
        </p:spPr>
        <p:txBody>
          <a:bodyPr>
            <a:normAutofit lnSpcReduction="10000"/>
          </a:bodyPr>
          <a:lstStyle/>
          <a:p>
            <a:pPr algn="just">
              <a:buFont typeface="Wingdings" pitchFamily="2" charset="2"/>
              <a:buChar char="v"/>
            </a:pPr>
            <a:r>
              <a:rPr lang="en-US" dirty="0" smtClean="0">
                <a:solidFill>
                  <a:srgbClr val="002060"/>
                </a:solidFill>
              </a:rPr>
              <a:t>The </a:t>
            </a:r>
            <a:r>
              <a:rPr lang="en-US" dirty="0">
                <a:solidFill>
                  <a:srgbClr val="002060"/>
                </a:solidFill>
              </a:rPr>
              <a:t>design of the organization will be </a:t>
            </a:r>
            <a:r>
              <a:rPr lang="en-US" dirty="0" smtClean="0">
                <a:solidFill>
                  <a:srgbClr val="002060"/>
                </a:solidFill>
              </a:rPr>
              <a:t>the entrepreneur’s </a:t>
            </a:r>
            <a:r>
              <a:rPr lang="en-US" dirty="0">
                <a:solidFill>
                  <a:srgbClr val="002060"/>
                </a:solidFill>
              </a:rPr>
              <a:t>formal and explicit indication to the members of the organization as to what is expected of them. </a:t>
            </a:r>
            <a:r>
              <a:rPr lang="en-US" dirty="0" smtClean="0">
                <a:solidFill>
                  <a:srgbClr val="002060"/>
                </a:solidFill>
              </a:rPr>
              <a:t> </a:t>
            </a:r>
            <a:r>
              <a:rPr lang="en-US" dirty="0" smtClean="0"/>
              <a:t>These </a:t>
            </a:r>
            <a:r>
              <a:rPr lang="en-US" dirty="0"/>
              <a:t>expectations </a:t>
            </a:r>
            <a:r>
              <a:rPr lang="en-US" dirty="0" smtClean="0"/>
              <a:t>are grouped into five </a:t>
            </a:r>
            <a:r>
              <a:rPr lang="en-US" dirty="0"/>
              <a:t>areas</a:t>
            </a:r>
            <a:r>
              <a:rPr lang="en-US" dirty="0" smtClean="0"/>
              <a:t>:-</a:t>
            </a:r>
          </a:p>
          <a:p>
            <a:pPr lvl="2" algn="just"/>
            <a:r>
              <a:rPr lang="en-US" sz="2800" i="1" dirty="0"/>
              <a:t>Organization </a:t>
            </a:r>
            <a:r>
              <a:rPr lang="en-US" sz="2800" i="1" dirty="0" smtClean="0"/>
              <a:t>structure</a:t>
            </a:r>
            <a:r>
              <a:rPr lang="en-US" sz="2800" dirty="0"/>
              <a:t> </a:t>
            </a:r>
          </a:p>
          <a:p>
            <a:pPr lvl="2" algn="just"/>
            <a:r>
              <a:rPr lang="en-US" sz="2800" i="1" dirty="0"/>
              <a:t>Planning, measurement, and evaluation </a:t>
            </a:r>
            <a:r>
              <a:rPr lang="en-US" sz="2800" i="1" dirty="0" smtClean="0"/>
              <a:t>schemes</a:t>
            </a:r>
            <a:endParaRPr lang="en-US" sz="2800" dirty="0"/>
          </a:p>
          <a:p>
            <a:pPr lvl="2" algn="just"/>
            <a:r>
              <a:rPr lang="en-US" sz="2800" i="1" dirty="0" smtClean="0"/>
              <a:t>Rewards</a:t>
            </a:r>
            <a:endParaRPr lang="en-US" sz="2800" dirty="0"/>
          </a:p>
          <a:p>
            <a:pPr lvl="2" algn="just"/>
            <a:r>
              <a:rPr lang="en-US" sz="2800" i="1" dirty="0"/>
              <a:t>Selection </a:t>
            </a:r>
            <a:r>
              <a:rPr lang="en-US" sz="2800" i="1" dirty="0" smtClean="0"/>
              <a:t>criteria</a:t>
            </a:r>
            <a:endParaRPr lang="en-US" sz="2800" dirty="0"/>
          </a:p>
          <a:p>
            <a:pPr lvl="2" algn="just"/>
            <a:r>
              <a:rPr lang="en-US" sz="2800" i="1" dirty="0" smtClean="0"/>
              <a:t>Training</a:t>
            </a:r>
            <a:endParaRPr lang="en-US" sz="2800" dirty="0"/>
          </a:p>
        </p:txBody>
      </p:sp>
    </p:spTree>
    <p:extLst>
      <p:ext uri="{BB962C8B-B14F-4D97-AF65-F5344CB8AC3E}">
        <p14:creationId xmlns:p14="http://schemas.microsoft.com/office/powerpoint/2010/main" val="212017362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solidFill>
            <a:srgbClr val="FFFF00"/>
          </a:solidFill>
        </p:spPr>
        <p:txBody>
          <a:bodyPr>
            <a:normAutofit fontScale="90000"/>
          </a:bodyPr>
          <a:lstStyle/>
          <a:p>
            <a:r>
              <a:rPr lang="en-US" sz="3100" b="1" dirty="0"/>
              <a:t/>
            </a:r>
            <a:br>
              <a:rPr lang="en-US" sz="3100" b="1" dirty="0"/>
            </a:br>
            <a:r>
              <a:rPr lang="en-US" sz="3600" b="1" dirty="0" smtClean="0"/>
              <a:t>3.9.3 </a:t>
            </a:r>
            <a:r>
              <a:rPr lang="en-US" sz="3600" b="1" dirty="0"/>
              <a:t>Building the Management Team and a Successful Organization Culture</a:t>
            </a:r>
            <a:r>
              <a:rPr lang="en-US" b="1" dirty="0"/>
              <a:t/>
            </a:r>
            <a:br>
              <a:rPr lang="en-US" b="1" dirty="0"/>
            </a:br>
            <a:endParaRPr lang="en-US" dirty="0"/>
          </a:p>
        </p:txBody>
      </p:sp>
      <p:sp>
        <p:nvSpPr>
          <p:cNvPr id="3" name="Content Placeholder 2"/>
          <p:cNvSpPr>
            <a:spLocks noGrp="1"/>
          </p:cNvSpPr>
          <p:nvPr>
            <p:ph idx="1"/>
          </p:nvPr>
        </p:nvSpPr>
        <p:spPr>
          <a:xfrm>
            <a:off x="228600" y="914400"/>
            <a:ext cx="8534400" cy="5715000"/>
          </a:xfrm>
        </p:spPr>
        <p:txBody>
          <a:bodyPr>
            <a:normAutofit/>
          </a:bodyPr>
          <a:lstStyle/>
          <a:p>
            <a:pPr marL="0" indent="0" algn="just">
              <a:buNone/>
            </a:pPr>
            <a:r>
              <a:rPr lang="en-US" dirty="0" smtClean="0"/>
              <a:t>There </a:t>
            </a:r>
            <a:r>
              <a:rPr lang="en-US" dirty="0"/>
              <a:t>are some important issues to address before assembling and building the management team. In essence, the team must be able to </a:t>
            </a:r>
            <a:r>
              <a:rPr lang="en-US" dirty="0">
                <a:solidFill>
                  <a:srgbClr val="002060"/>
                </a:solidFill>
              </a:rPr>
              <a:t>accomplish three functions:-</a:t>
            </a:r>
          </a:p>
          <a:p>
            <a:pPr lvl="1">
              <a:buFont typeface="Wingdings" pitchFamily="2" charset="2"/>
              <a:buChar char="§"/>
            </a:pPr>
            <a:r>
              <a:rPr lang="en-US" dirty="0"/>
              <a:t>Execute the business plan;</a:t>
            </a:r>
          </a:p>
          <a:p>
            <a:pPr lvl="1">
              <a:buFont typeface="Wingdings" pitchFamily="2" charset="2"/>
              <a:buChar char="§"/>
            </a:pPr>
            <a:r>
              <a:rPr lang="en-US" dirty="0"/>
              <a:t>Identify fundamental changes in the business as they occur; and</a:t>
            </a:r>
          </a:p>
          <a:p>
            <a:pPr lvl="1">
              <a:buFont typeface="Wingdings" pitchFamily="2" charset="2"/>
              <a:buChar char="§"/>
            </a:pPr>
            <a:r>
              <a:rPr lang="en-US" dirty="0"/>
              <a:t>Make adjustments to the plan based on changes in the environment and market that will maintain profitability.</a:t>
            </a:r>
          </a:p>
          <a:p>
            <a:pPr marL="400050" lvl="1" indent="0">
              <a:buFont typeface="Wingdings" pitchFamily="2" charset="2"/>
              <a:buChar char="§"/>
            </a:pPr>
            <a:endParaRPr lang="en-US" dirty="0"/>
          </a:p>
        </p:txBody>
      </p:sp>
    </p:spTree>
    <p:extLst>
      <p:ext uri="{BB962C8B-B14F-4D97-AF65-F5344CB8AC3E}">
        <p14:creationId xmlns:p14="http://schemas.microsoft.com/office/powerpoint/2010/main" val="356471793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normAutofit fontScale="90000"/>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304800" y="533400"/>
            <a:ext cx="8534400" cy="6324600"/>
          </a:xfrm>
        </p:spPr>
        <p:txBody>
          <a:bodyPr>
            <a:normAutofit/>
          </a:bodyPr>
          <a:lstStyle/>
          <a:p>
            <a:pPr algn="just"/>
            <a:r>
              <a:rPr lang="en-US" dirty="0" smtClean="0"/>
              <a:t>Important </a:t>
            </a:r>
            <a:r>
              <a:rPr lang="en-US" dirty="0"/>
              <a:t>considerations and strategies in recruiting and assembling an effective team and </a:t>
            </a:r>
            <a:r>
              <a:rPr lang="en-US" dirty="0" smtClean="0"/>
              <a:t> creating </a:t>
            </a:r>
            <a:r>
              <a:rPr lang="en-US" dirty="0"/>
              <a:t>an effective and positive organization culture</a:t>
            </a:r>
            <a:r>
              <a:rPr lang="en-US" dirty="0" smtClean="0"/>
              <a:t>.</a:t>
            </a:r>
          </a:p>
          <a:p>
            <a:pPr marL="914400" lvl="1" indent="-514350" algn="just">
              <a:buFont typeface="+mj-lt"/>
              <a:buAutoNum type="arabicPeriod"/>
            </a:pPr>
            <a:r>
              <a:rPr lang="en-US" dirty="0" smtClean="0"/>
              <a:t>The </a:t>
            </a:r>
            <a:r>
              <a:rPr lang="en-US" dirty="0"/>
              <a:t>entrepreneur’s desired culture must </a:t>
            </a:r>
            <a:r>
              <a:rPr lang="en-US" dirty="0">
                <a:solidFill>
                  <a:srgbClr val="002060"/>
                </a:solidFill>
              </a:rPr>
              <a:t>match the business strategy outlined in the business plan</a:t>
            </a:r>
            <a:r>
              <a:rPr lang="en-US" dirty="0" smtClean="0">
                <a:solidFill>
                  <a:srgbClr val="002060"/>
                </a:solidFill>
              </a:rPr>
              <a:t>.</a:t>
            </a:r>
          </a:p>
          <a:p>
            <a:pPr marL="914400" lvl="1" indent="-514350" algn="just">
              <a:buFont typeface="+mj-lt"/>
              <a:buAutoNum type="arabicPeriod"/>
            </a:pPr>
            <a:r>
              <a:rPr lang="en-US" dirty="0" smtClean="0"/>
              <a:t>The </a:t>
            </a:r>
            <a:r>
              <a:rPr lang="en-US" dirty="0"/>
              <a:t>leader of the organization must </a:t>
            </a:r>
            <a:r>
              <a:rPr lang="en-US" dirty="0">
                <a:solidFill>
                  <a:srgbClr val="002060"/>
                </a:solidFill>
              </a:rPr>
              <a:t>create a workplace where employees are motivated and rewarded for good </a:t>
            </a:r>
            <a:r>
              <a:rPr lang="en-US" dirty="0" smtClean="0">
                <a:solidFill>
                  <a:srgbClr val="002060"/>
                </a:solidFill>
              </a:rPr>
              <a:t>work.</a:t>
            </a:r>
            <a:endParaRPr lang="en-US" dirty="0">
              <a:solidFill>
                <a:srgbClr val="002060"/>
              </a:solidFill>
            </a:endParaRPr>
          </a:p>
          <a:p>
            <a:pPr marL="914400" lvl="1" indent="-514350" algn="just">
              <a:buFont typeface="+mj-lt"/>
              <a:buAutoNum type="arabicPeriod"/>
            </a:pPr>
            <a:r>
              <a:rPr lang="en-US" dirty="0" smtClean="0"/>
              <a:t>The </a:t>
            </a:r>
            <a:r>
              <a:rPr lang="en-US" dirty="0"/>
              <a:t>entrepreneur should be </a:t>
            </a:r>
            <a:r>
              <a:rPr lang="en-US" dirty="0">
                <a:solidFill>
                  <a:srgbClr val="002060"/>
                </a:solidFill>
              </a:rPr>
              <a:t>flexible enough</a:t>
            </a:r>
            <a:r>
              <a:rPr lang="en-US" dirty="0">
                <a:solidFill>
                  <a:srgbClr val="92D050"/>
                </a:solidFill>
              </a:rPr>
              <a:t> </a:t>
            </a:r>
            <a:r>
              <a:rPr lang="en-US" dirty="0"/>
              <a:t>to try different things</a:t>
            </a:r>
            <a:r>
              <a:rPr lang="en-US" dirty="0" smtClean="0"/>
              <a:t>.</a:t>
            </a:r>
            <a:endParaRPr lang="en-US" dirty="0">
              <a:solidFill>
                <a:srgbClr val="92D050"/>
              </a:solidFill>
            </a:endParaRPr>
          </a:p>
        </p:txBody>
      </p:sp>
    </p:spTree>
    <p:extLst>
      <p:ext uri="{BB962C8B-B14F-4D97-AF65-F5344CB8AC3E}">
        <p14:creationId xmlns:p14="http://schemas.microsoft.com/office/powerpoint/2010/main" val="332968637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rmAutofit fontScale="90000"/>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304800" y="762000"/>
            <a:ext cx="8305800" cy="6096000"/>
          </a:xfrm>
        </p:spPr>
        <p:txBody>
          <a:bodyPr>
            <a:normAutofit lnSpcReduction="10000"/>
          </a:bodyPr>
          <a:lstStyle/>
          <a:p>
            <a:pPr marL="514350" lvl="0" indent="-514350" algn="just">
              <a:buFont typeface="+mj-lt"/>
              <a:buAutoNum type="arabicPeriod" startAt="4"/>
            </a:pPr>
            <a:r>
              <a:rPr lang="en-US" dirty="0" smtClean="0"/>
              <a:t>It is </a:t>
            </a:r>
            <a:r>
              <a:rPr lang="en-US" dirty="0"/>
              <a:t>necessary to </a:t>
            </a:r>
            <a:r>
              <a:rPr lang="en-US" dirty="0">
                <a:solidFill>
                  <a:srgbClr val="002060"/>
                </a:solidFill>
              </a:rPr>
              <a:t>spend extra time in the hiring process. </a:t>
            </a:r>
            <a:r>
              <a:rPr lang="en-US" dirty="0" smtClean="0">
                <a:solidFill>
                  <a:srgbClr val="FFC000"/>
                </a:solidFill>
                <a:effectLst>
                  <a:outerShdw blurRad="38100" dist="38100" dir="2700000" algn="tl">
                    <a:srgbClr val="000000">
                      <a:alpha val="43137"/>
                    </a:srgbClr>
                  </a:outerShdw>
                </a:effectLst>
              </a:rPr>
              <a:t>  </a:t>
            </a:r>
          </a:p>
          <a:p>
            <a:pPr marL="514350" lvl="0" indent="-514350" algn="just">
              <a:buFont typeface="+mj-lt"/>
              <a:buAutoNum type="arabicPeriod" startAt="4"/>
            </a:pPr>
            <a:endParaRPr lang="en-US" dirty="0">
              <a:solidFill>
                <a:srgbClr val="FFC000"/>
              </a:solidFill>
              <a:effectLst>
                <a:outerShdw blurRad="38100" dist="38100" dir="2700000" algn="tl">
                  <a:srgbClr val="000000">
                    <a:alpha val="43137"/>
                  </a:srgbClr>
                </a:outerShdw>
              </a:effectLst>
            </a:endParaRPr>
          </a:p>
          <a:p>
            <a:pPr marL="514350" indent="-514350" algn="just">
              <a:buFont typeface="+mj-lt"/>
              <a:buAutoNum type="arabicPeriod" startAt="4"/>
            </a:pPr>
            <a:r>
              <a:rPr lang="en-US" dirty="0" smtClean="0"/>
              <a:t>The </a:t>
            </a:r>
            <a:r>
              <a:rPr lang="en-US" dirty="0"/>
              <a:t>entrepreneur needs to understand the </a:t>
            </a:r>
            <a:r>
              <a:rPr lang="en-US" dirty="0">
                <a:solidFill>
                  <a:srgbClr val="002060"/>
                </a:solidFill>
              </a:rPr>
              <a:t>significance of </a:t>
            </a:r>
            <a:r>
              <a:rPr lang="en-US" dirty="0" smtClean="0">
                <a:solidFill>
                  <a:srgbClr val="002060"/>
                </a:solidFill>
              </a:rPr>
              <a:t>leadership </a:t>
            </a:r>
            <a:r>
              <a:rPr lang="en-US" dirty="0"/>
              <a:t>in the organization. </a:t>
            </a:r>
          </a:p>
          <a:p>
            <a:pPr marL="0" indent="0" algn="just">
              <a:buNone/>
            </a:pPr>
            <a:r>
              <a:rPr lang="en-US" i="1" dirty="0" smtClean="0">
                <a:solidFill>
                  <a:srgbClr val="002060"/>
                </a:solidFill>
              </a:rPr>
              <a:t>Generally, </a:t>
            </a:r>
            <a:r>
              <a:rPr lang="en-US" i="1" dirty="0"/>
              <a:t>finding the most effective team and creating a positive organization culture is a challenge for the entrepreneur but is just as critical as having an innovative, marketable product. It is an important ingredient in an organization’s success.</a:t>
            </a:r>
            <a:endParaRPr lang="en-US" dirty="0"/>
          </a:p>
          <a:p>
            <a:pPr marL="0" indent="0">
              <a:buNone/>
            </a:pPr>
            <a:endParaRPr lang="en-US" dirty="0"/>
          </a:p>
        </p:txBody>
      </p:sp>
    </p:spTree>
    <p:extLst>
      <p:ext uri="{BB962C8B-B14F-4D97-AF65-F5344CB8AC3E}">
        <p14:creationId xmlns:p14="http://schemas.microsoft.com/office/powerpoint/2010/main" val="1793250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thanks"/>
          <p:cNvPicPr>
            <a:picLocks noGrp="1" noChangeAspect="1" noChangeArrowheads="1"/>
          </p:cNvPicPr>
          <p:nvPr>
            <p:ph idx="1"/>
          </p:nvPr>
        </p:nvPicPr>
        <p:blipFill>
          <a:blip r:embed="rId2"/>
          <a:srcRect/>
          <a:stretch>
            <a:fillRect/>
          </a:stretch>
        </p:blipFill>
        <p:spPr bwMode="auto">
          <a:xfrm>
            <a:off x="609600" y="685800"/>
            <a:ext cx="8001000" cy="5257799"/>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993</TotalTime>
  <Words>1682</Words>
  <Application>Microsoft Office PowerPoint</Application>
  <PresentationFormat>On-screen Show (4:3)</PresentationFormat>
  <Paragraphs>229</Paragraphs>
  <Slides>37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Cambria</vt:lpstr>
      <vt:lpstr>Comic Sans MS</vt:lpstr>
      <vt:lpstr>Times New Roman</vt:lpstr>
      <vt:lpstr>Wingdings</vt:lpstr>
      <vt:lpstr>Office Theme</vt:lpstr>
      <vt:lpstr>CHAPTER THREE</vt:lpstr>
      <vt:lpstr>   INTRODUCTION  </vt:lpstr>
      <vt:lpstr> 3.2 The Concept of Small Business Development </vt:lpstr>
      <vt:lpstr>Con’t…</vt:lpstr>
      <vt:lpstr> 3.3  Forms of Business organizations  </vt:lpstr>
      <vt:lpstr>Description of Legal Forms of Business</vt:lpstr>
      <vt:lpstr>PowerPoint Presentation</vt:lpstr>
      <vt:lpstr>PowerPoint Presentation</vt:lpstr>
      <vt:lpstr>3.4 Definition and Role/Importance of SMEs in Developing Countries </vt:lpstr>
      <vt:lpstr>Con’t…</vt:lpstr>
      <vt:lpstr> 2. Economic/control criteria approach. </vt:lpstr>
      <vt:lpstr> 3.4.2 Role/Importance of MSEs in Developing Countries (Reading Assignment) </vt:lpstr>
      <vt:lpstr>Con’t…</vt:lpstr>
      <vt:lpstr> 3.5 Setting up Small Scale Business </vt:lpstr>
      <vt:lpstr>Environmental Analysis</vt:lpstr>
      <vt:lpstr>  </vt:lpstr>
      <vt:lpstr>con’t…</vt:lpstr>
      <vt:lpstr> 3.6 Small Business Failure and Success Factors </vt:lpstr>
      <vt:lpstr> Causes of Business Failure </vt:lpstr>
      <vt:lpstr>PowerPoint Presentation</vt:lpstr>
      <vt:lpstr>Con’t…</vt:lpstr>
      <vt:lpstr> Business Termination VS Failure </vt:lpstr>
      <vt:lpstr>Mistakes Leading to Business Failure</vt:lpstr>
      <vt:lpstr> 3.6.2 Small Business Success Factors </vt:lpstr>
      <vt:lpstr>PowerPoint Presentation</vt:lpstr>
      <vt:lpstr>PowerPoint Presentation</vt:lpstr>
      <vt:lpstr>   </vt:lpstr>
      <vt:lpstr>  Levels of MSEs in Ethiopia    </vt:lpstr>
      <vt:lpstr>   3.8 Main Supporting Packages for MSEs Development in Ethiopia (Reading Assignment) </vt:lpstr>
      <vt:lpstr> 3.9 Problems of Small Scale Business in Ethiopia </vt:lpstr>
      <vt:lpstr>Con’t…</vt:lpstr>
      <vt:lpstr>3.10 Organizational Structure and Entrepreneurial Team Formation</vt:lpstr>
      <vt:lpstr>  3.10.2 Designing the Organization</vt:lpstr>
      <vt:lpstr> 3.9.3 Building the Management Team and a Successful Organization Culture </vt:lpstr>
      <vt:lpstr>Con’t…</vt:lpstr>
      <vt:lpstr>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Windows User</cp:lastModifiedBy>
  <cp:revision>80</cp:revision>
  <dcterms:created xsi:type="dcterms:W3CDTF">2021-02-25T20:15:17Z</dcterms:created>
  <dcterms:modified xsi:type="dcterms:W3CDTF">2025-04-02T16:45:31Z</dcterms:modified>
</cp:coreProperties>
</file>