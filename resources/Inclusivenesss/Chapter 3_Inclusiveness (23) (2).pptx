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288" r:id="rId3"/>
    <p:sldId id="257" r:id="rId4"/>
    <p:sldId id="299" r:id="rId5"/>
    <p:sldId id="294" r:id="rId6"/>
    <p:sldId id="295" r:id="rId7"/>
    <p:sldId id="259" r:id="rId8"/>
    <p:sldId id="260" r:id="rId9"/>
    <p:sldId id="292" r:id="rId10"/>
    <p:sldId id="296" r:id="rId11"/>
    <p:sldId id="261" r:id="rId12"/>
    <p:sldId id="293" r:id="rId13"/>
    <p:sldId id="297" r:id="rId14"/>
    <p:sldId id="262" r:id="rId15"/>
    <p:sldId id="263" r:id="rId16"/>
    <p:sldId id="264" r:id="rId17"/>
    <p:sldId id="298" r:id="rId18"/>
    <p:sldId id="265" r:id="rId19"/>
    <p:sldId id="266" r:id="rId20"/>
    <p:sldId id="267" r:id="rId21"/>
    <p:sldId id="268" r:id="rId22"/>
    <p:sldId id="269" r:id="rId23"/>
    <p:sldId id="270" r:id="rId24"/>
    <p:sldId id="286" r:id="rId25"/>
    <p:sldId id="287"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4" d="100"/>
          <a:sy n="74" d="100"/>
        </p:scale>
        <p:origin x="-1200"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A714B4F3-122E-4015-9F59-A4B2CE9A0873}" type="datetimeFigureOut">
              <a:rPr lang="en-US" smtClean="0"/>
              <a:t>3/24/2026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DCD21E92-C94B-47EF-B2B6-7010B55D3AB4}" type="slidenum">
              <a:rPr lang="en-US" smtClean="0"/>
              <a:t>‹#›</a:t>
            </a:fld>
            <a:endParaRPr lang="en-US"/>
          </a:p>
        </p:txBody>
      </p:sp>
    </p:spTree>
    <p:extLst>
      <p:ext uri="{BB962C8B-B14F-4D97-AF65-F5344CB8AC3E}">
        <p14:creationId xmlns:p14="http://schemas.microsoft.com/office/powerpoint/2010/main" val="3848867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a:buFont typeface="Arial" pitchFamily="34" charset="0"/>
              <a:buChar char="•"/>
            </a:pPr>
            <a:r>
              <a:rPr lang="en-US" sz="1300" dirty="0"/>
              <a:t>Input / Output </a:t>
            </a:r>
            <a:r>
              <a:rPr lang="en-US" sz="1300" b="1" dirty="0">
                <a:solidFill>
                  <a:srgbClr val="FF0000"/>
                </a:solidFill>
              </a:rPr>
              <a:t>(I/O</a:t>
            </a:r>
            <a:r>
              <a:rPr lang="en-US" sz="1300" b="1" dirty="0"/>
              <a:t>)</a:t>
            </a:r>
            <a:endParaRPr lang="en-US" b="1" dirty="0"/>
          </a:p>
        </p:txBody>
      </p:sp>
      <p:sp>
        <p:nvSpPr>
          <p:cNvPr id="4" name="Slide Number Placeholder 3"/>
          <p:cNvSpPr>
            <a:spLocks noGrp="1"/>
          </p:cNvSpPr>
          <p:nvPr>
            <p:ph type="sldNum" sz="quarter" idx="10"/>
          </p:nvPr>
        </p:nvSpPr>
        <p:spPr/>
        <p:txBody>
          <a:bodyPr/>
          <a:lstStyle/>
          <a:p>
            <a:fld id="{DCD21E92-C94B-47EF-B2B6-7010B55D3AB4}" type="slidenum">
              <a:rPr lang="en-US" smtClean="0"/>
              <a:t>32</a:t>
            </a:fld>
            <a:endParaRPr lang="en-US"/>
          </a:p>
        </p:txBody>
      </p:sp>
    </p:spTree>
    <p:extLst>
      <p:ext uri="{BB962C8B-B14F-4D97-AF65-F5344CB8AC3E}">
        <p14:creationId xmlns:p14="http://schemas.microsoft.com/office/powerpoint/2010/main" val="872320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F3ADFA9-18F7-498F-A87A-DFE2D6D41FDF}" type="datetime1">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344CB4-3587-4451-B5F6-521D7FDB45C7}" type="slidenum">
              <a:rPr lang="en-US" smtClean="0"/>
              <a:t>‹#›</a:t>
            </a:fld>
            <a:endParaRPr lang="en-US"/>
          </a:p>
        </p:txBody>
      </p:sp>
    </p:spTree>
    <p:extLst>
      <p:ext uri="{BB962C8B-B14F-4D97-AF65-F5344CB8AC3E}">
        <p14:creationId xmlns:p14="http://schemas.microsoft.com/office/powerpoint/2010/main" val="1105015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06FBE0-3C6C-4A18-BD73-43AAD93960CB}" type="datetime1">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344CB4-3587-4451-B5F6-521D7FDB45C7}" type="slidenum">
              <a:rPr lang="en-US" smtClean="0"/>
              <a:t>‹#›</a:t>
            </a:fld>
            <a:endParaRPr lang="en-US"/>
          </a:p>
        </p:txBody>
      </p:sp>
    </p:spTree>
    <p:extLst>
      <p:ext uri="{BB962C8B-B14F-4D97-AF65-F5344CB8AC3E}">
        <p14:creationId xmlns:p14="http://schemas.microsoft.com/office/powerpoint/2010/main" val="157810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4D8931-42C5-407F-8232-B929CB91B870}" type="datetime1">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344CB4-3587-4451-B5F6-521D7FDB45C7}" type="slidenum">
              <a:rPr lang="en-US" smtClean="0"/>
              <a:t>‹#›</a:t>
            </a:fld>
            <a:endParaRPr lang="en-US"/>
          </a:p>
        </p:txBody>
      </p:sp>
    </p:spTree>
    <p:extLst>
      <p:ext uri="{BB962C8B-B14F-4D97-AF65-F5344CB8AC3E}">
        <p14:creationId xmlns:p14="http://schemas.microsoft.com/office/powerpoint/2010/main" val="3997025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9E66123-9B3A-46D3-9780-9D45FE554BD6}" type="datetime1">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344CB4-3587-4451-B5F6-521D7FDB45C7}" type="slidenum">
              <a:rPr lang="en-US" smtClean="0"/>
              <a:t>‹#›</a:t>
            </a:fld>
            <a:endParaRPr lang="en-US"/>
          </a:p>
        </p:txBody>
      </p:sp>
    </p:spTree>
    <p:extLst>
      <p:ext uri="{BB962C8B-B14F-4D97-AF65-F5344CB8AC3E}">
        <p14:creationId xmlns:p14="http://schemas.microsoft.com/office/powerpoint/2010/main" val="35255766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945F345-1A60-4055-BB74-72F6E087E091}" type="datetime1">
              <a:rPr lang="en-US" smtClean="0"/>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344CB4-3587-4451-B5F6-521D7FDB45C7}" type="slidenum">
              <a:rPr lang="en-US" smtClean="0"/>
              <a:t>‹#›</a:t>
            </a:fld>
            <a:endParaRPr lang="en-US"/>
          </a:p>
        </p:txBody>
      </p:sp>
    </p:spTree>
    <p:extLst>
      <p:ext uri="{BB962C8B-B14F-4D97-AF65-F5344CB8AC3E}">
        <p14:creationId xmlns:p14="http://schemas.microsoft.com/office/powerpoint/2010/main" val="3864052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6ADCE74-0ACD-4D25-A722-C7D5B83D139E}" type="datetime1">
              <a:rPr lang="en-US" smtClean="0"/>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344CB4-3587-4451-B5F6-521D7FDB45C7}" type="slidenum">
              <a:rPr lang="en-US" smtClean="0"/>
              <a:t>‹#›</a:t>
            </a:fld>
            <a:endParaRPr lang="en-US"/>
          </a:p>
        </p:txBody>
      </p:sp>
    </p:spTree>
    <p:extLst>
      <p:ext uri="{BB962C8B-B14F-4D97-AF65-F5344CB8AC3E}">
        <p14:creationId xmlns:p14="http://schemas.microsoft.com/office/powerpoint/2010/main" val="173849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BD3DB8-4A8B-47A4-B821-EB75F644CA6A}" type="datetime1">
              <a:rPr lang="en-US" smtClean="0"/>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9344CB4-3587-4451-B5F6-521D7FDB45C7}" type="slidenum">
              <a:rPr lang="en-US" smtClean="0"/>
              <a:t>‹#›</a:t>
            </a:fld>
            <a:endParaRPr lang="en-US"/>
          </a:p>
        </p:txBody>
      </p:sp>
    </p:spTree>
    <p:extLst>
      <p:ext uri="{BB962C8B-B14F-4D97-AF65-F5344CB8AC3E}">
        <p14:creationId xmlns:p14="http://schemas.microsoft.com/office/powerpoint/2010/main" val="669984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B170BD5-35C3-41A2-A695-CA1E191813D6}" type="datetime1">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344CB4-3587-4451-B5F6-521D7FDB45C7}" type="slidenum">
              <a:rPr lang="en-US" smtClean="0"/>
              <a:t>‹#›</a:t>
            </a:fld>
            <a:endParaRPr lang="en-US"/>
          </a:p>
        </p:txBody>
      </p:sp>
    </p:spTree>
    <p:extLst>
      <p:ext uri="{BB962C8B-B14F-4D97-AF65-F5344CB8AC3E}">
        <p14:creationId xmlns:p14="http://schemas.microsoft.com/office/powerpoint/2010/main" val="193234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BE6F4A-4B90-4D69-A83D-444501CDA08A}" type="datetime1">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344CB4-3587-4451-B5F6-521D7FDB45C7}" type="slidenum">
              <a:rPr lang="en-US" smtClean="0"/>
              <a:t>‹#›</a:t>
            </a:fld>
            <a:endParaRPr lang="en-US"/>
          </a:p>
        </p:txBody>
      </p:sp>
    </p:spTree>
    <p:extLst>
      <p:ext uri="{BB962C8B-B14F-4D97-AF65-F5344CB8AC3E}">
        <p14:creationId xmlns:p14="http://schemas.microsoft.com/office/powerpoint/2010/main" val="31337964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668D476-7E94-46B7-87D8-3E136161771D}" type="datetime1">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344CB4-3587-4451-B5F6-521D7FDB45C7}" type="slidenum">
              <a:rPr lang="en-US" smtClean="0"/>
              <a:t>‹#›</a:t>
            </a:fld>
            <a:endParaRPr lang="en-US"/>
          </a:p>
        </p:txBody>
      </p:sp>
    </p:spTree>
    <p:extLst>
      <p:ext uri="{BB962C8B-B14F-4D97-AF65-F5344CB8AC3E}">
        <p14:creationId xmlns:p14="http://schemas.microsoft.com/office/powerpoint/2010/main" val="1260732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79A882-FBFD-4569-937D-7CDE08BAFD86}" type="datetime1">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344CB4-3587-4451-B5F6-521D7FDB45C7}" type="slidenum">
              <a:rPr lang="en-US" smtClean="0"/>
              <a:t>‹#›</a:t>
            </a:fld>
            <a:endParaRPr lang="en-US"/>
          </a:p>
        </p:txBody>
      </p:sp>
    </p:spTree>
    <p:extLst>
      <p:ext uri="{BB962C8B-B14F-4D97-AF65-F5344CB8AC3E}">
        <p14:creationId xmlns:p14="http://schemas.microsoft.com/office/powerpoint/2010/main" val="163040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7240BD-40B7-455C-850A-6CC5276E3D27}" type="datetime1">
              <a:rPr lang="en-US" smtClean="0"/>
              <a:t>3/24/2026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344CB4-3587-4451-B5F6-521D7FDB45C7}" type="slidenum">
              <a:rPr lang="en-US" smtClean="0"/>
              <a:t>‹#›</a:t>
            </a:fld>
            <a:endParaRPr lang="en-US"/>
          </a:p>
        </p:txBody>
      </p:sp>
    </p:spTree>
    <p:extLst>
      <p:ext uri="{BB962C8B-B14F-4D97-AF65-F5344CB8AC3E}">
        <p14:creationId xmlns:p14="http://schemas.microsoft.com/office/powerpoint/2010/main" val="3126934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457200"/>
            <a:ext cx="8229600" cy="3505200"/>
          </a:xfrm>
          <a:blipFill>
            <a:blip r:embed="rId2"/>
            <a:tile tx="0" ty="0" sx="100000" sy="100000" flip="none" algn="tl"/>
          </a:blipFill>
        </p:spPr>
        <p:txBody>
          <a:bodyPr>
            <a:normAutofit fontScale="90000"/>
          </a:bodyPr>
          <a:lstStyle/>
          <a:p>
            <a:r>
              <a:rPr lang="en-US" sz="6000" b="1" dirty="0">
                <a:latin typeface="Times New Roman" pitchFamily="18" charset="0"/>
                <a:cs typeface="Times New Roman" pitchFamily="18" charset="0"/>
              </a:rPr>
              <a:t>Chapter 3</a:t>
            </a:r>
            <a:r>
              <a:rPr lang="en-US" sz="4900" b="1" dirty="0">
                <a:latin typeface="Times New Roman" pitchFamily="18" charset="0"/>
                <a:cs typeface="Times New Roman" pitchFamily="18" charset="0"/>
              </a:rPr>
              <a:t> </a:t>
            </a:r>
            <a:r>
              <a:rPr lang="en-US" b="1" dirty="0">
                <a:latin typeface="Times New Roman" pitchFamily="18" charset="0"/>
                <a:cs typeface="Times New Roman" pitchFamily="18" charset="0"/>
              </a:rPr>
              <a:t/>
            </a:r>
            <a:br>
              <a:rPr lang="en-US" b="1" dirty="0">
                <a:latin typeface="Times New Roman" pitchFamily="18" charset="0"/>
                <a:cs typeface="Times New Roman" pitchFamily="18" charset="0"/>
              </a:rPr>
            </a:br>
            <a:r>
              <a:rPr lang="en-US" sz="6600" b="1" dirty="0">
                <a:latin typeface="Times New Roman" pitchFamily="18" charset="0"/>
                <a:cs typeface="Times New Roman" pitchFamily="18" charset="0"/>
              </a:rPr>
              <a:t>Identification and Differentiated Services </a:t>
            </a:r>
            <a:endParaRPr lang="en-US" sz="6600" dirty="0">
              <a:latin typeface="Times New Roman" pitchFamily="18" charset="0"/>
              <a:cs typeface="Times New Roman" pitchFamily="18" charset="0"/>
            </a:endParaRPr>
          </a:p>
        </p:txBody>
      </p:sp>
      <p:sp>
        <p:nvSpPr>
          <p:cNvPr id="3" name="Subtitle 2"/>
          <p:cNvSpPr>
            <a:spLocks noGrp="1"/>
          </p:cNvSpPr>
          <p:nvPr>
            <p:ph type="subTitle" idx="1"/>
          </p:nvPr>
        </p:nvSpPr>
        <p:spPr>
          <a:xfrm>
            <a:off x="381000" y="4800600"/>
            <a:ext cx="8229600" cy="1905000"/>
          </a:xfrm>
          <a:blipFill>
            <a:blip r:embed="rId3"/>
            <a:tile tx="0" ty="0" sx="100000" sy="100000" flip="none" algn="tl"/>
          </a:blipFill>
        </p:spPr>
        <p:txBody>
          <a:bodyPr>
            <a:noAutofit/>
          </a:bodyPr>
          <a:lstStyle/>
          <a:p>
            <a:r>
              <a:rPr lang="en-US" sz="3600" b="1" dirty="0">
                <a:solidFill>
                  <a:srgbClr val="7030A0"/>
                </a:solidFill>
                <a:latin typeface="Times New Roman" pitchFamily="18" charset="0"/>
                <a:cs typeface="Times New Roman" pitchFamily="18" charset="0"/>
              </a:rPr>
              <a:t>Instructor: </a:t>
            </a:r>
            <a:r>
              <a:rPr lang="en-US" sz="3600" b="1" dirty="0" err="1">
                <a:solidFill>
                  <a:srgbClr val="7030A0"/>
                </a:solidFill>
                <a:latin typeface="Times New Roman" pitchFamily="18" charset="0"/>
                <a:cs typeface="Times New Roman" pitchFamily="18" charset="0"/>
              </a:rPr>
              <a:t>Gashaw</a:t>
            </a:r>
            <a:r>
              <a:rPr lang="en-US" sz="3600" b="1" dirty="0">
                <a:solidFill>
                  <a:srgbClr val="7030A0"/>
                </a:solidFill>
                <a:latin typeface="Times New Roman" pitchFamily="18" charset="0"/>
                <a:cs typeface="Times New Roman" pitchFamily="18" charset="0"/>
              </a:rPr>
              <a:t> </a:t>
            </a:r>
            <a:r>
              <a:rPr lang="en-US" sz="3600" b="1" dirty="0" err="1">
                <a:solidFill>
                  <a:srgbClr val="7030A0"/>
                </a:solidFill>
                <a:latin typeface="Times New Roman" pitchFamily="18" charset="0"/>
                <a:cs typeface="Times New Roman" pitchFamily="18" charset="0"/>
              </a:rPr>
              <a:t>Tesfa</a:t>
            </a:r>
            <a:endParaRPr lang="en-US" sz="3600" b="1" dirty="0">
              <a:solidFill>
                <a:srgbClr val="7030A0"/>
              </a:solidFill>
              <a:latin typeface="Times New Roman" pitchFamily="18" charset="0"/>
              <a:cs typeface="Times New Roman" pitchFamily="18" charset="0"/>
            </a:endParaRPr>
          </a:p>
          <a:p>
            <a:r>
              <a:rPr lang="en-US" sz="3600" b="1" dirty="0">
                <a:solidFill>
                  <a:srgbClr val="7030A0"/>
                </a:solidFill>
                <a:latin typeface="Times New Roman" pitchFamily="18" charset="0"/>
                <a:cs typeface="Times New Roman" pitchFamily="18" charset="0"/>
              </a:rPr>
              <a:t>AASTU</a:t>
            </a:r>
          </a:p>
          <a:p>
            <a:r>
              <a:rPr lang="en-US" sz="3600" b="1" dirty="0">
                <a:solidFill>
                  <a:srgbClr val="7030A0"/>
                </a:solidFill>
                <a:latin typeface="Times New Roman" pitchFamily="18" charset="0"/>
                <a:cs typeface="Times New Roman" pitchFamily="18" charset="0"/>
              </a:rPr>
              <a:t>August 2026</a:t>
            </a:r>
          </a:p>
        </p:txBody>
      </p:sp>
      <p:sp>
        <p:nvSpPr>
          <p:cNvPr id="4" name="Slide Number Placeholder 3"/>
          <p:cNvSpPr>
            <a:spLocks noGrp="1"/>
          </p:cNvSpPr>
          <p:nvPr>
            <p:ph type="sldNum" sz="quarter" idx="12"/>
          </p:nvPr>
        </p:nvSpPr>
        <p:spPr/>
        <p:txBody>
          <a:bodyPr/>
          <a:lstStyle/>
          <a:p>
            <a:fld id="{29344CB4-3587-4451-B5F6-521D7FDB45C7}" type="slidenum">
              <a:rPr lang="en-US" smtClean="0"/>
              <a:t>1</a:t>
            </a:fld>
            <a:endParaRPr lang="en-US"/>
          </a:p>
        </p:txBody>
      </p:sp>
    </p:spTree>
    <p:extLst>
      <p:ext uri="{BB962C8B-B14F-4D97-AF65-F5344CB8AC3E}">
        <p14:creationId xmlns:p14="http://schemas.microsoft.com/office/powerpoint/2010/main" val="4540498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417638"/>
          </a:xfrm>
          <a:solidFill>
            <a:schemeClr val="accent6">
              <a:lumMod val="40000"/>
              <a:lumOff val="60000"/>
            </a:schemeClr>
          </a:solidFill>
        </p:spPr>
        <p:txBody>
          <a:bodyPr/>
          <a:lstStyle/>
          <a:p>
            <a:r>
              <a:rPr lang="en-US" b="1" dirty="0">
                <a:latin typeface="Times New Roman" pitchFamily="18" charset="0"/>
                <a:cs typeface="Times New Roman" pitchFamily="18" charset="0"/>
              </a:rPr>
              <a:t>Overview</a:t>
            </a:r>
          </a:p>
        </p:txBody>
      </p:sp>
      <p:sp>
        <p:nvSpPr>
          <p:cNvPr id="3" name="Content Placeholder 2"/>
          <p:cNvSpPr>
            <a:spLocks noGrp="1"/>
          </p:cNvSpPr>
          <p:nvPr>
            <p:ph idx="1"/>
          </p:nvPr>
        </p:nvSpPr>
        <p:spPr>
          <a:xfrm>
            <a:off x="304800" y="1600200"/>
            <a:ext cx="8686800" cy="5029200"/>
          </a:xfrm>
        </p:spPr>
        <p:txBody>
          <a:bodyPr/>
          <a:lstStyle/>
          <a:p>
            <a:r>
              <a:rPr lang="en-US" dirty="0">
                <a:latin typeface="Times New Roman" pitchFamily="18" charset="0"/>
                <a:cs typeface="Times New Roman" pitchFamily="18" charset="0"/>
              </a:rPr>
              <a:t>This chapter discusses inclusiveness from different perspectives such as; </a:t>
            </a:r>
          </a:p>
          <a:p>
            <a:pPr lvl="1"/>
            <a:r>
              <a:rPr lang="en-US" b="1" dirty="0">
                <a:latin typeface="Times New Roman" pitchFamily="18" charset="0"/>
                <a:cs typeface="Times New Roman" pitchFamily="18" charset="0"/>
              </a:rPr>
              <a:t>health services </a:t>
            </a:r>
            <a:r>
              <a:rPr lang="en-US" dirty="0">
                <a:latin typeface="Times New Roman" pitchFamily="18" charset="0"/>
                <a:cs typeface="Times New Roman" pitchFamily="18" charset="0"/>
              </a:rPr>
              <a:t>provision, </a:t>
            </a:r>
          </a:p>
          <a:p>
            <a:pPr lvl="1"/>
            <a:r>
              <a:rPr lang="en-US" dirty="0">
                <a:latin typeface="Times New Roman" pitchFamily="18" charset="0"/>
                <a:cs typeface="Times New Roman" pitchFamily="18" charset="0"/>
              </a:rPr>
              <a:t>accessibility of </a:t>
            </a:r>
            <a:r>
              <a:rPr lang="en-US" b="1" dirty="0">
                <a:latin typeface="Times New Roman" pitchFamily="18" charset="0"/>
                <a:cs typeface="Times New Roman" pitchFamily="18" charset="0"/>
              </a:rPr>
              <a:t>technologies</a:t>
            </a:r>
            <a:r>
              <a:rPr lang="en-US" dirty="0">
                <a:latin typeface="Times New Roman" pitchFamily="18" charset="0"/>
                <a:cs typeface="Times New Roman" pitchFamily="18" charset="0"/>
              </a:rPr>
              <a:t>, </a:t>
            </a:r>
          </a:p>
          <a:p>
            <a:pPr lvl="1"/>
            <a:r>
              <a:rPr lang="en-US" b="1" dirty="0">
                <a:latin typeface="Times New Roman" pitchFamily="18" charset="0"/>
                <a:cs typeface="Times New Roman" pitchFamily="18" charset="0"/>
              </a:rPr>
              <a:t>employment </a:t>
            </a:r>
            <a:r>
              <a:rPr lang="en-US" dirty="0">
                <a:latin typeface="Times New Roman" pitchFamily="18" charset="0"/>
                <a:cs typeface="Times New Roman" pitchFamily="18" charset="0"/>
              </a:rPr>
              <a:t>and</a:t>
            </a:r>
            <a:r>
              <a:rPr lang="en-US" b="1" dirty="0">
                <a:latin typeface="Times New Roman" pitchFamily="18" charset="0"/>
                <a:cs typeface="Times New Roman" pitchFamily="18" charset="0"/>
              </a:rPr>
              <a:t> economic </a:t>
            </a:r>
            <a:r>
              <a:rPr lang="en-US" dirty="0">
                <a:latin typeface="Times New Roman" pitchFamily="18" charset="0"/>
                <a:cs typeface="Times New Roman" pitchFamily="18" charset="0"/>
              </a:rPr>
              <a:t>independence, and </a:t>
            </a:r>
          </a:p>
          <a:p>
            <a:pPr lvl="1"/>
            <a:r>
              <a:rPr lang="en-US" dirty="0">
                <a:latin typeface="Times New Roman" pitchFamily="18" charset="0"/>
                <a:cs typeface="Times New Roman" pitchFamily="18" charset="0"/>
              </a:rPr>
              <a:t>disability and </a:t>
            </a:r>
            <a:r>
              <a:rPr lang="en-US" b="1" dirty="0">
                <a:latin typeface="Times New Roman" pitchFamily="18" charset="0"/>
                <a:cs typeface="Times New Roman" pitchFamily="18" charset="0"/>
              </a:rPr>
              <a:t>rural life</a:t>
            </a:r>
            <a:r>
              <a:rPr lang="en-US" dirty="0">
                <a:latin typeface="Times New Roman" pitchFamily="18" charset="0"/>
                <a:cs typeface="Times New Roman" pitchFamily="18" charset="0"/>
              </a:rPr>
              <a:t>, and </a:t>
            </a:r>
          </a:p>
          <a:p>
            <a:pPr lvl="1"/>
            <a:r>
              <a:rPr lang="en-US" b="1" dirty="0">
                <a:latin typeface="Times New Roman" pitchFamily="18" charset="0"/>
                <a:cs typeface="Times New Roman" pitchFamily="18" charset="0"/>
              </a:rPr>
              <a:t>Access to education </a:t>
            </a:r>
            <a:r>
              <a:rPr lang="en-US" dirty="0">
                <a:latin typeface="Times New Roman" pitchFamily="18" charset="0"/>
                <a:cs typeface="Times New Roman" pitchFamily="18" charset="0"/>
              </a:rPr>
              <a:t>for people with disabilities and vulnerabilities.</a:t>
            </a:r>
          </a:p>
        </p:txBody>
      </p:sp>
      <p:sp>
        <p:nvSpPr>
          <p:cNvPr id="4" name="Slide Number Placeholder 3"/>
          <p:cNvSpPr>
            <a:spLocks noGrp="1"/>
          </p:cNvSpPr>
          <p:nvPr>
            <p:ph type="sldNum" sz="quarter" idx="12"/>
          </p:nvPr>
        </p:nvSpPr>
        <p:spPr/>
        <p:txBody>
          <a:bodyPr/>
          <a:lstStyle/>
          <a:p>
            <a:fld id="{29344CB4-3587-4451-B5F6-521D7FDB45C7}" type="slidenum">
              <a:rPr lang="en-US" smtClean="0"/>
              <a:t>2</a:t>
            </a:fld>
            <a:endParaRPr lang="en-US"/>
          </a:p>
        </p:txBody>
      </p:sp>
    </p:spTree>
    <p:extLst>
      <p:ext uri="{BB962C8B-B14F-4D97-AF65-F5344CB8AC3E}">
        <p14:creationId xmlns:p14="http://schemas.microsoft.com/office/powerpoint/2010/main" val="14769207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a:solidFill>
            <a:schemeClr val="accent6">
              <a:lumMod val="60000"/>
              <a:lumOff val="40000"/>
            </a:schemeClr>
          </a:solidFill>
        </p:spPr>
        <p:txBody>
          <a:bodyPr>
            <a:normAutofit fontScale="90000"/>
          </a:bodyPr>
          <a:lstStyle/>
          <a:p>
            <a:r>
              <a:rPr lang="en-US" b="1" dirty="0">
                <a:latin typeface="Times New Roman" pitchFamily="18" charset="0"/>
                <a:cs typeface="Times New Roman" pitchFamily="18" charset="0"/>
              </a:rPr>
              <a:t>Overview</a:t>
            </a:r>
            <a:r>
              <a:rPr lang="en-US" sz="2400" b="1" dirty="0">
                <a:latin typeface="Times New Roman" pitchFamily="18" charset="0"/>
                <a:cs typeface="Times New Roman" pitchFamily="18" charset="0"/>
              </a:rPr>
              <a:t>…cont’d</a:t>
            </a:r>
            <a:r>
              <a:rPr lang="en-US" sz="2400" b="1" dirty="0"/>
              <a:t> </a:t>
            </a:r>
            <a:endParaRPr lang="en-US" sz="2400" dirty="0"/>
          </a:p>
        </p:txBody>
      </p:sp>
      <p:sp>
        <p:nvSpPr>
          <p:cNvPr id="3" name="Content Placeholder 2"/>
          <p:cNvSpPr>
            <a:spLocks noGrp="1"/>
          </p:cNvSpPr>
          <p:nvPr>
            <p:ph idx="1"/>
          </p:nvPr>
        </p:nvSpPr>
        <p:spPr>
          <a:xfrm>
            <a:off x="152400" y="762000"/>
            <a:ext cx="8839200" cy="5943600"/>
          </a:xfrm>
        </p:spPr>
        <p:txBody>
          <a:bodyPr>
            <a:normAutofit fontScale="77500" lnSpcReduction="20000"/>
          </a:bodyPr>
          <a:lstStyle/>
          <a:p>
            <a:r>
              <a:rPr lang="en-US" sz="2800" b="1" dirty="0">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The onset of disability</a:t>
            </a:r>
            <a:r>
              <a:rPr lang="en-US" sz="2800" b="1" dirty="0">
                <a:solidFill>
                  <a:srgbClr val="002060"/>
                </a:solidFill>
                <a:latin typeface="Times New Roman" pitchFamily="18" charset="0"/>
                <a:cs typeface="Times New Roman" pitchFamily="18" charset="0"/>
              </a:rPr>
              <a:t> is accompanied by a </a:t>
            </a:r>
            <a:r>
              <a:rPr lang="en-US" sz="2800" b="1" dirty="0">
                <a:solidFill>
                  <a:srgbClr val="00B0F0"/>
                </a:solidFill>
                <a:latin typeface="Times New Roman" pitchFamily="18" charset="0"/>
                <a:cs typeface="Times New Roman" pitchFamily="18" charset="0"/>
              </a:rPr>
              <a:t>complex series of shocks </a:t>
            </a:r>
            <a:r>
              <a:rPr lang="en-US" sz="2800" dirty="0">
                <a:latin typeface="Times New Roman" pitchFamily="18" charset="0"/>
                <a:cs typeface="Times New Roman" pitchFamily="18" charset="0"/>
              </a:rPr>
              <a:t>to the </a:t>
            </a:r>
            <a:r>
              <a:rPr lang="en-US" sz="2800" b="1" i="1" dirty="0">
                <a:solidFill>
                  <a:srgbClr val="7030A0"/>
                </a:solidFill>
                <a:effectLst>
                  <a:outerShdw blurRad="38100" dist="38100" dir="2700000" algn="tl">
                    <a:srgbClr val="000000">
                      <a:alpha val="43137"/>
                    </a:srgbClr>
                  </a:outerShdw>
                </a:effectLst>
                <a:latin typeface="Times New Roman" pitchFamily="18" charset="0"/>
                <a:cs typeface="Times New Roman" pitchFamily="18" charset="0"/>
              </a:rPr>
              <a:t>individual</a:t>
            </a:r>
            <a:r>
              <a:rPr lang="en-US" sz="2800" dirty="0">
                <a:solidFill>
                  <a:srgbClr val="7030A0"/>
                </a:solidFill>
                <a:effectLst>
                  <a:outerShdw blurRad="38100" dist="38100" dir="2700000" algn="tl">
                    <a:srgbClr val="000000">
                      <a:alpha val="43137"/>
                    </a:srgbClr>
                  </a:outerShdw>
                </a:effectLst>
                <a:latin typeface="Times New Roman" pitchFamily="18" charset="0"/>
                <a:cs typeface="Times New Roman" pitchFamily="18" charset="0"/>
              </a:rPr>
              <a:t> </a:t>
            </a:r>
            <a:r>
              <a:rPr lang="en-US" sz="2800" dirty="0">
                <a:latin typeface="Times New Roman" pitchFamily="18" charset="0"/>
                <a:cs typeface="Times New Roman" pitchFamily="18" charset="0"/>
              </a:rPr>
              <a:t>&amp; to </a:t>
            </a:r>
            <a:r>
              <a:rPr lang="en-US" sz="2800" i="1" dirty="0">
                <a:latin typeface="Times New Roman" pitchFamily="18" charset="0"/>
                <a:cs typeface="Times New Roman" pitchFamily="18" charset="0"/>
              </a:rPr>
              <a:t>everyone</a:t>
            </a:r>
            <a:r>
              <a:rPr lang="en-US" sz="2800" dirty="0">
                <a:latin typeface="Times New Roman" pitchFamily="18" charset="0"/>
                <a:cs typeface="Times New Roman" pitchFamily="18" charset="0"/>
              </a:rPr>
              <a:t> around him</a:t>
            </a:r>
          </a:p>
          <a:p>
            <a:r>
              <a:rPr lang="en-US" sz="2800" dirty="0">
                <a:effectLst>
                  <a:outerShdw blurRad="38100" dist="38100" dir="2700000" algn="tl">
                    <a:srgbClr val="000000">
                      <a:alpha val="43137"/>
                    </a:srgbClr>
                  </a:outerShdw>
                </a:effectLst>
                <a:latin typeface="Times New Roman" pitchFamily="18" charset="0"/>
                <a:cs typeface="Times New Roman" pitchFamily="18" charset="0"/>
              </a:rPr>
              <a:t>The </a:t>
            </a:r>
            <a:r>
              <a:rPr lang="en-US" sz="28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immediate effects </a:t>
            </a:r>
            <a:r>
              <a:rPr lang="en-US" sz="2800" dirty="0">
                <a:latin typeface="Times New Roman" pitchFamily="18" charset="0"/>
                <a:cs typeface="Times New Roman" pitchFamily="18" charset="0"/>
              </a:rPr>
              <a:t>are often </a:t>
            </a:r>
          </a:p>
          <a:p>
            <a:pPr lvl="1"/>
            <a:r>
              <a:rPr lang="en-US" sz="2600" b="1" i="1" dirty="0">
                <a:solidFill>
                  <a:srgbClr val="002060"/>
                </a:solidFill>
                <a:latin typeface="Times New Roman" pitchFamily="18" charset="0"/>
                <a:cs typeface="Times New Roman" pitchFamily="18" charset="0"/>
              </a:rPr>
              <a:t>physical pain</a:t>
            </a:r>
            <a:r>
              <a:rPr lang="en-US" sz="2600" dirty="0">
                <a:latin typeface="Times New Roman" pitchFamily="18" charset="0"/>
                <a:cs typeface="Times New Roman" pitchFamily="18" charset="0"/>
              </a:rPr>
              <a:t>, </a:t>
            </a:r>
          </a:p>
          <a:p>
            <a:pPr lvl="1"/>
            <a:r>
              <a:rPr lang="en-US" sz="2600" b="1" dirty="0">
                <a:solidFill>
                  <a:srgbClr val="002060"/>
                </a:solidFill>
                <a:latin typeface="Times New Roman" pitchFamily="18" charset="0"/>
                <a:cs typeface="Times New Roman" pitchFamily="18" charset="0"/>
              </a:rPr>
              <a:t>limitation of mobility</a:t>
            </a:r>
            <a:r>
              <a:rPr lang="en-US" sz="2600" dirty="0">
                <a:latin typeface="Times New Roman" pitchFamily="18" charset="0"/>
                <a:cs typeface="Times New Roman" pitchFamily="18" charset="0"/>
              </a:rPr>
              <a:t>, </a:t>
            </a:r>
          </a:p>
          <a:p>
            <a:pPr lvl="1"/>
            <a:r>
              <a:rPr lang="en-US" sz="2600" b="1" i="1" dirty="0">
                <a:solidFill>
                  <a:srgbClr val="002060"/>
                </a:solidFill>
                <a:latin typeface="Times New Roman" pitchFamily="18" charset="0"/>
                <a:cs typeface="Times New Roman" pitchFamily="18" charset="0"/>
              </a:rPr>
              <a:t>disorientation, confusion, uncertainty </a:t>
            </a:r>
            <a:r>
              <a:rPr lang="en-US" sz="2600" dirty="0">
                <a:latin typeface="Times New Roman" pitchFamily="18" charset="0"/>
                <a:cs typeface="Times New Roman" pitchFamily="18" charset="0"/>
              </a:rPr>
              <a:t>and </a:t>
            </a:r>
          </a:p>
          <a:p>
            <a:pPr lvl="1"/>
            <a:r>
              <a:rPr lang="en-US" sz="2600" dirty="0">
                <a:latin typeface="Times New Roman" pitchFamily="18" charset="0"/>
                <a:cs typeface="Times New Roman" pitchFamily="18" charset="0"/>
              </a:rPr>
              <a:t>a </a:t>
            </a:r>
            <a:r>
              <a:rPr lang="en-US" sz="2600" b="1" i="1" dirty="0">
                <a:solidFill>
                  <a:srgbClr val="002060"/>
                </a:solidFill>
                <a:latin typeface="Times New Roman" pitchFamily="18" charset="0"/>
                <a:cs typeface="Times New Roman" pitchFamily="18" charset="0"/>
              </a:rPr>
              <a:t>disruption of roles </a:t>
            </a:r>
            <a:r>
              <a:rPr lang="en-US" sz="2600" dirty="0">
                <a:latin typeface="Times New Roman" pitchFamily="18" charset="0"/>
                <a:cs typeface="Times New Roman" pitchFamily="18" charset="0"/>
              </a:rPr>
              <a:t>&amp; </a:t>
            </a:r>
            <a:r>
              <a:rPr lang="en-US" sz="2600" b="1" i="1" dirty="0">
                <a:solidFill>
                  <a:srgbClr val="002060"/>
                </a:solidFill>
                <a:latin typeface="Times New Roman" pitchFamily="18" charset="0"/>
                <a:cs typeface="Times New Roman" pitchFamily="18" charset="0"/>
              </a:rPr>
              <a:t>patterns of social interaction</a:t>
            </a:r>
            <a:r>
              <a:rPr lang="en-US" sz="2600" dirty="0">
                <a:latin typeface="Times New Roman" pitchFamily="18" charset="0"/>
                <a:cs typeface="Times New Roman" pitchFamily="18" charset="0"/>
              </a:rPr>
              <a:t>.</a:t>
            </a:r>
            <a:endParaRPr lang="en-US" sz="2600" dirty="0"/>
          </a:p>
          <a:p>
            <a:r>
              <a:rPr lang="en-US" sz="2600" b="1" dirty="0">
                <a:effectLst>
                  <a:outerShdw blurRad="38100" dist="38100" dir="2700000" algn="tl">
                    <a:srgbClr val="000000">
                      <a:alpha val="43137"/>
                    </a:srgbClr>
                  </a:outerShdw>
                </a:effectLst>
                <a:latin typeface="Times New Roman" pitchFamily="18" charset="0"/>
                <a:cs typeface="Times New Roman" pitchFamily="18" charset="0"/>
              </a:rPr>
              <a:t>Common effects of a disability may include</a:t>
            </a:r>
            <a:r>
              <a:rPr lang="en-US" sz="2600" dirty="0">
                <a:latin typeface="Times New Roman" pitchFamily="18" charset="0"/>
                <a:cs typeface="Times New Roman" pitchFamily="18" charset="0"/>
              </a:rPr>
              <a:t>: </a:t>
            </a:r>
          </a:p>
          <a:p>
            <a:pPr lvl="1"/>
            <a:r>
              <a:rPr lang="en-US" sz="2600" dirty="0">
                <a:latin typeface="Times New Roman" pitchFamily="18" charset="0"/>
                <a:cs typeface="Times New Roman" pitchFamily="18" charset="0"/>
              </a:rPr>
              <a:t>health conditions of the person; </a:t>
            </a:r>
          </a:p>
          <a:p>
            <a:pPr lvl="1"/>
            <a:r>
              <a:rPr lang="en-US" sz="2600" dirty="0">
                <a:latin typeface="Times New Roman" pitchFamily="18" charset="0"/>
                <a:cs typeface="Times New Roman" pitchFamily="18" charset="0"/>
              </a:rPr>
              <a:t>mental health issues including anxiety and depression; </a:t>
            </a:r>
          </a:p>
          <a:p>
            <a:pPr lvl="1"/>
            <a:r>
              <a:rPr lang="en-US" sz="2600" dirty="0">
                <a:latin typeface="Times New Roman" pitchFamily="18" charset="0"/>
                <a:cs typeface="Times New Roman" pitchFamily="18" charset="0"/>
              </a:rPr>
              <a:t>loss of freedom and independence; </a:t>
            </a:r>
          </a:p>
          <a:p>
            <a:pPr lvl="1"/>
            <a:r>
              <a:rPr lang="en-US" sz="2600" dirty="0">
                <a:latin typeface="Times New Roman" pitchFamily="18" charset="0"/>
                <a:cs typeface="Times New Roman" pitchFamily="18" charset="0"/>
              </a:rPr>
              <a:t>frustration and anger at having to rely on other people; </a:t>
            </a:r>
          </a:p>
          <a:p>
            <a:pPr lvl="1"/>
            <a:r>
              <a:rPr lang="en-US" sz="2600" dirty="0">
                <a:latin typeface="Times New Roman" pitchFamily="18" charset="0"/>
                <a:cs typeface="Times New Roman" pitchFamily="18" charset="0"/>
              </a:rPr>
              <a:t>practical problems including transport, choice of activities, accessing buildings; </a:t>
            </a:r>
          </a:p>
          <a:p>
            <a:pPr lvl="1"/>
            <a:r>
              <a:rPr lang="en-US" sz="2600" dirty="0">
                <a:latin typeface="Times New Roman" pitchFamily="18" charset="0"/>
                <a:cs typeface="Times New Roman" pitchFamily="18" charset="0"/>
              </a:rPr>
              <a:t>unemployment; </a:t>
            </a:r>
          </a:p>
          <a:p>
            <a:pPr lvl="1"/>
            <a:r>
              <a:rPr lang="en-US" sz="2600" dirty="0">
                <a:latin typeface="Times New Roman" pitchFamily="18" charset="0"/>
                <a:cs typeface="Times New Roman" pitchFamily="18" charset="0"/>
              </a:rPr>
              <a:t>problems with learning and academic study; </a:t>
            </a:r>
          </a:p>
          <a:p>
            <a:pPr lvl="1"/>
            <a:r>
              <a:rPr lang="en-US" sz="2600" dirty="0">
                <a:latin typeface="Times New Roman" pitchFamily="18" charset="0"/>
                <a:cs typeface="Times New Roman" pitchFamily="18" charset="0"/>
              </a:rPr>
              <a:t>loss of self-esteem and confidence, especially in social situations.</a:t>
            </a:r>
          </a:p>
          <a:p>
            <a:pPr marL="457200" lvl="1" indent="0">
              <a:buNone/>
            </a:pPr>
            <a:r>
              <a:rPr lang="en-US" i="1" dirty="0">
                <a:highlight>
                  <a:srgbClr val="FFFF00"/>
                </a:highlight>
                <a:latin typeface="Times New Roman" panose="02020603050405020304" pitchFamily="18" charset="0"/>
                <a:cs typeface="Times New Roman" panose="02020603050405020304" pitchFamily="18" charset="0"/>
              </a:rPr>
              <a:t>But all these negative effects are </a:t>
            </a:r>
            <a:r>
              <a:rPr lang="en-US" b="1" i="1" dirty="0">
                <a:solidFill>
                  <a:srgbClr val="002060"/>
                </a:solidFill>
                <a:highlight>
                  <a:srgbClr val="FFFF00"/>
                </a:highlight>
                <a:latin typeface="Times New Roman" panose="02020603050405020304" pitchFamily="18" charset="0"/>
                <a:cs typeface="Times New Roman" panose="02020603050405020304" pitchFamily="18" charset="0"/>
              </a:rPr>
              <a:t>due to restricted environments</a:t>
            </a:r>
            <a:r>
              <a:rPr lang="en-US" i="1" dirty="0">
                <a:highlight>
                  <a:srgbClr val="FFFF00"/>
                </a:highlight>
                <a:latin typeface="Times New Roman" panose="02020603050405020304" pitchFamily="18" charset="0"/>
                <a:cs typeface="Times New Roman" panose="02020603050405020304" pitchFamily="18" charset="0"/>
              </a:rPr>
              <a:t>, not due to impairments</a:t>
            </a:r>
            <a:r>
              <a:rPr lang="en-US" dirty="0">
                <a:latin typeface="Times New Roman" panose="02020603050405020304" pitchFamily="18" charset="0"/>
                <a:cs typeface="Times New Roman" panose="02020603050405020304" pitchFamily="18" charset="0"/>
              </a:rPr>
              <a:t>.</a:t>
            </a:r>
            <a:endParaRPr lang="en-US" sz="2600" dirty="0">
              <a:latin typeface="Times New Roman" panose="02020603050405020304"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29344CB4-3587-4451-B5F6-521D7FDB45C7}" type="slidenum">
              <a:rPr lang="en-US" smtClean="0"/>
              <a:t>3</a:t>
            </a:fld>
            <a:endParaRPr lang="en-US"/>
          </a:p>
        </p:txBody>
      </p:sp>
    </p:spTree>
    <p:extLst>
      <p:ext uri="{BB962C8B-B14F-4D97-AF65-F5344CB8AC3E}">
        <p14:creationId xmlns:p14="http://schemas.microsoft.com/office/powerpoint/2010/main" val="21308493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AC9F7F-1114-4A12-04A7-5DB44B7A7A3A}"/>
              </a:ext>
            </a:extLst>
          </p:cNvPr>
          <p:cNvSpPr>
            <a:spLocks noGrp="1"/>
          </p:cNvSpPr>
          <p:nvPr>
            <p:ph type="title"/>
          </p:nvPr>
        </p:nvSpPr>
        <p:spPr>
          <a:xfrm>
            <a:off x="0" y="0"/>
            <a:ext cx="9144000" cy="1219200"/>
          </a:xfrm>
          <a:solidFill>
            <a:schemeClr val="accent6">
              <a:lumMod val="40000"/>
              <a:lumOff val="60000"/>
            </a:schemeClr>
          </a:solidFill>
        </p:spPr>
        <p:txBody>
          <a:bodyPr>
            <a:normAutofit/>
          </a:bodyPr>
          <a:lstStyle/>
          <a:p>
            <a:r>
              <a:rPr lang="en-US" b="1" dirty="0">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The Impact of Disability </a:t>
            </a:r>
            <a:r>
              <a:rPr lang="en-US" dirty="0">
                <a:latin typeface="Times New Roman" pitchFamily="18" charset="0"/>
                <a:cs typeface="Times New Roman" pitchFamily="18" charset="0"/>
              </a:rPr>
              <a:t>depends on: </a:t>
            </a:r>
            <a:endParaRPr lang="en-US" dirty="0"/>
          </a:p>
        </p:txBody>
      </p:sp>
      <p:sp>
        <p:nvSpPr>
          <p:cNvPr id="3" name="Content Placeholder 2">
            <a:extLst>
              <a:ext uri="{FF2B5EF4-FFF2-40B4-BE49-F238E27FC236}">
                <a16:creationId xmlns:a16="http://schemas.microsoft.com/office/drawing/2014/main" xmlns="" id="{824F0029-5EB2-2C0A-ABA7-3887443041A6}"/>
              </a:ext>
            </a:extLst>
          </p:cNvPr>
          <p:cNvSpPr>
            <a:spLocks noGrp="1"/>
          </p:cNvSpPr>
          <p:nvPr>
            <p:ph idx="1"/>
          </p:nvPr>
        </p:nvSpPr>
        <p:spPr>
          <a:xfrm>
            <a:off x="304800" y="1219200"/>
            <a:ext cx="8610600" cy="5502275"/>
          </a:xfrm>
        </p:spPr>
        <p:txBody>
          <a:bodyPr/>
          <a:lstStyle/>
          <a:p>
            <a:pPr marL="1314450" lvl="2" indent="-514350">
              <a:buFont typeface="+mj-lt"/>
              <a:buAutoNum type="arabicPeriod"/>
            </a:pPr>
            <a:r>
              <a:rPr lang="en-US" sz="3600" b="1" dirty="0">
                <a:solidFill>
                  <a:srgbClr val="7030A0"/>
                </a:solidFill>
                <a:latin typeface="Times New Roman" pitchFamily="18" charset="0"/>
                <a:cs typeface="Times New Roman" pitchFamily="18" charset="0"/>
              </a:rPr>
              <a:t>Factors Related to the person </a:t>
            </a:r>
          </a:p>
          <a:p>
            <a:pPr marL="1314450" lvl="2" indent="-514350">
              <a:buFont typeface="+mj-lt"/>
              <a:buAutoNum type="arabicPeriod"/>
            </a:pPr>
            <a:r>
              <a:rPr lang="en-US" sz="3600" b="1" dirty="0">
                <a:solidFill>
                  <a:srgbClr val="7030A0"/>
                </a:solidFill>
                <a:latin typeface="Times New Roman" pitchFamily="18" charset="0"/>
                <a:cs typeface="Times New Roman" pitchFamily="18" charset="0"/>
              </a:rPr>
              <a:t>Economic Factors and Disability </a:t>
            </a:r>
          </a:p>
          <a:p>
            <a:pPr marL="1314450" lvl="2" indent="-514350">
              <a:buFont typeface="+mj-lt"/>
              <a:buAutoNum type="arabicPeriod"/>
            </a:pPr>
            <a:r>
              <a:rPr lang="en-US" sz="3600" b="1" dirty="0">
                <a:solidFill>
                  <a:srgbClr val="7030A0"/>
                </a:solidFill>
                <a:latin typeface="Times New Roman" pitchFamily="18" charset="0"/>
                <a:cs typeface="Times New Roman" pitchFamily="18" charset="0"/>
              </a:rPr>
              <a:t>Political Factors and Disability</a:t>
            </a:r>
          </a:p>
          <a:p>
            <a:pPr marL="1314450" lvl="2" indent="-514350">
              <a:buFont typeface="+mj-lt"/>
              <a:buAutoNum type="arabicPeriod"/>
            </a:pPr>
            <a:r>
              <a:rPr lang="en-US" sz="3600" b="1" dirty="0">
                <a:solidFill>
                  <a:srgbClr val="7030A0"/>
                </a:solidFill>
                <a:latin typeface="Times New Roman" pitchFamily="18" charset="0"/>
                <a:cs typeface="Times New Roman" pitchFamily="18" charset="0"/>
              </a:rPr>
              <a:t>Psychological Factors of Disability</a:t>
            </a:r>
          </a:p>
          <a:p>
            <a:pPr marL="1314450" lvl="2" indent="-514350">
              <a:buFont typeface="+mj-lt"/>
              <a:buAutoNum type="arabicPeriod"/>
            </a:pPr>
            <a:r>
              <a:rPr lang="en-US" sz="3600" b="1" dirty="0">
                <a:solidFill>
                  <a:srgbClr val="7030A0"/>
                </a:solidFill>
                <a:latin typeface="Times New Roman" pitchFamily="18" charset="0"/>
                <a:cs typeface="Times New Roman" pitchFamily="18" charset="0"/>
              </a:rPr>
              <a:t>The Family and Disability</a:t>
            </a:r>
          </a:p>
          <a:p>
            <a:endParaRPr lang="en-US" b="1" i="1" dirty="0">
              <a:solidFill>
                <a:srgbClr val="7030A0"/>
              </a:solidFill>
              <a:latin typeface="Times New Roman" pitchFamily="18" charset="0"/>
              <a:cs typeface="Times New Roman" pitchFamily="18" charset="0"/>
            </a:endParaRPr>
          </a:p>
          <a:p>
            <a:endParaRPr lang="en-US" dirty="0">
              <a:solidFill>
                <a:srgbClr val="7030A0"/>
              </a:solidFill>
              <a:latin typeface="Times New Roman" pitchFamily="18" charset="0"/>
              <a:cs typeface="Times New Roman" pitchFamily="18" charset="0"/>
            </a:endParaRPr>
          </a:p>
          <a:p>
            <a:endParaRPr lang="en-US" b="1" dirty="0">
              <a:solidFill>
                <a:srgbClr val="7030A0"/>
              </a:solidFill>
              <a:latin typeface="Times New Roman" pitchFamily="18" charset="0"/>
              <a:cs typeface="Times New Roman" pitchFamily="18" charset="0"/>
            </a:endParaRPr>
          </a:p>
          <a:p>
            <a:endParaRPr lang="en-US" dirty="0"/>
          </a:p>
        </p:txBody>
      </p:sp>
      <p:sp>
        <p:nvSpPr>
          <p:cNvPr id="4" name="Slide Number Placeholder 3">
            <a:extLst>
              <a:ext uri="{FF2B5EF4-FFF2-40B4-BE49-F238E27FC236}">
                <a16:creationId xmlns:a16="http://schemas.microsoft.com/office/drawing/2014/main" xmlns="" id="{03FFC409-B433-9AB3-ECF3-A97FB2D4E041}"/>
              </a:ext>
            </a:extLst>
          </p:cNvPr>
          <p:cNvSpPr>
            <a:spLocks noGrp="1"/>
          </p:cNvSpPr>
          <p:nvPr>
            <p:ph type="sldNum" sz="quarter" idx="12"/>
          </p:nvPr>
        </p:nvSpPr>
        <p:spPr/>
        <p:txBody>
          <a:bodyPr/>
          <a:lstStyle/>
          <a:p>
            <a:fld id="{29344CB4-3587-4451-B5F6-521D7FDB45C7}" type="slidenum">
              <a:rPr lang="en-US" smtClean="0"/>
              <a:t>4</a:t>
            </a:fld>
            <a:endParaRPr lang="en-US"/>
          </a:p>
        </p:txBody>
      </p:sp>
    </p:spTree>
    <p:extLst>
      <p:ext uri="{BB962C8B-B14F-4D97-AF65-F5344CB8AC3E}">
        <p14:creationId xmlns:p14="http://schemas.microsoft.com/office/powerpoint/2010/main" val="17983505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219199"/>
            <a:ext cx="8839200" cy="5502275"/>
          </a:xfrm>
        </p:spPr>
        <p:txBody>
          <a:bodyPr>
            <a:normAutofit fontScale="92500" lnSpcReduction="10000"/>
          </a:bodyPr>
          <a:lstStyle/>
          <a:p>
            <a:pPr marL="571500" indent="-514350">
              <a:buFont typeface="+mj-lt"/>
              <a:buAutoNum type="arabicPeriod"/>
            </a:pPr>
            <a:r>
              <a:rPr lang="en-US" b="1" dirty="0">
                <a:solidFill>
                  <a:srgbClr val="7030A0"/>
                </a:solidFill>
                <a:latin typeface="Times New Roman" pitchFamily="18" charset="0"/>
                <a:cs typeface="Times New Roman" pitchFamily="18" charset="0"/>
              </a:rPr>
              <a:t>Factors Related to the person </a:t>
            </a:r>
          </a:p>
          <a:p>
            <a:pPr marL="1371600" lvl="2" indent="-514350">
              <a:buFont typeface="+mj-lt"/>
              <a:buAutoNum type="arabicPeriod"/>
            </a:pPr>
            <a:r>
              <a:rPr lang="en-US" b="1" dirty="0">
                <a:latin typeface="Times New Roman" pitchFamily="18" charset="0"/>
                <a:cs typeface="Times New Roman" pitchFamily="18" charset="0"/>
              </a:rPr>
              <a:t>The</a:t>
            </a:r>
            <a:r>
              <a:rPr lang="en-US" b="1" dirty="0">
                <a:solidFill>
                  <a:srgbClr val="7030A0"/>
                </a:solidFill>
                <a:latin typeface="Times New Roman" pitchFamily="18" charset="0"/>
                <a:cs typeface="Times New Roman" pitchFamily="18" charset="0"/>
              </a:rPr>
              <a:t> </a:t>
            </a:r>
            <a:r>
              <a:rPr lang="en-US" b="1" dirty="0">
                <a:solidFill>
                  <a:srgbClr val="FF0000"/>
                </a:solidFill>
                <a:latin typeface="Times New Roman" pitchFamily="18" charset="0"/>
                <a:cs typeface="Times New Roman" pitchFamily="18" charset="0"/>
              </a:rPr>
              <a:t>Nature</a:t>
            </a:r>
            <a:r>
              <a:rPr lang="en-US" b="1" dirty="0">
                <a:solidFill>
                  <a:srgbClr val="7030A0"/>
                </a:solidFill>
                <a:latin typeface="Times New Roman" pitchFamily="18" charset="0"/>
                <a:cs typeface="Times New Roman" pitchFamily="18" charset="0"/>
              </a:rPr>
              <a:t> </a:t>
            </a:r>
            <a:r>
              <a:rPr lang="en-US" b="1" dirty="0">
                <a:latin typeface="Times New Roman" pitchFamily="18" charset="0"/>
                <a:cs typeface="Times New Roman" pitchFamily="18" charset="0"/>
              </a:rPr>
              <a:t>of the Disability- </a:t>
            </a:r>
            <a:r>
              <a:rPr lang="en-US" dirty="0">
                <a:latin typeface="Times New Roman" panose="02020603050405020304" pitchFamily="18" charset="0"/>
                <a:cs typeface="Times New Roman" panose="02020603050405020304" pitchFamily="18" charset="0"/>
              </a:rPr>
              <a:t>acquired disease or congenital. </a:t>
            </a:r>
          </a:p>
          <a:p>
            <a:pPr lvl="3">
              <a:buFont typeface="+mj-lt"/>
              <a:buAutoNum type="alphaLcPeriod"/>
            </a:pPr>
            <a:r>
              <a:rPr lang="en-US" sz="1900" b="1" dirty="0">
                <a:solidFill>
                  <a:srgbClr val="FF0000"/>
                </a:solidFill>
                <a:latin typeface="Times New Roman" pitchFamily="18" charset="0"/>
                <a:cs typeface="Times New Roman" pitchFamily="18" charset="0"/>
              </a:rPr>
              <a:t>Acquired disability </a:t>
            </a:r>
            <a:r>
              <a:rPr lang="en-US" sz="1900" dirty="0">
                <a:latin typeface="Times New Roman" pitchFamily="18" charset="0"/>
                <a:cs typeface="Times New Roman" pitchFamily="18" charset="0"/>
              </a:rPr>
              <a:t>are likely to </a:t>
            </a:r>
            <a:r>
              <a:rPr lang="en-US" sz="1900" b="1" i="1" dirty="0">
                <a:solidFill>
                  <a:srgbClr val="0070C0"/>
                </a:solidFill>
                <a:latin typeface="Times New Roman" pitchFamily="18" charset="0"/>
                <a:cs typeface="Times New Roman" pitchFamily="18" charset="0"/>
              </a:rPr>
              <a:t>cause a negative </a:t>
            </a:r>
            <a:r>
              <a:rPr lang="en-US" sz="1900" dirty="0">
                <a:latin typeface="Times New Roman" pitchFamily="18" charset="0"/>
                <a:cs typeface="Times New Roman" pitchFamily="18" charset="0"/>
              </a:rPr>
              <a:t>reaction than a congenital disability. </a:t>
            </a:r>
          </a:p>
          <a:p>
            <a:pPr lvl="3">
              <a:buFont typeface="+mj-lt"/>
              <a:buAutoNum type="alphaLcPeriod"/>
            </a:pPr>
            <a:r>
              <a:rPr lang="en-US" sz="1900" b="1" dirty="0">
                <a:solidFill>
                  <a:srgbClr val="FF0000"/>
                </a:solidFill>
                <a:latin typeface="Times New Roman" pitchFamily="18" charset="0"/>
                <a:cs typeface="Times New Roman" pitchFamily="18" charset="0"/>
              </a:rPr>
              <a:t>Congenital disabilities </a:t>
            </a:r>
            <a:r>
              <a:rPr lang="en-US" sz="1900" dirty="0">
                <a:latin typeface="Times New Roman" pitchFamily="18" charset="0"/>
                <a:cs typeface="Times New Roman" pitchFamily="18" charset="0"/>
              </a:rPr>
              <a:t>require </a:t>
            </a:r>
            <a:r>
              <a:rPr lang="en-US" sz="1900" b="1" i="1" dirty="0">
                <a:solidFill>
                  <a:srgbClr val="0070C0"/>
                </a:solidFill>
                <a:latin typeface="Times New Roman" pitchFamily="18" charset="0"/>
                <a:cs typeface="Times New Roman" pitchFamily="18" charset="0"/>
              </a:rPr>
              <a:t>less adjustment </a:t>
            </a:r>
            <a:r>
              <a:rPr lang="en-US" sz="1900" dirty="0">
                <a:latin typeface="Times New Roman" pitchFamily="18" charset="0"/>
                <a:cs typeface="Times New Roman" pitchFamily="18" charset="0"/>
              </a:rPr>
              <a:t>than an acquired disability. </a:t>
            </a:r>
            <a:endParaRPr lang="en-US" sz="3500" dirty="0">
              <a:solidFill>
                <a:srgbClr val="7030A0"/>
              </a:solidFill>
              <a:latin typeface="Times New Roman" pitchFamily="18" charset="0"/>
              <a:cs typeface="Times New Roman" pitchFamily="18" charset="0"/>
            </a:endParaRPr>
          </a:p>
          <a:p>
            <a:pPr marL="1371600" lvl="2" indent="-514350">
              <a:buFont typeface="+mj-lt"/>
              <a:buAutoNum type="arabicPeriod"/>
            </a:pPr>
            <a:r>
              <a:rPr lang="en-US" b="1" dirty="0">
                <a:latin typeface="Times New Roman" pitchFamily="18" charset="0"/>
                <a:cs typeface="Times New Roman" pitchFamily="18" charset="0"/>
              </a:rPr>
              <a:t>The Individual’s </a:t>
            </a:r>
            <a:r>
              <a:rPr lang="en-US" b="1" dirty="0">
                <a:solidFill>
                  <a:srgbClr val="FF0000"/>
                </a:solidFill>
                <a:latin typeface="Times New Roman" pitchFamily="18" charset="0"/>
                <a:cs typeface="Times New Roman" pitchFamily="18" charset="0"/>
              </a:rPr>
              <a:t>Personality- </a:t>
            </a:r>
            <a:r>
              <a:rPr lang="en-US" dirty="0">
                <a:latin typeface="Times New Roman" pitchFamily="18" charset="0"/>
                <a:cs typeface="Times New Roman" pitchFamily="18" charset="0"/>
              </a:rPr>
              <a:t>Positive or negative, dependent or independent, goal-oriented or laissez-faire.</a:t>
            </a:r>
            <a:r>
              <a:rPr lang="en-US" dirty="0">
                <a:solidFill>
                  <a:srgbClr val="FF0000"/>
                </a:solidFill>
                <a:latin typeface="Times New Roman" pitchFamily="18" charset="0"/>
                <a:cs typeface="Times New Roman" pitchFamily="18" charset="0"/>
              </a:rPr>
              <a:t> </a:t>
            </a:r>
          </a:p>
          <a:p>
            <a:pPr marL="1371600" lvl="2" indent="-514350">
              <a:buFont typeface="+mj-lt"/>
              <a:buAutoNum type="arabicPeriod"/>
            </a:pPr>
            <a:r>
              <a:rPr lang="en-US" b="1" dirty="0">
                <a:latin typeface="Times New Roman" pitchFamily="18" charset="0"/>
                <a:cs typeface="Times New Roman" pitchFamily="18" charset="0"/>
              </a:rPr>
              <a:t>The</a:t>
            </a:r>
            <a:r>
              <a:rPr lang="en-US" b="1" dirty="0">
                <a:solidFill>
                  <a:srgbClr val="7030A0"/>
                </a:solidFill>
                <a:latin typeface="Times New Roman" pitchFamily="18" charset="0"/>
                <a:cs typeface="Times New Roman" pitchFamily="18" charset="0"/>
              </a:rPr>
              <a:t> </a:t>
            </a:r>
            <a:r>
              <a:rPr lang="en-US" b="1" dirty="0">
                <a:solidFill>
                  <a:srgbClr val="FF0000"/>
                </a:solidFill>
                <a:latin typeface="Times New Roman" pitchFamily="18" charset="0"/>
                <a:cs typeface="Times New Roman" pitchFamily="18" charset="0"/>
              </a:rPr>
              <a:t>Meaning</a:t>
            </a:r>
            <a:r>
              <a:rPr lang="en-US" b="1" dirty="0">
                <a:solidFill>
                  <a:srgbClr val="7030A0"/>
                </a:solidFill>
                <a:latin typeface="Times New Roman" pitchFamily="18" charset="0"/>
                <a:cs typeface="Times New Roman" pitchFamily="18" charset="0"/>
              </a:rPr>
              <a:t> </a:t>
            </a:r>
            <a:r>
              <a:rPr lang="en-US" b="1" dirty="0">
                <a:solidFill>
                  <a:srgbClr val="FF0000"/>
                </a:solidFill>
                <a:latin typeface="Times New Roman" pitchFamily="18" charset="0"/>
                <a:cs typeface="Times New Roman" pitchFamily="18" charset="0"/>
              </a:rPr>
              <a:t>of the Disability</a:t>
            </a:r>
            <a:r>
              <a:rPr lang="en-US" b="1" dirty="0">
                <a:latin typeface="Times New Roman" pitchFamily="18" charset="0"/>
                <a:cs typeface="Times New Roman" pitchFamily="18" charset="0"/>
              </a:rPr>
              <a:t> to the Individual- if a person define himself by his disability, the –</a:t>
            </a:r>
            <a:r>
              <a:rPr lang="en-US" b="1" dirty="0" err="1">
                <a:latin typeface="Times New Roman" pitchFamily="18" charset="0"/>
                <a:cs typeface="Times New Roman" pitchFamily="18" charset="0"/>
              </a:rPr>
              <a:t>ve</a:t>
            </a:r>
            <a:r>
              <a:rPr lang="en-US" b="1" dirty="0">
                <a:latin typeface="Times New Roman" pitchFamily="18" charset="0"/>
                <a:cs typeface="Times New Roman" pitchFamily="18" charset="0"/>
              </a:rPr>
              <a:t> impact will be stronger</a:t>
            </a:r>
            <a:endParaRPr lang="en-US" dirty="0">
              <a:latin typeface="Times New Roman" pitchFamily="18" charset="0"/>
              <a:cs typeface="Times New Roman" pitchFamily="18" charset="0"/>
            </a:endParaRPr>
          </a:p>
          <a:p>
            <a:pPr marL="1371600" lvl="2" indent="-514350">
              <a:buFont typeface="+mj-lt"/>
              <a:buAutoNum type="arabicPeriod"/>
            </a:pPr>
            <a:r>
              <a:rPr lang="en-US" b="1" dirty="0">
                <a:latin typeface="Times New Roman" pitchFamily="18" charset="0"/>
                <a:cs typeface="Times New Roman" pitchFamily="18" charset="0"/>
              </a:rPr>
              <a:t>The Individual’s </a:t>
            </a:r>
            <a:r>
              <a:rPr lang="en-US" b="1" dirty="0">
                <a:solidFill>
                  <a:srgbClr val="FF0000"/>
                </a:solidFill>
                <a:latin typeface="Times New Roman" pitchFamily="18" charset="0"/>
                <a:cs typeface="Times New Roman" pitchFamily="18" charset="0"/>
              </a:rPr>
              <a:t>Current Life Circumstances- </a:t>
            </a:r>
            <a:r>
              <a:rPr lang="en-US" dirty="0">
                <a:latin typeface="Times New Roman" panose="02020603050405020304" pitchFamily="18" charset="0"/>
                <a:cs typeface="Times New Roman" panose="02020603050405020304" pitchFamily="18" charset="0"/>
              </a:rPr>
              <a:t>independence or dependence on others (parents),  economic status of the individual or the individual's caregivers, the individual's education level, and emotional state (happy vs. unhappy) </a:t>
            </a:r>
            <a:endParaRPr lang="en-US" dirty="0">
              <a:solidFill>
                <a:srgbClr val="FF0000"/>
              </a:solidFill>
              <a:latin typeface="Times New Roman" pitchFamily="18" charset="0"/>
              <a:cs typeface="Times New Roman" pitchFamily="18" charset="0"/>
            </a:endParaRPr>
          </a:p>
          <a:p>
            <a:pPr marL="1371600" lvl="2" indent="-514350">
              <a:buFont typeface="+mj-lt"/>
              <a:buAutoNum type="arabicPeriod"/>
            </a:pPr>
            <a:r>
              <a:rPr lang="en-US" b="1" dirty="0">
                <a:latin typeface="Times New Roman" pitchFamily="18" charset="0"/>
                <a:cs typeface="Times New Roman" pitchFamily="18" charset="0"/>
              </a:rPr>
              <a:t>The</a:t>
            </a:r>
            <a:r>
              <a:rPr lang="en-US" b="1" dirty="0">
                <a:solidFill>
                  <a:srgbClr val="7030A0"/>
                </a:solidFill>
                <a:latin typeface="Times New Roman" pitchFamily="18" charset="0"/>
                <a:cs typeface="Times New Roman" pitchFamily="18" charset="0"/>
              </a:rPr>
              <a:t> </a:t>
            </a:r>
            <a:r>
              <a:rPr lang="en-US" b="1" dirty="0">
                <a:solidFill>
                  <a:srgbClr val="FF0000"/>
                </a:solidFill>
                <a:latin typeface="Times New Roman" pitchFamily="18" charset="0"/>
                <a:cs typeface="Times New Roman" pitchFamily="18" charset="0"/>
              </a:rPr>
              <a:t>Individual's Support </a:t>
            </a:r>
            <a:r>
              <a:rPr lang="en-US" b="1" dirty="0">
                <a:latin typeface="Times New Roman" pitchFamily="18" charset="0"/>
                <a:cs typeface="Times New Roman" pitchFamily="18" charset="0"/>
              </a:rPr>
              <a:t>System-</a:t>
            </a:r>
            <a:r>
              <a:rPr lang="en-US" b="1" dirty="0">
                <a:solidFill>
                  <a:srgbClr val="7030A0"/>
                </a:solidFill>
                <a:latin typeface="Times New Roman" pitchFamily="18" charset="0"/>
                <a:cs typeface="Times New Roman" pitchFamily="18" charset="0"/>
              </a:rPr>
              <a:t> </a:t>
            </a:r>
            <a:r>
              <a:rPr lang="en-US" dirty="0">
                <a:latin typeface="Times New Roman" panose="02020603050405020304" pitchFamily="18" charset="0"/>
                <a:cs typeface="Times New Roman" panose="02020603050405020304" pitchFamily="18" charset="0"/>
              </a:rPr>
              <a:t>support from family, a significant other, friends, or social groups </a:t>
            </a:r>
          </a:p>
          <a:p>
            <a:pPr marL="1828800" lvl="3" indent="-514350">
              <a:buFont typeface="+mj-lt"/>
              <a:buAutoNum type="alphaLcPeriod"/>
            </a:pPr>
            <a:endParaRPr lang="en-US" b="1" dirty="0">
              <a:solidFill>
                <a:srgbClr val="7030A0"/>
              </a:solidFill>
              <a:latin typeface="Times New Roman" pitchFamily="18" charset="0"/>
              <a:cs typeface="Times New Roman" pitchFamily="18" charset="0"/>
            </a:endParaRPr>
          </a:p>
          <a:p>
            <a:endParaRPr lang="en-US" dirty="0"/>
          </a:p>
          <a:p>
            <a:endParaRPr lang="en-US" dirty="0"/>
          </a:p>
          <a:p>
            <a:pPr marL="1314450" lvl="3" indent="0">
              <a:buNone/>
            </a:pPr>
            <a:endParaRPr lang="en-US" b="1" dirty="0">
              <a:solidFill>
                <a:srgbClr val="7030A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29344CB4-3587-4451-B5F6-521D7FDB45C7}" type="slidenum">
              <a:rPr lang="en-US" smtClean="0"/>
              <a:t>5</a:t>
            </a:fld>
            <a:endParaRPr lang="en-US"/>
          </a:p>
        </p:txBody>
      </p:sp>
      <p:sp>
        <p:nvSpPr>
          <p:cNvPr id="5" name="Title 1"/>
          <p:cNvSpPr>
            <a:spLocks noGrp="1"/>
          </p:cNvSpPr>
          <p:nvPr>
            <p:ph type="title"/>
          </p:nvPr>
        </p:nvSpPr>
        <p:spPr>
          <a:xfrm>
            <a:off x="0" y="0"/>
            <a:ext cx="9144000" cy="1143000"/>
          </a:xfrm>
          <a:solidFill>
            <a:schemeClr val="accent6">
              <a:lumMod val="40000"/>
              <a:lumOff val="60000"/>
            </a:schemeClr>
          </a:solidFill>
        </p:spPr>
        <p:txBody>
          <a:bodyPr/>
          <a:lstStyle/>
          <a:p>
            <a:r>
              <a:rPr lang="en-US" b="1" dirty="0">
                <a:solidFill>
                  <a:srgbClr val="00B0F0"/>
                </a:solidFill>
                <a:latin typeface="Times New Roman" pitchFamily="18" charset="0"/>
                <a:cs typeface="Times New Roman" pitchFamily="18" charset="0"/>
              </a:rPr>
              <a:t>Impact</a:t>
            </a:r>
            <a:r>
              <a:rPr lang="en-US" b="1" dirty="0">
                <a:latin typeface="Times New Roman" pitchFamily="18" charset="0"/>
                <a:cs typeface="Times New Roman" pitchFamily="18" charset="0"/>
              </a:rPr>
              <a:t> of Disability</a:t>
            </a:r>
            <a:r>
              <a:rPr lang="en-US" sz="2800" b="1" dirty="0">
                <a:latin typeface="Times New Roman" pitchFamily="18" charset="0"/>
                <a:cs typeface="Times New Roman" pitchFamily="18" charset="0"/>
              </a:rPr>
              <a:t>… cont’d</a:t>
            </a:r>
          </a:p>
        </p:txBody>
      </p:sp>
    </p:spTree>
    <p:extLst>
      <p:ext uri="{BB962C8B-B14F-4D97-AF65-F5344CB8AC3E}">
        <p14:creationId xmlns:p14="http://schemas.microsoft.com/office/powerpoint/2010/main" val="35527539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ABC016-9356-35C0-C090-76920A573666}"/>
              </a:ext>
            </a:extLst>
          </p:cNvPr>
          <p:cNvSpPr>
            <a:spLocks noGrp="1"/>
          </p:cNvSpPr>
          <p:nvPr>
            <p:ph type="title"/>
          </p:nvPr>
        </p:nvSpPr>
        <p:spPr>
          <a:xfrm>
            <a:off x="0" y="0"/>
            <a:ext cx="9144000" cy="990600"/>
          </a:xfrm>
          <a:solidFill>
            <a:schemeClr val="accent6">
              <a:lumMod val="40000"/>
              <a:lumOff val="60000"/>
            </a:schemeClr>
          </a:solidFill>
        </p:spPr>
        <p:txBody>
          <a:bodyPr>
            <a:noAutofit/>
          </a:bodyPr>
          <a:lstStyle/>
          <a:p>
            <a:r>
              <a:rPr lang="en-US" sz="3200" b="1" dirty="0">
                <a:solidFill>
                  <a:srgbClr val="7030A0"/>
                </a:solidFill>
                <a:latin typeface="Times New Roman" pitchFamily="18" charset="0"/>
                <a:cs typeface="Times New Roman" pitchFamily="18" charset="0"/>
              </a:rPr>
              <a:t>Factors Related to the person … cont’d</a:t>
            </a:r>
            <a:endParaRPr lang="en-US" sz="3200" dirty="0"/>
          </a:p>
        </p:txBody>
      </p:sp>
      <p:sp>
        <p:nvSpPr>
          <p:cNvPr id="3" name="Content Placeholder 2">
            <a:extLst>
              <a:ext uri="{FF2B5EF4-FFF2-40B4-BE49-F238E27FC236}">
                <a16:creationId xmlns:a16="http://schemas.microsoft.com/office/drawing/2014/main" xmlns="" id="{7F0DFA3C-1D29-AE76-6306-A21D786A7C92}"/>
              </a:ext>
            </a:extLst>
          </p:cNvPr>
          <p:cNvSpPr>
            <a:spLocks noGrp="1"/>
          </p:cNvSpPr>
          <p:nvPr>
            <p:ph idx="1"/>
          </p:nvPr>
        </p:nvSpPr>
        <p:spPr>
          <a:xfrm>
            <a:off x="152400" y="1066800"/>
            <a:ext cx="8839200" cy="5654675"/>
          </a:xfrm>
        </p:spPr>
        <p:txBody>
          <a:bodyPr>
            <a:normAutofit fontScale="70000" lnSpcReduction="20000"/>
          </a:bodyPr>
          <a:lstStyle/>
          <a:p>
            <a:r>
              <a:rPr lang="en-US" dirty="0">
                <a:latin typeface="Times New Roman" panose="02020603050405020304" pitchFamily="18" charset="0"/>
                <a:cs typeface="Times New Roman" panose="02020603050405020304" pitchFamily="18" charset="0"/>
              </a:rPr>
              <a:t>The </a:t>
            </a:r>
            <a:r>
              <a:rPr lang="en-US" b="1" dirty="0">
                <a:solidFill>
                  <a:srgbClr val="FF0000"/>
                </a:solidFill>
                <a:latin typeface="Times New Roman" panose="02020603050405020304" pitchFamily="18" charset="0"/>
                <a:cs typeface="Times New Roman" panose="02020603050405020304" pitchFamily="18" charset="0"/>
              </a:rPr>
              <a:t>disability experience </a:t>
            </a:r>
            <a:r>
              <a:rPr lang="en-US" dirty="0">
                <a:latin typeface="Times New Roman" panose="02020603050405020304" pitchFamily="18" charset="0"/>
                <a:cs typeface="Times New Roman" panose="02020603050405020304" pitchFamily="18" charset="0"/>
              </a:rPr>
              <a:t>resulting from the interaction of </a:t>
            </a:r>
            <a:r>
              <a:rPr lang="en-US" b="1" dirty="0">
                <a:latin typeface="Times New Roman" panose="02020603050405020304" pitchFamily="18" charset="0"/>
                <a:cs typeface="Times New Roman" panose="02020603050405020304" pitchFamily="18" charset="0"/>
              </a:rPr>
              <a:t>health conditions</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personal factors</a:t>
            </a:r>
            <a:r>
              <a:rPr lang="en-US" dirty="0">
                <a:latin typeface="Times New Roman" panose="02020603050405020304" pitchFamily="18" charset="0"/>
                <a:cs typeface="Times New Roman" panose="02020603050405020304" pitchFamily="18" charset="0"/>
              </a:rPr>
              <a:t>, &amp; </a:t>
            </a:r>
            <a:r>
              <a:rPr lang="en-US" b="1" dirty="0">
                <a:latin typeface="Times New Roman" panose="02020603050405020304" pitchFamily="18" charset="0"/>
                <a:cs typeface="Times New Roman" panose="02020603050405020304" pitchFamily="18" charset="0"/>
              </a:rPr>
              <a:t>environmental factors </a:t>
            </a:r>
            <a:r>
              <a:rPr lang="en-US" dirty="0">
                <a:latin typeface="Times New Roman" panose="02020603050405020304" pitchFamily="18" charset="0"/>
                <a:cs typeface="Times New Roman" panose="02020603050405020304" pitchFamily="18" charset="0"/>
              </a:rPr>
              <a:t>varies greatly.</a:t>
            </a:r>
          </a:p>
          <a:p>
            <a:r>
              <a:rPr lang="en-US" dirty="0">
                <a:latin typeface="Times New Roman" panose="02020603050405020304" pitchFamily="18" charset="0"/>
                <a:cs typeface="Times New Roman" panose="02020603050405020304" pitchFamily="18" charset="0"/>
              </a:rPr>
              <a:t>Health conditions can be </a:t>
            </a:r>
            <a:r>
              <a:rPr lang="en-US" b="1" i="1" dirty="0">
                <a:latin typeface="Times New Roman" panose="02020603050405020304" pitchFamily="18" charset="0"/>
                <a:cs typeface="Times New Roman" panose="02020603050405020304" pitchFamily="18" charset="0"/>
              </a:rPr>
              <a:t>visible </a:t>
            </a:r>
            <a:r>
              <a:rPr lang="en-US" dirty="0">
                <a:latin typeface="Times New Roman" panose="02020603050405020304" pitchFamily="18" charset="0"/>
                <a:cs typeface="Times New Roman" panose="02020603050405020304" pitchFamily="18" charset="0"/>
              </a:rPr>
              <a:t>or</a:t>
            </a:r>
            <a:r>
              <a:rPr lang="en-US" b="1" i="1" dirty="0">
                <a:latin typeface="Times New Roman" panose="02020603050405020304" pitchFamily="18" charset="0"/>
                <a:cs typeface="Times New Roman" panose="02020603050405020304" pitchFamily="18" charset="0"/>
              </a:rPr>
              <a:t> invisible</a:t>
            </a:r>
            <a:r>
              <a:rPr lang="en-US"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temporary </a:t>
            </a:r>
            <a:r>
              <a:rPr lang="en-US" dirty="0">
                <a:latin typeface="Times New Roman" panose="02020603050405020304" pitchFamily="18" charset="0"/>
                <a:cs typeface="Times New Roman" panose="02020603050405020304" pitchFamily="18" charset="0"/>
              </a:rPr>
              <a:t>or</a:t>
            </a:r>
            <a:r>
              <a:rPr lang="en-US" b="1" i="1" dirty="0">
                <a:latin typeface="Times New Roman" panose="02020603050405020304" pitchFamily="18" charset="0"/>
                <a:cs typeface="Times New Roman" panose="02020603050405020304" pitchFamily="18" charset="0"/>
              </a:rPr>
              <a:t> long term</a:t>
            </a:r>
            <a:r>
              <a:rPr lang="en-US"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static, episodic, </a:t>
            </a:r>
            <a:r>
              <a:rPr lang="en-US" dirty="0">
                <a:latin typeface="Times New Roman" panose="02020603050405020304" pitchFamily="18" charset="0"/>
                <a:cs typeface="Times New Roman" panose="02020603050405020304" pitchFamily="18" charset="0"/>
              </a:rPr>
              <a:t>or </a:t>
            </a:r>
            <a:r>
              <a:rPr lang="en-US" b="1" i="1" dirty="0">
                <a:latin typeface="Times New Roman" panose="02020603050405020304" pitchFamily="18" charset="0"/>
                <a:cs typeface="Times New Roman" panose="02020603050405020304" pitchFamily="18" charset="0"/>
              </a:rPr>
              <a:t>degenerating</a:t>
            </a:r>
            <a:r>
              <a:rPr lang="en-US"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painful </a:t>
            </a:r>
            <a:r>
              <a:rPr lang="en-US" dirty="0">
                <a:latin typeface="Times New Roman" panose="02020603050405020304" pitchFamily="18" charset="0"/>
                <a:cs typeface="Times New Roman" panose="02020603050405020304" pitchFamily="18" charset="0"/>
              </a:rPr>
              <a:t>or</a:t>
            </a:r>
            <a:r>
              <a:rPr lang="en-US" b="1" i="1" dirty="0">
                <a:latin typeface="Times New Roman" panose="02020603050405020304" pitchFamily="18" charset="0"/>
                <a:cs typeface="Times New Roman" panose="02020603050405020304" pitchFamily="18" charset="0"/>
              </a:rPr>
              <a:t> inconsequential</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Persons with disabilities have </a:t>
            </a:r>
            <a:r>
              <a:rPr lang="en-US" b="1" dirty="0">
                <a:solidFill>
                  <a:srgbClr val="FF0000"/>
                </a:solidFill>
                <a:latin typeface="Times New Roman" panose="02020603050405020304" pitchFamily="18" charset="0"/>
                <a:cs typeface="Times New Roman" panose="02020603050405020304" pitchFamily="18" charset="0"/>
              </a:rPr>
              <a:t>diverse personal factors </a:t>
            </a:r>
            <a:r>
              <a:rPr lang="en-US" dirty="0">
                <a:latin typeface="Times New Roman" panose="02020603050405020304" pitchFamily="18" charset="0"/>
                <a:cs typeface="Times New Roman" panose="02020603050405020304" pitchFamily="18" charset="0"/>
              </a:rPr>
              <a:t>with differences in </a:t>
            </a:r>
            <a:r>
              <a:rPr lang="en-US" i="1" dirty="0">
                <a:latin typeface="Times New Roman" panose="02020603050405020304" pitchFamily="18" charset="0"/>
                <a:cs typeface="Times New Roman" panose="02020603050405020304" pitchFamily="18" charset="0"/>
              </a:rPr>
              <a:t>gender, age, language, socioeconomic status, sexuality, ethnicity, or cultural heritage</a:t>
            </a:r>
            <a:r>
              <a:rPr lang="en-US" dirty="0">
                <a:latin typeface="Times New Roman" panose="02020603050405020304" pitchFamily="18" charset="0"/>
                <a:cs typeface="Times New Roman" panose="02020603050405020304" pitchFamily="18" charset="0"/>
              </a:rPr>
              <a:t>.</a:t>
            </a:r>
          </a:p>
          <a:p>
            <a:r>
              <a:rPr lang="en-US" b="1" dirty="0">
                <a:highlight>
                  <a:srgbClr val="FFFF00"/>
                </a:highlight>
                <a:latin typeface="Times New Roman" panose="02020603050405020304" pitchFamily="18" charset="0"/>
                <a:cs typeface="Times New Roman" panose="02020603050405020304" pitchFamily="18" charset="0"/>
              </a:rPr>
              <a:t>Many people with disabilities do not consider themselves to be unhealthy.</a:t>
            </a:r>
          </a:p>
          <a:p>
            <a:r>
              <a:rPr lang="en-US" dirty="0">
                <a:latin typeface="Times New Roman" panose="02020603050405020304" pitchFamily="18" charset="0"/>
                <a:cs typeface="Times New Roman" panose="02020603050405020304" pitchFamily="18" charset="0"/>
              </a:rPr>
              <a:t>While disability correlates with </a:t>
            </a:r>
            <a:r>
              <a:rPr lang="en-US" b="1" i="1" dirty="0">
                <a:latin typeface="Times New Roman" panose="02020603050405020304" pitchFamily="18" charset="0"/>
                <a:cs typeface="Times New Roman" panose="02020603050405020304" pitchFamily="18" charset="0"/>
              </a:rPr>
              <a:t>disadvantage</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not all people with disabilities are equally disadvantaged</a:t>
            </a:r>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Women with disabilities experience the combined disadvantages associated with gender as well as disability, and may be less likely to marry than non-disabled women.</a:t>
            </a:r>
          </a:p>
          <a:p>
            <a:r>
              <a:rPr lang="en-US" dirty="0">
                <a:latin typeface="Times New Roman" panose="02020603050405020304" pitchFamily="18" charset="0"/>
                <a:cs typeface="Times New Roman" panose="02020603050405020304" pitchFamily="18" charset="0"/>
              </a:rPr>
              <a:t>People who experience </a:t>
            </a:r>
            <a:r>
              <a:rPr lang="en-US" b="1" i="1" dirty="0">
                <a:latin typeface="Times New Roman" panose="02020603050405020304" pitchFamily="18" charset="0"/>
                <a:cs typeface="Times New Roman" panose="02020603050405020304" pitchFamily="18" charset="0"/>
              </a:rPr>
              <a:t>mental health conditions </a:t>
            </a:r>
            <a:r>
              <a:rPr lang="en-US" dirty="0">
                <a:latin typeface="Times New Roman" panose="02020603050405020304" pitchFamily="18" charset="0"/>
                <a:cs typeface="Times New Roman" panose="02020603050405020304" pitchFamily="18" charset="0"/>
              </a:rPr>
              <a:t>or intellectual impairments appear to be </a:t>
            </a:r>
            <a:r>
              <a:rPr lang="en-US" b="1" dirty="0">
                <a:latin typeface="Times New Roman" panose="02020603050405020304" pitchFamily="18" charset="0"/>
                <a:cs typeface="Times New Roman" panose="02020603050405020304" pitchFamily="18" charset="0"/>
              </a:rPr>
              <a:t>more disadvantaged </a:t>
            </a:r>
            <a:r>
              <a:rPr lang="en-US" dirty="0">
                <a:latin typeface="Times New Roman" panose="02020603050405020304" pitchFamily="18" charset="0"/>
                <a:cs typeface="Times New Roman" panose="02020603050405020304" pitchFamily="18" charset="0"/>
              </a:rPr>
              <a:t>in many settings than those who experience physical or sensory impairments.</a:t>
            </a:r>
          </a:p>
          <a:p>
            <a:r>
              <a:rPr lang="en-US" dirty="0">
                <a:latin typeface="Times New Roman" panose="02020603050405020304" pitchFamily="18" charset="0"/>
                <a:cs typeface="Times New Roman" panose="02020603050405020304" pitchFamily="18" charset="0"/>
              </a:rPr>
              <a:t>Conversely, </a:t>
            </a:r>
            <a:r>
              <a:rPr lang="en-US" b="1" i="1" dirty="0">
                <a:latin typeface="Times New Roman" panose="02020603050405020304" pitchFamily="18" charset="0"/>
                <a:cs typeface="Times New Roman" panose="02020603050405020304" pitchFamily="18" charset="0"/>
              </a:rPr>
              <a:t>wealth </a:t>
            </a:r>
            <a:r>
              <a:rPr lang="en-US" i="1" dirty="0">
                <a:latin typeface="Times New Roman" panose="02020603050405020304" pitchFamily="18" charset="0"/>
                <a:cs typeface="Times New Roman" panose="02020603050405020304" pitchFamily="18" charset="0"/>
              </a:rPr>
              <a:t>and</a:t>
            </a:r>
            <a:r>
              <a:rPr lang="en-US" b="1" i="1" dirty="0">
                <a:latin typeface="Times New Roman" panose="02020603050405020304" pitchFamily="18" charset="0"/>
                <a:cs typeface="Times New Roman" panose="02020603050405020304" pitchFamily="18" charset="0"/>
              </a:rPr>
              <a:t> status </a:t>
            </a:r>
            <a:r>
              <a:rPr lang="en-US" dirty="0">
                <a:latin typeface="Times New Roman" panose="02020603050405020304" pitchFamily="18" charset="0"/>
                <a:cs typeface="Times New Roman" panose="02020603050405020304" pitchFamily="18" charset="0"/>
              </a:rPr>
              <a:t>can help overcome activity limitations and participation restrictions.</a:t>
            </a:r>
          </a:p>
        </p:txBody>
      </p:sp>
      <p:sp>
        <p:nvSpPr>
          <p:cNvPr id="4" name="Slide Number Placeholder 3">
            <a:extLst>
              <a:ext uri="{FF2B5EF4-FFF2-40B4-BE49-F238E27FC236}">
                <a16:creationId xmlns:a16="http://schemas.microsoft.com/office/drawing/2014/main" xmlns="" id="{A838E5D1-AA04-11DE-2DCB-24564C71FF67}"/>
              </a:ext>
            </a:extLst>
          </p:cNvPr>
          <p:cNvSpPr>
            <a:spLocks noGrp="1"/>
          </p:cNvSpPr>
          <p:nvPr>
            <p:ph type="sldNum" sz="quarter" idx="12"/>
          </p:nvPr>
        </p:nvSpPr>
        <p:spPr/>
        <p:txBody>
          <a:bodyPr/>
          <a:lstStyle/>
          <a:p>
            <a:fld id="{29344CB4-3587-4451-B5F6-521D7FDB45C7}" type="slidenum">
              <a:rPr lang="en-US" smtClean="0"/>
              <a:t>6</a:t>
            </a:fld>
            <a:endParaRPr lang="en-US"/>
          </a:p>
        </p:txBody>
      </p:sp>
    </p:spTree>
    <p:extLst>
      <p:ext uri="{BB962C8B-B14F-4D97-AF65-F5344CB8AC3E}">
        <p14:creationId xmlns:p14="http://schemas.microsoft.com/office/powerpoint/2010/main" val="143705252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6038"/>
            <a:ext cx="9067800" cy="792162"/>
          </a:xfrm>
          <a:solidFill>
            <a:schemeClr val="accent6">
              <a:lumMod val="60000"/>
              <a:lumOff val="40000"/>
            </a:schemeClr>
          </a:solidFill>
        </p:spPr>
        <p:txBody>
          <a:bodyPr>
            <a:normAutofit/>
          </a:bodyPr>
          <a:lstStyle/>
          <a:p>
            <a:r>
              <a:rPr lang="en-US" sz="3200" b="1" dirty="0">
                <a:solidFill>
                  <a:srgbClr val="00B0F0"/>
                </a:solidFill>
                <a:latin typeface="Times New Roman" pitchFamily="18" charset="0"/>
                <a:cs typeface="Times New Roman" pitchFamily="18" charset="0"/>
              </a:rPr>
              <a:t>Impact</a:t>
            </a:r>
            <a:r>
              <a:rPr lang="en-US" sz="3200" b="1" dirty="0">
                <a:latin typeface="Times New Roman" pitchFamily="18" charset="0"/>
                <a:cs typeface="Times New Roman" pitchFamily="18" charset="0"/>
              </a:rPr>
              <a:t> of Disability</a:t>
            </a:r>
            <a:r>
              <a:rPr lang="en-US" sz="1800" b="1" dirty="0">
                <a:latin typeface="Times New Roman" pitchFamily="18" charset="0"/>
                <a:cs typeface="Times New Roman" pitchFamily="18" charset="0"/>
              </a:rPr>
              <a:t>… cont’d</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76200" y="838200"/>
            <a:ext cx="8915400" cy="5943600"/>
          </a:xfrm>
        </p:spPr>
        <p:txBody>
          <a:bodyPr>
            <a:normAutofit lnSpcReduction="10000"/>
          </a:bodyPr>
          <a:lstStyle/>
          <a:p>
            <a:pPr marL="514350" indent="-514350">
              <a:buFont typeface="+mj-lt"/>
              <a:buAutoNum type="arabicPeriod" startAt="2"/>
            </a:pPr>
            <a:r>
              <a:rPr lang="en-US" b="1" dirty="0">
                <a:solidFill>
                  <a:srgbClr val="7030A0"/>
                </a:solidFill>
                <a:latin typeface="Times New Roman" pitchFamily="18" charset="0"/>
                <a:cs typeface="Times New Roman" pitchFamily="18" charset="0"/>
              </a:rPr>
              <a:t>Economic Factors and Disability </a:t>
            </a:r>
            <a:endParaRPr lang="en-US" dirty="0">
              <a:solidFill>
                <a:srgbClr val="7030A0"/>
              </a:solidFill>
              <a:latin typeface="Times New Roman" pitchFamily="18" charset="0"/>
              <a:cs typeface="Times New Roman" pitchFamily="18" charset="0"/>
            </a:endParaRPr>
          </a:p>
          <a:p>
            <a:pPr marL="914400" lvl="1" indent="-514350"/>
            <a:r>
              <a:rPr lang="en-US" sz="2400" b="1" dirty="0">
                <a:latin typeface="Times New Roman" pitchFamily="18" charset="0"/>
                <a:cs typeface="Times New Roman" pitchFamily="18" charset="0"/>
              </a:rPr>
              <a:t>Poor economic assets </a:t>
            </a:r>
            <a:r>
              <a:rPr lang="en-US" sz="2400" dirty="0">
                <a:latin typeface="Times New Roman" pitchFamily="18" charset="0"/>
                <a:cs typeface="Times New Roman" pitchFamily="18" charset="0"/>
              </a:rPr>
              <a:t>are more likely to acquire pathologies that may be disabling. </a:t>
            </a:r>
          </a:p>
          <a:p>
            <a:pPr marL="914400" lvl="1" indent="-514350"/>
            <a:r>
              <a:rPr lang="en-US" sz="2400" b="1" dirty="0">
                <a:latin typeface="Times New Roman" pitchFamily="18" charset="0"/>
                <a:cs typeface="Times New Roman" pitchFamily="18" charset="0"/>
              </a:rPr>
              <a:t>Lack of access to quality</a:t>
            </a:r>
            <a:r>
              <a:rPr lang="en-US" sz="2400" dirty="0">
                <a:latin typeface="Times New Roman" pitchFamily="18" charset="0"/>
                <a:cs typeface="Times New Roman" pitchFamily="18" charset="0"/>
              </a:rPr>
              <a:t>/standard of medical facilities. </a:t>
            </a:r>
          </a:p>
          <a:p>
            <a:pPr marL="914400" lvl="1" indent="-514350"/>
            <a:r>
              <a:rPr lang="en-US" sz="2400" b="1" dirty="0">
                <a:latin typeface="Times New Roman" pitchFamily="18" charset="0"/>
                <a:cs typeface="Times New Roman" pitchFamily="18" charset="0"/>
              </a:rPr>
              <a:t>Complete lack of access</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to</a:t>
            </a:r>
            <a:r>
              <a:rPr lang="en-US" sz="2400" dirty="0">
                <a:latin typeface="Times New Roman" pitchFamily="18" charset="0"/>
                <a:cs typeface="Times New Roman" pitchFamily="18" charset="0"/>
              </a:rPr>
              <a:t> or a </a:t>
            </a:r>
            <a:r>
              <a:rPr lang="en-US" sz="2400" b="1" dirty="0">
                <a:latin typeface="Times New Roman" pitchFamily="18" charset="0"/>
                <a:cs typeface="Times New Roman" pitchFamily="18" charset="0"/>
              </a:rPr>
              <a:t>delay in presentation </a:t>
            </a:r>
            <a:r>
              <a:rPr lang="en-US" sz="2400" dirty="0">
                <a:latin typeface="Times New Roman" pitchFamily="18" charset="0"/>
                <a:cs typeface="Times New Roman" pitchFamily="18" charset="0"/>
              </a:rPr>
              <a:t>for medical care</a:t>
            </a:r>
          </a:p>
          <a:p>
            <a:pPr marL="914400" lvl="1" indent="-514350"/>
            <a:r>
              <a:rPr lang="en-US" sz="2400" b="1" dirty="0">
                <a:latin typeface="Times New Roman" pitchFamily="18" charset="0"/>
                <a:cs typeface="Times New Roman" pitchFamily="18" charset="0"/>
              </a:rPr>
              <a:t>Inadequate access </a:t>
            </a:r>
            <a:r>
              <a:rPr lang="en-US" sz="2400" dirty="0">
                <a:latin typeface="Times New Roman" pitchFamily="18" charset="0"/>
                <a:cs typeface="Times New Roman" pitchFamily="18" charset="0"/>
              </a:rPr>
              <a:t>to state-of-the-art medical care </a:t>
            </a:r>
          </a:p>
          <a:p>
            <a:pPr marL="914400" lvl="1" indent="-514350"/>
            <a:r>
              <a:rPr lang="en-US" sz="2400" b="1" dirty="0">
                <a:latin typeface="Times New Roman" pitchFamily="18" charset="0"/>
                <a:cs typeface="Times New Roman" pitchFamily="18" charset="0"/>
              </a:rPr>
              <a:t>Lack of access to personal assistance</a:t>
            </a:r>
            <a:r>
              <a:rPr lang="en-US" sz="2400" dirty="0">
                <a:latin typeface="Times New Roman" pitchFamily="18" charset="0"/>
                <a:cs typeface="Times New Roman" pitchFamily="18" charset="0"/>
              </a:rPr>
              <a:t> services or certain physical accommodations. </a:t>
            </a:r>
          </a:p>
          <a:p>
            <a:pPr marL="914400" lvl="1" indent="-514350"/>
            <a:r>
              <a:rPr lang="en-US" sz="2400" b="1" dirty="0">
                <a:latin typeface="Times New Roman" pitchFamily="18" charset="0"/>
                <a:cs typeface="Times New Roman" pitchFamily="18" charset="0"/>
              </a:rPr>
              <a:t>Lack of access to appropriate rehabilitation </a:t>
            </a:r>
            <a:r>
              <a:rPr lang="en-US" sz="2400" dirty="0">
                <a:latin typeface="Times New Roman" pitchFamily="18" charset="0"/>
                <a:cs typeface="Times New Roman" pitchFamily="18" charset="0"/>
              </a:rPr>
              <a:t>services </a:t>
            </a:r>
          </a:p>
          <a:p>
            <a:pPr marL="914400" lvl="1" indent="-514350"/>
            <a:r>
              <a:rPr lang="en-US" sz="2400" b="1" dirty="0">
                <a:latin typeface="Times New Roman" pitchFamily="18" charset="0"/>
                <a:cs typeface="Times New Roman" pitchFamily="18" charset="0"/>
              </a:rPr>
              <a:t>Lack of access to public transportation </a:t>
            </a:r>
            <a:r>
              <a:rPr lang="en-US" sz="2400" dirty="0">
                <a:latin typeface="Times New Roman" pitchFamily="18" charset="0"/>
                <a:cs typeface="Times New Roman" pitchFamily="18" charset="0"/>
              </a:rPr>
              <a:t>and public buildings.</a:t>
            </a:r>
          </a:p>
          <a:p>
            <a:pPr marL="914400" lvl="1" indent="-514350"/>
            <a:r>
              <a:rPr lang="en-US" sz="2400" dirty="0">
                <a:latin typeface="Times New Roman" pitchFamily="18" charset="0"/>
                <a:cs typeface="Times New Roman" pitchFamily="18" charset="0"/>
              </a:rPr>
              <a:t>Economic status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affects</a:t>
            </a:r>
            <a:r>
              <a:rPr lang="en-US" sz="2400"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sz="2400" dirty="0">
                <a:latin typeface="Times New Roman" pitchFamily="18" charset="0"/>
                <a:cs typeface="Times New Roman" pitchFamily="18" charset="0"/>
              </a:rPr>
              <a:t>whether pathology will proceed to impairment .</a:t>
            </a:r>
          </a:p>
          <a:p>
            <a:pPr marL="914400" lvl="1" indent="-514350"/>
            <a:r>
              <a:rPr lang="en-US" sz="2400" b="1" dirty="0">
                <a:latin typeface="Times New Roman" pitchFamily="18" charset="0"/>
                <a:cs typeface="Times New Roman" pitchFamily="18" charset="0"/>
              </a:rPr>
              <a:t>Economic status of the region or nation </a:t>
            </a:r>
          </a:p>
          <a:p>
            <a:pPr marL="914400" lvl="1" indent="-514350"/>
            <a:r>
              <a:rPr lang="en-US" sz="2600" b="1" dirty="0">
                <a:latin typeface="Times New Roman" pitchFamily="18" charset="0"/>
                <a:cs typeface="Times New Roman" pitchFamily="18" charset="0"/>
              </a:rPr>
              <a:t>Availability of disability compensation programs</a:t>
            </a:r>
          </a:p>
        </p:txBody>
      </p:sp>
      <p:sp>
        <p:nvSpPr>
          <p:cNvPr id="4" name="Slide Number Placeholder 3"/>
          <p:cNvSpPr>
            <a:spLocks noGrp="1"/>
          </p:cNvSpPr>
          <p:nvPr>
            <p:ph type="sldNum" sz="quarter" idx="12"/>
          </p:nvPr>
        </p:nvSpPr>
        <p:spPr/>
        <p:txBody>
          <a:bodyPr/>
          <a:lstStyle/>
          <a:p>
            <a:fld id="{29344CB4-3587-4451-B5F6-521D7FDB45C7}" type="slidenum">
              <a:rPr lang="en-US" smtClean="0"/>
              <a:t>7</a:t>
            </a:fld>
            <a:endParaRPr lang="en-US" dirty="0"/>
          </a:p>
        </p:txBody>
      </p:sp>
    </p:spTree>
    <p:extLst>
      <p:ext uri="{BB962C8B-B14F-4D97-AF65-F5344CB8AC3E}">
        <p14:creationId xmlns:p14="http://schemas.microsoft.com/office/powerpoint/2010/main" val="18892148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838200"/>
            <a:ext cx="8915400" cy="5943600"/>
          </a:xfrm>
        </p:spPr>
        <p:txBody>
          <a:bodyPr>
            <a:normAutofit lnSpcReduction="10000"/>
          </a:bodyPr>
          <a:lstStyle/>
          <a:p>
            <a:pPr marL="514350" indent="-514350">
              <a:buFont typeface="+mj-lt"/>
              <a:buAutoNum type="arabicPeriod" startAt="3"/>
            </a:pPr>
            <a:r>
              <a:rPr lang="en-US" b="1" dirty="0">
                <a:solidFill>
                  <a:srgbClr val="7030A0"/>
                </a:solidFill>
                <a:latin typeface="Times New Roman" pitchFamily="18" charset="0"/>
                <a:cs typeface="Times New Roman" pitchFamily="18" charset="0"/>
              </a:rPr>
              <a:t>Political Factors and Disability</a:t>
            </a:r>
          </a:p>
          <a:p>
            <a:pPr lvl="1"/>
            <a:r>
              <a:rPr lang="en-US" sz="3200" dirty="0">
                <a:latin typeface="Times New Roman" pitchFamily="18" charset="0"/>
                <a:cs typeface="Times New Roman" pitchFamily="18" charset="0"/>
              </a:rPr>
              <a:t>The </a:t>
            </a:r>
            <a:r>
              <a:rPr lang="en-US" sz="3200" b="1" dirty="0">
                <a:latin typeface="Times New Roman" pitchFamily="18" charset="0"/>
                <a:cs typeface="Times New Roman" pitchFamily="18" charset="0"/>
              </a:rPr>
              <a:t>political system</a:t>
            </a:r>
            <a:r>
              <a:rPr lang="en-US" sz="3200" dirty="0">
                <a:latin typeface="Times New Roman" pitchFamily="18" charset="0"/>
                <a:cs typeface="Times New Roman" pitchFamily="18" charset="0"/>
              </a:rPr>
              <a:t>, through its role in designing public policy.</a:t>
            </a:r>
          </a:p>
          <a:p>
            <a:pPr lvl="2"/>
            <a:r>
              <a:rPr lang="en-US" sz="2800" dirty="0">
                <a:latin typeface="Times New Roman" pitchFamily="18" charset="0"/>
                <a:cs typeface="Times New Roman" pitchFamily="18" charset="0"/>
              </a:rPr>
              <a:t>availability of </a:t>
            </a:r>
            <a:r>
              <a:rPr lang="en-US" sz="2800" b="1" dirty="0">
                <a:latin typeface="Times New Roman" pitchFamily="18" charset="0"/>
                <a:cs typeface="Times New Roman" pitchFamily="18" charset="0"/>
              </a:rPr>
              <a:t>public funds </a:t>
            </a:r>
            <a:r>
              <a:rPr lang="en-US" sz="2800" dirty="0">
                <a:latin typeface="Times New Roman" pitchFamily="18" charset="0"/>
                <a:cs typeface="Times New Roman" pitchFamily="18" charset="0"/>
              </a:rPr>
              <a:t>to make buildings and transportation systems accessible; to provide  </a:t>
            </a:r>
            <a:r>
              <a:rPr lang="en-US" sz="2800" i="1" dirty="0">
                <a:latin typeface="Times New Roman" panose="02020603050405020304" pitchFamily="18" charset="0"/>
                <a:cs typeface="Times New Roman" panose="02020603050405020304" pitchFamily="18" charset="0"/>
              </a:rPr>
              <a:t>training programs</a:t>
            </a:r>
            <a:r>
              <a:rPr lang="en-US" sz="2800" dirty="0">
                <a:latin typeface="Times New Roman" panose="02020603050405020304" pitchFamily="18" charset="0"/>
                <a:cs typeface="Times New Roman" panose="02020603050405020304" pitchFamily="18" charset="0"/>
              </a:rPr>
              <a:t>; to access to personal assistance services, etc.</a:t>
            </a:r>
          </a:p>
          <a:p>
            <a:pPr lvl="2"/>
            <a:r>
              <a:rPr lang="en-US" sz="2800" b="1" dirty="0">
                <a:latin typeface="Times New Roman" pitchFamily="18" charset="0"/>
                <a:cs typeface="Times New Roman" pitchFamily="18" charset="0"/>
              </a:rPr>
              <a:t>tax incentives-</a:t>
            </a:r>
            <a:r>
              <a:rPr lang="en-US" sz="2800" dirty="0">
                <a:latin typeface="Times New Roman" pitchFamily="18" charset="0"/>
                <a:cs typeface="Times New Roman" pitchFamily="18" charset="0"/>
              </a:rPr>
              <a:t> so that private parties may finance efforts themselves, </a:t>
            </a:r>
          </a:p>
          <a:p>
            <a:pPr lvl="2"/>
            <a:r>
              <a:rPr lang="en-US" sz="2800" dirty="0">
                <a:latin typeface="Times New Roman" pitchFamily="18" charset="0"/>
                <a:cs typeface="Times New Roman" pitchFamily="18" charset="0"/>
              </a:rPr>
              <a:t>the </a:t>
            </a:r>
            <a:r>
              <a:rPr lang="en-US" sz="2800" b="1" i="1" dirty="0">
                <a:latin typeface="Times New Roman" pitchFamily="18" charset="0"/>
                <a:cs typeface="Times New Roman" pitchFamily="18" charset="0"/>
              </a:rPr>
              <a:t>passage of civil rights legislation </a:t>
            </a:r>
            <a:r>
              <a:rPr lang="en-US" sz="2800" dirty="0">
                <a:latin typeface="Times New Roman" pitchFamily="18" charset="0"/>
                <a:cs typeface="Times New Roman" pitchFamily="18" charset="0"/>
              </a:rPr>
              <a:t>and providing adequate enforcement </a:t>
            </a:r>
          </a:p>
          <a:p>
            <a:pPr lvl="2"/>
            <a:r>
              <a:rPr lang="en-US" sz="2800" b="1" dirty="0">
                <a:latin typeface="Times New Roman" pitchFamily="18" charset="0"/>
                <a:cs typeface="Times New Roman" pitchFamily="18" charset="0"/>
              </a:rPr>
              <a:t>public laws </a:t>
            </a:r>
            <a:r>
              <a:rPr lang="en-US" sz="2800" dirty="0">
                <a:latin typeface="Times New Roman" pitchFamily="18" charset="0"/>
                <a:cs typeface="Times New Roman" pitchFamily="18" charset="0"/>
              </a:rPr>
              <a:t>requiring the private sector to make these accommodations in nonpublic buildings. </a:t>
            </a:r>
          </a:p>
          <a:p>
            <a:pPr lvl="1"/>
            <a:endParaRPr lang="en-US" dirty="0"/>
          </a:p>
        </p:txBody>
      </p:sp>
      <p:sp>
        <p:nvSpPr>
          <p:cNvPr id="4" name="Title 1"/>
          <p:cNvSpPr>
            <a:spLocks noGrp="1"/>
          </p:cNvSpPr>
          <p:nvPr>
            <p:ph type="title"/>
          </p:nvPr>
        </p:nvSpPr>
        <p:spPr>
          <a:xfrm>
            <a:off x="0" y="46038"/>
            <a:ext cx="9067800" cy="792162"/>
          </a:xfrm>
          <a:solidFill>
            <a:schemeClr val="accent6">
              <a:lumMod val="60000"/>
              <a:lumOff val="40000"/>
            </a:schemeClr>
          </a:solidFill>
        </p:spPr>
        <p:txBody>
          <a:bodyPr>
            <a:normAutofit/>
          </a:bodyPr>
          <a:lstStyle/>
          <a:p>
            <a:r>
              <a:rPr lang="en-US" sz="3200" b="1" dirty="0">
                <a:solidFill>
                  <a:srgbClr val="00B0F0"/>
                </a:solidFill>
                <a:latin typeface="Times New Roman" pitchFamily="18" charset="0"/>
                <a:cs typeface="Times New Roman" pitchFamily="18" charset="0"/>
              </a:rPr>
              <a:t>Impact</a:t>
            </a:r>
            <a:r>
              <a:rPr lang="en-US" sz="3200" b="1" dirty="0">
                <a:latin typeface="Times New Roman" pitchFamily="18" charset="0"/>
                <a:cs typeface="Times New Roman" pitchFamily="18" charset="0"/>
              </a:rPr>
              <a:t> of Disability</a:t>
            </a:r>
            <a:r>
              <a:rPr lang="en-US" sz="1800" b="1" dirty="0">
                <a:latin typeface="Times New Roman" pitchFamily="18" charset="0"/>
                <a:cs typeface="Times New Roman" pitchFamily="18" charset="0"/>
              </a:rPr>
              <a:t>… cont’d</a:t>
            </a:r>
            <a:endParaRPr lang="en-US" sz="3200" dirty="0">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fld id="{29344CB4-3587-4451-B5F6-521D7FDB45C7}" type="slidenum">
              <a:rPr lang="en-US" smtClean="0"/>
              <a:t>8</a:t>
            </a:fld>
            <a:endParaRPr lang="en-US"/>
          </a:p>
        </p:txBody>
      </p:sp>
    </p:spTree>
    <p:extLst>
      <p:ext uri="{BB962C8B-B14F-4D97-AF65-F5344CB8AC3E}">
        <p14:creationId xmlns:p14="http://schemas.microsoft.com/office/powerpoint/2010/main" val="37554344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066800"/>
            <a:ext cx="8839200" cy="5715000"/>
          </a:xfrm>
        </p:spPr>
        <p:txBody>
          <a:bodyPr>
            <a:normAutofit fontScale="62500" lnSpcReduction="20000"/>
          </a:bodyPr>
          <a:lstStyle/>
          <a:p>
            <a:pPr marL="0" indent="0">
              <a:buNone/>
            </a:pPr>
            <a:r>
              <a:rPr lang="en-US" sz="5100" b="1" dirty="0">
                <a:solidFill>
                  <a:srgbClr val="7030A0"/>
                </a:solidFill>
                <a:latin typeface="Times New Roman" pitchFamily="18" charset="0"/>
                <a:cs typeface="Times New Roman" pitchFamily="18" charset="0"/>
              </a:rPr>
              <a:t>4. Psychological Factors of Disability</a:t>
            </a:r>
          </a:p>
          <a:p>
            <a:pPr lvl="1"/>
            <a:r>
              <a:rPr lang="en-US" sz="3600" i="1" dirty="0">
                <a:latin typeface="Times New Roman" pitchFamily="18" charset="0"/>
                <a:cs typeface="Times New Roman" pitchFamily="18" charset="0"/>
              </a:rPr>
              <a:t>Such as </a:t>
            </a:r>
            <a:r>
              <a:rPr lang="en-US" sz="3100" i="1" dirty="0">
                <a:highlight>
                  <a:srgbClr val="FFFF00"/>
                </a:highlight>
                <a:latin typeface="Times New Roman" pitchFamily="18" charset="0"/>
                <a:cs typeface="Times New Roman" pitchFamily="18" charset="0"/>
              </a:rPr>
              <a:t>personal resources</a:t>
            </a:r>
            <a:r>
              <a:rPr lang="en-US" sz="3100" dirty="0">
                <a:latin typeface="Times New Roman" pitchFamily="18" charset="0"/>
                <a:cs typeface="Times New Roman" pitchFamily="18" charset="0"/>
              </a:rPr>
              <a:t>, </a:t>
            </a:r>
            <a:r>
              <a:rPr lang="en-US" sz="3100" i="1" dirty="0">
                <a:highlight>
                  <a:srgbClr val="00FF00"/>
                </a:highlight>
                <a:latin typeface="Times New Roman" pitchFamily="18" charset="0"/>
                <a:cs typeface="Times New Roman" pitchFamily="18" charset="0"/>
              </a:rPr>
              <a:t>personality traits</a:t>
            </a:r>
            <a:r>
              <a:rPr lang="en-US" sz="3100" dirty="0">
                <a:latin typeface="Times New Roman" pitchFamily="18" charset="0"/>
                <a:cs typeface="Times New Roman" pitchFamily="18" charset="0"/>
              </a:rPr>
              <a:t>, and </a:t>
            </a:r>
            <a:r>
              <a:rPr lang="en-US" sz="3100" i="1" dirty="0">
                <a:highlight>
                  <a:srgbClr val="00FFFF"/>
                </a:highlight>
                <a:latin typeface="Times New Roman" pitchFamily="18" charset="0"/>
                <a:cs typeface="Times New Roman" pitchFamily="18" charset="0"/>
              </a:rPr>
              <a:t>cognition</a:t>
            </a:r>
            <a:r>
              <a:rPr lang="en-US" sz="3100" i="1" dirty="0">
                <a:latin typeface="Times New Roman" pitchFamily="18" charset="0"/>
                <a:cs typeface="Times New Roman" pitchFamily="18" charset="0"/>
              </a:rPr>
              <a:t> determine the impact of disability</a:t>
            </a:r>
            <a:r>
              <a:rPr lang="en-US" sz="3100" dirty="0">
                <a:latin typeface="Times New Roman" pitchFamily="18" charset="0"/>
                <a:cs typeface="Times New Roman" pitchFamily="18" charset="0"/>
              </a:rPr>
              <a:t>.</a:t>
            </a:r>
          </a:p>
          <a:p>
            <a:pPr lvl="1"/>
            <a:r>
              <a:rPr lang="en-US" sz="3500" dirty="0">
                <a:highlight>
                  <a:srgbClr val="00FFFF"/>
                </a:highlight>
                <a:latin typeface="Times New Roman" pitchFamily="18" charset="0"/>
                <a:cs typeface="Times New Roman" pitchFamily="18" charset="0"/>
              </a:rPr>
              <a:t>These constructs affect both the </a:t>
            </a:r>
            <a:r>
              <a:rPr lang="en-US" sz="3500" b="1" dirty="0">
                <a:solidFill>
                  <a:srgbClr val="C00000"/>
                </a:solidFill>
                <a:highlight>
                  <a:srgbClr val="00FFFF"/>
                </a:highlight>
                <a:latin typeface="Times New Roman" pitchFamily="18" charset="0"/>
                <a:cs typeface="Times New Roman" pitchFamily="18" charset="0"/>
              </a:rPr>
              <a:t>expression of disability </a:t>
            </a:r>
            <a:r>
              <a:rPr lang="en-US" sz="3500" dirty="0">
                <a:highlight>
                  <a:srgbClr val="00FFFF"/>
                </a:highlight>
                <a:latin typeface="Times New Roman" pitchFamily="18" charset="0"/>
                <a:cs typeface="Times New Roman" pitchFamily="18" charset="0"/>
              </a:rPr>
              <a:t>and an individual's </a:t>
            </a:r>
            <a:r>
              <a:rPr lang="en-US" sz="3500" b="1" dirty="0">
                <a:solidFill>
                  <a:srgbClr val="C00000"/>
                </a:solidFill>
                <a:highlight>
                  <a:srgbClr val="00FFFF"/>
                </a:highlight>
                <a:latin typeface="Times New Roman" pitchFamily="18" charset="0"/>
                <a:cs typeface="Times New Roman" pitchFamily="18" charset="0"/>
              </a:rPr>
              <a:t>ability to adapt to </a:t>
            </a:r>
            <a:r>
              <a:rPr lang="en-US" sz="3500" dirty="0">
                <a:highlight>
                  <a:srgbClr val="00FFFF"/>
                </a:highlight>
                <a:latin typeface="Times New Roman" pitchFamily="18" charset="0"/>
                <a:cs typeface="Times New Roman" pitchFamily="18" charset="0"/>
              </a:rPr>
              <a:t>and </a:t>
            </a:r>
            <a:r>
              <a:rPr lang="en-US" sz="3500" b="1" dirty="0">
                <a:solidFill>
                  <a:srgbClr val="C00000"/>
                </a:solidFill>
                <a:highlight>
                  <a:srgbClr val="00FFFF"/>
                </a:highlight>
                <a:latin typeface="Times New Roman" pitchFamily="18" charset="0"/>
                <a:cs typeface="Times New Roman" pitchFamily="18" charset="0"/>
              </a:rPr>
              <a:t>react to it</a:t>
            </a:r>
            <a:r>
              <a:rPr lang="en-US" sz="3500" dirty="0">
                <a:highlight>
                  <a:srgbClr val="00FFFF"/>
                </a:highlight>
                <a:latin typeface="Times New Roman" pitchFamily="18" charset="0"/>
                <a:cs typeface="Times New Roman" pitchFamily="18" charset="0"/>
              </a:rPr>
              <a:t>.</a:t>
            </a:r>
          </a:p>
          <a:p>
            <a:r>
              <a:rPr lang="en-US" sz="3500" b="1" dirty="0">
                <a:latin typeface="Times New Roman" pitchFamily="18" charset="0"/>
                <a:cs typeface="Times New Roman" pitchFamily="18" charset="0"/>
              </a:rPr>
              <a:t>Four psychological constructs</a:t>
            </a:r>
            <a:r>
              <a:rPr lang="en-US" sz="3500" dirty="0">
                <a:latin typeface="Times New Roman" pitchFamily="18" charset="0"/>
                <a:cs typeface="Times New Roman" pitchFamily="18" charset="0"/>
              </a:rPr>
              <a:t>: including </a:t>
            </a:r>
            <a:r>
              <a:rPr lang="en-US" sz="3500" b="1" dirty="0">
                <a:latin typeface="Times New Roman" pitchFamily="18" charset="0"/>
                <a:cs typeface="Times New Roman" pitchFamily="18" charset="0"/>
              </a:rPr>
              <a:t>3 cognitive </a:t>
            </a:r>
            <a:r>
              <a:rPr lang="en-US" sz="3500" dirty="0">
                <a:latin typeface="Times New Roman" pitchFamily="18" charset="0"/>
                <a:cs typeface="Times New Roman" pitchFamily="18" charset="0"/>
              </a:rPr>
              <a:t>processes (</a:t>
            </a:r>
            <a:r>
              <a:rPr lang="en-US" dirty="0">
                <a:latin typeface="Times New Roman" panose="02020603050405020304" pitchFamily="18" charset="0"/>
                <a:cs typeface="Times New Roman" panose="02020603050405020304" pitchFamily="18" charset="0"/>
              </a:rPr>
              <a:t>consisting of thoughts, feelings, beliefs, and ways of viewing the world, others, and ourselves</a:t>
            </a:r>
            <a:r>
              <a:rPr lang="en-US" sz="3500" dirty="0">
                <a:latin typeface="Times New Roman" pitchFamily="18" charset="0"/>
                <a:cs typeface="Times New Roman" pitchFamily="18" charset="0"/>
              </a:rPr>
              <a:t>) and one </a:t>
            </a:r>
            <a:r>
              <a:rPr lang="en-US" sz="3500" b="1" dirty="0">
                <a:latin typeface="Times New Roman" pitchFamily="18" charset="0"/>
                <a:cs typeface="Times New Roman" pitchFamily="18" charset="0"/>
              </a:rPr>
              <a:t>personality disposition</a:t>
            </a:r>
            <a:endParaRPr lang="en-US" sz="3500" dirty="0">
              <a:latin typeface="Times New Roman" pitchFamily="18" charset="0"/>
              <a:cs typeface="Times New Roman" pitchFamily="18" charset="0"/>
            </a:endParaRPr>
          </a:p>
          <a:p>
            <a:pPr marL="1428750" lvl="2" indent="-514350">
              <a:buFont typeface="+mj-lt"/>
              <a:buAutoNum type="alphaUcPeriod"/>
            </a:pPr>
            <a:r>
              <a:rPr lang="en-US" sz="3500" b="1" dirty="0">
                <a:solidFill>
                  <a:srgbClr val="0070C0"/>
                </a:solidFill>
                <a:latin typeface="Times New Roman" pitchFamily="18" charset="0"/>
                <a:cs typeface="Times New Roman" pitchFamily="18" charset="0"/>
              </a:rPr>
              <a:t>self-efficacy</a:t>
            </a:r>
            <a:r>
              <a:rPr lang="en-US" sz="3500" dirty="0">
                <a:latin typeface="Times New Roman" pitchFamily="18" charset="0"/>
                <a:cs typeface="Times New Roman" pitchFamily="18" charset="0"/>
              </a:rPr>
              <a:t> beliefs, </a:t>
            </a:r>
          </a:p>
          <a:p>
            <a:pPr marL="1428750" lvl="2" indent="-514350">
              <a:buFont typeface="+mj-lt"/>
              <a:buAutoNum type="alphaUcPeriod"/>
            </a:pPr>
            <a:r>
              <a:rPr lang="en-US" sz="3500" b="1" dirty="0">
                <a:solidFill>
                  <a:srgbClr val="0070C0"/>
                </a:solidFill>
                <a:latin typeface="Times New Roman" pitchFamily="18" charset="0"/>
                <a:cs typeface="Times New Roman" pitchFamily="18" charset="0"/>
              </a:rPr>
              <a:t>psychological control (</a:t>
            </a:r>
            <a:r>
              <a:rPr lang="en-US" sz="3800" b="1" dirty="0">
                <a:latin typeface="Times New Roman" panose="02020603050405020304" pitchFamily="18" charset="0"/>
                <a:cs typeface="Times New Roman" panose="02020603050405020304" pitchFamily="18" charset="0"/>
              </a:rPr>
              <a:t>control beliefs </a:t>
            </a:r>
            <a:r>
              <a:rPr lang="en-US" sz="3500" b="1" dirty="0">
                <a:solidFill>
                  <a:srgbClr val="0070C0"/>
                </a:solidFill>
                <a:latin typeface="Times New Roman" pitchFamily="18" charset="0"/>
                <a:cs typeface="Times New Roman" pitchFamily="18" charset="0"/>
              </a:rPr>
              <a:t>)</a:t>
            </a:r>
            <a:r>
              <a:rPr lang="en-US" sz="3500" dirty="0">
                <a:latin typeface="Times New Roman" pitchFamily="18" charset="0"/>
                <a:cs typeface="Times New Roman" pitchFamily="18" charset="0"/>
              </a:rPr>
              <a:t>, and </a:t>
            </a:r>
          </a:p>
          <a:p>
            <a:pPr marL="1428750" lvl="2" indent="-514350">
              <a:buFont typeface="+mj-lt"/>
              <a:buAutoNum type="alphaUcPeriod"/>
            </a:pPr>
            <a:r>
              <a:rPr lang="en-US" sz="3500" b="1" dirty="0">
                <a:solidFill>
                  <a:srgbClr val="0070C0"/>
                </a:solidFill>
                <a:latin typeface="Times New Roman" pitchFamily="18" charset="0"/>
                <a:cs typeface="Times New Roman" pitchFamily="18" charset="0"/>
              </a:rPr>
              <a:t>coping patterns</a:t>
            </a:r>
            <a:r>
              <a:rPr lang="en-US" sz="3500" dirty="0">
                <a:latin typeface="Times New Roman" pitchFamily="18" charset="0"/>
                <a:cs typeface="Times New Roman" pitchFamily="18" charset="0"/>
              </a:rPr>
              <a:t>; and </a:t>
            </a:r>
          </a:p>
          <a:p>
            <a:pPr marL="1428750" lvl="2" indent="-514350">
              <a:buFont typeface="+mj-lt"/>
              <a:buAutoNum type="alphaUcPeriod"/>
            </a:pPr>
            <a:r>
              <a:rPr lang="en-US" sz="3500" b="1" dirty="0">
                <a:solidFill>
                  <a:srgbClr val="0070C0"/>
                </a:solidFill>
                <a:latin typeface="Times New Roman" pitchFamily="18" charset="0"/>
                <a:cs typeface="Times New Roman" pitchFamily="18" charset="0"/>
              </a:rPr>
              <a:t>personality disposition </a:t>
            </a:r>
            <a:r>
              <a:rPr lang="en-US" sz="3500" dirty="0">
                <a:latin typeface="Times New Roman" pitchFamily="18" charset="0"/>
                <a:cs typeface="Times New Roman" pitchFamily="18" charset="0"/>
              </a:rPr>
              <a:t>(optimism). </a:t>
            </a:r>
            <a:endParaRPr lang="en-US" sz="3500" dirty="0"/>
          </a:p>
          <a:p>
            <a:r>
              <a:rPr lang="en-US" sz="3500" b="1" i="1" dirty="0">
                <a:solidFill>
                  <a:srgbClr val="002060"/>
                </a:solidFill>
                <a:latin typeface="Times New Roman" pitchFamily="18" charset="0"/>
                <a:cs typeface="Times New Roman" pitchFamily="18" charset="0"/>
              </a:rPr>
              <a:t>People respond to disabilities in different ways</a:t>
            </a:r>
            <a:r>
              <a:rPr lang="en-US" sz="3500" dirty="0">
                <a:latin typeface="Times New Roman" pitchFamily="18" charset="0"/>
                <a:cs typeface="Times New Roman" pitchFamily="18" charset="0"/>
              </a:rPr>
              <a:t>. </a:t>
            </a:r>
          </a:p>
          <a:p>
            <a:pPr lvl="1"/>
            <a:r>
              <a:rPr lang="en-US" sz="3500" b="1" dirty="0">
                <a:latin typeface="Times New Roman" pitchFamily="18" charset="0"/>
                <a:cs typeface="Times New Roman" pitchFamily="18" charset="0"/>
              </a:rPr>
              <a:t>Some react negatively </a:t>
            </a:r>
            <a:r>
              <a:rPr lang="en-US" sz="3500" dirty="0">
                <a:latin typeface="Times New Roman" pitchFamily="18" charset="0"/>
                <a:cs typeface="Times New Roman" pitchFamily="18" charset="0"/>
              </a:rPr>
              <a:t>and thus their quality of life is negatively affected. </a:t>
            </a:r>
          </a:p>
          <a:p>
            <a:pPr lvl="1"/>
            <a:r>
              <a:rPr lang="en-US" sz="3500" b="1" dirty="0">
                <a:latin typeface="Times New Roman" pitchFamily="18" charset="0"/>
                <a:cs typeface="Times New Roman" pitchFamily="18" charset="0"/>
              </a:rPr>
              <a:t>Others choose to focus on their abilities </a:t>
            </a:r>
            <a:r>
              <a:rPr lang="en-US" sz="3500" dirty="0">
                <a:latin typeface="Times New Roman" pitchFamily="18" charset="0"/>
                <a:cs typeface="Times New Roman" pitchFamily="18" charset="0"/>
              </a:rPr>
              <a:t>as opposed to their disabilities and continue to live a productive life.</a:t>
            </a:r>
          </a:p>
        </p:txBody>
      </p:sp>
      <p:sp>
        <p:nvSpPr>
          <p:cNvPr id="4" name="Slide Number Placeholder 3"/>
          <p:cNvSpPr>
            <a:spLocks noGrp="1"/>
          </p:cNvSpPr>
          <p:nvPr>
            <p:ph type="sldNum" sz="quarter" idx="12"/>
          </p:nvPr>
        </p:nvSpPr>
        <p:spPr/>
        <p:txBody>
          <a:bodyPr/>
          <a:lstStyle/>
          <a:p>
            <a:fld id="{29344CB4-3587-4451-B5F6-521D7FDB45C7}" type="slidenum">
              <a:rPr lang="en-US" smtClean="0"/>
              <a:t>9</a:t>
            </a:fld>
            <a:endParaRPr lang="en-US" dirty="0"/>
          </a:p>
        </p:txBody>
      </p:sp>
      <p:sp>
        <p:nvSpPr>
          <p:cNvPr id="5" name="Title 1"/>
          <p:cNvSpPr>
            <a:spLocks noGrp="1"/>
          </p:cNvSpPr>
          <p:nvPr>
            <p:ph type="title"/>
          </p:nvPr>
        </p:nvSpPr>
        <p:spPr>
          <a:xfrm>
            <a:off x="0" y="0"/>
            <a:ext cx="9067800" cy="868362"/>
          </a:xfrm>
          <a:solidFill>
            <a:schemeClr val="accent6">
              <a:lumMod val="60000"/>
              <a:lumOff val="40000"/>
            </a:schemeClr>
          </a:solidFill>
        </p:spPr>
        <p:txBody>
          <a:bodyPr>
            <a:normAutofit/>
          </a:bodyPr>
          <a:lstStyle/>
          <a:p>
            <a:r>
              <a:rPr lang="en-US" sz="3200" b="1" dirty="0">
                <a:solidFill>
                  <a:srgbClr val="00B0F0"/>
                </a:solidFill>
                <a:latin typeface="Times New Roman" pitchFamily="18" charset="0"/>
                <a:cs typeface="Times New Roman" pitchFamily="18" charset="0"/>
              </a:rPr>
              <a:t>Impact</a:t>
            </a:r>
            <a:r>
              <a:rPr lang="en-US" sz="3200" b="1" dirty="0">
                <a:latin typeface="Times New Roman" pitchFamily="18" charset="0"/>
                <a:cs typeface="Times New Roman" pitchFamily="18" charset="0"/>
              </a:rPr>
              <a:t> of Disability</a:t>
            </a:r>
            <a:r>
              <a:rPr lang="en-US" sz="1800" b="1" dirty="0">
                <a:latin typeface="Times New Roman" pitchFamily="18" charset="0"/>
                <a:cs typeface="Times New Roman" pitchFamily="18" charset="0"/>
              </a:rPr>
              <a:t>… cont’d</a:t>
            </a:r>
            <a:endParaRPr lang="en-US" sz="3200" dirty="0">
              <a:latin typeface="Times New Roman" pitchFamily="18" charset="0"/>
              <a:cs typeface="Times New Roman" pitchFamily="18" charset="0"/>
            </a:endParaRPr>
          </a:p>
        </p:txBody>
      </p:sp>
    </p:spTree>
    <p:extLst>
      <p:ext uri="{BB962C8B-B14F-4D97-AF65-F5344CB8AC3E}">
        <p14:creationId xmlns:p14="http://schemas.microsoft.com/office/powerpoint/2010/main" val="4735988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BB59AB-066E-89BC-684D-9043CB7528BA}"/>
              </a:ext>
            </a:extLst>
          </p:cNvPr>
          <p:cNvSpPr>
            <a:spLocks noGrp="1"/>
          </p:cNvSpPr>
          <p:nvPr>
            <p:ph type="title"/>
          </p:nvPr>
        </p:nvSpPr>
        <p:spPr>
          <a:xfrm>
            <a:off x="0" y="76200"/>
            <a:ext cx="9144000" cy="1066800"/>
          </a:xfrm>
          <a:solidFill>
            <a:schemeClr val="accent6">
              <a:lumMod val="40000"/>
              <a:lumOff val="60000"/>
            </a:schemeClr>
          </a:solidFill>
        </p:spPr>
        <p:txBody>
          <a:bodyPr/>
          <a:lstStyle/>
          <a:p>
            <a:r>
              <a:rPr lang="en-US" b="1" dirty="0">
                <a:solidFill>
                  <a:srgbClr val="00B0F0"/>
                </a:solidFill>
                <a:latin typeface="Times New Roman" pitchFamily="18" charset="0"/>
                <a:cs typeface="Times New Roman" pitchFamily="18" charset="0"/>
              </a:rPr>
              <a:t>Impact</a:t>
            </a:r>
            <a:r>
              <a:rPr lang="en-US" b="1" dirty="0">
                <a:latin typeface="Times New Roman" pitchFamily="18" charset="0"/>
                <a:cs typeface="Times New Roman" pitchFamily="18" charset="0"/>
              </a:rPr>
              <a:t> of Disability</a:t>
            </a:r>
            <a:r>
              <a:rPr lang="en-US" sz="2800" b="1" dirty="0">
                <a:latin typeface="Times New Roman" pitchFamily="18" charset="0"/>
                <a:cs typeface="Times New Roman" pitchFamily="18" charset="0"/>
              </a:rPr>
              <a:t>… cont’d</a:t>
            </a:r>
            <a:endParaRPr lang="en-US" dirty="0"/>
          </a:p>
        </p:txBody>
      </p:sp>
      <p:sp>
        <p:nvSpPr>
          <p:cNvPr id="3" name="Content Placeholder 2">
            <a:extLst>
              <a:ext uri="{FF2B5EF4-FFF2-40B4-BE49-F238E27FC236}">
                <a16:creationId xmlns:a16="http://schemas.microsoft.com/office/drawing/2014/main" xmlns="" id="{D77A3DEB-DF44-F6C5-727B-8EF8504C5452}"/>
              </a:ext>
            </a:extLst>
          </p:cNvPr>
          <p:cNvSpPr>
            <a:spLocks noGrp="1"/>
          </p:cNvSpPr>
          <p:nvPr>
            <p:ph idx="1"/>
          </p:nvPr>
        </p:nvSpPr>
        <p:spPr>
          <a:xfrm>
            <a:off x="152400" y="1219200"/>
            <a:ext cx="8839200" cy="5502275"/>
          </a:xfrm>
        </p:spPr>
        <p:txBody>
          <a:bodyPr>
            <a:normAutofit fontScale="92500" lnSpcReduction="10000"/>
          </a:bodyPr>
          <a:lstStyle/>
          <a:p>
            <a:pPr marL="514350" indent="-514350">
              <a:buFont typeface="+mj-lt"/>
              <a:buAutoNum type="alphaUcPeriod"/>
            </a:pPr>
            <a:r>
              <a:rPr lang="en-US" b="1" dirty="0">
                <a:solidFill>
                  <a:srgbClr val="0070C0"/>
                </a:solidFill>
                <a:latin typeface="Times New Roman" panose="02020603050405020304" pitchFamily="18" charset="0"/>
                <a:cs typeface="Times New Roman" pitchFamily="18" charset="0"/>
              </a:rPr>
              <a:t>Self-efficacy</a:t>
            </a:r>
            <a:endParaRPr lang="en-US" dirty="0">
              <a:latin typeface="Times New Roman" panose="02020603050405020304" pitchFamily="18" charset="0"/>
              <a:cs typeface="Times New Roman" pitchFamily="18" charset="0"/>
            </a:endParaRPr>
          </a:p>
          <a:p>
            <a:pPr lvl="1"/>
            <a:r>
              <a:rPr lang="en-US" sz="2400" b="1" dirty="0">
                <a:latin typeface="Times New Roman" panose="02020603050405020304" pitchFamily="18" charset="0"/>
                <a:cs typeface="Times New Roman" pitchFamily="18" charset="0"/>
              </a:rPr>
              <a:t>Beliefs about one's abilities </a:t>
            </a:r>
            <a:r>
              <a:rPr lang="en-US" sz="2400" dirty="0">
                <a:latin typeface="Times New Roman" panose="02020603050405020304" pitchFamily="18" charset="0"/>
                <a:cs typeface="Times New Roman" pitchFamily="18" charset="0"/>
              </a:rPr>
              <a:t>that can affect </a:t>
            </a:r>
          </a:p>
          <a:p>
            <a:pPr lvl="2"/>
            <a:r>
              <a:rPr lang="en-US" sz="2000" dirty="0">
                <a:latin typeface="Times New Roman" panose="02020603050405020304" pitchFamily="18" charset="0"/>
                <a:cs typeface="Times New Roman" panose="02020603050405020304" pitchFamily="18" charset="0"/>
              </a:rPr>
              <a:t>what a person chooses to do, </a:t>
            </a:r>
          </a:p>
          <a:p>
            <a:pPr lvl="2"/>
            <a:r>
              <a:rPr lang="en-US" sz="2000" dirty="0">
                <a:latin typeface="Times New Roman" panose="02020603050405020304" pitchFamily="18" charset="0"/>
                <a:cs typeface="Times New Roman" panose="02020603050405020304" pitchFamily="18" charset="0"/>
              </a:rPr>
              <a:t>how much effort is put into a task, and </a:t>
            </a:r>
          </a:p>
          <a:p>
            <a:pPr lvl="2"/>
            <a:r>
              <a:rPr lang="en-US" sz="2000" dirty="0">
                <a:latin typeface="Times New Roman" panose="02020603050405020304" pitchFamily="18" charset="0"/>
                <a:cs typeface="Times New Roman" panose="02020603050405020304" pitchFamily="18" charset="0"/>
              </a:rPr>
              <a:t>how long an individual will endure when there are difficulties. </a:t>
            </a:r>
          </a:p>
          <a:p>
            <a:pPr lvl="1"/>
            <a:r>
              <a:rPr lang="en-US" sz="2400" dirty="0">
                <a:latin typeface="Times New Roman" panose="02020603050405020304" pitchFamily="18" charset="0"/>
                <a:cs typeface="Times New Roman" panose="02020603050405020304" pitchFamily="18" charset="0"/>
              </a:rPr>
              <a:t>Self-efficacy beliefs also affect the person's affective and emotional responses.</a:t>
            </a:r>
          </a:p>
          <a:p>
            <a:pPr lvl="1"/>
            <a:r>
              <a:rPr lang="en-US" sz="2400" dirty="0">
                <a:latin typeface="Times New Roman" panose="02020603050405020304" pitchFamily="18" charset="0"/>
                <a:cs typeface="Times New Roman" panose="02020603050405020304" pitchFamily="18" charset="0"/>
              </a:rPr>
              <a:t>Under conditions of </a:t>
            </a:r>
            <a:r>
              <a:rPr lang="en-US" sz="2400" b="1" dirty="0">
                <a:latin typeface="Times New Roman" panose="02020603050405020304" pitchFamily="18" charset="0"/>
                <a:cs typeface="Times New Roman" panose="02020603050405020304" pitchFamily="18" charset="0"/>
              </a:rPr>
              <a:t>high self-efficacy</a:t>
            </a:r>
            <a:r>
              <a:rPr lang="en-US" sz="2400" dirty="0">
                <a:latin typeface="Times New Roman" panose="02020603050405020304" pitchFamily="18" charset="0"/>
                <a:cs typeface="Times New Roman" panose="02020603050405020304" pitchFamily="18" charset="0"/>
              </a:rPr>
              <a:t>, a person's outlook and mental health status will remain positive even under stressful and aversive situations. </a:t>
            </a:r>
          </a:p>
          <a:p>
            <a:pPr lvl="1"/>
            <a:r>
              <a:rPr lang="en-US" sz="2400" dirty="0">
                <a:latin typeface="Times New Roman" panose="02020603050405020304" pitchFamily="18" charset="0"/>
                <a:cs typeface="Times New Roman" panose="02020603050405020304" pitchFamily="18" charset="0"/>
              </a:rPr>
              <a:t>Under conditions of </a:t>
            </a:r>
            <a:r>
              <a:rPr lang="en-US" sz="2400" b="1" dirty="0">
                <a:latin typeface="Times New Roman" panose="02020603050405020304" pitchFamily="18" charset="0"/>
                <a:cs typeface="Times New Roman" panose="02020603050405020304" pitchFamily="18" charset="0"/>
              </a:rPr>
              <a:t>low self-efficacy</a:t>
            </a:r>
            <a:r>
              <a:rPr lang="en-US" sz="2400" dirty="0">
                <a:latin typeface="Times New Roman" panose="02020603050405020304" pitchFamily="18" charset="0"/>
                <a:cs typeface="Times New Roman" panose="02020603050405020304" pitchFamily="18" charset="0"/>
              </a:rPr>
              <a:t>, mental health may suffer even when environmental conditions are favorable</a:t>
            </a:r>
            <a:r>
              <a:rPr lang="en-US" sz="2400" dirty="0"/>
              <a:t>. </a:t>
            </a:r>
          </a:p>
          <a:p>
            <a:pPr lvl="2"/>
            <a:r>
              <a:rPr lang="en-US" sz="2000" dirty="0">
                <a:latin typeface="Times New Roman" panose="02020603050405020304" pitchFamily="18" charset="0"/>
                <a:cs typeface="Times New Roman" panose="02020603050405020304" pitchFamily="18" charset="0"/>
              </a:rPr>
              <a:t>E.g., a person who experience stroke (effort to contain progress, attending rehabilitation center, confidence even when relapse happens, </a:t>
            </a:r>
            <a:r>
              <a:rPr lang="en-US" sz="2000" dirty="0" err="1">
                <a:latin typeface="Times New Roman" panose="02020603050405020304" pitchFamily="18" charset="0"/>
                <a:cs typeface="Times New Roman" panose="02020603050405020304" pitchFamily="18" charset="0"/>
              </a:rPr>
              <a:t>etc</a:t>
            </a:r>
            <a:r>
              <a:rPr lang="en-US" sz="2000" dirty="0">
                <a:latin typeface="Times New Roman" panose="02020603050405020304" pitchFamily="18" charset="0"/>
                <a:cs typeface="Times New Roman" panose="02020603050405020304" pitchFamily="18" charset="0"/>
              </a:rPr>
              <a:t>)</a:t>
            </a:r>
          </a:p>
          <a:p>
            <a:pPr lvl="1"/>
            <a:r>
              <a:rPr lang="en-US" sz="2400" dirty="0">
                <a:latin typeface="Times New Roman" panose="02020603050405020304" pitchFamily="18" charset="0"/>
                <a:cs typeface="Times New Roman" panose="02020603050405020304" pitchFamily="18" charset="0"/>
              </a:rPr>
              <a:t>The development of self-efficacy of the individual is much affected by the environmental factors  </a:t>
            </a:r>
          </a:p>
        </p:txBody>
      </p:sp>
      <p:sp>
        <p:nvSpPr>
          <p:cNvPr id="4" name="Slide Number Placeholder 3">
            <a:extLst>
              <a:ext uri="{FF2B5EF4-FFF2-40B4-BE49-F238E27FC236}">
                <a16:creationId xmlns:a16="http://schemas.microsoft.com/office/drawing/2014/main" xmlns="" id="{DA6691B7-1CCE-13AC-1FB4-C6937F21E8FE}"/>
              </a:ext>
            </a:extLst>
          </p:cNvPr>
          <p:cNvSpPr>
            <a:spLocks noGrp="1"/>
          </p:cNvSpPr>
          <p:nvPr>
            <p:ph type="sldNum" sz="quarter" idx="12"/>
          </p:nvPr>
        </p:nvSpPr>
        <p:spPr/>
        <p:txBody>
          <a:bodyPr/>
          <a:lstStyle/>
          <a:p>
            <a:fld id="{29344CB4-3587-4451-B5F6-521D7FDB45C7}" type="slidenum">
              <a:rPr lang="en-US" smtClean="0"/>
              <a:t>10</a:t>
            </a:fld>
            <a:endParaRPr lang="en-US"/>
          </a:p>
        </p:txBody>
      </p:sp>
    </p:spTree>
    <p:extLst>
      <p:ext uri="{BB962C8B-B14F-4D97-AF65-F5344CB8AC3E}">
        <p14:creationId xmlns:p14="http://schemas.microsoft.com/office/powerpoint/2010/main" val="30323948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914400"/>
            <a:ext cx="8915400" cy="5867400"/>
          </a:xfrm>
        </p:spPr>
        <p:txBody>
          <a:bodyPr>
            <a:normAutofit fontScale="92500" lnSpcReduction="10000"/>
          </a:bodyPr>
          <a:lstStyle/>
          <a:p>
            <a:pPr marL="514350" indent="-514350">
              <a:buFont typeface="+mj-lt"/>
              <a:buAutoNum type="alphaUcPeriod" startAt="2"/>
            </a:pPr>
            <a:r>
              <a:rPr lang="en-US" sz="3000" b="1" dirty="0">
                <a:solidFill>
                  <a:srgbClr val="0070C0"/>
                </a:solidFill>
                <a:latin typeface="Times New Roman" pitchFamily="18" charset="0"/>
                <a:cs typeface="Times New Roman" pitchFamily="18" charset="0"/>
              </a:rPr>
              <a:t>Psychological control</a:t>
            </a:r>
            <a:r>
              <a:rPr lang="en-US" sz="3000" dirty="0">
                <a:solidFill>
                  <a:srgbClr val="0070C0"/>
                </a:solidFill>
                <a:latin typeface="Times New Roman" pitchFamily="18" charset="0"/>
                <a:cs typeface="Times New Roman" pitchFamily="18" charset="0"/>
              </a:rPr>
              <a:t> </a:t>
            </a:r>
            <a:r>
              <a:rPr lang="en-US" sz="2400" b="1" dirty="0">
                <a:effectLst>
                  <a:outerShdw blurRad="38100" dist="38100" dir="2700000" algn="tl">
                    <a:srgbClr val="000000">
                      <a:alpha val="43137"/>
                    </a:srgbClr>
                  </a:outerShdw>
                </a:effectLst>
                <a:latin typeface="Times New Roman" pitchFamily="18" charset="0"/>
                <a:cs typeface="Times New Roman" pitchFamily="18" charset="0"/>
              </a:rPr>
              <a:t> </a:t>
            </a:r>
          </a:p>
          <a:p>
            <a:pPr lvl="1"/>
            <a:r>
              <a:rPr lang="en-US" sz="2400" dirty="0">
                <a:latin typeface="Times New Roman" panose="02020603050405020304" pitchFamily="18" charset="0"/>
                <a:cs typeface="Times New Roman" panose="02020603050405020304" pitchFamily="18" charset="0"/>
              </a:rPr>
              <a:t>What is most critical for </a:t>
            </a:r>
            <a:r>
              <a:rPr lang="en-US" sz="2400" b="1" dirty="0">
                <a:latin typeface="Times New Roman" panose="02020603050405020304" pitchFamily="18" charset="0"/>
                <a:cs typeface="Times New Roman" panose="02020603050405020304" pitchFamily="18" charset="0"/>
              </a:rPr>
              <a:t>adaptive functioning </a:t>
            </a:r>
            <a:r>
              <a:rPr lang="en-US" sz="2400" dirty="0">
                <a:latin typeface="Times New Roman" panose="02020603050405020304" pitchFamily="18" charset="0"/>
                <a:cs typeface="Times New Roman" panose="02020603050405020304" pitchFamily="18" charset="0"/>
              </a:rPr>
              <a:t>is how a person responds to loss or potential loss and what efforts the person puts forth to regain control. </a:t>
            </a:r>
          </a:p>
          <a:p>
            <a:pPr lvl="1"/>
            <a:r>
              <a:rPr lang="en-US" sz="2400" dirty="0">
                <a:latin typeface="Times New Roman" panose="02020603050405020304" pitchFamily="18" charset="0"/>
                <a:cs typeface="Times New Roman" panose="02020603050405020304" pitchFamily="18" charset="0"/>
              </a:rPr>
              <a:t>Perceptions of control will influence whether disabling environmental conditions are seen as stressful and consequently whether it becomes disabling. </a:t>
            </a:r>
          </a:p>
          <a:p>
            <a:pPr lvl="1"/>
            <a:r>
              <a:rPr lang="en-US" sz="2400" dirty="0">
                <a:latin typeface="Times New Roman" panose="02020603050405020304" pitchFamily="18" charset="0"/>
                <a:cs typeface="Times New Roman" panose="02020603050405020304" pitchFamily="18" charset="0"/>
              </a:rPr>
              <a:t>The individuals control over themselves depends on the provision of the environments: accessibility or inaccessibility. </a:t>
            </a:r>
          </a:p>
          <a:p>
            <a:pPr marL="514350" indent="-514350">
              <a:buFont typeface="+mj-lt"/>
              <a:buAutoNum type="alphaUcPeriod" startAt="2"/>
            </a:pPr>
            <a:r>
              <a:rPr lang="en-US" sz="3000" b="1" dirty="0">
                <a:solidFill>
                  <a:srgbClr val="0070C0"/>
                </a:solidFill>
                <a:latin typeface="Times New Roman" pitchFamily="18" charset="0"/>
                <a:cs typeface="Times New Roman" pitchFamily="18" charset="0"/>
              </a:rPr>
              <a:t>Coping strategies </a:t>
            </a:r>
          </a:p>
          <a:p>
            <a:pPr lvl="1"/>
            <a:r>
              <a:rPr lang="en-US" sz="2400" dirty="0">
                <a:latin typeface="Times New Roman" panose="02020603050405020304" pitchFamily="18" charset="0"/>
                <a:cs typeface="Times New Roman" panose="02020603050405020304" pitchFamily="18" charset="0"/>
              </a:rPr>
              <a:t>Coping patterns refer to behavioral and cognitive efforts to manage specific internal or external demands that tax or exceed a person's resources to adjust. </a:t>
            </a:r>
          </a:p>
          <a:p>
            <a:pPr lvl="1"/>
            <a:r>
              <a:rPr lang="en-US" sz="2400" dirty="0">
                <a:latin typeface="Times New Roman" panose="02020603050405020304" pitchFamily="18" charset="0"/>
                <a:cs typeface="Times New Roman" panose="02020603050405020304" pitchFamily="18" charset="0"/>
              </a:rPr>
              <a:t>Coping strategies such as seeking information, cognitive restructuring, emotional expression, catastrophizing, wish-fulfilling, fantasizing, threat minimization, relaxation, distraction, &amp; self-blame. </a:t>
            </a:r>
          </a:p>
        </p:txBody>
      </p:sp>
      <p:sp>
        <p:nvSpPr>
          <p:cNvPr id="4" name="Title 1"/>
          <p:cNvSpPr>
            <a:spLocks noGrp="1"/>
          </p:cNvSpPr>
          <p:nvPr>
            <p:ph type="title"/>
          </p:nvPr>
        </p:nvSpPr>
        <p:spPr>
          <a:xfrm>
            <a:off x="0" y="46038"/>
            <a:ext cx="9067800" cy="868362"/>
          </a:xfrm>
          <a:solidFill>
            <a:schemeClr val="accent6">
              <a:lumMod val="60000"/>
              <a:lumOff val="40000"/>
            </a:schemeClr>
          </a:solidFill>
        </p:spPr>
        <p:txBody>
          <a:bodyPr>
            <a:normAutofit/>
          </a:bodyPr>
          <a:lstStyle/>
          <a:p>
            <a:r>
              <a:rPr lang="en-US" sz="3200" b="1" dirty="0">
                <a:solidFill>
                  <a:srgbClr val="00B0F0"/>
                </a:solidFill>
                <a:latin typeface="Times New Roman" pitchFamily="18" charset="0"/>
                <a:cs typeface="Times New Roman" pitchFamily="18" charset="0"/>
              </a:rPr>
              <a:t>Impact</a:t>
            </a:r>
            <a:r>
              <a:rPr lang="en-US" sz="3200" b="1" dirty="0">
                <a:latin typeface="Times New Roman" pitchFamily="18" charset="0"/>
                <a:cs typeface="Times New Roman" pitchFamily="18" charset="0"/>
              </a:rPr>
              <a:t> of Disability</a:t>
            </a:r>
            <a:r>
              <a:rPr lang="en-US" sz="1800" b="1" dirty="0">
                <a:latin typeface="Times New Roman" pitchFamily="18" charset="0"/>
                <a:cs typeface="Times New Roman" pitchFamily="18" charset="0"/>
              </a:rPr>
              <a:t>… cont’d</a:t>
            </a:r>
            <a:endParaRPr lang="en-US" sz="3200" dirty="0">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fld id="{29344CB4-3587-4451-B5F6-521D7FDB45C7}" type="slidenum">
              <a:rPr lang="en-US" smtClean="0"/>
              <a:t>11</a:t>
            </a:fld>
            <a:endParaRPr lang="en-US" dirty="0"/>
          </a:p>
        </p:txBody>
      </p:sp>
    </p:spTree>
    <p:extLst>
      <p:ext uri="{BB962C8B-B14F-4D97-AF65-F5344CB8AC3E}">
        <p14:creationId xmlns:p14="http://schemas.microsoft.com/office/powerpoint/2010/main" val="22979554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0"/>
            <a:ext cx="8839200" cy="5715000"/>
          </a:xfrm>
        </p:spPr>
        <p:txBody>
          <a:bodyPr>
            <a:normAutofit lnSpcReduction="10000"/>
          </a:bodyPr>
          <a:lstStyle/>
          <a:p>
            <a:r>
              <a:rPr lang="en-US" sz="2400" b="1" dirty="0">
                <a:latin typeface="Times New Roman" pitchFamily="18" charset="0"/>
                <a:cs typeface="Times New Roman" pitchFamily="18" charset="0"/>
              </a:rPr>
              <a:t>Passive, avoidant, emotion-focused cognitive strategies </a:t>
            </a:r>
            <a:r>
              <a:rPr lang="en-US" sz="2400" dirty="0">
                <a:latin typeface="Times New Roman" pitchFamily="18" charset="0"/>
                <a:cs typeface="Times New Roman" pitchFamily="18" charset="0"/>
              </a:rPr>
              <a:t>(e.g., catastrophizing and wishful thinking) are associated with poorer outcomes, </a:t>
            </a:r>
          </a:p>
          <a:p>
            <a:r>
              <a:rPr lang="en-US" sz="2400" b="1" dirty="0">
                <a:latin typeface="Times New Roman" pitchFamily="18" charset="0"/>
                <a:cs typeface="Times New Roman" pitchFamily="18" charset="0"/>
              </a:rPr>
              <a:t>Active, problem-focused </a:t>
            </a:r>
            <a:r>
              <a:rPr lang="en-US" sz="2400" dirty="0">
                <a:latin typeface="Times New Roman" pitchFamily="18" charset="0"/>
                <a:cs typeface="Times New Roman" pitchFamily="18" charset="0"/>
              </a:rPr>
              <a:t>attempts to redefine thoughts to become more positive are associated with favorable outcomes.</a:t>
            </a:r>
          </a:p>
          <a:p>
            <a:r>
              <a:rPr lang="en-US" sz="2400" b="1" dirty="0">
                <a:effectLst>
                  <a:outerShdw blurRad="38100" dist="38100" dir="2700000" algn="tl">
                    <a:srgbClr val="000000">
                      <a:alpha val="43137"/>
                    </a:srgbClr>
                  </a:outerShdw>
                </a:effectLst>
                <a:latin typeface="Times New Roman" pitchFamily="18" charset="0"/>
                <a:cs typeface="Times New Roman" pitchFamily="18" charset="0"/>
              </a:rPr>
              <a:t>Active &amp; problem-solving coping strategies </a:t>
            </a:r>
            <a:r>
              <a:rPr lang="en-US" sz="2400" dirty="0">
                <a:latin typeface="Times New Roman" pitchFamily="18" charset="0"/>
                <a:cs typeface="Times New Roman" pitchFamily="18" charset="0"/>
              </a:rPr>
              <a:t>are associated with better functional outcomes across several dimensions (e.g., activities of daily living, and employment) than when passive coping strategies are used.</a:t>
            </a:r>
          </a:p>
          <a:p>
            <a:r>
              <a:rPr lang="en-US" sz="2400" dirty="0">
                <a:latin typeface="Times New Roman" pitchFamily="18" charset="0"/>
                <a:cs typeface="Times New Roman" pitchFamily="18" charset="0"/>
              </a:rPr>
              <a:t>An important component in the coping process is appraisal. </a:t>
            </a:r>
            <a:r>
              <a:rPr lang="en-US" sz="2400" dirty="0">
                <a:highlight>
                  <a:srgbClr val="FFFF00"/>
                </a:highlight>
                <a:latin typeface="Times New Roman" panose="02020603050405020304" pitchFamily="18" charset="0"/>
                <a:cs typeface="Times New Roman" panose="02020603050405020304" pitchFamily="18" charset="0"/>
              </a:rPr>
              <a:t>Appraisals involve beliefs about one's ability to deal with a situation</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Appraisal (of</a:t>
            </a:r>
            <a:r>
              <a:rPr lang="en-US" sz="2400" dirty="0">
                <a:solidFill>
                  <a:srgbClr val="0070C0"/>
                </a:solidFill>
                <a:latin typeface="Times New Roman" panose="02020603050405020304" pitchFamily="18" charset="0"/>
                <a:cs typeface="Times New Roman" panose="02020603050405020304" pitchFamily="18" charset="0"/>
              </a:rPr>
              <a:t>, e.g., </a:t>
            </a:r>
            <a:r>
              <a:rPr lang="en-US" sz="2400" dirty="0">
                <a:latin typeface="Times New Roman" panose="02020603050405020304" pitchFamily="18" charset="0"/>
                <a:cs typeface="Times New Roman" panose="02020603050405020304" pitchFamily="18" charset="0"/>
              </a:rPr>
              <a:t>one’s ability &amp; the disabling condition) is related to self-efficacy in the sense that </a:t>
            </a:r>
            <a:r>
              <a:rPr lang="en-US" sz="2400" b="1" dirty="0">
                <a:highlight>
                  <a:srgbClr val="FFFF00"/>
                </a:highlight>
                <a:latin typeface="Times New Roman" panose="02020603050405020304" pitchFamily="18" charset="0"/>
                <a:cs typeface="Times New Roman" panose="02020603050405020304" pitchFamily="18" charset="0"/>
              </a:rPr>
              <a:t>one's thoughts and cognition control</a:t>
            </a:r>
            <a:r>
              <a:rPr lang="en-US" sz="2400" dirty="0">
                <a:latin typeface="Times New Roman" panose="02020603050405020304" pitchFamily="18" charset="0"/>
                <a:cs typeface="Times New Roman" panose="02020603050405020304" pitchFamily="18" charset="0"/>
              </a:rPr>
              <a:t> how one reacts to a potentially negative situation.</a:t>
            </a:r>
            <a:endParaRPr lang="en-US" sz="1800" b="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29344CB4-3587-4451-B5F6-521D7FDB45C7}" type="slidenum">
              <a:rPr lang="en-US" smtClean="0"/>
              <a:t>12</a:t>
            </a:fld>
            <a:endParaRPr lang="en-US" dirty="0"/>
          </a:p>
        </p:txBody>
      </p:sp>
      <p:sp>
        <p:nvSpPr>
          <p:cNvPr id="5" name="Title 1"/>
          <p:cNvSpPr>
            <a:spLocks noGrp="1"/>
          </p:cNvSpPr>
          <p:nvPr>
            <p:ph type="title"/>
          </p:nvPr>
        </p:nvSpPr>
        <p:spPr>
          <a:xfrm>
            <a:off x="0" y="46038"/>
            <a:ext cx="9067800" cy="868362"/>
          </a:xfrm>
          <a:solidFill>
            <a:schemeClr val="accent6">
              <a:lumMod val="60000"/>
              <a:lumOff val="40000"/>
            </a:schemeClr>
          </a:solidFill>
        </p:spPr>
        <p:txBody>
          <a:bodyPr>
            <a:normAutofit/>
          </a:bodyPr>
          <a:lstStyle/>
          <a:p>
            <a:r>
              <a:rPr lang="en-US" sz="3200" b="1" dirty="0">
                <a:solidFill>
                  <a:srgbClr val="00B0F0"/>
                </a:solidFill>
                <a:latin typeface="Times New Roman" pitchFamily="18" charset="0"/>
                <a:cs typeface="Times New Roman" pitchFamily="18" charset="0"/>
              </a:rPr>
              <a:t>Impact</a:t>
            </a:r>
            <a:r>
              <a:rPr lang="en-US" sz="3200" b="1" dirty="0">
                <a:latin typeface="Times New Roman" pitchFamily="18" charset="0"/>
                <a:cs typeface="Times New Roman" pitchFamily="18" charset="0"/>
              </a:rPr>
              <a:t> of Disability</a:t>
            </a:r>
            <a:r>
              <a:rPr lang="en-US" sz="1800" b="1" dirty="0">
                <a:latin typeface="Times New Roman" pitchFamily="18" charset="0"/>
                <a:cs typeface="Times New Roman" pitchFamily="18" charset="0"/>
              </a:rPr>
              <a:t>… cont’d</a:t>
            </a:r>
            <a:endParaRPr lang="en-US" sz="3200" dirty="0">
              <a:latin typeface="Times New Roman" pitchFamily="18" charset="0"/>
              <a:cs typeface="Times New Roman" pitchFamily="18" charset="0"/>
            </a:endParaRPr>
          </a:p>
        </p:txBody>
      </p:sp>
    </p:spTree>
    <p:extLst>
      <p:ext uri="{BB962C8B-B14F-4D97-AF65-F5344CB8AC3E}">
        <p14:creationId xmlns:p14="http://schemas.microsoft.com/office/powerpoint/2010/main" val="9265531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EB6440B-8C01-3B21-22AD-823BEA4F1B9A}"/>
              </a:ext>
            </a:extLst>
          </p:cNvPr>
          <p:cNvSpPr>
            <a:spLocks noGrp="1"/>
          </p:cNvSpPr>
          <p:nvPr>
            <p:ph idx="1"/>
          </p:nvPr>
        </p:nvSpPr>
        <p:spPr>
          <a:xfrm>
            <a:off x="152400" y="990600"/>
            <a:ext cx="8839200" cy="5730875"/>
          </a:xfrm>
        </p:spPr>
        <p:txBody>
          <a:bodyPr>
            <a:normAutofit fontScale="70000" lnSpcReduction="20000"/>
          </a:bodyPr>
          <a:lstStyle/>
          <a:p>
            <a:pPr marL="514350" indent="-514350">
              <a:buFont typeface="+mj-lt"/>
              <a:buAutoNum type="alphaUcPeriod" startAt="4"/>
            </a:pPr>
            <a:r>
              <a:rPr lang="en-US" sz="4000" b="1" dirty="0">
                <a:solidFill>
                  <a:srgbClr val="0070C0"/>
                </a:solidFill>
                <a:latin typeface="Times New Roman" panose="02020603050405020304" pitchFamily="18" charset="0"/>
                <a:cs typeface="Times New Roman" panose="02020603050405020304" pitchFamily="18" charset="0"/>
              </a:rPr>
              <a:t>Optimism</a:t>
            </a:r>
            <a:endParaRPr lang="en-US" b="1" dirty="0">
              <a:solidFill>
                <a:srgbClr val="0070C0"/>
              </a:solidFill>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Optimism is a personality disposition or trait that can mediate how disabling conditions are experienced. </a:t>
            </a:r>
          </a:p>
          <a:p>
            <a:r>
              <a:rPr lang="en-US" dirty="0">
                <a:latin typeface="Times New Roman" panose="02020603050405020304" pitchFamily="18" charset="0"/>
                <a:cs typeface="Times New Roman" panose="02020603050405020304" pitchFamily="18" charset="0"/>
              </a:rPr>
              <a:t>Optimism is the general tendency to view the world, others, and oneself favorably. </a:t>
            </a:r>
          </a:p>
          <a:p>
            <a:r>
              <a:rPr lang="en-US" dirty="0">
                <a:latin typeface="Times New Roman" panose="02020603050405020304" pitchFamily="18" charset="0"/>
                <a:cs typeface="Times New Roman" panose="02020603050405020304" pitchFamily="18" charset="0"/>
              </a:rPr>
              <a:t>People with an optimistic orientation rather than a pessimistic orientation are far better across several dimensions. </a:t>
            </a:r>
          </a:p>
          <a:p>
            <a:r>
              <a:rPr lang="en-US" dirty="0">
                <a:latin typeface="Times New Roman" panose="02020603050405020304" pitchFamily="18" charset="0"/>
                <a:cs typeface="Times New Roman" panose="02020603050405020304" pitchFamily="18" charset="0"/>
              </a:rPr>
              <a:t>Optimists tend to have better self-esteem and less hostility toward others and tend to use more adaptive coping strategies than pessimists.</a:t>
            </a:r>
          </a:p>
          <a:p>
            <a:r>
              <a:rPr lang="en-US" dirty="0">
                <a:latin typeface="Times New Roman" panose="02020603050405020304" pitchFamily="18" charset="0"/>
                <a:cs typeface="Times New Roman" panose="02020603050405020304" pitchFamily="18" charset="0"/>
              </a:rPr>
              <a:t>Optimism is a significant predictor of coping efforts and of recovery from surgery. </a:t>
            </a:r>
          </a:p>
          <a:p>
            <a:r>
              <a:rPr lang="en-US" dirty="0">
                <a:latin typeface="Times New Roman" panose="02020603050405020304" pitchFamily="18" charset="0"/>
                <a:cs typeface="Times New Roman" panose="02020603050405020304" pitchFamily="18" charset="0"/>
              </a:rPr>
              <a:t>Individuals with optimistic orientations have a faster rate of recovery during hospitalization and a faster rate of return to normal life activities after discharge.</a:t>
            </a:r>
          </a:p>
          <a:p>
            <a:r>
              <a:rPr lang="en-US" dirty="0">
                <a:latin typeface="Times New Roman" panose="02020603050405020304" pitchFamily="18" charset="0"/>
                <a:cs typeface="Times New Roman" panose="02020603050405020304" pitchFamily="18" charset="0"/>
              </a:rPr>
              <a:t>Optimism may reduce symptoms and improve adjustment to illness, because it is associated with the use of effective coping strategies.</a:t>
            </a:r>
          </a:p>
          <a:p>
            <a:r>
              <a:rPr lang="en-US" dirty="0">
                <a:latin typeface="Times New Roman" panose="02020603050405020304" pitchFamily="18" charset="0"/>
                <a:cs typeface="Times New Roman" panose="02020603050405020304" pitchFamily="18" charset="0"/>
              </a:rPr>
              <a:t>Optimistic individuals are more likely to cope with impairment by using the active adaptive coping strategies.</a:t>
            </a:r>
          </a:p>
        </p:txBody>
      </p:sp>
      <p:sp>
        <p:nvSpPr>
          <p:cNvPr id="4" name="Slide Number Placeholder 3">
            <a:extLst>
              <a:ext uri="{FF2B5EF4-FFF2-40B4-BE49-F238E27FC236}">
                <a16:creationId xmlns:a16="http://schemas.microsoft.com/office/drawing/2014/main" xmlns="" id="{237E992A-8C89-63C2-562E-20B69B221878}"/>
              </a:ext>
            </a:extLst>
          </p:cNvPr>
          <p:cNvSpPr>
            <a:spLocks noGrp="1"/>
          </p:cNvSpPr>
          <p:nvPr>
            <p:ph type="sldNum" sz="quarter" idx="12"/>
          </p:nvPr>
        </p:nvSpPr>
        <p:spPr/>
        <p:txBody>
          <a:bodyPr/>
          <a:lstStyle/>
          <a:p>
            <a:fld id="{29344CB4-3587-4451-B5F6-521D7FDB45C7}" type="slidenum">
              <a:rPr lang="en-US" smtClean="0"/>
              <a:t>13</a:t>
            </a:fld>
            <a:endParaRPr lang="en-US"/>
          </a:p>
        </p:txBody>
      </p:sp>
      <p:sp>
        <p:nvSpPr>
          <p:cNvPr id="5" name="Title 1">
            <a:extLst>
              <a:ext uri="{FF2B5EF4-FFF2-40B4-BE49-F238E27FC236}">
                <a16:creationId xmlns:a16="http://schemas.microsoft.com/office/drawing/2014/main" xmlns="" id="{48956932-7FCA-1DE6-A199-729A76D2B685}"/>
              </a:ext>
            </a:extLst>
          </p:cNvPr>
          <p:cNvSpPr>
            <a:spLocks noGrp="1"/>
          </p:cNvSpPr>
          <p:nvPr>
            <p:ph type="title"/>
          </p:nvPr>
        </p:nvSpPr>
        <p:spPr>
          <a:xfrm>
            <a:off x="0" y="46038"/>
            <a:ext cx="9067800" cy="868362"/>
          </a:xfrm>
          <a:solidFill>
            <a:schemeClr val="accent6">
              <a:lumMod val="60000"/>
              <a:lumOff val="40000"/>
            </a:schemeClr>
          </a:solidFill>
        </p:spPr>
        <p:txBody>
          <a:bodyPr>
            <a:normAutofit/>
          </a:bodyPr>
          <a:lstStyle/>
          <a:p>
            <a:r>
              <a:rPr lang="en-US" sz="3200" b="1" dirty="0">
                <a:solidFill>
                  <a:srgbClr val="00B0F0"/>
                </a:solidFill>
                <a:latin typeface="Times New Roman" pitchFamily="18" charset="0"/>
                <a:cs typeface="Times New Roman" pitchFamily="18" charset="0"/>
              </a:rPr>
              <a:t>Impact</a:t>
            </a:r>
            <a:r>
              <a:rPr lang="en-US" sz="3200" b="1" dirty="0">
                <a:latin typeface="Times New Roman" pitchFamily="18" charset="0"/>
                <a:cs typeface="Times New Roman" pitchFamily="18" charset="0"/>
              </a:rPr>
              <a:t> of Disability</a:t>
            </a:r>
            <a:r>
              <a:rPr lang="en-US" sz="1800" b="1" dirty="0">
                <a:latin typeface="Times New Roman" pitchFamily="18" charset="0"/>
                <a:cs typeface="Times New Roman" pitchFamily="18" charset="0"/>
              </a:rPr>
              <a:t>… cont’d</a:t>
            </a:r>
            <a:endParaRPr lang="en-US" sz="3200" dirty="0">
              <a:latin typeface="Times New Roman" pitchFamily="18" charset="0"/>
              <a:cs typeface="Times New Roman" pitchFamily="18" charset="0"/>
            </a:endParaRPr>
          </a:p>
        </p:txBody>
      </p:sp>
    </p:spTree>
    <p:extLst>
      <p:ext uri="{BB962C8B-B14F-4D97-AF65-F5344CB8AC3E}">
        <p14:creationId xmlns:p14="http://schemas.microsoft.com/office/powerpoint/2010/main" val="3489775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838200"/>
            <a:ext cx="8991600" cy="5943600"/>
          </a:xfrm>
        </p:spPr>
        <p:txBody>
          <a:bodyPr>
            <a:normAutofit fontScale="92500" lnSpcReduction="10000"/>
          </a:bodyPr>
          <a:lstStyle/>
          <a:p>
            <a:pPr marL="514350" indent="-514350">
              <a:buFont typeface="+mj-lt"/>
              <a:buAutoNum type="arabicPeriod" startAt="5"/>
            </a:pPr>
            <a:r>
              <a:rPr lang="en-US" b="1" dirty="0">
                <a:solidFill>
                  <a:srgbClr val="7030A0"/>
                </a:solidFill>
                <a:latin typeface="Times New Roman" pitchFamily="18" charset="0"/>
                <a:cs typeface="Times New Roman" pitchFamily="18" charset="0"/>
              </a:rPr>
              <a:t>The Family and Disability</a:t>
            </a:r>
          </a:p>
          <a:p>
            <a:pPr lvl="1"/>
            <a:r>
              <a:rPr lang="en-US" sz="2400" dirty="0">
                <a:latin typeface="Times New Roman" pitchFamily="18" charset="0"/>
                <a:cs typeface="Times New Roman" pitchFamily="18" charset="0"/>
              </a:rPr>
              <a:t>The family can be either an enabling or a disabling </a:t>
            </a:r>
          </a:p>
          <a:p>
            <a:pPr lvl="1"/>
            <a:r>
              <a:rPr lang="en-US" sz="2400" dirty="0">
                <a:latin typeface="Times New Roman" pitchFamily="18" charset="0"/>
                <a:cs typeface="Times New Roman" pitchFamily="18" charset="0"/>
              </a:rPr>
              <a:t>The family support may be </a:t>
            </a:r>
          </a:p>
          <a:p>
            <a:pPr lvl="2"/>
            <a:r>
              <a:rPr lang="en-US" dirty="0">
                <a:latin typeface="Times New Roman" pitchFamily="18" charset="0"/>
                <a:cs typeface="Times New Roman" pitchFamily="18" charset="0"/>
              </a:rPr>
              <a:t>instrumental (errand-running), </a:t>
            </a:r>
          </a:p>
          <a:p>
            <a:pPr lvl="2"/>
            <a:r>
              <a:rPr lang="en-US" dirty="0">
                <a:latin typeface="Times New Roman" pitchFamily="18" charset="0"/>
                <a:cs typeface="Times New Roman" pitchFamily="18" charset="0"/>
              </a:rPr>
              <a:t>informational (providing advice or referrals), or </a:t>
            </a:r>
          </a:p>
          <a:p>
            <a:pPr lvl="2"/>
            <a:r>
              <a:rPr lang="en-US" dirty="0">
                <a:latin typeface="Times New Roman" pitchFamily="18" charset="0"/>
                <a:cs typeface="Times New Roman" pitchFamily="18" charset="0"/>
              </a:rPr>
              <a:t>emotional (giving love and support).</a:t>
            </a:r>
          </a:p>
          <a:p>
            <a:pPr lvl="1"/>
            <a:r>
              <a:rPr lang="en-US" dirty="0">
                <a:latin typeface="Times New Roman" pitchFamily="18" charset="0"/>
                <a:cs typeface="Times New Roman" pitchFamily="18" charset="0"/>
              </a:rPr>
              <a:t>It is important to note, however, that families may also be disabling. </a:t>
            </a:r>
          </a:p>
          <a:p>
            <a:pPr lvl="2"/>
            <a:r>
              <a:rPr lang="en-US" dirty="0">
                <a:latin typeface="Times New Roman" pitchFamily="18" charset="0"/>
                <a:cs typeface="Times New Roman" pitchFamily="18" charset="0"/>
              </a:rPr>
              <a:t>some families promote dependency. </a:t>
            </a:r>
          </a:p>
          <a:p>
            <a:pPr lvl="2"/>
            <a:r>
              <a:rPr lang="en-US" dirty="0">
                <a:latin typeface="Times New Roman" pitchFamily="18" charset="0"/>
                <a:cs typeface="Times New Roman" pitchFamily="18" charset="0"/>
              </a:rPr>
              <a:t>others fatalistically accept functional limitations and conditions that are amenable to change with a supportive environment.</a:t>
            </a:r>
          </a:p>
          <a:p>
            <a:pPr lvl="2"/>
            <a:r>
              <a:rPr lang="en-US" dirty="0">
                <a:latin typeface="Times New Roman" pitchFamily="18" charset="0"/>
                <a:cs typeface="Times New Roman" pitchFamily="18" charset="0"/>
              </a:rPr>
              <a:t>Families may also not provide needed environmental services and resources (e.g., families may fail to learn sign language).</a:t>
            </a:r>
          </a:p>
          <a:p>
            <a:pPr lvl="2"/>
            <a:r>
              <a:rPr lang="en-US" dirty="0">
                <a:latin typeface="Times New Roman" pitchFamily="18" charset="0"/>
                <a:cs typeface="Times New Roman" pitchFamily="18" charset="0"/>
              </a:rPr>
              <a:t>Taking over household chores thereby limiting the opportunity for healthy exercise that can lead to recovery</a:t>
            </a:r>
          </a:p>
        </p:txBody>
      </p:sp>
      <p:sp>
        <p:nvSpPr>
          <p:cNvPr id="4" name="Title 1"/>
          <p:cNvSpPr>
            <a:spLocks noGrp="1"/>
          </p:cNvSpPr>
          <p:nvPr>
            <p:ph type="title"/>
          </p:nvPr>
        </p:nvSpPr>
        <p:spPr>
          <a:xfrm>
            <a:off x="0" y="46038"/>
            <a:ext cx="9067800" cy="792162"/>
          </a:xfrm>
          <a:solidFill>
            <a:schemeClr val="accent6">
              <a:lumMod val="60000"/>
              <a:lumOff val="40000"/>
            </a:schemeClr>
          </a:solidFill>
        </p:spPr>
        <p:txBody>
          <a:bodyPr>
            <a:normAutofit/>
          </a:bodyPr>
          <a:lstStyle/>
          <a:p>
            <a:r>
              <a:rPr lang="en-US" sz="3200" b="1" dirty="0">
                <a:solidFill>
                  <a:srgbClr val="00B0F0"/>
                </a:solidFill>
                <a:latin typeface="Times New Roman" pitchFamily="18" charset="0"/>
                <a:cs typeface="Times New Roman" pitchFamily="18" charset="0"/>
              </a:rPr>
              <a:t>Impact</a:t>
            </a:r>
            <a:r>
              <a:rPr lang="en-US" sz="3200" b="1" dirty="0">
                <a:latin typeface="Times New Roman" pitchFamily="18" charset="0"/>
                <a:cs typeface="Times New Roman" pitchFamily="18" charset="0"/>
              </a:rPr>
              <a:t> of Disability</a:t>
            </a:r>
            <a:r>
              <a:rPr lang="en-US" sz="1800" b="1" dirty="0">
                <a:latin typeface="Times New Roman" pitchFamily="18" charset="0"/>
                <a:cs typeface="Times New Roman" pitchFamily="18" charset="0"/>
              </a:rPr>
              <a:t>… cont’d</a:t>
            </a:r>
            <a:endParaRPr lang="en-US" sz="3200" dirty="0">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fld id="{29344CB4-3587-4451-B5F6-521D7FDB45C7}" type="slidenum">
              <a:rPr lang="en-US" smtClean="0"/>
              <a:t>14</a:t>
            </a:fld>
            <a:endParaRPr lang="en-US"/>
          </a:p>
        </p:txBody>
      </p:sp>
    </p:spTree>
    <p:extLst>
      <p:ext uri="{BB962C8B-B14F-4D97-AF65-F5344CB8AC3E}">
        <p14:creationId xmlns:p14="http://schemas.microsoft.com/office/powerpoint/2010/main" val="30594229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067800" cy="914400"/>
          </a:xfrm>
          <a:solidFill>
            <a:schemeClr val="accent6">
              <a:lumMod val="60000"/>
              <a:lumOff val="40000"/>
            </a:schemeClr>
          </a:solidFill>
        </p:spPr>
        <p:txBody>
          <a:bodyPr>
            <a:noAutofit/>
          </a:bodyPr>
          <a:lstStyle/>
          <a:p>
            <a:r>
              <a:rPr lang="en-US" sz="3600" b="1" dirty="0">
                <a:solidFill>
                  <a:srgbClr val="FFFF00"/>
                </a:solidFill>
                <a:effectLst>
                  <a:outerShdw blurRad="38100" dist="38100" dir="2700000" algn="tl">
                    <a:srgbClr val="000000">
                      <a:alpha val="43137"/>
                    </a:srgbClr>
                  </a:outerShdw>
                </a:effectLst>
                <a:latin typeface="Times New Roman" pitchFamily="18" charset="0"/>
                <a:cs typeface="Times New Roman" pitchFamily="18" charset="0"/>
              </a:rPr>
              <a:t>Needs</a:t>
            </a:r>
            <a:r>
              <a:rPr lang="en-US" sz="3600" b="1" dirty="0">
                <a:effectLst>
                  <a:outerShdw blurRad="38100" dist="38100" dir="2700000" algn="tl">
                    <a:srgbClr val="000000">
                      <a:alpha val="43137"/>
                    </a:srgbClr>
                  </a:outerShdw>
                </a:effectLst>
                <a:latin typeface="Times New Roman" pitchFamily="18" charset="0"/>
                <a:cs typeface="Times New Roman" pitchFamily="18" charset="0"/>
              </a:rPr>
              <a:t> </a:t>
            </a:r>
            <a:r>
              <a:rPr lang="en-US" sz="2800" b="1" dirty="0">
                <a:latin typeface="Times New Roman" pitchFamily="18" charset="0"/>
                <a:cs typeface="Times New Roman" pitchFamily="18" charset="0"/>
              </a:rPr>
              <a:t>of Persons with Disabilities and Vulnerabilities</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76200" y="838200"/>
            <a:ext cx="8991600" cy="5943600"/>
          </a:xfrm>
        </p:spPr>
        <p:txBody>
          <a:bodyPr/>
          <a:lstStyle/>
          <a:p>
            <a:r>
              <a:rPr lang="en-US" sz="2000" dirty="0">
                <a:latin typeface="Times New Roman" panose="02020603050405020304" pitchFamily="18" charset="0"/>
                <a:cs typeface="Times New Roman" panose="02020603050405020304" pitchFamily="18" charset="0"/>
              </a:rPr>
              <a:t>Maslow‘s model is also valid for persons with disabilities and vulnerabilities.</a:t>
            </a:r>
          </a:p>
          <a:p>
            <a:r>
              <a:rPr lang="en-US" sz="2000" dirty="0">
                <a:latin typeface="Times New Roman" panose="02020603050405020304" pitchFamily="18" charset="0"/>
                <a:cs typeface="Times New Roman" panose="02020603050405020304" pitchFamily="18" charset="0"/>
              </a:rPr>
              <a:t>Persons with disabilities and vulnerabilities have socio-emotional, psychological, physical and social environmental and economic needs in general.</a:t>
            </a:r>
          </a:p>
          <a:p>
            <a:endParaRPr lang="en-US"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114" t="2309" b="2164"/>
          <a:stretch/>
        </p:blipFill>
        <p:spPr bwMode="auto">
          <a:xfrm>
            <a:off x="1357744" y="1905000"/>
            <a:ext cx="6414655"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fld id="{29344CB4-3587-4451-B5F6-521D7FDB45C7}" type="slidenum">
              <a:rPr lang="en-US" smtClean="0"/>
              <a:t>15</a:t>
            </a:fld>
            <a:endParaRPr lang="en-US"/>
          </a:p>
        </p:txBody>
      </p:sp>
    </p:spTree>
    <p:extLst>
      <p:ext uri="{BB962C8B-B14F-4D97-AF65-F5344CB8AC3E}">
        <p14:creationId xmlns:p14="http://schemas.microsoft.com/office/powerpoint/2010/main" val="3487134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14400"/>
            <a:ext cx="8839200" cy="5791200"/>
          </a:xfrm>
        </p:spPr>
        <p:txBody>
          <a:bodyPr>
            <a:noAutofit/>
          </a:bodyPr>
          <a:lstStyle/>
          <a:p>
            <a:r>
              <a:rPr lang="en-US" sz="2000" dirty="0">
                <a:latin typeface="Times New Roman" pitchFamily="18" charset="0"/>
                <a:cs typeface="Times New Roman" pitchFamily="18" charset="0"/>
              </a:rPr>
              <a:t>Persons with disabilities and vulnerabilities have </a:t>
            </a:r>
            <a:r>
              <a:rPr lang="en-US" sz="2000" b="1" dirty="0">
                <a:solidFill>
                  <a:srgbClr val="7030A0"/>
                </a:solidFill>
                <a:latin typeface="Times New Roman" pitchFamily="18" charset="0"/>
                <a:cs typeface="Times New Roman" pitchFamily="18" charset="0"/>
              </a:rPr>
              <a:t>socio-emotional</a:t>
            </a:r>
            <a:r>
              <a:rPr lang="en-US" sz="2000" b="1" dirty="0">
                <a:latin typeface="Times New Roman" pitchFamily="18" charset="0"/>
                <a:cs typeface="Times New Roman" pitchFamily="18" charset="0"/>
              </a:rPr>
              <a:t>,</a:t>
            </a:r>
            <a:r>
              <a:rPr lang="en-US" sz="2000" dirty="0">
                <a:latin typeface="Times New Roman" pitchFamily="18" charset="0"/>
                <a:cs typeface="Times New Roman" pitchFamily="18" charset="0"/>
              </a:rPr>
              <a:t> </a:t>
            </a:r>
            <a:r>
              <a:rPr lang="en-US" sz="2000" b="1" dirty="0">
                <a:solidFill>
                  <a:srgbClr val="FF0000"/>
                </a:solidFill>
                <a:latin typeface="Times New Roman" pitchFamily="18" charset="0"/>
                <a:cs typeface="Times New Roman" pitchFamily="18" charset="0"/>
              </a:rPr>
              <a:t>psychological</a:t>
            </a:r>
            <a:r>
              <a:rPr lang="en-US" sz="2000" dirty="0">
                <a:latin typeface="Times New Roman" pitchFamily="18" charset="0"/>
                <a:cs typeface="Times New Roman" pitchFamily="18" charset="0"/>
              </a:rPr>
              <a:t>, </a:t>
            </a:r>
            <a:r>
              <a:rPr lang="en-US" sz="2000" b="1" dirty="0">
                <a:solidFill>
                  <a:srgbClr val="00B0F0"/>
                </a:solidFill>
                <a:effectLst>
                  <a:outerShdw blurRad="38100" dist="38100" dir="2700000" algn="tl">
                    <a:srgbClr val="000000">
                      <a:alpha val="43137"/>
                    </a:srgbClr>
                  </a:outerShdw>
                </a:effectLst>
                <a:latin typeface="Times New Roman" pitchFamily="18" charset="0"/>
                <a:cs typeface="Times New Roman" pitchFamily="18" charset="0"/>
              </a:rPr>
              <a:t>physical</a:t>
            </a:r>
            <a:r>
              <a:rPr lang="en-US" sz="2000" dirty="0">
                <a:solidFill>
                  <a:srgbClr val="00B0F0"/>
                </a:solidFill>
                <a:effectLst>
                  <a:outerShdw blurRad="38100" dist="38100" dir="2700000" algn="tl">
                    <a:srgbClr val="000000">
                      <a:alpha val="43137"/>
                    </a:srgbClr>
                  </a:outerShdw>
                </a:effectLst>
                <a:latin typeface="Times New Roman" pitchFamily="18" charset="0"/>
                <a:cs typeface="Times New Roman" pitchFamily="18" charset="0"/>
              </a:rPr>
              <a:t> </a:t>
            </a:r>
            <a:r>
              <a:rPr lang="en-US" sz="2000" b="1" dirty="0">
                <a:solidFill>
                  <a:srgbClr val="00B0F0"/>
                </a:solidFill>
                <a:effectLst>
                  <a:outerShdw blurRad="38100" dist="38100" dir="2700000" algn="tl">
                    <a:srgbClr val="000000">
                      <a:alpha val="43137"/>
                    </a:srgbClr>
                  </a:outerShdw>
                </a:effectLst>
                <a:latin typeface="Times New Roman" pitchFamily="18" charset="0"/>
                <a:cs typeface="Times New Roman" pitchFamily="18" charset="0"/>
              </a:rPr>
              <a:t>and social environmental </a:t>
            </a:r>
            <a:r>
              <a:rPr lang="en-US" sz="2000" dirty="0">
                <a:latin typeface="Times New Roman" pitchFamily="18" charset="0"/>
                <a:cs typeface="Times New Roman" pitchFamily="18" charset="0"/>
              </a:rPr>
              <a:t>and </a:t>
            </a:r>
            <a:r>
              <a:rPr lang="en-US" sz="2000" b="1" dirty="0">
                <a:effectLst>
                  <a:outerShdw blurRad="38100" dist="38100" dir="2700000" algn="tl">
                    <a:srgbClr val="000000">
                      <a:alpha val="43137"/>
                    </a:srgbClr>
                  </a:outerShdw>
                </a:effectLst>
                <a:latin typeface="Times New Roman" pitchFamily="18" charset="0"/>
                <a:cs typeface="Times New Roman" pitchFamily="18" charset="0"/>
              </a:rPr>
              <a:t>economic needs in general</a:t>
            </a:r>
            <a:r>
              <a:rPr lang="en-US" sz="2000" dirty="0">
                <a:latin typeface="Times New Roman" pitchFamily="18" charset="0"/>
                <a:cs typeface="Times New Roman" pitchFamily="18" charset="0"/>
              </a:rPr>
              <a:t>. </a:t>
            </a:r>
          </a:p>
          <a:p>
            <a:r>
              <a:rPr lang="en-US" sz="2000" dirty="0">
                <a:latin typeface="Times New Roman" pitchFamily="18" charset="0"/>
                <a:cs typeface="Times New Roman" pitchFamily="18" charset="0"/>
              </a:rPr>
              <a:t>To ensure equality for all persons with disabilities and vulnerabilities, the following are some of basic needs: </a:t>
            </a:r>
          </a:p>
          <a:p>
            <a:pPr marL="857250" lvl="1" indent="-457200">
              <a:buFont typeface="+mj-lt"/>
              <a:buAutoNum type="alphaLcPeriod"/>
            </a:pPr>
            <a:r>
              <a:rPr lang="en-US" sz="1800" dirty="0">
                <a:latin typeface="Times New Roman" pitchFamily="18" charset="0"/>
                <a:cs typeface="Times New Roman" pitchFamily="18" charset="0"/>
              </a:rPr>
              <a:t>Full access to the Environment (towns, countryside &amp; buildings) </a:t>
            </a:r>
          </a:p>
          <a:p>
            <a:pPr marL="857250" lvl="1" indent="-457200">
              <a:buFont typeface="+mj-lt"/>
              <a:buAutoNum type="alphaLcPeriod"/>
            </a:pPr>
            <a:r>
              <a:rPr lang="en-US" sz="1800" dirty="0">
                <a:latin typeface="Times New Roman" pitchFamily="18" charset="0"/>
                <a:cs typeface="Times New Roman" pitchFamily="18" charset="0"/>
              </a:rPr>
              <a:t>An accessible Transport system </a:t>
            </a:r>
          </a:p>
          <a:p>
            <a:pPr marL="857250" lvl="1" indent="-457200">
              <a:buFont typeface="+mj-lt"/>
              <a:buAutoNum type="alphaLcPeriod"/>
            </a:pPr>
            <a:r>
              <a:rPr lang="en-US" sz="1800" dirty="0">
                <a:latin typeface="Times New Roman" pitchFamily="18" charset="0"/>
                <a:cs typeface="Times New Roman" pitchFamily="18" charset="0"/>
              </a:rPr>
              <a:t>Technical aids and equipment </a:t>
            </a:r>
          </a:p>
          <a:p>
            <a:pPr marL="857250" lvl="1" indent="-457200">
              <a:buFont typeface="+mj-lt"/>
              <a:buAutoNum type="alphaLcPeriod"/>
            </a:pPr>
            <a:r>
              <a:rPr lang="en-US" sz="1800" dirty="0">
                <a:latin typeface="Times New Roman" pitchFamily="18" charset="0"/>
                <a:cs typeface="Times New Roman" pitchFamily="18" charset="0"/>
              </a:rPr>
              <a:t>Accessible/adapted housing </a:t>
            </a:r>
          </a:p>
          <a:p>
            <a:pPr marL="857250" lvl="1" indent="-457200">
              <a:buFont typeface="+mj-lt"/>
              <a:buAutoNum type="alphaLcPeriod"/>
            </a:pPr>
            <a:r>
              <a:rPr lang="en-US" sz="1800" dirty="0">
                <a:latin typeface="Times New Roman" pitchFamily="18" charset="0"/>
                <a:cs typeface="Times New Roman" pitchFamily="18" charset="0"/>
              </a:rPr>
              <a:t>Personal Assistance and support </a:t>
            </a:r>
          </a:p>
          <a:p>
            <a:pPr marL="857250" lvl="1" indent="-457200">
              <a:buFont typeface="+mj-lt"/>
              <a:buAutoNum type="alphaLcPeriod"/>
            </a:pPr>
            <a:r>
              <a:rPr lang="en-US" sz="1800" dirty="0">
                <a:latin typeface="Times New Roman" pitchFamily="18" charset="0"/>
                <a:cs typeface="Times New Roman" pitchFamily="18" charset="0"/>
              </a:rPr>
              <a:t>Inclusive Education and Training </a:t>
            </a:r>
          </a:p>
          <a:p>
            <a:pPr marL="857250" lvl="1" indent="-457200">
              <a:buFont typeface="+mj-lt"/>
              <a:buAutoNum type="alphaLcPeriod"/>
            </a:pPr>
            <a:r>
              <a:rPr lang="en-US" sz="1800" dirty="0">
                <a:latin typeface="Times New Roman" pitchFamily="18" charset="0"/>
                <a:cs typeface="Times New Roman" pitchFamily="18" charset="0"/>
              </a:rPr>
              <a:t>An adequate Income </a:t>
            </a:r>
          </a:p>
          <a:p>
            <a:pPr marL="857250" lvl="1" indent="-457200">
              <a:buFont typeface="+mj-lt"/>
              <a:buAutoNum type="alphaLcPeriod"/>
            </a:pPr>
            <a:r>
              <a:rPr lang="en-US" sz="1800" dirty="0">
                <a:latin typeface="Times New Roman" pitchFamily="18" charset="0"/>
                <a:cs typeface="Times New Roman" pitchFamily="18" charset="0"/>
              </a:rPr>
              <a:t>Equal opportunities for Employment </a:t>
            </a:r>
          </a:p>
          <a:p>
            <a:pPr marL="857250" lvl="1" indent="-457200">
              <a:buFont typeface="+mj-lt"/>
              <a:buAutoNum type="alphaLcPeriod"/>
            </a:pPr>
            <a:r>
              <a:rPr lang="en-US" sz="1800" dirty="0">
                <a:latin typeface="Times New Roman" pitchFamily="18" charset="0"/>
                <a:cs typeface="Times New Roman" pitchFamily="18" charset="0"/>
              </a:rPr>
              <a:t>Appropriate and accessible Information </a:t>
            </a:r>
          </a:p>
          <a:p>
            <a:pPr marL="857250" lvl="1" indent="-457200">
              <a:buFont typeface="+mj-lt"/>
              <a:buAutoNum type="alphaLcPeriod"/>
            </a:pPr>
            <a:r>
              <a:rPr lang="en-US" sz="1800" dirty="0">
                <a:latin typeface="Times New Roman" pitchFamily="18" charset="0"/>
                <a:cs typeface="Times New Roman" pitchFamily="18" charset="0"/>
              </a:rPr>
              <a:t>Advocacy (towards self-advocacy) </a:t>
            </a:r>
          </a:p>
          <a:p>
            <a:pPr marL="857250" lvl="1" indent="-457200">
              <a:buFont typeface="+mj-lt"/>
              <a:buAutoNum type="alphaLcPeriod"/>
            </a:pPr>
            <a:r>
              <a:rPr lang="en-US" sz="1800" dirty="0">
                <a:latin typeface="Times New Roman" pitchFamily="18" charset="0"/>
                <a:cs typeface="Times New Roman" pitchFamily="18" charset="0"/>
              </a:rPr>
              <a:t>Counseling </a:t>
            </a:r>
          </a:p>
          <a:p>
            <a:pPr marL="857250" lvl="1" indent="-457200">
              <a:buFont typeface="+mj-lt"/>
              <a:buAutoNum type="alphaLcPeriod"/>
            </a:pPr>
            <a:r>
              <a:rPr lang="en-US" sz="1800" dirty="0">
                <a:latin typeface="Times New Roman" pitchFamily="18" charset="0"/>
                <a:cs typeface="Times New Roman" pitchFamily="18" charset="0"/>
              </a:rPr>
              <a:t>Appropriate and Accessible Health Care </a:t>
            </a:r>
          </a:p>
        </p:txBody>
      </p:sp>
      <p:sp>
        <p:nvSpPr>
          <p:cNvPr id="4" name="Title 1"/>
          <p:cNvSpPr>
            <a:spLocks noGrp="1"/>
          </p:cNvSpPr>
          <p:nvPr>
            <p:ph type="title"/>
          </p:nvPr>
        </p:nvSpPr>
        <p:spPr>
          <a:xfrm>
            <a:off x="0" y="0"/>
            <a:ext cx="9067800" cy="914400"/>
          </a:xfrm>
          <a:solidFill>
            <a:schemeClr val="accent6">
              <a:lumMod val="60000"/>
              <a:lumOff val="40000"/>
            </a:schemeClr>
          </a:solidFill>
        </p:spPr>
        <p:txBody>
          <a:bodyPr>
            <a:noAutofit/>
          </a:bodyPr>
          <a:lstStyle/>
          <a:p>
            <a:r>
              <a:rPr lang="en-US" sz="3600" b="1" dirty="0">
                <a:solidFill>
                  <a:srgbClr val="FFFF00"/>
                </a:solidFill>
                <a:effectLst>
                  <a:outerShdw blurRad="38100" dist="38100" dir="2700000" algn="tl">
                    <a:srgbClr val="000000">
                      <a:alpha val="43137"/>
                    </a:srgbClr>
                  </a:outerShdw>
                </a:effectLst>
                <a:latin typeface="Times New Roman" pitchFamily="18" charset="0"/>
                <a:cs typeface="Times New Roman" pitchFamily="18" charset="0"/>
              </a:rPr>
              <a:t>Needs</a:t>
            </a:r>
            <a:r>
              <a:rPr lang="en-US" sz="3600" b="1" dirty="0">
                <a:effectLst>
                  <a:outerShdw blurRad="38100" dist="38100" dir="2700000" algn="tl">
                    <a:srgbClr val="000000">
                      <a:alpha val="43137"/>
                    </a:srgbClr>
                  </a:outerShdw>
                </a:effectLst>
                <a:latin typeface="Times New Roman" pitchFamily="18" charset="0"/>
                <a:cs typeface="Times New Roman" pitchFamily="18" charset="0"/>
              </a:rPr>
              <a:t> </a:t>
            </a:r>
            <a:r>
              <a:rPr lang="en-US" sz="3600" b="1" dirty="0">
                <a:latin typeface="Times New Roman" pitchFamily="18" charset="0"/>
                <a:cs typeface="Times New Roman" pitchFamily="18" charset="0"/>
              </a:rPr>
              <a:t>of </a:t>
            </a:r>
            <a:r>
              <a:rPr lang="en-US" sz="2800" dirty="0">
                <a:latin typeface="Times New Roman" pitchFamily="18" charset="0"/>
                <a:cs typeface="Times New Roman" pitchFamily="18" charset="0"/>
              </a:rPr>
              <a:t>…cont’d</a:t>
            </a:r>
          </a:p>
        </p:txBody>
      </p:sp>
      <p:sp>
        <p:nvSpPr>
          <p:cNvPr id="2" name="Slide Number Placeholder 1"/>
          <p:cNvSpPr>
            <a:spLocks noGrp="1"/>
          </p:cNvSpPr>
          <p:nvPr>
            <p:ph type="sldNum" sz="quarter" idx="12"/>
          </p:nvPr>
        </p:nvSpPr>
        <p:spPr/>
        <p:txBody>
          <a:bodyPr/>
          <a:lstStyle/>
          <a:p>
            <a:fld id="{29344CB4-3587-4451-B5F6-521D7FDB45C7}" type="slidenum">
              <a:rPr lang="en-US" smtClean="0"/>
              <a:t>16</a:t>
            </a:fld>
            <a:endParaRPr lang="en-US"/>
          </a:p>
        </p:txBody>
      </p:sp>
    </p:spTree>
    <p:extLst>
      <p:ext uri="{BB962C8B-B14F-4D97-AF65-F5344CB8AC3E}">
        <p14:creationId xmlns:p14="http://schemas.microsoft.com/office/powerpoint/2010/main" val="34788292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73CA83-2BB9-8850-0B0F-FAF1DB6641B7}"/>
              </a:ext>
            </a:extLst>
          </p:cNvPr>
          <p:cNvSpPr>
            <a:spLocks noGrp="1"/>
          </p:cNvSpPr>
          <p:nvPr>
            <p:ph type="title"/>
          </p:nvPr>
        </p:nvSpPr>
        <p:spPr>
          <a:xfrm>
            <a:off x="0" y="76200"/>
            <a:ext cx="9144000" cy="990600"/>
          </a:xfrm>
          <a:solidFill>
            <a:schemeClr val="accent6">
              <a:lumMod val="40000"/>
              <a:lumOff val="60000"/>
            </a:schemeClr>
          </a:solidFill>
        </p:spPr>
        <p:txBody>
          <a:bodyPr>
            <a:noAutofit/>
          </a:bodyPr>
          <a:lstStyle/>
          <a:p>
            <a:r>
              <a:rPr lang="en-US" sz="2800" b="1" dirty="0">
                <a:latin typeface="Times New Roman" panose="02020603050405020304" pitchFamily="18" charset="0"/>
                <a:cs typeface="Times New Roman" panose="02020603050405020304" pitchFamily="18" charset="0"/>
              </a:rPr>
              <a:t>Social Needs of Persons </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with Disabilities &amp; Vulnerabilities </a:t>
            </a:r>
            <a:endParaRPr lang="en-US"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2C5A06CF-AF45-3316-55AD-C4F5D281AAEC}"/>
              </a:ext>
            </a:extLst>
          </p:cNvPr>
          <p:cNvSpPr>
            <a:spLocks noGrp="1"/>
          </p:cNvSpPr>
          <p:nvPr>
            <p:ph idx="1"/>
          </p:nvPr>
        </p:nvSpPr>
        <p:spPr>
          <a:xfrm>
            <a:off x="76200" y="1143000"/>
            <a:ext cx="8839200" cy="5486400"/>
          </a:xfrm>
        </p:spPr>
        <p:txBody>
          <a:bodyPr>
            <a:normAutofit fontScale="92500" lnSpcReduction="10000"/>
          </a:bodyPr>
          <a:lstStyle/>
          <a:p>
            <a:r>
              <a:rPr lang="en-US" sz="2800" dirty="0">
                <a:latin typeface="Times New Roman" panose="02020603050405020304" pitchFamily="18" charset="0"/>
                <a:cs typeface="Times New Roman" panose="02020603050405020304" pitchFamily="18" charset="0"/>
              </a:rPr>
              <a:t>Social protection plays a key role in realizing the rights of persons with disabilities and vulnerabilities of all ages: providing them with an adequate standard of living, a basic level of income security; thus, reducing levels of poverty and vulnerability.</a:t>
            </a:r>
          </a:p>
          <a:p>
            <a:r>
              <a:rPr lang="en-US" sz="2800" dirty="0">
                <a:latin typeface="Times New Roman" panose="02020603050405020304" pitchFamily="18" charset="0"/>
                <a:cs typeface="Times New Roman" panose="02020603050405020304" pitchFamily="18" charset="0"/>
              </a:rPr>
              <a:t>Social protection measures may include poverty reduction schemes; cash transfer programs, social and health insurance, public work programs, housing programs, disability pensions and mobility grants.</a:t>
            </a:r>
          </a:p>
          <a:p>
            <a:r>
              <a:rPr lang="en-US" sz="2800" dirty="0">
                <a:latin typeface="Times New Roman" panose="02020603050405020304" pitchFamily="18" charset="0"/>
                <a:cs typeface="Times New Roman" panose="02020603050405020304" pitchFamily="18" charset="0"/>
              </a:rPr>
              <a:t>equal access to mainstream social protection programs and services —including basic services, social security systems, poverty reduction programs and housing programs— but also specific programs and services for disability-related needs and expenses.</a:t>
            </a:r>
          </a:p>
        </p:txBody>
      </p:sp>
      <p:sp>
        <p:nvSpPr>
          <p:cNvPr id="4" name="Slide Number Placeholder 3">
            <a:extLst>
              <a:ext uri="{FF2B5EF4-FFF2-40B4-BE49-F238E27FC236}">
                <a16:creationId xmlns:a16="http://schemas.microsoft.com/office/drawing/2014/main" xmlns="" id="{E65E8223-177A-49B5-583A-8EA7FCE2D707}"/>
              </a:ext>
            </a:extLst>
          </p:cNvPr>
          <p:cNvSpPr>
            <a:spLocks noGrp="1"/>
          </p:cNvSpPr>
          <p:nvPr>
            <p:ph type="sldNum" sz="quarter" idx="12"/>
          </p:nvPr>
        </p:nvSpPr>
        <p:spPr/>
        <p:txBody>
          <a:bodyPr/>
          <a:lstStyle/>
          <a:p>
            <a:fld id="{29344CB4-3587-4451-B5F6-521D7FDB45C7}" type="slidenum">
              <a:rPr lang="en-US" smtClean="0"/>
              <a:t>17</a:t>
            </a:fld>
            <a:endParaRPr lang="en-US"/>
          </a:p>
        </p:txBody>
      </p:sp>
    </p:spTree>
    <p:extLst>
      <p:ext uri="{BB962C8B-B14F-4D97-AF65-F5344CB8AC3E}">
        <p14:creationId xmlns:p14="http://schemas.microsoft.com/office/powerpoint/2010/main" val="6001541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a:solidFill>
            <a:schemeClr val="accent6">
              <a:lumMod val="60000"/>
              <a:lumOff val="40000"/>
            </a:schemeClr>
          </a:solidFill>
        </p:spPr>
        <p:txBody>
          <a:bodyPr>
            <a:noAutofit/>
          </a:bodyPr>
          <a:lstStyle/>
          <a:p>
            <a:r>
              <a:rPr lang="en-US" sz="3200" b="1" dirty="0">
                <a:latin typeface="Times New Roman" pitchFamily="18" charset="0"/>
                <a:cs typeface="Times New Roman" pitchFamily="18" charset="0"/>
              </a:rPr>
              <a:t>The </a:t>
            </a:r>
            <a:r>
              <a:rPr lang="en-US" sz="3600" b="1" dirty="0">
                <a:solidFill>
                  <a:srgbClr val="FFFF00"/>
                </a:solidFill>
                <a:effectLst>
                  <a:outerShdw blurRad="38100" dist="38100" dir="2700000" algn="tl">
                    <a:srgbClr val="000000">
                      <a:alpha val="43137"/>
                    </a:srgbClr>
                  </a:outerShdw>
                </a:effectLst>
                <a:latin typeface="Times New Roman" pitchFamily="18" charset="0"/>
                <a:cs typeface="Times New Roman" pitchFamily="18" charset="0"/>
              </a:rPr>
              <a:t>Health Care Needs </a:t>
            </a:r>
            <a:r>
              <a:rPr lang="en-US" sz="3200" b="1" dirty="0">
                <a:latin typeface="Times New Roman" pitchFamily="18" charset="0"/>
                <a:cs typeface="Times New Roman" pitchFamily="18" charset="0"/>
              </a:rPr>
              <a:t>of Persons with D &amp; V</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76200" y="838200"/>
            <a:ext cx="8915400" cy="5943600"/>
          </a:xfrm>
        </p:spPr>
        <p:txBody>
          <a:bodyPr>
            <a:normAutofit fontScale="85000" lnSpcReduction="10000"/>
          </a:bodyPr>
          <a:lstStyle/>
          <a:p>
            <a:r>
              <a:rPr lang="en-US" sz="2300" dirty="0">
                <a:latin typeface="Times New Roman" pitchFamily="18" charset="0"/>
                <a:cs typeface="Times New Roman" pitchFamily="18" charset="0"/>
              </a:rPr>
              <a:t>People with disabilities report seeking more health care than people without disabilities and have greater unmet needs.</a:t>
            </a:r>
          </a:p>
          <a:p>
            <a:r>
              <a:rPr lang="en-US" sz="2300" dirty="0">
                <a:latin typeface="Times New Roman" pitchFamily="18" charset="0"/>
                <a:cs typeface="Times New Roman" pitchFamily="18" charset="0"/>
              </a:rPr>
              <a:t>Health promotion and prevention activities seldom target people with disabilities. </a:t>
            </a:r>
          </a:p>
          <a:p>
            <a:r>
              <a:rPr lang="en-US" sz="2300" dirty="0">
                <a:latin typeface="Times New Roman" pitchFamily="18" charset="0"/>
                <a:cs typeface="Times New Roman" pitchFamily="18" charset="0"/>
              </a:rPr>
              <a:t>Depending on the group and setting, persons with disabilities may experience greater vulnerability to secondary conditions, co-morbid conditions, age-related conditions, engaging in health risk behaviors and higher rates of premature death. </a:t>
            </a:r>
          </a:p>
          <a:p>
            <a:pPr marL="857250" lvl="1" indent="-457200">
              <a:buFont typeface="+mj-lt"/>
              <a:buAutoNum type="alphaUcPeriod"/>
            </a:pPr>
            <a:r>
              <a:rPr lang="en-US" sz="2300" b="1" dirty="0">
                <a:latin typeface="Times New Roman" pitchFamily="18" charset="0"/>
                <a:cs typeface="Times New Roman" pitchFamily="18" charset="0"/>
              </a:rPr>
              <a:t>Secondary conditions: </a:t>
            </a:r>
            <a:r>
              <a:rPr lang="en-US" sz="2300" dirty="0">
                <a:latin typeface="Times New Roman" pitchFamily="18" charset="0"/>
                <a:cs typeface="Times New Roman" pitchFamily="18" charset="0"/>
              </a:rPr>
              <a:t>conditions </a:t>
            </a:r>
            <a:r>
              <a:rPr lang="en-US" sz="2300" b="1" i="1" dirty="0">
                <a:solidFill>
                  <a:srgbClr val="0070C0"/>
                </a:solidFill>
                <a:latin typeface="Times New Roman" pitchFamily="18" charset="0"/>
                <a:cs typeface="Times New Roman" pitchFamily="18" charset="0"/>
              </a:rPr>
              <a:t>occur in addition to (and are related to) a primary health condition</a:t>
            </a:r>
            <a:r>
              <a:rPr lang="en-US" sz="2300" dirty="0">
                <a:latin typeface="Times New Roman" pitchFamily="18" charset="0"/>
                <a:cs typeface="Times New Roman" pitchFamily="18" charset="0"/>
              </a:rPr>
              <a:t>, and are both predictable and therefore preventable. e.g., pressure ulcers, urinary tract infections, osteoporosis &amp; pain</a:t>
            </a:r>
          </a:p>
          <a:p>
            <a:pPr marL="857250" lvl="1" indent="-457200">
              <a:buFont typeface="+mj-lt"/>
              <a:buAutoNum type="alphaUcPeriod"/>
            </a:pPr>
            <a:r>
              <a:rPr lang="en-US" sz="2300" b="1" dirty="0">
                <a:latin typeface="Times New Roman" pitchFamily="18" charset="0"/>
                <a:cs typeface="Times New Roman" pitchFamily="18" charset="0"/>
              </a:rPr>
              <a:t>Co-morbid conditions: </a:t>
            </a:r>
            <a:r>
              <a:rPr lang="en-US" sz="2300" dirty="0">
                <a:latin typeface="Times New Roman" pitchFamily="18" charset="0"/>
                <a:cs typeface="Times New Roman" pitchFamily="18" charset="0"/>
              </a:rPr>
              <a:t>conditions </a:t>
            </a:r>
            <a:r>
              <a:rPr lang="en-US" sz="2300" b="1" i="1" dirty="0">
                <a:solidFill>
                  <a:srgbClr val="0070C0"/>
                </a:solidFill>
                <a:latin typeface="Times New Roman" pitchFamily="18" charset="0"/>
                <a:cs typeface="Times New Roman" pitchFamily="18" charset="0"/>
              </a:rPr>
              <a:t>occur in addition to (and are unrelated to) a primary health condition associated with disability</a:t>
            </a:r>
            <a:r>
              <a:rPr lang="en-US" sz="2300" dirty="0">
                <a:latin typeface="Times New Roman" pitchFamily="18" charset="0"/>
                <a:cs typeface="Times New Roman" pitchFamily="18" charset="0"/>
              </a:rPr>
              <a:t>. E.g., the prevalence of diabetes in people with schizophrenia is around 15% compared to a rate of 2-3% for the general population. </a:t>
            </a:r>
          </a:p>
          <a:p>
            <a:pPr marL="857250" lvl="1" indent="-457200">
              <a:buFont typeface="+mj-lt"/>
              <a:buAutoNum type="alphaUcPeriod"/>
            </a:pPr>
            <a:r>
              <a:rPr lang="en-US" sz="2300" b="1" dirty="0">
                <a:latin typeface="Times New Roman" pitchFamily="18" charset="0"/>
                <a:cs typeface="Times New Roman" pitchFamily="18" charset="0"/>
              </a:rPr>
              <a:t>Age-related conditions: </a:t>
            </a:r>
            <a:r>
              <a:rPr lang="en-US" sz="2300" b="1" i="1" dirty="0">
                <a:solidFill>
                  <a:srgbClr val="0070C0"/>
                </a:solidFill>
                <a:latin typeface="Times New Roman" pitchFamily="18" charset="0"/>
                <a:cs typeface="Times New Roman" pitchFamily="18" charset="0"/>
              </a:rPr>
              <a:t>The ageing process for some groups of people with disabilities begins earlier than usual</a:t>
            </a:r>
            <a:r>
              <a:rPr lang="en-US" sz="2300" dirty="0">
                <a:latin typeface="Times New Roman" pitchFamily="18" charset="0"/>
                <a:cs typeface="Times New Roman" pitchFamily="18" charset="0"/>
              </a:rPr>
              <a:t>. E.g., developmental disabilities show signs of premature ageing in their 40s and 50s. </a:t>
            </a:r>
          </a:p>
          <a:p>
            <a:pPr marL="857250" lvl="1" indent="-457200">
              <a:buFont typeface="+mj-lt"/>
              <a:buAutoNum type="alphaUcPeriod"/>
            </a:pPr>
            <a:r>
              <a:rPr lang="en-US" sz="2300" b="1" dirty="0">
                <a:latin typeface="Times New Roman" pitchFamily="18" charset="0"/>
                <a:cs typeface="Times New Roman" pitchFamily="18" charset="0"/>
              </a:rPr>
              <a:t>Engaging in health risk behaviors</a:t>
            </a:r>
            <a:r>
              <a:rPr lang="en-US" sz="2300" b="1" i="1" dirty="0">
                <a:solidFill>
                  <a:srgbClr val="0070C0"/>
                </a:solidFill>
                <a:latin typeface="Times New Roman" pitchFamily="18" charset="0"/>
                <a:cs typeface="Times New Roman" pitchFamily="18" charset="0"/>
              </a:rPr>
              <a:t>: people with disabilities have higher rates of risky behaviors such as smoking, poor diet and physical inactivity</a:t>
            </a:r>
            <a:r>
              <a:rPr lang="en-US" sz="2300" dirty="0">
                <a:latin typeface="Times New Roman" pitchFamily="18" charset="0"/>
                <a:cs typeface="Times New Roman" pitchFamily="18" charset="0"/>
              </a:rPr>
              <a:t>.</a:t>
            </a:r>
          </a:p>
          <a:p>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29344CB4-3587-4451-B5F6-521D7FDB45C7}" type="slidenum">
              <a:rPr lang="en-US" smtClean="0"/>
              <a:t>18</a:t>
            </a:fld>
            <a:endParaRPr lang="en-US"/>
          </a:p>
        </p:txBody>
      </p:sp>
    </p:spTree>
    <p:extLst>
      <p:ext uri="{BB962C8B-B14F-4D97-AF65-F5344CB8AC3E}">
        <p14:creationId xmlns:p14="http://schemas.microsoft.com/office/powerpoint/2010/main" val="233442630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a:solidFill>
            <a:schemeClr val="accent3">
              <a:lumMod val="40000"/>
              <a:lumOff val="60000"/>
            </a:schemeClr>
          </a:solidFill>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Barriers</a:t>
            </a:r>
            <a:r>
              <a:rPr lang="en-US" sz="3200" b="1" dirty="0">
                <a:effectLst>
                  <a:outerShdw blurRad="38100" dist="38100" dir="2700000" algn="tl">
                    <a:srgbClr val="000000">
                      <a:alpha val="43137"/>
                    </a:srgbClr>
                  </a:outerShdw>
                </a:effectLst>
                <a:latin typeface="Times New Roman" pitchFamily="18" charset="0"/>
                <a:cs typeface="Times New Roman" pitchFamily="18" charset="0"/>
              </a:rPr>
              <a:t> </a:t>
            </a:r>
            <a:r>
              <a:rPr lang="en-US" sz="2700" b="1" dirty="0">
                <a:latin typeface="Times New Roman" pitchFamily="18" charset="0"/>
                <a:cs typeface="Times New Roman" pitchFamily="18" charset="0"/>
              </a:rPr>
              <a:t>to Health Care for Persons with D &amp; V Groups </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152400" y="914400"/>
            <a:ext cx="8839200" cy="5867400"/>
          </a:xfrm>
        </p:spPr>
        <p:txBody>
          <a:bodyPr>
            <a:normAutofit/>
          </a:bodyPr>
          <a:lstStyle/>
          <a:p>
            <a:pPr marL="0" indent="0">
              <a:buNone/>
            </a:pPr>
            <a:r>
              <a:rPr lang="en-US" sz="2400" dirty="0">
                <a:latin typeface="Times New Roman" pitchFamily="18" charset="0"/>
                <a:cs typeface="Times New Roman" pitchFamily="18" charset="0"/>
              </a:rPr>
              <a:t>People with disabilities encounter a range of barriers when they attempt to access health care including the following.</a:t>
            </a:r>
          </a:p>
          <a:p>
            <a:pPr marL="457200" indent="-457200">
              <a:buFont typeface="+mj-lt"/>
              <a:buAutoNum type="alphaLcPeriod"/>
            </a:pPr>
            <a:r>
              <a:rPr lang="en-US" sz="2400" b="1" dirty="0">
                <a:latin typeface="Times New Roman" pitchFamily="18" charset="0"/>
                <a:cs typeface="Times New Roman" pitchFamily="18" charset="0"/>
              </a:rPr>
              <a:t>Prohibitive costs: </a:t>
            </a:r>
            <a:r>
              <a:rPr lang="en-US" sz="2400" dirty="0">
                <a:latin typeface="Times New Roman" pitchFamily="18" charset="0"/>
                <a:cs typeface="Times New Roman" pitchFamily="18" charset="0"/>
              </a:rPr>
              <a:t>Affordability of health services and transportation.</a:t>
            </a:r>
          </a:p>
          <a:p>
            <a:pPr marL="457200" indent="-457200">
              <a:buFont typeface="+mj-lt"/>
              <a:buAutoNum type="alphaLcPeriod"/>
            </a:pPr>
            <a:r>
              <a:rPr lang="en-US" sz="2400" b="1" dirty="0">
                <a:latin typeface="Times New Roman" pitchFamily="18" charset="0"/>
                <a:cs typeface="Times New Roman" pitchFamily="18" charset="0"/>
              </a:rPr>
              <a:t>Limited availability of services: </a:t>
            </a:r>
            <a:r>
              <a:rPr lang="en-US" sz="2400" dirty="0">
                <a:latin typeface="Times New Roman" pitchFamily="18" charset="0"/>
                <a:cs typeface="Times New Roman" pitchFamily="18" charset="0"/>
              </a:rPr>
              <a:t>The lack of appropriate services especially in the rural area.</a:t>
            </a:r>
          </a:p>
          <a:p>
            <a:pPr marL="457200" indent="-457200">
              <a:buFont typeface="+mj-lt"/>
              <a:buAutoNum type="alphaLcPeriod"/>
            </a:pPr>
            <a:r>
              <a:rPr lang="en-US" sz="2400" b="1" dirty="0">
                <a:latin typeface="Times New Roman" pitchFamily="18" charset="0"/>
                <a:cs typeface="Times New Roman" pitchFamily="18" charset="0"/>
              </a:rPr>
              <a:t>Physical barriers: </a:t>
            </a:r>
            <a:r>
              <a:rPr lang="en-US" sz="2400" dirty="0">
                <a:latin typeface="Times New Roman" pitchFamily="18" charset="0"/>
                <a:cs typeface="Times New Roman" pitchFamily="18" charset="0"/>
              </a:rPr>
              <a:t>Uneven access to buildings (hospitals, health centers), inaccessible medical equipment, poor signage, narrow doorways, internal steps, inadequate bathroom facilities, and inaccessible parking areas create barriers to health care facilities.</a:t>
            </a:r>
          </a:p>
          <a:p>
            <a:pPr marL="457200" indent="-457200">
              <a:buFont typeface="+mj-lt"/>
              <a:buAutoNum type="alphaLcPeriod"/>
            </a:pPr>
            <a:r>
              <a:rPr lang="en-US" sz="2400" b="1" dirty="0">
                <a:latin typeface="Times New Roman" pitchFamily="18" charset="0"/>
                <a:cs typeface="Times New Roman" pitchFamily="18" charset="0"/>
              </a:rPr>
              <a:t>Inadequate skills and knowledge of health workers: </a:t>
            </a:r>
          </a:p>
          <a:p>
            <a:pPr lvl="1"/>
            <a:r>
              <a:rPr lang="en-US" sz="2000" dirty="0">
                <a:latin typeface="Times New Roman" pitchFamily="18" charset="0"/>
                <a:cs typeface="Times New Roman" pitchFamily="18" charset="0"/>
              </a:rPr>
              <a:t>Twice as likely to report finding health care provider skills inadequate, </a:t>
            </a:r>
          </a:p>
          <a:p>
            <a:pPr lvl="1"/>
            <a:r>
              <a:rPr lang="en-US" sz="2000" dirty="0">
                <a:latin typeface="Times New Roman" pitchFamily="18" charset="0"/>
                <a:cs typeface="Times New Roman" pitchFamily="18" charset="0"/>
              </a:rPr>
              <a:t>Four times more likely to report being treated badly, and </a:t>
            </a:r>
          </a:p>
          <a:p>
            <a:pPr lvl="1"/>
            <a:r>
              <a:rPr lang="en-US" sz="2000" dirty="0">
                <a:latin typeface="Times New Roman" pitchFamily="18" charset="0"/>
                <a:cs typeface="Times New Roman" pitchFamily="18" charset="0"/>
              </a:rPr>
              <a:t>Nearly three times more likely to report being denied care. </a:t>
            </a:r>
          </a:p>
        </p:txBody>
      </p:sp>
      <p:sp>
        <p:nvSpPr>
          <p:cNvPr id="4" name="Slide Number Placeholder 3"/>
          <p:cNvSpPr>
            <a:spLocks noGrp="1"/>
          </p:cNvSpPr>
          <p:nvPr>
            <p:ph type="sldNum" sz="quarter" idx="12"/>
          </p:nvPr>
        </p:nvSpPr>
        <p:spPr/>
        <p:txBody>
          <a:bodyPr/>
          <a:lstStyle/>
          <a:p>
            <a:fld id="{29344CB4-3587-4451-B5F6-521D7FDB45C7}" type="slidenum">
              <a:rPr lang="en-US" smtClean="0"/>
              <a:t>19</a:t>
            </a:fld>
            <a:endParaRPr lang="en-US"/>
          </a:p>
        </p:txBody>
      </p:sp>
    </p:spTree>
    <p:extLst>
      <p:ext uri="{BB962C8B-B14F-4D97-AF65-F5344CB8AC3E}">
        <p14:creationId xmlns:p14="http://schemas.microsoft.com/office/powerpoint/2010/main" val="235376033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a:solidFill>
            <a:schemeClr val="accent6">
              <a:lumMod val="60000"/>
              <a:lumOff val="40000"/>
            </a:schemeClr>
          </a:solidFill>
        </p:spPr>
        <p:txBody>
          <a:bodyPr>
            <a:noAutofit/>
          </a:bodyPr>
          <a:lstStyle/>
          <a:p>
            <a:r>
              <a:rPr lang="en-US" sz="3600" b="1"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Addressing</a:t>
            </a:r>
            <a:r>
              <a:rPr lang="en-US" sz="3600" b="1" dirty="0">
                <a:solidFill>
                  <a:srgbClr val="C00000"/>
                </a:solidFill>
                <a:latin typeface="Times New Roman" pitchFamily="18" charset="0"/>
                <a:cs typeface="Times New Roman" pitchFamily="18" charset="0"/>
              </a:rPr>
              <a:t> </a:t>
            </a:r>
            <a:r>
              <a:rPr lang="en-US" sz="2800" b="1" dirty="0">
                <a:latin typeface="Times New Roman" pitchFamily="18" charset="0"/>
                <a:cs typeface="Times New Roman" pitchFamily="18" charset="0"/>
              </a:rPr>
              <a:t>for Inclusive Barriers to Health Care </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152400" y="838200"/>
            <a:ext cx="8839200" cy="5791200"/>
          </a:xfrm>
        </p:spPr>
        <p:txBody>
          <a:bodyPr>
            <a:noAutofit/>
          </a:bodyPr>
          <a:lstStyle/>
          <a:p>
            <a:r>
              <a:rPr lang="en-US" sz="2400" dirty="0">
                <a:latin typeface="Times New Roman" pitchFamily="18" charset="0"/>
                <a:cs typeface="Times New Roman" pitchFamily="18" charset="0"/>
              </a:rPr>
              <a:t>Governments and professionals can improve health outcomes for people with disabilities by improving </a:t>
            </a:r>
            <a:r>
              <a:rPr lang="en-US" sz="2400" b="1" dirty="0">
                <a:latin typeface="Times New Roman" pitchFamily="18" charset="0"/>
                <a:cs typeface="Times New Roman" pitchFamily="18" charset="0"/>
              </a:rPr>
              <a:t>access to quality</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affordable health care services</a:t>
            </a:r>
            <a:r>
              <a:rPr lang="en-US" sz="2400" dirty="0">
                <a:latin typeface="Times New Roman" pitchFamily="18" charset="0"/>
                <a:cs typeface="Times New Roman" pitchFamily="18" charset="0"/>
              </a:rPr>
              <a:t>, which make the best use of available resources.</a:t>
            </a:r>
          </a:p>
          <a:p>
            <a:r>
              <a:rPr lang="en-US" sz="2400" dirty="0">
                <a:latin typeface="Times New Roman" pitchFamily="18" charset="0"/>
                <a:cs typeface="Times New Roman" pitchFamily="18" charset="0"/>
              </a:rPr>
              <a:t>As several factors interact to inhibit access to health care, reforms in all the interacting components of the health care system are required. </a:t>
            </a:r>
          </a:p>
          <a:p>
            <a:pPr marL="514350" indent="-514350">
              <a:buFont typeface="+mj-lt"/>
              <a:buAutoNum type="alphaUcPeriod"/>
            </a:pPr>
            <a:r>
              <a:rPr lang="en-US" sz="2400" b="1" dirty="0">
                <a:solidFill>
                  <a:srgbClr val="0070C0"/>
                </a:solidFill>
                <a:latin typeface="Times New Roman" pitchFamily="18" charset="0"/>
                <a:cs typeface="Times New Roman" pitchFamily="18" charset="0"/>
              </a:rPr>
              <a:t>Policy and legislation- </a:t>
            </a:r>
            <a:r>
              <a:rPr lang="en-US" sz="2000" dirty="0">
                <a:latin typeface="Times New Roman" panose="02020603050405020304" pitchFamily="18" charset="0"/>
                <a:cs typeface="Times New Roman" panose="02020603050405020304" pitchFamily="18" charset="0"/>
              </a:rPr>
              <a:t>Assess existing policies and services, identify priorities to reduce health inequalities and plan improvements for access and inclusion.</a:t>
            </a:r>
          </a:p>
          <a:p>
            <a:pPr marL="457200" indent="-457200">
              <a:buFont typeface="+mj-lt"/>
              <a:buAutoNum type="alphaUcPeriod"/>
            </a:pPr>
            <a:r>
              <a:rPr lang="en-US" sz="2400" b="1" dirty="0">
                <a:solidFill>
                  <a:srgbClr val="0070C0"/>
                </a:solidFill>
                <a:latin typeface="Times New Roman" pitchFamily="18" charset="0"/>
                <a:cs typeface="Times New Roman" pitchFamily="18" charset="0"/>
              </a:rPr>
              <a:t>Financing- accessible, </a:t>
            </a:r>
            <a:r>
              <a:rPr lang="en-US" sz="2000" dirty="0">
                <a:latin typeface="Times New Roman" pitchFamily="18" charset="0"/>
                <a:cs typeface="Times New Roman" pitchFamily="18" charset="0"/>
              </a:rPr>
              <a:t>affordable health insurance &amp; service, benefit equally from public health care programs. </a:t>
            </a:r>
            <a:endParaRPr lang="en-US" sz="2000" dirty="0">
              <a:solidFill>
                <a:srgbClr val="0070C0"/>
              </a:solidFill>
              <a:latin typeface="Times New Roman" panose="02020603050405020304" pitchFamily="18" charset="0"/>
              <a:cs typeface="Times New Roman" pitchFamily="18" charset="0"/>
            </a:endParaRPr>
          </a:p>
          <a:p>
            <a:pPr marL="514350" indent="-514350">
              <a:buFont typeface="+mj-lt"/>
              <a:buAutoNum type="alphaUcPeriod"/>
            </a:pPr>
            <a:r>
              <a:rPr lang="en-US" sz="2400" b="1" dirty="0">
                <a:solidFill>
                  <a:srgbClr val="0070C0"/>
                </a:solidFill>
                <a:latin typeface="Times New Roman" pitchFamily="18" charset="0"/>
                <a:cs typeface="Times New Roman" pitchFamily="18" charset="0"/>
              </a:rPr>
              <a:t>Service delivery- </a:t>
            </a:r>
            <a:r>
              <a:rPr lang="en-US" sz="2000" dirty="0">
                <a:latin typeface="Times New Roman" pitchFamily="18" charset="0"/>
                <a:cs typeface="Times New Roman" pitchFamily="18" charset="0"/>
              </a:rPr>
              <a:t>modifications and adjustments to facilitate access to health care services</a:t>
            </a:r>
          </a:p>
          <a:p>
            <a:pPr marL="514350" indent="-514350">
              <a:buFont typeface="+mj-lt"/>
              <a:buAutoNum type="alphaUcPeriod"/>
            </a:pPr>
            <a:r>
              <a:rPr lang="en-US" sz="2400" b="1" dirty="0">
                <a:solidFill>
                  <a:srgbClr val="0070C0"/>
                </a:solidFill>
                <a:latin typeface="Times New Roman" pitchFamily="18" charset="0"/>
                <a:cs typeface="Times New Roman" pitchFamily="18" charset="0"/>
              </a:rPr>
              <a:t>Human resources-</a:t>
            </a:r>
            <a:r>
              <a:rPr lang="en-US" sz="2000" dirty="0">
                <a:latin typeface="Times New Roman" pitchFamily="18" charset="0"/>
                <a:cs typeface="Times New Roman" pitchFamily="18" charset="0"/>
              </a:rPr>
              <a:t> educate, train both people with &amp; without disabilities</a:t>
            </a: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29344CB4-3587-4451-B5F6-521D7FDB45C7}" type="slidenum">
              <a:rPr lang="en-US" smtClean="0"/>
              <a:t>20</a:t>
            </a:fld>
            <a:endParaRPr lang="en-US"/>
          </a:p>
        </p:txBody>
      </p:sp>
    </p:spTree>
    <p:extLst>
      <p:ext uri="{BB962C8B-B14F-4D97-AF65-F5344CB8AC3E}">
        <p14:creationId xmlns:p14="http://schemas.microsoft.com/office/powerpoint/2010/main" val="224262657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a:solidFill>
            <a:schemeClr val="accent6">
              <a:lumMod val="60000"/>
              <a:lumOff val="40000"/>
            </a:schemeClr>
          </a:solidFill>
        </p:spPr>
        <p:txBody>
          <a:bodyPr>
            <a:normAutofit/>
          </a:bodyPr>
          <a:lstStyle/>
          <a:p>
            <a:r>
              <a:rPr lang="en-US" sz="3200" b="1" dirty="0">
                <a:latin typeface="Times New Roman" pitchFamily="18" charset="0"/>
                <a:cs typeface="Times New Roman" pitchFamily="18" charset="0"/>
              </a:rPr>
              <a:t>Disability, vulnerability and the Environment </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76200" y="838200"/>
            <a:ext cx="8915400" cy="5943600"/>
          </a:xfrm>
        </p:spPr>
        <p:txBody>
          <a:bodyPr>
            <a:normAutofit fontScale="92500" lnSpcReduction="20000"/>
          </a:bodyPr>
          <a:lstStyle/>
          <a:p>
            <a:r>
              <a:rPr lang="en-US" sz="2400" dirty="0">
                <a:latin typeface="Times New Roman" pitchFamily="18" charset="0"/>
                <a:cs typeface="Times New Roman" pitchFamily="18" charset="0"/>
              </a:rPr>
              <a:t>Previous </a:t>
            </a:r>
            <a:r>
              <a:rPr lang="en-US" sz="2400" i="1" dirty="0">
                <a:latin typeface="Times New Roman" pitchFamily="18" charset="0"/>
                <a:cs typeface="Times New Roman" pitchFamily="18" charset="0"/>
              </a:rPr>
              <a:t>models of absolute determinism that viewed pathology and disability interchangeably and that excluded consideration of the environment </a:t>
            </a:r>
            <a:r>
              <a:rPr lang="en-US" sz="2400" dirty="0">
                <a:latin typeface="Times New Roman" pitchFamily="18" charset="0"/>
                <a:cs typeface="Times New Roman" pitchFamily="18" charset="0"/>
              </a:rPr>
              <a:t>have been replaced by </a:t>
            </a:r>
            <a:r>
              <a:rPr lang="en-US" sz="2400" b="1" i="1" dirty="0">
                <a:solidFill>
                  <a:srgbClr val="FF0000"/>
                </a:solidFill>
                <a:latin typeface="Times New Roman" pitchFamily="18" charset="0"/>
                <a:cs typeface="Times New Roman" pitchFamily="18" charset="0"/>
              </a:rPr>
              <a:t>models in which disability is seen to result from the interaction between the characteristics of individuals with disabilities and the characteristics of their environment</a:t>
            </a:r>
            <a:r>
              <a:rPr lang="en-US" sz="2400" dirty="0">
                <a:solidFill>
                  <a:srgbClr val="FF0000"/>
                </a:solidFill>
                <a:latin typeface="Times New Roman" pitchFamily="18" charset="0"/>
                <a:cs typeface="Times New Roman" pitchFamily="18" charset="0"/>
              </a:rPr>
              <a:t>.</a:t>
            </a:r>
          </a:p>
          <a:p>
            <a:r>
              <a:rPr lang="en-US" sz="2400" dirty="0">
                <a:latin typeface="Times New Roman" pitchFamily="18" charset="0"/>
                <a:cs typeface="Times New Roman" pitchFamily="18" charset="0"/>
              </a:rPr>
              <a:t>Disability is not inherent in an individual but is, rather, a relational concept—a function of the interaction of the person with the social and physical environments. </a:t>
            </a:r>
          </a:p>
          <a:p>
            <a:r>
              <a:rPr lang="en-US" sz="2400" b="1" dirty="0">
                <a:latin typeface="Times New Roman" pitchFamily="18" charset="0"/>
                <a:cs typeface="Times New Roman" pitchFamily="18" charset="0"/>
              </a:rPr>
              <a:t>The amount of disability that a person experiences</a:t>
            </a:r>
            <a:r>
              <a:rPr lang="en-US" sz="2400" dirty="0">
                <a:latin typeface="Times New Roman" pitchFamily="18" charset="0"/>
                <a:cs typeface="Times New Roman" pitchFamily="18" charset="0"/>
              </a:rPr>
              <a:t>, depends on both the existence of a </a:t>
            </a:r>
            <a:r>
              <a:rPr lang="en-US" sz="2400" b="1" dirty="0">
                <a:solidFill>
                  <a:srgbClr val="FF0000"/>
                </a:solidFill>
                <a:latin typeface="Times New Roman" pitchFamily="18" charset="0"/>
                <a:cs typeface="Times New Roman" pitchFamily="18" charset="0"/>
              </a:rPr>
              <a:t>potentially disabling condition </a:t>
            </a:r>
            <a:r>
              <a:rPr lang="en-US" sz="2400" dirty="0">
                <a:latin typeface="Times New Roman" pitchFamily="18" charset="0"/>
                <a:cs typeface="Times New Roman" pitchFamily="18" charset="0"/>
              </a:rPr>
              <a:t>(or limitation) and the </a:t>
            </a:r>
            <a:r>
              <a:rPr lang="en-US" sz="2400" b="1" dirty="0">
                <a:solidFill>
                  <a:srgbClr val="FF0000"/>
                </a:solidFill>
                <a:latin typeface="Times New Roman" pitchFamily="18" charset="0"/>
                <a:cs typeface="Times New Roman" pitchFamily="18" charset="0"/>
              </a:rPr>
              <a:t>environment</a:t>
            </a:r>
            <a:r>
              <a:rPr lang="en-US" sz="2400" dirty="0">
                <a:solidFill>
                  <a:srgbClr val="FF0000"/>
                </a:solidFill>
                <a:latin typeface="Times New Roman" pitchFamily="18" charset="0"/>
                <a:cs typeface="Times New Roman" pitchFamily="18" charset="0"/>
              </a:rPr>
              <a:t> </a:t>
            </a:r>
            <a:r>
              <a:rPr lang="en-US" sz="2400" dirty="0">
                <a:latin typeface="Times New Roman" pitchFamily="18" charset="0"/>
                <a:cs typeface="Times New Roman" pitchFamily="18" charset="0"/>
              </a:rPr>
              <a:t>in which the person lives.</a:t>
            </a:r>
          </a:p>
          <a:p>
            <a:r>
              <a:rPr lang="en-US" sz="2400" dirty="0">
                <a:latin typeface="Times New Roman" pitchFamily="18" charset="0"/>
                <a:cs typeface="Times New Roman" pitchFamily="18" charset="0"/>
              </a:rPr>
              <a:t>The physical and social environments comprise factors external to the individual, including </a:t>
            </a:r>
            <a:r>
              <a:rPr lang="en-US" sz="2400" b="1" dirty="0">
                <a:latin typeface="Times New Roman" pitchFamily="18" charset="0"/>
                <a:cs typeface="Times New Roman" pitchFamily="18" charset="0"/>
              </a:rPr>
              <a:t>family, institutions, community, geography</a:t>
            </a:r>
            <a:r>
              <a:rPr lang="en-US" sz="2400" dirty="0">
                <a:latin typeface="Times New Roman" pitchFamily="18" charset="0"/>
                <a:cs typeface="Times New Roman" pitchFamily="18" charset="0"/>
              </a:rPr>
              <a:t>, and </a:t>
            </a:r>
            <a:r>
              <a:rPr lang="en-US" sz="2400" b="1" dirty="0">
                <a:latin typeface="Times New Roman" pitchFamily="18" charset="0"/>
                <a:cs typeface="Times New Roman" pitchFamily="18" charset="0"/>
              </a:rPr>
              <a:t>the political climate</a:t>
            </a:r>
            <a:r>
              <a:rPr lang="en-US" sz="2400" dirty="0">
                <a:latin typeface="Times New Roman" pitchFamily="18" charset="0"/>
                <a:cs typeface="Times New Roman" pitchFamily="18" charset="0"/>
              </a:rPr>
              <a:t>. </a:t>
            </a:r>
          </a:p>
          <a:p>
            <a:r>
              <a:rPr lang="en-US" sz="2400" dirty="0">
                <a:latin typeface="Times New Roman" pitchFamily="18" charset="0"/>
                <a:cs typeface="Times New Roman" pitchFamily="18" charset="0"/>
              </a:rPr>
              <a:t>Additional is one's intrapersonal or psychological environment including </a:t>
            </a:r>
            <a:r>
              <a:rPr lang="en-US" sz="2400" b="1" dirty="0">
                <a:latin typeface="Times New Roman" pitchFamily="18" charset="0"/>
                <a:cs typeface="Times New Roman" pitchFamily="18" charset="0"/>
              </a:rPr>
              <a:t>internal states, beliefs, cognition, expectancies &amp; other mental states</a:t>
            </a:r>
            <a:r>
              <a:rPr lang="en-US" sz="2400" dirty="0">
                <a:latin typeface="Times New Roman" pitchFamily="18" charset="0"/>
                <a:cs typeface="Times New Roman" pitchFamily="18" charset="0"/>
              </a:rPr>
              <a:t>. </a:t>
            </a:r>
          </a:p>
          <a:p>
            <a:r>
              <a:rPr lang="en-US" sz="2400" dirty="0">
                <a:latin typeface="Times New Roman" pitchFamily="18" charset="0"/>
                <a:cs typeface="Times New Roman" pitchFamily="18" charset="0"/>
              </a:rPr>
              <a:t>Thus, environmental factors must be seen to include the </a:t>
            </a:r>
            <a:r>
              <a:rPr lang="en-US" sz="2400" b="1" dirty="0">
                <a:latin typeface="Times New Roman" pitchFamily="18" charset="0"/>
                <a:cs typeface="Times New Roman" pitchFamily="18" charset="0"/>
              </a:rPr>
              <a:t>natural environment, the human made environment, culture, the economic system, the political system</a:t>
            </a:r>
            <a:r>
              <a:rPr lang="en-US" sz="2400" dirty="0">
                <a:latin typeface="Times New Roman" pitchFamily="18" charset="0"/>
                <a:cs typeface="Times New Roman" pitchFamily="18" charset="0"/>
              </a:rPr>
              <a:t>, and </a:t>
            </a:r>
            <a:r>
              <a:rPr lang="en-US" sz="2400" b="1" dirty="0">
                <a:latin typeface="Times New Roman" pitchFamily="18" charset="0"/>
                <a:cs typeface="Times New Roman" pitchFamily="18" charset="0"/>
              </a:rPr>
              <a:t>psychological factors</a:t>
            </a:r>
            <a:r>
              <a:rPr lang="en-US" sz="2400" dirty="0">
                <a:latin typeface="Times New Roman" pitchFamily="18" charset="0"/>
                <a:cs typeface="Times New Roman" pitchFamily="18" charset="0"/>
              </a:rPr>
              <a:t>. </a:t>
            </a:r>
          </a:p>
        </p:txBody>
      </p:sp>
      <p:sp>
        <p:nvSpPr>
          <p:cNvPr id="4" name="Slide Number Placeholder 3"/>
          <p:cNvSpPr>
            <a:spLocks noGrp="1"/>
          </p:cNvSpPr>
          <p:nvPr>
            <p:ph type="sldNum" sz="quarter" idx="12"/>
          </p:nvPr>
        </p:nvSpPr>
        <p:spPr/>
        <p:txBody>
          <a:bodyPr/>
          <a:lstStyle/>
          <a:p>
            <a:fld id="{29344CB4-3587-4451-B5F6-521D7FDB45C7}" type="slidenum">
              <a:rPr lang="en-US" smtClean="0"/>
              <a:t>21</a:t>
            </a:fld>
            <a:endParaRPr lang="en-US"/>
          </a:p>
        </p:txBody>
      </p:sp>
    </p:spTree>
    <p:extLst>
      <p:ext uri="{BB962C8B-B14F-4D97-AF65-F5344CB8AC3E}">
        <p14:creationId xmlns:p14="http://schemas.microsoft.com/office/powerpoint/2010/main" val="235808575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14400"/>
            <a:ext cx="8763000" cy="5791200"/>
          </a:xfrm>
        </p:spPr>
        <p:txBody>
          <a:bodyPr>
            <a:normAutofit/>
          </a:bodyPr>
          <a:lstStyle/>
          <a:p>
            <a:pPr marL="0" indent="0">
              <a:buNone/>
            </a:pPr>
            <a:r>
              <a:rPr lang="en-US" sz="28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Three types of attributes </a:t>
            </a:r>
            <a:r>
              <a:rPr lang="en-US" sz="2800" dirty="0">
                <a:latin typeface="Times New Roman" pitchFamily="18" charset="0"/>
                <a:cs typeface="Times New Roman" pitchFamily="18" charset="0"/>
              </a:rPr>
              <a:t>of the physical environment need to be in place </a:t>
            </a:r>
            <a:r>
              <a:rPr lang="en-US" sz="2800" b="1" i="1" dirty="0">
                <a:solidFill>
                  <a:srgbClr val="002060"/>
                </a:solidFill>
                <a:latin typeface="Times New Roman" pitchFamily="18" charset="0"/>
                <a:cs typeface="Times New Roman" pitchFamily="18" charset="0"/>
              </a:rPr>
              <a:t>to support human performance</a:t>
            </a:r>
            <a:r>
              <a:rPr lang="en-US" sz="2800" dirty="0">
                <a:latin typeface="Times New Roman" pitchFamily="18" charset="0"/>
                <a:cs typeface="Times New Roman" pitchFamily="18" charset="0"/>
              </a:rPr>
              <a:t>. </a:t>
            </a:r>
          </a:p>
          <a:p>
            <a:r>
              <a:rPr lang="en-US" sz="2800" dirty="0">
                <a:latin typeface="Times New Roman" pitchFamily="18" charset="0"/>
                <a:cs typeface="Times New Roman" pitchFamily="18" charset="0"/>
              </a:rPr>
              <a:t>The </a:t>
            </a:r>
            <a:r>
              <a:rPr lang="en-US" sz="2800" b="1" dirty="0">
                <a:latin typeface="Times New Roman" pitchFamily="18" charset="0"/>
                <a:cs typeface="Times New Roman" pitchFamily="18" charset="0"/>
              </a:rPr>
              <a:t>first </a:t>
            </a:r>
            <a:r>
              <a:rPr lang="en-US" sz="2800" dirty="0">
                <a:latin typeface="Times New Roman" pitchFamily="18" charset="0"/>
                <a:cs typeface="Times New Roman" pitchFamily="18" charset="0"/>
              </a:rPr>
              <a:t>attribute is </a:t>
            </a:r>
            <a:r>
              <a:rPr lang="en-US" sz="2800" b="1" dirty="0">
                <a:solidFill>
                  <a:srgbClr val="FF0000"/>
                </a:solidFill>
                <a:latin typeface="Times New Roman" pitchFamily="18" charset="0"/>
                <a:cs typeface="Times New Roman" pitchFamily="18" charset="0"/>
              </a:rPr>
              <a:t>object availability</a:t>
            </a:r>
            <a:r>
              <a:rPr lang="en-US" sz="2800" dirty="0">
                <a:latin typeface="Times New Roman" pitchFamily="18" charset="0"/>
                <a:cs typeface="Times New Roman" pitchFamily="18" charset="0"/>
              </a:rPr>
              <a:t>. Objects must be in a location that is useful, at a level where they can be retrieved, and must be organized to support the performance of the activity.  </a:t>
            </a:r>
          </a:p>
          <a:p>
            <a:r>
              <a:rPr lang="en-US" sz="2800" dirty="0">
                <a:latin typeface="Times New Roman" pitchFamily="18" charset="0"/>
                <a:cs typeface="Times New Roman" pitchFamily="18" charset="0"/>
              </a:rPr>
              <a:t>The </a:t>
            </a:r>
            <a:r>
              <a:rPr lang="en-US" sz="2800" b="1" dirty="0">
                <a:latin typeface="Times New Roman" pitchFamily="18" charset="0"/>
                <a:cs typeface="Times New Roman" pitchFamily="18" charset="0"/>
              </a:rPr>
              <a:t>second </a:t>
            </a:r>
            <a:r>
              <a:rPr lang="en-US" sz="2800" dirty="0">
                <a:latin typeface="Times New Roman" pitchFamily="18" charset="0"/>
                <a:cs typeface="Times New Roman" pitchFamily="18" charset="0"/>
              </a:rPr>
              <a:t>attribute is </a:t>
            </a:r>
            <a:r>
              <a:rPr lang="en-US" sz="2800" b="1" dirty="0">
                <a:solidFill>
                  <a:srgbClr val="FF0000"/>
                </a:solidFill>
                <a:latin typeface="Times New Roman" pitchFamily="18" charset="0"/>
                <a:cs typeface="Times New Roman" pitchFamily="18" charset="0"/>
              </a:rPr>
              <a:t>accessibility</a:t>
            </a:r>
            <a:r>
              <a:rPr lang="en-US" sz="2800" dirty="0">
                <a:solidFill>
                  <a:srgbClr val="FF0000"/>
                </a:solidFill>
                <a:latin typeface="Times New Roman" pitchFamily="18" charset="0"/>
                <a:cs typeface="Times New Roman" pitchFamily="18" charset="0"/>
              </a:rPr>
              <a:t>-</a:t>
            </a:r>
            <a:r>
              <a:rPr lang="en-US" sz="2800" dirty="0">
                <a:latin typeface="Times New Roman" pitchFamily="18" charset="0"/>
                <a:cs typeface="Times New Roman" pitchFamily="18" charset="0"/>
              </a:rPr>
              <a:t> the ability of people to get to a place or to use a device. </a:t>
            </a:r>
          </a:p>
          <a:p>
            <a:r>
              <a:rPr lang="en-US" sz="2800" dirty="0">
                <a:latin typeface="Times New Roman" pitchFamily="18" charset="0"/>
                <a:cs typeface="Times New Roman" pitchFamily="18" charset="0"/>
              </a:rPr>
              <a:t>The </a:t>
            </a:r>
            <a:r>
              <a:rPr lang="en-US" sz="2800" b="1" dirty="0">
                <a:latin typeface="Times New Roman" pitchFamily="18" charset="0"/>
                <a:cs typeface="Times New Roman" pitchFamily="18" charset="0"/>
              </a:rPr>
              <a:t>third </a:t>
            </a:r>
            <a:r>
              <a:rPr lang="en-US" sz="2800" dirty="0">
                <a:latin typeface="Times New Roman" pitchFamily="18" charset="0"/>
                <a:cs typeface="Times New Roman" pitchFamily="18" charset="0"/>
              </a:rPr>
              <a:t>attribute is the </a:t>
            </a:r>
            <a:r>
              <a:rPr lang="en-US" sz="2800" b="1" dirty="0">
                <a:solidFill>
                  <a:srgbClr val="FF0000"/>
                </a:solidFill>
                <a:latin typeface="Times New Roman" pitchFamily="18" charset="0"/>
                <a:cs typeface="Times New Roman" pitchFamily="18" charset="0"/>
              </a:rPr>
              <a:t>availability of sensory stimulation</a:t>
            </a:r>
            <a:r>
              <a:rPr lang="en-US" sz="2800" b="1" dirty="0">
                <a:latin typeface="Times New Roman" pitchFamily="18" charset="0"/>
                <a:cs typeface="Times New Roman" pitchFamily="18" charset="0"/>
              </a:rPr>
              <a:t> </a:t>
            </a:r>
            <a:r>
              <a:rPr lang="en-US" sz="2800" dirty="0">
                <a:latin typeface="Times New Roman" pitchFamily="18" charset="0"/>
                <a:cs typeface="Times New Roman" pitchFamily="18" charset="0"/>
              </a:rPr>
              <a:t>regarding the environment. Sensory stimulation, which can include </a:t>
            </a:r>
            <a:r>
              <a:rPr lang="en-US" sz="2800" i="1" dirty="0">
                <a:latin typeface="Times New Roman" pitchFamily="18" charset="0"/>
                <a:cs typeface="Times New Roman" pitchFamily="18" charset="0"/>
              </a:rPr>
              <a:t>visual</a:t>
            </a:r>
            <a:r>
              <a:rPr lang="en-US" sz="2800" dirty="0">
                <a:latin typeface="Times New Roman" pitchFamily="18" charset="0"/>
                <a:cs typeface="Times New Roman" pitchFamily="18" charset="0"/>
              </a:rPr>
              <a:t>, </a:t>
            </a:r>
            <a:r>
              <a:rPr lang="en-US" sz="2800" i="1" dirty="0">
                <a:latin typeface="Times New Roman" pitchFamily="18" charset="0"/>
                <a:cs typeface="Times New Roman" pitchFamily="18" charset="0"/>
              </a:rPr>
              <a:t>tactile</a:t>
            </a:r>
            <a:r>
              <a:rPr lang="en-US" sz="2800" dirty="0">
                <a:latin typeface="Times New Roman" pitchFamily="18" charset="0"/>
                <a:cs typeface="Times New Roman" pitchFamily="18" charset="0"/>
              </a:rPr>
              <a:t>, or </a:t>
            </a:r>
            <a:r>
              <a:rPr lang="en-US" sz="2800" i="1" dirty="0">
                <a:latin typeface="Times New Roman" pitchFamily="18" charset="0"/>
                <a:cs typeface="Times New Roman" pitchFamily="18" charset="0"/>
              </a:rPr>
              <a:t>auditory</a:t>
            </a:r>
            <a:r>
              <a:rPr lang="en-US" sz="2800" dirty="0">
                <a:latin typeface="Times New Roman" pitchFamily="18" charset="0"/>
                <a:cs typeface="Times New Roman" pitchFamily="18" charset="0"/>
              </a:rPr>
              <a:t> cues, serves as a signal to promote responses. </a:t>
            </a:r>
          </a:p>
        </p:txBody>
      </p:sp>
      <p:sp>
        <p:nvSpPr>
          <p:cNvPr id="4" name="Title 1"/>
          <p:cNvSpPr>
            <a:spLocks noGrp="1"/>
          </p:cNvSpPr>
          <p:nvPr>
            <p:ph type="title"/>
          </p:nvPr>
        </p:nvSpPr>
        <p:spPr>
          <a:xfrm>
            <a:off x="0" y="0"/>
            <a:ext cx="9144000" cy="838200"/>
          </a:xfrm>
          <a:solidFill>
            <a:schemeClr val="accent6">
              <a:lumMod val="60000"/>
              <a:lumOff val="40000"/>
            </a:schemeClr>
          </a:solidFill>
        </p:spPr>
        <p:txBody>
          <a:bodyPr>
            <a:normAutofit/>
          </a:bodyPr>
          <a:lstStyle/>
          <a:p>
            <a:r>
              <a:rPr lang="en-US" sz="3200" b="1" dirty="0">
                <a:latin typeface="Times New Roman" pitchFamily="18" charset="0"/>
                <a:cs typeface="Times New Roman" pitchFamily="18" charset="0"/>
              </a:rPr>
              <a:t>Disability, vulnerability and the Environment </a:t>
            </a:r>
            <a:r>
              <a:rPr lang="en-US" sz="1050" b="1" spc="300" dirty="0">
                <a:solidFill>
                  <a:srgbClr val="FF0000"/>
                </a:solidFill>
                <a:latin typeface="Times New Roman" pitchFamily="18" charset="0"/>
                <a:cs typeface="Times New Roman" pitchFamily="18" charset="0"/>
              </a:rPr>
              <a:t>3&amp;15</a:t>
            </a:r>
            <a:r>
              <a:rPr lang="en-US" sz="3200" b="1" dirty="0">
                <a:latin typeface="Times New Roman" pitchFamily="18" charset="0"/>
                <a:cs typeface="Times New Roman" pitchFamily="18" charset="0"/>
              </a:rPr>
              <a:t> </a:t>
            </a:r>
            <a:endParaRPr lang="en-US" sz="3200" dirty="0">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fld id="{29344CB4-3587-4451-B5F6-521D7FDB45C7}" type="slidenum">
              <a:rPr lang="en-US" smtClean="0"/>
              <a:t>22</a:t>
            </a:fld>
            <a:endParaRPr lang="en-US"/>
          </a:p>
        </p:txBody>
      </p:sp>
    </p:spTree>
    <p:extLst>
      <p:ext uri="{BB962C8B-B14F-4D97-AF65-F5344CB8AC3E}">
        <p14:creationId xmlns:p14="http://schemas.microsoft.com/office/powerpoint/2010/main" val="418474658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a:solidFill>
            <a:schemeClr val="accent6">
              <a:lumMod val="60000"/>
              <a:lumOff val="40000"/>
            </a:schemeClr>
          </a:solidFill>
        </p:spPr>
        <p:txBody>
          <a:bodyPr>
            <a:noAutofit/>
          </a:bodyPr>
          <a:lstStyle/>
          <a:p>
            <a:r>
              <a:rPr lang="en-US" sz="3600" b="1" dirty="0">
                <a:latin typeface="Times New Roman" pitchFamily="18" charset="0"/>
                <a:cs typeface="Times New Roman" pitchFamily="18" charset="0"/>
              </a:rPr>
              <a:t>Creating </a:t>
            </a:r>
            <a:r>
              <a:rPr lang="en-US" sz="3600" b="1" dirty="0" smtClean="0">
                <a:latin typeface="Times New Roman" pitchFamily="18" charset="0"/>
                <a:cs typeface="Times New Roman" pitchFamily="18" charset="0"/>
              </a:rPr>
              <a:t>Inclusive </a:t>
            </a:r>
            <a:r>
              <a:rPr lang="en-US" sz="3600" b="1" dirty="0">
                <a:latin typeface="Times New Roman" pitchFamily="18" charset="0"/>
                <a:cs typeface="Times New Roman" pitchFamily="18" charset="0"/>
              </a:rPr>
              <a:t>Environment </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76200" y="838200"/>
            <a:ext cx="8915400" cy="5867400"/>
          </a:xfrm>
        </p:spPr>
        <p:txBody>
          <a:bodyPr>
            <a:normAutofit/>
          </a:bodyPr>
          <a:lstStyle/>
          <a:p>
            <a:r>
              <a:rPr lang="en-US" sz="2400" dirty="0">
                <a:latin typeface="Times New Roman" pitchFamily="18" charset="0"/>
                <a:cs typeface="Times New Roman" pitchFamily="18" charset="0"/>
              </a:rPr>
              <a:t>External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environmental modifications </a:t>
            </a:r>
            <a:r>
              <a:rPr lang="en-US" sz="2400" dirty="0">
                <a:latin typeface="Times New Roman" pitchFamily="18" charset="0"/>
                <a:cs typeface="Times New Roman" pitchFamily="18" charset="0"/>
              </a:rPr>
              <a:t>can take many forms. </a:t>
            </a:r>
          </a:p>
          <a:p>
            <a:r>
              <a:rPr lang="en-US" sz="2400" dirty="0">
                <a:latin typeface="Times New Roman" pitchFamily="18" charset="0"/>
                <a:cs typeface="Times New Roman" pitchFamily="18" charset="0"/>
              </a:rPr>
              <a:t>These can include </a:t>
            </a:r>
          </a:p>
          <a:p>
            <a:pPr marL="1371600" lvl="2" indent="-514350">
              <a:buFont typeface="+mj-lt"/>
              <a:buAutoNum type="arabicPeriod"/>
            </a:pPr>
            <a:r>
              <a:rPr lang="en-US" sz="4000" b="1" dirty="0">
                <a:solidFill>
                  <a:srgbClr val="7030A0"/>
                </a:solidFill>
                <a:latin typeface="Times New Roman" pitchFamily="18" charset="0"/>
                <a:cs typeface="Times New Roman" pitchFamily="18" charset="0"/>
              </a:rPr>
              <a:t>assistive devices, </a:t>
            </a:r>
          </a:p>
          <a:p>
            <a:pPr marL="1371600" lvl="2" indent="-514350">
              <a:buFont typeface="+mj-lt"/>
              <a:buAutoNum type="arabicPeriod"/>
            </a:pPr>
            <a:r>
              <a:rPr lang="en-US" sz="4000" b="1" dirty="0">
                <a:solidFill>
                  <a:srgbClr val="7030A0"/>
                </a:solidFill>
                <a:latin typeface="Times New Roman" pitchFamily="18" charset="0"/>
                <a:cs typeface="Times New Roman" pitchFamily="18" charset="0"/>
              </a:rPr>
              <a:t>alterations of a physical structure, </a:t>
            </a:r>
          </a:p>
          <a:p>
            <a:pPr marL="1371600" lvl="2" indent="-514350">
              <a:buFont typeface="+mj-lt"/>
              <a:buAutoNum type="arabicPeriod"/>
            </a:pPr>
            <a:r>
              <a:rPr lang="en-US" sz="4000" b="1" dirty="0">
                <a:solidFill>
                  <a:srgbClr val="7030A0"/>
                </a:solidFill>
                <a:latin typeface="Times New Roman" pitchFamily="18" charset="0"/>
                <a:cs typeface="Times New Roman" pitchFamily="18" charset="0"/>
              </a:rPr>
              <a:t>object modification, and </a:t>
            </a:r>
          </a:p>
          <a:p>
            <a:pPr marL="1371600" lvl="2" indent="-514350">
              <a:buFont typeface="+mj-lt"/>
              <a:buAutoNum type="arabicPeriod"/>
            </a:pPr>
            <a:r>
              <a:rPr lang="en-US" sz="4000" b="1" dirty="0">
                <a:solidFill>
                  <a:srgbClr val="7030A0"/>
                </a:solidFill>
                <a:latin typeface="Times New Roman" pitchFamily="18" charset="0"/>
                <a:cs typeface="Times New Roman" pitchFamily="18" charset="0"/>
              </a:rPr>
              <a:t>task modification. </a:t>
            </a:r>
          </a:p>
          <a:p>
            <a:r>
              <a:rPr lang="en-US" sz="2000" dirty="0">
                <a:latin typeface="Times New Roman" pitchFamily="18" charset="0"/>
                <a:cs typeface="Times New Roman" pitchFamily="18" charset="0"/>
              </a:rPr>
              <a:t>Environmental strategies can be effective in helping people function independently and not be limited in their social participation, in work, leisure or social interactions as a </a:t>
            </a:r>
            <a:r>
              <a:rPr lang="en-US" sz="2000" i="1" dirty="0">
                <a:latin typeface="Times New Roman" pitchFamily="18" charset="0"/>
                <a:cs typeface="Times New Roman" pitchFamily="18" charset="0"/>
              </a:rPr>
              <a:t>spouse, </a:t>
            </a:r>
            <a:r>
              <a:rPr lang="en-US" sz="2000" dirty="0">
                <a:latin typeface="Times New Roman" pitchFamily="18" charset="0"/>
                <a:cs typeface="Times New Roman" pitchFamily="18" charset="0"/>
              </a:rPr>
              <a:t>parent, friend, or coworker. </a:t>
            </a:r>
          </a:p>
        </p:txBody>
      </p:sp>
      <p:sp>
        <p:nvSpPr>
          <p:cNvPr id="4" name="Slide Number Placeholder 3"/>
          <p:cNvSpPr>
            <a:spLocks noGrp="1"/>
          </p:cNvSpPr>
          <p:nvPr>
            <p:ph type="sldNum" sz="quarter" idx="12"/>
          </p:nvPr>
        </p:nvSpPr>
        <p:spPr/>
        <p:txBody>
          <a:bodyPr/>
          <a:lstStyle/>
          <a:p>
            <a:fld id="{29344CB4-3587-4451-B5F6-521D7FDB45C7}" type="slidenum">
              <a:rPr lang="en-US" smtClean="0"/>
              <a:t>23</a:t>
            </a:fld>
            <a:endParaRPr lang="en-US"/>
          </a:p>
        </p:txBody>
      </p:sp>
    </p:spTree>
    <p:extLst>
      <p:ext uri="{BB962C8B-B14F-4D97-AF65-F5344CB8AC3E}">
        <p14:creationId xmlns:p14="http://schemas.microsoft.com/office/powerpoint/2010/main" val="242771024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52400" y="990600"/>
            <a:ext cx="4343400" cy="5486400"/>
          </a:xfrm>
          <a:solidFill>
            <a:schemeClr val="accent4">
              <a:lumMod val="40000"/>
              <a:lumOff val="60000"/>
            </a:schemeClr>
          </a:solidFill>
        </p:spPr>
        <p:txBody>
          <a:bodyPr>
            <a:noAutofit/>
          </a:bodyPr>
          <a:lstStyle/>
          <a:p>
            <a:pPr marL="514350" indent="-514350">
              <a:buFont typeface="+mj-lt"/>
              <a:buAutoNum type="arabicPeriod"/>
            </a:pPr>
            <a:r>
              <a:rPr lang="en-US" b="1" dirty="0">
                <a:latin typeface="Times New Roman" pitchFamily="18" charset="0"/>
                <a:cs typeface="Times New Roman" pitchFamily="18" charset="0"/>
              </a:rPr>
              <a:t>Mobility aids </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Hand </a:t>
            </a:r>
            <a:r>
              <a:rPr lang="en-US" dirty="0" err="1">
                <a:latin typeface="Times New Roman" pitchFamily="18" charset="0"/>
                <a:cs typeface="Times New Roman" pitchFamily="18" charset="0"/>
              </a:rPr>
              <a:t>Orthosis</a:t>
            </a:r>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Mouth stick </a:t>
            </a:r>
          </a:p>
          <a:p>
            <a:r>
              <a:rPr lang="en-US" dirty="0">
                <a:latin typeface="Times New Roman" pitchFamily="18" charset="0"/>
                <a:cs typeface="Times New Roman" pitchFamily="18" charset="0"/>
              </a:rPr>
              <a:t>Prosthetic limb </a:t>
            </a:r>
          </a:p>
          <a:p>
            <a:r>
              <a:rPr lang="en-US" dirty="0">
                <a:latin typeface="Times New Roman" pitchFamily="18" charset="0"/>
                <a:cs typeface="Times New Roman" pitchFamily="18" charset="0"/>
              </a:rPr>
              <a:t>Wheelchair (manual and/or motorized) </a:t>
            </a:r>
          </a:p>
          <a:p>
            <a:r>
              <a:rPr lang="en-US" dirty="0">
                <a:latin typeface="Times New Roman" pitchFamily="18" charset="0"/>
                <a:cs typeface="Times New Roman" pitchFamily="18" charset="0"/>
              </a:rPr>
              <a:t>Canes </a:t>
            </a:r>
          </a:p>
          <a:p>
            <a:r>
              <a:rPr lang="en-US" dirty="0">
                <a:latin typeface="Times New Roman" pitchFamily="18" charset="0"/>
                <a:cs typeface="Times New Roman" pitchFamily="18" charset="0"/>
              </a:rPr>
              <a:t>Crutches </a:t>
            </a:r>
          </a:p>
          <a:p>
            <a:r>
              <a:rPr lang="en-US" dirty="0">
                <a:latin typeface="Times New Roman" pitchFamily="18" charset="0"/>
                <a:cs typeface="Times New Roman" pitchFamily="18" charset="0"/>
              </a:rPr>
              <a:t>Braces </a:t>
            </a:r>
          </a:p>
        </p:txBody>
      </p:sp>
      <p:sp>
        <p:nvSpPr>
          <p:cNvPr id="4" name="Content Placeholder 3"/>
          <p:cNvSpPr>
            <a:spLocks noGrp="1"/>
          </p:cNvSpPr>
          <p:nvPr>
            <p:ph sz="half" idx="2"/>
          </p:nvPr>
        </p:nvSpPr>
        <p:spPr>
          <a:xfrm>
            <a:off x="4648200" y="990600"/>
            <a:ext cx="4267200" cy="5715000"/>
          </a:xfrm>
          <a:solidFill>
            <a:schemeClr val="tx2">
              <a:lumMod val="40000"/>
              <a:lumOff val="60000"/>
            </a:schemeClr>
          </a:solidFill>
        </p:spPr>
        <p:txBody>
          <a:bodyPr>
            <a:normAutofit fontScale="77500" lnSpcReduction="20000"/>
          </a:bodyPr>
          <a:lstStyle/>
          <a:p>
            <a:pPr marL="0" indent="0">
              <a:buNone/>
            </a:pPr>
            <a:r>
              <a:rPr lang="en-US" sz="3600" b="1" dirty="0">
                <a:latin typeface="Times New Roman" pitchFamily="18" charset="0"/>
                <a:cs typeface="Times New Roman" pitchFamily="18" charset="0"/>
              </a:rPr>
              <a:t>2. Communication aids </a:t>
            </a:r>
            <a:endParaRPr lang="en-US" sz="3600" dirty="0">
              <a:latin typeface="Times New Roman" pitchFamily="18" charset="0"/>
              <a:cs typeface="Times New Roman" pitchFamily="18" charset="0"/>
            </a:endParaRPr>
          </a:p>
          <a:p>
            <a:r>
              <a:rPr lang="en-US" sz="3100" dirty="0">
                <a:latin typeface="Times New Roman" pitchFamily="18" charset="0"/>
                <a:cs typeface="Times New Roman" pitchFamily="18" charset="0"/>
              </a:rPr>
              <a:t>Telephone amplifier or TDD </a:t>
            </a:r>
          </a:p>
          <a:p>
            <a:r>
              <a:rPr lang="en-US" sz="3100" dirty="0">
                <a:latin typeface="Times New Roman" pitchFamily="18" charset="0"/>
                <a:cs typeface="Times New Roman" pitchFamily="18" charset="0"/>
              </a:rPr>
              <a:t>Voice-activated computer </a:t>
            </a:r>
          </a:p>
          <a:p>
            <a:r>
              <a:rPr lang="en-US" sz="3100" dirty="0">
                <a:latin typeface="Times New Roman" pitchFamily="18" charset="0"/>
                <a:cs typeface="Times New Roman" pitchFamily="18" charset="0"/>
              </a:rPr>
              <a:t>Closed or real-time captioning </a:t>
            </a:r>
          </a:p>
          <a:p>
            <a:r>
              <a:rPr lang="en-US" sz="3100" dirty="0">
                <a:latin typeface="Times New Roman" pitchFamily="18" charset="0"/>
                <a:cs typeface="Times New Roman" pitchFamily="18" charset="0"/>
              </a:rPr>
              <a:t>Computer-assisted note taker </a:t>
            </a:r>
          </a:p>
          <a:p>
            <a:r>
              <a:rPr lang="en-US" sz="3100" dirty="0">
                <a:latin typeface="Times New Roman" pitchFamily="18" charset="0"/>
                <a:cs typeface="Times New Roman" pitchFamily="18" charset="0"/>
              </a:rPr>
              <a:t>Print enlarger </a:t>
            </a:r>
          </a:p>
          <a:p>
            <a:r>
              <a:rPr lang="en-US" sz="3100" dirty="0">
                <a:latin typeface="Times New Roman" pitchFamily="18" charset="0"/>
                <a:cs typeface="Times New Roman" pitchFamily="18" charset="0"/>
              </a:rPr>
              <a:t>Reading machines </a:t>
            </a:r>
          </a:p>
          <a:p>
            <a:r>
              <a:rPr lang="en-US" sz="3100" dirty="0">
                <a:latin typeface="Times New Roman" pitchFamily="18" charset="0"/>
                <a:cs typeface="Times New Roman" pitchFamily="18" charset="0"/>
              </a:rPr>
              <a:t>Books on tape </a:t>
            </a:r>
          </a:p>
          <a:p>
            <a:r>
              <a:rPr lang="en-US" sz="3100" dirty="0">
                <a:latin typeface="Times New Roman" pitchFamily="18" charset="0"/>
                <a:cs typeface="Times New Roman" pitchFamily="18" charset="0"/>
              </a:rPr>
              <a:t>Sign language or oral interpreters </a:t>
            </a:r>
          </a:p>
          <a:p>
            <a:r>
              <a:rPr lang="en-US" sz="3100" dirty="0">
                <a:latin typeface="Times New Roman" pitchFamily="18" charset="0"/>
                <a:cs typeface="Times New Roman" pitchFamily="18" charset="0"/>
              </a:rPr>
              <a:t>Braille writer </a:t>
            </a:r>
          </a:p>
          <a:p>
            <a:r>
              <a:rPr lang="en-US" sz="3100" dirty="0">
                <a:latin typeface="Times New Roman" pitchFamily="18" charset="0"/>
                <a:cs typeface="Times New Roman" pitchFamily="18" charset="0"/>
              </a:rPr>
              <a:t>Cochlear implant </a:t>
            </a:r>
          </a:p>
          <a:p>
            <a:r>
              <a:rPr lang="en-US" sz="3100" dirty="0">
                <a:latin typeface="Times New Roman" pitchFamily="18" charset="0"/>
                <a:cs typeface="Times New Roman" pitchFamily="18" charset="0"/>
              </a:rPr>
              <a:t>Communication boards FM, audio-induction loop, or infrared systems </a:t>
            </a:r>
          </a:p>
          <a:p>
            <a:endParaRPr lang="en-US" dirty="0"/>
          </a:p>
        </p:txBody>
      </p:sp>
      <p:sp>
        <p:nvSpPr>
          <p:cNvPr id="5" name="Title 1"/>
          <p:cNvSpPr>
            <a:spLocks noGrp="1"/>
          </p:cNvSpPr>
          <p:nvPr>
            <p:ph type="title"/>
          </p:nvPr>
        </p:nvSpPr>
        <p:spPr>
          <a:xfrm>
            <a:off x="13854" y="20782"/>
            <a:ext cx="9130145" cy="893618"/>
          </a:xfrm>
          <a:solidFill>
            <a:schemeClr val="accent6">
              <a:lumMod val="60000"/>
              <a:lumOff val="40000"/>
            </a:schemeClr>
          </a:solidFill>
        </p:spPr>
        <p:txBody>
          <a:bodyPr>
            <a:normAutofit/>
          </a:bodyPr>
          <a:lstStyle/>
          <a:p>
            <a:r>
              <a:rPr lang="en-US" sz="3600" b="1" dirty="0">
                <a:latin typeface="Times New Roman" pitchFamily="18" charset="0"/>
                <a:cs typeface="Times New Roman" pitchFamily="18" charset="0"/>
              </a:rPr>
              <a:t>Examples of Environmental Modification </a:t>
            </a:r>
          </a:p>
        </p:txBody>
      </p:sp>
      <p:sp>
        <p:nvSpPr>
          <p:cNvPr id="2" name="Slide Number Placeholder 1"/>
          <p:cNvSpPr>
            <a:spLocks noGrp="1"/>
          </p:cNvSpPr>
          <p:nvPr>
            <p:ph type="sldNum" sz="quarter" idx="12"/>
          </p:nvPr>
        </p:nvSpPr>
        <p:spPr/>
        <p:txBody>
          <a:bodyPr/>
          <a:lstStyle/>
          <a:p>
            <a:fld id="{29344CB4-3587-4451-B5F6-521D7FDB45C7}" type="slidenum">
              <a:rPr lang="en-US" smtClean="0"/>
              <a:t>24</a:t>
            </a:fld>
            <a:endParaRPr lang="en-US"/>
          </a:p>
        </p:txBody>
      </p:sp>
    </p:spTree>
    <p:extLst>
      <p:ext uri="{BB962C8B-B14F-4D97-AF65-F5344CB8AC3E}">
        <p14:creationId xmlns:p14="http://schemas.microsoft.com/office/powerpoint/2010/main" val="162401887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76200" y="1143000"/>
            <a:ext cx="4572000" cy="5638800"/>
          </a:xfrm>
          <a:solidFill>
            <a:schemeClr val="accent4">
              <a:lumMod val="40000"/>
              <a:lumOff val="60000"/>
            </a:schemeClr>
          </a:solidFill>
        </p:spPr>
        <p:txBody>
          <a:bodyPr>
            <a:normAutofit fontScale="77500" lnSpcReduction="20000"/>
          </a:bodyPr>
          <a:lstStyle/>
          <a:p>
            <a:pPr marL="0" indent="0">
              <a:buNone/>
            </a:pPr>
            <a:r>
              <a:rPr lang="en-US" sz="3100" b="1" dirty="0">
                <a:solidFill>
                  <a:srgbClr val="FF0000"/>
                </a:solidFill>
                <a:latin typeface="Times New Roman" pitchFamily="18" charset="0"/>
                <a:cs typeface="Times New Roman" pitchFamily="18" charset="0"/>
              </a:rPr>
              <a:t>3. Accessible Structural Elements </a:t>
            </a:r>
            <a:endParaRPr lang="en-US" dirty="0">
              <a:solidFill>
                <a:srgbClr val="FF0000"/>
              </a:solidFill>
              <a:latin typeface="Times New Roman" pitchFamily="18" charset="0"/>
              <a:cs typeface="Times New Roman" pitchFamily="18" charset="0"/>
            </a:endParaRPr>
          </a:p>
          <a:p>
            <a:r>
              <a:rPr lang="en-US" dirty="0">
                <a:latin typeface="Times New Roman" pitchFamily="18" charset="0"/>
                <a:cs typeface="Times New Roman" pitchFamily="18" charset="0"/>
              </a:rPr>
              <a:t>Ramps Elevators </a:t>
            </a:r>
          </a:p>
          <a:p>
            <a:r>
              <a:rPr lang="en-US" dirty="0">
                <a:latin typeface="Times New Roman" pitchFamily="18" charset="0"/>
                <a:cs typeface="Times New Roman" pitchFamily="18" charset="0"/>
              </a:rPr>
              <a:t>Wide doors </a:t>
            </a:r>
          </a:p>
          <a:p>
            <a:r>
              <a:rPr lang="en-US" dirty="0">
                <a:latin typeface="Times New Roman" pitchFamily="18" charset="0"/>
                <a:cs typeface="Times New Roman" pitchFamily="18" charset="0"/>
              </a:rPr>
              <a:t>Safety bars </a:t>
            </a:r>
          </a:p>
          <a:p>
            <a:r>
              <a:rPr lang="en-US" dirty="0">
                <a:latin typeface="Times New Roman" pitchFamily="18" charset="0"/>
                <a:cs typeface="Times New Roman" pitchFamily="18" charset="0"/>
              </a:rPr>
              <a:t>Nonskid floors </a:t>
            </a:r>
          </a:p>
          <a:p>
            <a:r>
              <a:rPr lang="en-US" dirty="0">
                <a:latin typeface="Times New Roman" pitchFamily="18" charset="0"/>
                <a:cs typeface="Times New Roman" pitchFamily="18" charset="0"/>
              </a:rPr>
              <a:t>Sound-reflective building materials </a:t>
            </a:r>
          </a:p>
          <a:p>
            <a:r>
              <a:rPr lang="en-US" dirty="0">
                <a:latin typeface="Times New Roman" pitchFamily="18" charset="0"/>
                <a:cs typeface="Times New Roman" pitchFamily="18" charset="0"/>
              </a:rPr>
              <a:t>Enhanced lighting </a:t>
            </a:r>
          </a:p>
          <a:p>
            <a:r>
              <a:rPr lang="en-US" dirty="0">
                <a:latin typeface="Times New Roman" pitchFamily="18" charset="0"/>
                <a:cs typeface="Times New Roman" pitchFamily="18" charset="0"/>
              </a:rPr>
              <a:t>Electrical sockets that meet appropriate reach ranges </a:t>
            </a:r>
          </a:p>
          <a:p>
            <a:r>
              <a:rPr lang="en-US" dirty="0">
                <a:latin typeface="Times New Roman" pitchFamily="18" charset="0"/>
                <a:cs typeface="Times New Roman" pitchFamily="18" charset="0"/>
              </a:rPr>
              <a:t>Hardwired flashing alerting systems Increased textural contrast </a:t>
            </a:r>
          </a:p>
          <a:p>
            <a:endParaRPr lang="en-US" dirty="0"/>
          </a:p>
        </p:txBody>
      </p:sp>
      <p:sp>
        <p:nvSpPr>
          <p:cNvPr id="4" name="Content Placeholder 3"/>
          <p:cNvSpPr>
            <a:spLocks noGrp="1"/>
          </p:cNvSpPr>
          <p:nvPr>
            <p:ph sz="half" idx="2"/>
          </p:nvPr>
        </p:nvSpPr>
        <p:spPr>
          <a:xfrm>
            <a:off x="4648200" y="1143000"/>
            <a:ext cx="4343400" cy="5638800"/>
          </a:xfrm>
          <a:solidFill>
            <a:schemeClr val="tx2">
              <a:lumMod val="40000"/>
              <a:lumOff val="60000"/>
            </a:schemeClr>
          </a:solidFill>
        </p:spPr>
        <p:txBody>
          <a:bodyPr>
            <a:normAutofit fontScale="77500" lnSpcReduction="20000"/>
          </a:bodyPr>
          <a:lstStyle/>
          <a:p>
            <a:pPr marL="0" indent="0">
              <a:buNone/>
            </a:pPr>
            <a:r>
              <a:rPr lang="en-US" sz="3600" b="1" dirty="0">
                <a:solidFill>
                  <a:srgbClr val="FF0000"/>
                </a:solidFill>
                <a:latin typeface="Times New Roman" pitchFamily="18" charset="0"/>
                <a:cs typeface="Times New Roman" pitchFamily="18" charset="0"/>
              </a:rPr>
              <a:t>4. Accessible Features </a:t>
            </a:r>
          </a:p>
          <a:p>
            <a:r>
              <a:rPr lang="en-US" dirty="0">
                <a:latin typeface="Times New Roman" pitchFamily="18" charset="0"/>
                <a:cs typeface="Times New Roman" pitchFamily="18" charset="0"/>
              </a:rPr>
              <a:t>Built up handles </a:t>
            </a:r>
          </a:p>
          <a:p>
            <a:r>
              <a:rPr lang="en-US" dirty="0">
                <a:latin typeface="Times New Roman" pitchFamily="18" charset="0"/>
                <a:cs typeface="Times New Roman" pitchFamily="18" charset="0"/>
              </a:rPr>
              <a:t>Voice-activated computer </a:t>
            </a:r>
          </a:p>
          <a:p>
            <a:r>
              <a:rPr lang="en-US" dirty="0">
                <a:latin typeface="Times New Roman" pitchFamily="18" charset="0"/>
                <a:cs typeface="Times New Roman" pitchFamily="18" charset="0"/>
              </a:rPr>
              <a:t>Automobile hand controls </a:t>
            </a:r>
          </a:p>
          <a:p>
            <a:pPr marL="0" indent="0">
              <a:buNone/>
            </a:pPr>
            <a:r>
              <a:rPr lang="en-US" sz="3600" b="1" dirty="0">
                <a:solidFill>
                  <a:srgbClr val="FF0000"/>
                </a:solidFill>
                <a:latin typeface="Times New Roman" pitchFamily="18" charset="0"/>
                <a:cs typeface="Times New Roman" pitchFamily="18" charset="0"/>
              </a:rPr>
              <a:t>5. Job accommodations </a:t>
            </a:r>
            <a:endParaRPr lang="en-US" sz="3600" dirty="0">
              <a:solidFill>
                <a:srgbClr val="FF0000"/>
              </a:solidFill>
              <a:latin typeface="Times New Roman" pitchFamily="18" charset="0"/>
              <a:cs typeface="Times New Roman" pitchFamily="18" charset="0"/>
            </a:endParaRPr>
          </a:p>
          <a:p>
            <a:r>
              <a:rPr lang="en-US" dirty="0">
                <a:latin typeface="Times New Roman" pitchFamily="18" charset="0"/>
                <a:cs typeface="Times New Roman" pitchFamily="18" charset="0"/>
              </a:rPr>
              <a:t>Simplification of task </a:t>
            </a:r>
          </a:p>
          <a:p>
            <a:r>
              <a:rPr lang="en-US" dirty="0">
                <a:latin typeface="Times New Roman" pitchFamily="18" charset="0"/>
                <a:cs typeface="Times New Roman" pitchFamily="18" charset="0"/>
              </a:rPr>
              <a:t>Flexible work hours </a:t>
            </a:r>
          </a:p>
          <a:p>
            <a:r>
              <a:rPr lang="en-US" dirty="0">
                <a:latin typeface="Times New Roman" pitchFamily="18" charset="0"/>
                <a:cs typeface="Times New Roman" pitchFamily="18" charset="0"/>
              </a:rPr>
              <a:t>Rest breaks </a:t>
            </a:r>
          </a:p>
          <a:p>
            <a:r>
              <a:rPr lang="en-US" dirty="0">
                <a:latin typeface="Times New Roman" pitchFamily="18" charset="0"/>
                <a:cs typeface="Times New Roman" pitchFamily="18" charset="0"/>
              </a:rPr>
              <a:t>Splitting job into parts </a:t>
            </a:r>
          </a:p>
          <a:p>
            <a:r>
              <a:rPr lang="en-US" dirty="0">
                <a:latin typeface="Times New Roman" pitchFamily="18" charset="0"/>
                <a:cs typeface="Times New Roman" pitchFamily="18" charset="0"/>
              </a:rPr>
              <a:t>Relegate nonessential functions to others </a:t>
            </a:r>
          </a:p>
          <a:p>
            <a:pPr marL="0" indent="0">
              <a:buNone/>
            </a:pPr>
            <a:r>
              <a:rPr lang="en-US" sz="3100" b="1" dirty="0">
                <a:solidFill>
                  <a:srgbClr val="FF0000"/>
                </a:solidFill>
                <a:latin typeface="Times New Roman" pitchFamily="18" charset="0"/>
                <a:cs typeface="Times New Roman" pitchFamily="18" charset="0"/>
              </a:rPr>
              <a:t>6. Differential use of personnel</a:t>
            </a:r>
            <a:r>
              <a:rPr lang="en-US" b="1" dirty="0">
                <a:latin typeface="Times New Roman" pitchFamily="18" charset="0"/>
                <a:cs typeface="Times New Roman" pitchFamily="18" charset="0"/>
              </a:rPr>
              <a:t> </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Personal care assistants </a:t>
            </a:r>
          </a:p>
          <a:p>
            <a:r>
              <a:rPr lang="en-US" dirty="0">
                <a:latin typeface="Times New Roman" pitchFamily="18" charset="0"/>
                <a:cs typeface="Times New Roman" pitchFamily="18" charset="0"/>
              </a:rPr>
              <a:t>Note takers </a:t>
            </a:r>
          </a:p>
          <a:p>
            <a:r>
              <a:rPr lang="en-US" dirty="0">
                <a:latin typeface="Times New Roman" pitchFamily="18" charset="0"/>
                <a:cs typeface="Times New Roman" pitchFamily="18" charset="0"/>
              </a:rPr>
              <a:t>Secretaries Editors </a:t>
            </a:r>
          </a:p>
          <a:p>
            <a:r>
              <a:rPr lang="en-US" dirty="0">
                <a:latin typeface="Times New Roman" pitchFamily="18" charset="0"/>
                <a:cs typeface="Times New Roman" pitchFamily="18" charset="0"/>
              </a:rPr>
              <a:t>Sign language interpreters </a:t>
            </a:r>
          </a:p>
        </p:txBody>
      </p:sp>
      <p:sp>
        <p:nvSpPr>
          <p:cNvPr id="5" name="Title 1"/>
          <p:cNvSpPr>
            <a:spLocks noGrp="1"/>
          </p:cNvSpPr>
          <p:nvPr>
            <p:ph type="title"/>
          </p:nvPr>
        </p:nvSpPr>
        <p:spPr>
          <a:xfrm>
            <a:off x="13854" y="20782"/>
            <a:ext cx="9130145" cy="893618"/>
          </a:xfrm>
          <a:solidFill>
            <a:schemeClr val="accent6">
              <a:lumMod val="60000"/>
              <a:lumOff val="40000"/>
            </a:schemeClr>
          </a:solidFill>
        </p:spPr>
        <p:txBody>
          <a:bodyPr>
            <a:normAutofit fontScale="90000"/>
          </a:bodyPr>
          <a:lstStyle/>
          <a:p>
            <a:r>
              <a:rPr lang="en-US" sz="3600" b="1" dirty="0">
                <a:latin typeface="Times New Roman" pitchFamily="18" charset="0"/>
                <a:cs typeface="Times New Roman" pitchFamily="18" charset="0"/>
              </a:rPr>
              <a:t>Examples of Environmental </a:t>
            </a:r>
            <a:r>
              <a:rPr lang="en-US" sz="3600" b="1" dirty="0">
                <a:latin typeface="Times New Roman" pitchFamily="18" charset="0"/>
                <a:cs typeface="Times New Roman" pitchFamily="18" charset="0"/>
              </a:rPr>
              <a:t>Modification</a:t>
            </a:r>
            <a:r>
              <a:rPr lang="en-US" sz="3100" b="1" dirty="0">
                <a:latin typeface="Times New Roman" pitchFamily="18" charset="0"/>
                <a:cs typeface="Times New Roman" pitchFamily="18" charset="0"/>
              </a:rPr>
              <a:t>…cont’d</a:t>
            </a:r>
            <a:r>
              <a:rPr lang="en-US" sz="3600" b="1" dirty="0">
                <a:latin typeface="Times New Roman" pitchFamily="18" charset="0"/>
                <a:cs typeface="Times New Roman" pitchFamily="18" charset="0"/>
              </a:rPr>
              <a:t> </a:t>
            </a:r>
            <a:endParaRPr lang="en-US" sz="3600" b="1" dirty="0">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fld id="{29344CB4-3587-4451-B5F6-521D7FDB45C7}" type="slidenum">
              <a:rPr lang="en-US" smtClean="0"/>
              <a:t>25</a:t>
            </a:fld>
            <a:endParaRPr lang="en-US"/>
          </a:p>
        </p:txBody>
      </p:sp>
    </p:spTree>
    <p:extLst>
      <p:ext uri="{BB962C8B-B14F-4D97-AF65-F5344CB8AC3E}">
        <p14:creationId xmlns:p14="http://schemas.microsoft.com/office/powerpoint/2010/main" val="82496073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54" y="20782"/>
            <a:ext cx="9130145" cy="893618"/>
          </a:xfrm>
          <a:solidFill>
            <a:schemeClr val="accent6">
              <a:lumMod val="60000"/>
              <a:lumOff val="40000"/>
            </a:schemeClr>
          </a:solidFill>
        </p:spPr>
        <p:txBody>
          <a:bodyPr>
            <a:normAutofit fontScale="90000"/>
          </a:bodyPr>
          <a:lstStyle/>
          <a:p>
            <a:r>
              <a:rPr lang="en-US" sz="3600" b="1" dirty="0">
                <a:latin typeface="Times New Roman" pitchFamily="18" charset="0"/>
                <a:cs typeface="Times New Roman" pitchFamily="18" charset="0"/>
              </a:rPr>
              <a:t>Strategies to Disability inclusive intervention &amp; rehabilitation </a:t>
            </a:r>
          </a:p>
        </p:txBody>
      </p:sp>
      <p:sp>
        <p:nvSpPr>
          <p:cNvPr id="3" name="Content Placeholder 2"/>
          <p:cNvSpPr>
            <a:spLocks noGrp="1"/>
          </p:cNvSpPr>
          <p:nvPr>
            <p:ph idx="1"/>
          </p:nvPr>
        </p:nvSpPr>
        <p:spPr>
          <a:xfrm>
            <a:off x="152400" y="914400"/>
            <a:ext cx="8839200" cy="5791200"/>
          </a:xfrm>
        </p:spPr>
        <p:txBody>
          <a:bodyPr>
            <a:normAutofit lnSpcReduction="10000"/>
          </a:bodyPr>
          <a:lstStyle/>
          <a:p>
            <a:pPr marL="0" indent="0">
              <a:buNone/>
            </a:pPr>
            <a:r>
              <a:rPr lang="en-US" sz="3600" b="1" dirty="0">
                <a:effectLst>
                  <a:outerShdw blurRad="38100" dist="38100" dir="2700000" algn="tl">
                    <a:srgbClr val="000000">
                      <a:alpha val="43137"/>
                    </a:srgbClr>
                  </a:outerShdw>
                </a:effectLst>
                <a:latin typeface="Times New Roman" pitchFamily="18" charset="0"/>
                <a:cs typeface="Times New Roman" pitchFamily="18" charset="0"/>
              </a:rPr>
              <a:t>Prevention</a:t>
            </a:r>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A public health approach distinguishes: </a:t>
            </a:r>
          </a:p>
          <a:p>
            <a:pPr marL="514350" indent="-514350">
              <a:buFont typeface="+mj-lt"/>
              <a:buAutoNum type="arabicPeriod"/>
            </a:pPr>
            <a:r>
              <a:rPr lang="en-US" b="1" dirty="0">
                <a:solidFill>
                  <a:srgbClr val="FF0000"/>
                </a:solidFill>
                <a:latin typeface="Times New Roman" pitchFamily="18" charset="0"/>
                <a:cs typeface="Times New Roman" pitchFamily="18" charset="0"/>
              </a:rPr>
              <a:t>Primary prevention </a:t>
            </a:r>
            <a:r>
              <a:rPr lang="en-US" dirty="0">
                <a:latin typeface="Times New Roman" pitchFamily="18" charset="0"/>
                <a:cs typeface="Times New Roman" pitchFamily="18" charset="0"/>
              </a:rPr>
              <a:t>– </a:t>
            </a:r>
            <a:r>
              <a:rPr lang="en-US" sz="2400" dirty="0">
                <a:effectLst>
                  <a:outerShdw blurRad="38100" dist="38100" dir="2700000" algn="tl">
                    <a:srgbClr val="000000">
                      <a:alpha val="43137"/>
                    </a:srgbClr>
                  </a:outerShdw>
                </a:effectLst>
                <a:latin typeface="Times New Roman" pitchFamily="18" charset="0"/>
                <a:cs typeface="Times New Roman" pitchFamily="18" charset="0"/>
              </a:rPr>
              <a:t>actions</a:t>
            </a:r>
            <a:r>
              <a:rPr lang="en-US" sz="2400" dirty="0">
                <a:latin typeface="Times New Roman" pitchFamily="18" charset="0"/>
                <a:cs typeface="Times New Roman" pitchFamily="18" charset="0"/>
              </a:rPr>
              <a:t> </a:t>
            </a:r>
            <a:r>
              <a:rPr lang="en-US" sz="2400" b="1" i="1"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to avoid or remove the cause</a:t>
            </a:r>
            <a:r>
              <a:rPr lang="en-US" sz="2400" dirty="0">
                <a:latin typeface="Times New Roman" pitchFamily="18" charset="0"/>
                <a:cs typeface="Times New Roman" pitchFamily="18" charset="0"/>
              </a:rPr>
              <a:t> of a health problem. </a:t>
            </a:r>
            <a:endParaRPr lang="en-US" dirty="0">
              <a:latin typeface="Times New Roman" pitchFamily="18" charset="0"/>
              <a:cs typeface="Times New Roman" pitchFamily="18" charset="0"/>
            </a:endParaRPr>
          </a:p>
          <a:p>
            <a:pPr marL="514350" indent="-514350">
              <a:buFont typeface="+mj-lt"/>
              <a:buAutoNum type="arabicPeriod"/>
            </a:pPr>
            <a:r>
              <a:rPr lang="en-US" b="1" dirty="0">
                <a:solidFill>
                  <a:srgbClr val="FF0000"/>
                </a:solidFill>
                <a:latin typeface="Times New Roman" pitchFamily="18" charset="0"/>
                <a:cs typeface="Times New Roman" pitchFamily="18" charset="0"/>
              </a:rPr>
              <a:t>Secondary prevention (early intervention</a:t>
            </a:r>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 </a:t>
            </a:r>
            <a:r>
              <a:rPr lang="en-US" sz="2400" dirty="0">
                <a:latin typeface="Times New Roman" pitchFamily="18" charset="0"/>
                <a:cs typeface="Times New Roman" pitchFamily="18" charset="0"/>
              </a:rPr>
              <a:t>actions </a:t>
            </a:r>
            <a:r>
              <a:rPr lang="en-US" sz="2400" b="1" i="1" dirty="0" smtClean="0">
                <a:latin typeface="Times New Roman" pitchFamily="18" charset="0"/>
                <a:cs typeface="Times New Roman" pitchFamily="18" charset="0"/>
              </a:rPr>
              <a:t>to:  </a:t>
            </a:r>
          </a:p>
          <a:p>
            <a:pPr lvl="3"/>
            <a:r>
              <a:rPr lang="en-US" b="1" i="1" dirty="0" smtClean="0">
                <a:latin typeface="Times New Roman" pitchFamily="18" charset="0"/>
                <a:cs typeface="Times New Roman" pitchFamily="18" charset="0"/>
              </a:rPr>
              <a:t>detect </a:t>
            </a:r>
            <a:r>
              <a:rPr lang="en-US" b="1" i="1" dirty="0">
                <a:latin typeface="Times New Roman" pitchFamily="18" charset="0"/>
                <a:cs typeface="Times New Roman" pitchFamily="18" charset="0"/>
              </a:rPr>
              <a:t>a health and disabling conditions at an early </a:t>
            </a:r>
            <a:r>
              <a:rPr lang="en-US" b="1" i="1" dirty="0" smtClean="0">
                <a:latin typeface="Times New Roman" pitchFamily="18" charset="0"/>
                <a:cs typeface="Times New Roman" pitchFamily="18" charset="0"/>
              </a:rPr>
              <a:t>stage</a:t>
            </a:r>
            <a:r>
              <a:rPr lang="en-US" dirty="0" smtClean="0">
                <a:latin typeface="Times New Roman" pitchFamily="18" charset="0"/>
                <a:cs typeface="Times New Roman" pitchFamily="18" charset="0"/>
              </a:rPr>
              <a:t>, </a:t>
            </a:r>
          </a:p>
          <a:p>
            <a:pPr lvl="3"/>
            <a:r>
              <a:rPr lang="en-US" b="1" i="1" dirty="0" smtClean="0">
                <a:latin typeface="Times New Roman" pitchFamily="18" charset="0"/>
                <a:cs typeface="Times New Roman" pitchFamily="18" charset="0"/>
              </a:rPr>
              <a:t>facilitating </a:t>
            </a:r>
            <a:r>
              <a:rPr lang="en-US" b="1" i="1" dirty="0">
                <a:latin typeface="Times New Roman" pitchFamily="18" charset="0"/>
                <a:cs typeface="Times New Roman" pitchFamily="18" charset="0"/>
              </a:rPr>
              <a:t>cure</a:t>
            </a:r>
            <a:r>
              <a:rPr lang="en-US" dirty="0">
                <a:latin typeface="Times New Roman" pitchFamily="18" charset="0"/>
                <a:cs typeface="Times New Roman" pitchFamily="18" charset="0"/>
              </a:rPr>
              <a:t>, or </a:t>
            </a:r>
            <a:endParaRPr lang="en-US" dirty="0" smtClean="0">
              <a:latin typeface="Times New Roman" pitchFamily="18" charset="0"/>
              <a:cs typeface="Times New Roman" pitchFamily="18" charset="0"/>
            </a:endParaRPr>
          </a:p>
          <a:p>
            <a:pPr lvl="3"/>
            <a:r>
              <a:rPr lang="en-US" b="1" i="1" dirty="0" smtClean="0">
                <a:latin typeface="Times New Roman" pitchFamily="18" charset="0"/>
                <a:cs typeface="Times New Roman" pitchFamily="18" charset="0"/>
              </a:rPr>
              <a:t>reducing </a:t>
            </a:r>
            <a:r>
              <a:rPr lang="en-US" b="1" i="1" dirty="0">
                <a:latin typeface="Times New Roman" pitchFamily="18" charset="0"/>
                <a:cs typeface="Times New Roman" pitchFamily="18" charset="0"/>
              </a:rPr>
              <a:t>or preventing spread</a:t>
            </a:r>
            <a:r>
              <a:rPr lang="en-US" dirty="0">
                <a:latin typeface="Times New Roman" pitchFamily="18" charset="0"/>
                <a:cs typeface="Times New Roman" pitchFamily="18" charset="0"/>
              </a:rPr>
              <a:t>, or </a:t>
            </a:r>
            <a:endParaRPr lang="en-US" dirty="0" smtClean="0">
              <a:latin typeface="Times New Roman" pitchFamily="18" charset="0"/>
              <a:cs typeface="Times New Roman" pitchFamily="18" charset="0"/>
            </a:endParaRPr>
          </a:p>
          <a:p>
            <a:pPr lvl="3"/>
            <a:r>
              <a:rPr lang="en-US" dirty="0" smtClean="0">
                <a:latin typeface="Times New Roman" pitchFamily="18" charset="0"/>
                <a:cs typeface="Times New Roman" pitchFamily="18" charset="0"/>
              </a:rPr>
              <a:t>re</a:t>
            </a:r>
            <a:r>
              <a:rPr lang="en-US" b="1" i="1" dirty="0" smtClean="0">
                <a:latin typeface="Times New Roman" pitchFamily="18" charset="0"/>
                <a:cs typeface="Times New Roman" pitchFamily="18" charset="0"/>
              </a:rPr>
              <a:t>ducing </a:t>
            </a:r>
            <a:r>
              <a:rPr lang="en-US" b="1" i="1" dirty="0">
                <a:latin typeface="Times New Roman" pitchFamily="18" charset="0"/>
                <a:cs typeface="Times New Roman" pitchFamily="18" charset="0"/>
              </a:rPr>
              <a:t>or preventing its long-term effects</a:t>
            </a:r>
            <a:r>
              <a:rPr lang="en-US" dirty="0">
                <a:latin typeface="Times New Roman" pitchFamily="18" charset="0"/>
                <a:cs typeface="Times New Roman" pitchFamily="18" charset="0"/>
              </a:rPr>
              <a:t>.</a:t>
            </a:r>
          </a:p>
          <a:p>
            <a:pPr marL="514350" indent="-514350">
              <a:buFont typeface="+mj-lt"/>
              <a:buAutoNum type="arabicPeriod"/>
            </a:pPr>
            <a:r>
              <a:rPr lang="en-US" b="1" dirty="0">
                <a:latin typeface="Times New Roman" pitchFamily="18" charset="0"/>
                <a:cs typeface="Times New Roman" pitchFamily="18" charset="0"/>
              </a:rPr>
              <a:t>Tertiary prevention (rehabilitation) </a:t>
            </a:r>
            <a:r>
              <a:rPr lang="en-US" dirty="0">
                <a:latin typeface="Times New Roman" pitchFamily="18" charset="0"/>
                <a:cs typeface="Times New Roman" pitchFamily="18" charset="0"/>
              </a:rPr>
              <a:t>– </a:t>
            </a:r>
            <a:r>
              <a:rPr lang="en-US" sz="2400" dirty="0">
                <a:latin typeface="Times New Roman" pitchFamily="18" charset="0"/>
                <a:cs typeface="Times New Roman" pitchFamily="18" charset="0"/>
              </a:rPr>
              <a:t>actions to </a:t>
            </a:r>
            <a:r>
              <a:rPr lang="en-US" sz="2400" b="1" i="1" dirty="0">
                <a:latin typeface="Times New Roman" pitchFamily="18" charset="0"/>
                <a:cs typeface="Times New Roman" pitchFamily="18" charset="0"/>
              </a:rPr>
              <a:t>reduce the impact of an already established </a:t>
            </a:r>
            <a:r>
              <a:rPr lang="en-US" sz="2400" i="1" dirty="0">
                <a:latin typeface="Times New Roman" pitchFamily="18" charset="0"/>
                <a:cs typeface="Times New Roman" pitchFamily="18" charset="0"/>
              </a:rPr>
              <a:t>disease</a:t>
            </a:r>
            <a:r>
              <a:rPr lang="en-US" sz="2400" dirty="0">
                <a:latin typeface="Times New Roman" pitchFamily="18" charset="0"/>
                <a:cs typeface="Times New Roman" pitchFamily="18" charset="0"/>
              </a:rPr>
              <a:t> </a:t>
            </a:r>
            <a:r>
              <a:rPr lang="en-US" dirty="0">
                <a:latin typeface="Times New Roman" pitchFamily="18" charset="0"/>
                <a:cs typeface="Times New Roman" pitchFamily="18" charset="0"/>
              </a:rPr>
              <a:t>by </a:t>
            </a:r>
            <a:r>
              <a:rPr lang="en-US" sz="2400" b="1" dirty="0">
                <a:solidFill>
                  <a:srgbClr val="0070C0"/>
                </a:solidFill>
                <a:latin typeface="Times New Roman" pitchFamily="18" charset="0"/>
                <a:cs typeface="Times New Roman" pitchFamily="18" charset="0"/>
              </a:rPr>
              <a:t>restoring function </a:t>
            </a:r>
            <a:r>
              <a:rPr lang="en-US" sz="2400" dirty="0">
                <a:latin typeface="Times New Roman" pitchFamily="18" charset="0"/>
                <a:cs typeface="Times New Roman" pitchFamily="18" charset="0"/>
              </a:rPr>
              <a:t>and </a:t>
            </a:r>
            <a:r>
              <a:rPr lang="en-US" sz="2400" b="1" dirty="0">
                <a:latin typeface="Times New Roman" pitchFamily="18" charset="0"/>
                <a:cs typeface="Times New Roman" pitchFamily="18" charset="0"/>
              </a:rPr>
              <a:t>reducing disease related complications.</a:t>
            </a:r>
          </a:p>
        </p:txBody>
      </p:sp>
      <p:sp>
        <p:nvSpPr>
          <p:cNvPr id="4" name="Slide Number Placeholder 3"/>
          <p:cNvSpPr>
            <a:spLocks noGrp="1"/>
          </p:cNvSpPr>
          <p:nvPr>
            <p:ph type="sldNum" sz="quarter" idx="12"/>
          </p:nvPr>
        </p:nvSpPr>
        <p:spPr/>
        <p:txBody>
          <a:bodyPr/>
          <a:lstStyle/>
          <a:p>
            <a:fld id="{29344CB4-3587-4451-B5F6-521D7FDB45C7}" type="slidenum">
              <a:rPr lang="en-US" smtClean="0"/>
              <a:t>26</a:t>
            </a:fld>
            <a:endParaRPr lang="en-US"/>
          </a:p>
        </p:txBody>
      </p:sp>
    </p:spTree>
    <p:extLst>
      <p:ext uri="{BB962C8B-B14F-4D97-AF65-F5344CB8AC3E}">
        <p14:creationId xmlns:p14="http://schemas.microsoft.com/office/powerpoint/2010/main" val="419199378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990600"/>
            <a:ext cx="8915400" cy="5791200"/>
          </a:xfrm>
        </p:spPr>
        <p:txBody>
          <a:bodyPr>
            <a:normAutofit/>
          </a:bodyPr>
          <a:lstStyle/>
          <a:p>
            <a:pPr marL="0" indent="0">
              <a:buNone/>
            </a:pPr>
            <a:r>
              <a:rPr lang="en-US" b="1"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Implementing </a:t>
            </a:r>
            <a:r>
              <a:rPr lang="en-US"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the Twin-track Approach </a:t>
            </a:r>
          </a:p>
          <a:p>
            <a:r>
              <a:rPr lang="en-US" sz="2800" b="1" dirty="0">
                <a:latin typeface="Times New Roman" pitchFamily="18" charset="0"/>
                <a:cs typeface="Times New Roman" pitchFamily="18" charset="0"/>
              </a:rPr>
              <a:t>Track 1: </a:t>
            </a:r>
            <a:r>
              <a:rPr lang="en-US" sz="2800" b="1" dirty="0">
                <a:solidFill>
                  <a:srgbClr val="7030A0"/>
                </a:solidFill>
                <a:effectLst>
                  <a:outerShdw blurRad="38100" dist="38100" dir="2700000" algn="tl">
                    <a:srgbClr val="000000">
                      <a:alpha val="43137"/>
                    </a:srgbClr>
                  </a:outerShdw>
                </a:effectLst>
                <a:latin typeface="Times New Roman" pitchFamily="18" charset="0"/>
                <a:cs typeface="Times New Roman" pitchFamily="18" charset="0"/>
              </a:rPr>
              <a:t>Mainstreaming </a:t>
            </a:r>
            <a:r>
              <a:rPr lang="en-US" sz="2800" b="1" dirty="0">
                <a:solidFill>
                  <a:srgbClr val="7030A0"/>
                </a:solidFill>
                <a:effectLst>
                  <a:outerShdw blurRad="38100" dist="38100" dir="2700000" algn="tl">
                    <a:srgbClr val="000000">
                      <a:alpha val="43137"/>
                    </a:srgbClr>
                  </a:outerShdw>
                </a:effectLst>
                <a:latin typeface="Times New Roman" pitchFamily="18" charset="0"/>
                <a:cs typeface="Times New Roman" pitchFamily="18" charset="0"/>
              </a:rPr>
              <a:t>disability- </a:t>
            </a:r>
            <a:r>
              <a:rPr lang="en-US" sz="2800" b="1" dirty="0">
                <a:effectLst>
                  <a:outerShdw blurRad="38100" dist="38100" dir="2700000" algn="tl">
                    <a:srgbClr val="000000">
                      <a:alpha val="43137"/>
                    </a:srgbClr>
                  </a:outerShdw>
                </a:effectLst>
                <a:latin typeface="Times New Roman" pitchFamily="18" charset="0"/>
                <a:cs typeface="Times New Roman" pitchFamily="18" charset="0"/>
              </a:rPr>
              <a:t>making </a:t>
            </a:r>
            <a:r>
              <a:rPr lang="en-US" sz="2800" b="1" dirty="0" smtClean="0">
                <a:effectLst>
                  <a:outerShdw blurRad="38100" dist="38100" dir="2700000" algn="tl">
                    <a:srgbClr val="000000">
                      <a:alpha val="43137"/>
                    </a:srgbClr>
                  </a:outerShdw>
                </a:effectLst>
                <a:latin typeface="Times New Roman" pitchFamily="18" charset="0"/>
                <a:cs typeface="Times New Roman" pitchFamily="18" charset="0"/>
              </a:rPr>
              <a:t>disability a </a:t>
            </a:r>
            <a:r>
              <a:rPr lang="en-US" sz="2800" b="1" dirty="0" smtClean="0">
                <a:effectLst>
                  <a:outerShdw blurRad="38100" dist="38100" dir="2700000" algn="tl">
                    <a:srgbClr val="000000">
                      <a:alpha val="43137"/>
                    </a:srgbClr>
                  </a:outerShdw>
                </a:effectLst>
                <a:latin typeface="Times New Roman" pitchFamily="18" charset="0"/>
                <a:cs typeface="Times New Roman" pitchFamily="18" charset="0"/>
              </a:rPr>
              <a:t>cross-cutting </a:t>
            </a:r>
            <a:r>
              <a:rPr lang="en-US" sz="2800" b="1" dirty="0">
                <a:effectLst>
                  <a:outerShdw blurRad="38100" dist="38100" dir="2700000" algn="tl">
                    <a:srgbClr val="000000">
                      <a:alpha val="43137"/>
                    </a:srgbClr>
                  </a:outerShdw>
                </a:effectLst>
                <a:latin typeface="Times New Roman" pitchFamily="18" charset="0"/>
                <a:cs typeface="Times New Roman" pitchFamily="18" charset="0"/>
              </a:rPr>
              <a:t>issue within all key programs and services </a:t>
            </a:r>
            <a:r>
              <a:rPr lang="en-US" sz="1600" dirty="0" smtClean="0">
                <a:latin typeface="Times New Roman" pitchFamily="18" charset="0"/>
                <a:cs typeface="Times New Roman" pitchFamily="18" charset="0"/>
              </a:rPr>
              <a:t>(education, health, relief and social services, microfinance, infrastructure and camp improvement, protection, and emergency response)</a:t>
            </a:r>
            <a:r>
              <a:rPr lang="en-US" sz="2000" dirty="0" smtClean="0">
                <a:latin typeface="Times New Roman" pitchFamily="18" charset="0"/>
                <a:cs typeface="Times New Roman" pitchFamily="18" charset="0"/>
              </a:rPr>
              <a:t>. </a:t>
            </a:r>
            <a:endParaRPr lang="en-US" sz="2800" dirty="0">
              <a:latin typeface="Times New Roman" pitchFamily="18" charset="0"/>
              <a:cs typeface="Times New Roman" pitchFamily="18" charset="0"/>
            </a:endParaRPr>
          </a:p>
          <a:p>
            <a:r>
              <a:rPr lang="en-US" sz="2800" b="1" dirty="0">
                <a:latin typeface="Times New Roman" pitchFamily="18" charset="0"/>
                <a:cs typeface="Times New Roman" pitchFamily="18" charset="0"/>
              </a:rPr>
              <a:t>Track 2: </a:t>
            </a:r>
            <a:r>
              <a:rPr lang="en-US" sz="2800" b="1" dirty="0">
                <a:solidFill>
                  <a:srgbClr val="7030A0"/>
                </a:solidFill>
                <a:effectLst>
                  <a:outerShdw blurRad="38100" dist="38100" dir="2700000" algn="tl">
                    <a:srgbClr val="000000">
                      <a:alpha val="43137"/>
                    </a:srgbClr>
                  </a:outerShdw>
                </a:effectLst>
                <a:latin typeface="Times New Roman" pitchFamily="18" charset="0"/>
                <a:cs typeface="Times New Roman" pitchFamily="18" charset="0"/>
              </a:rPr>
              <a:t>Supporting the specific </a:t>
            </a:r>
            <a:r>
              <a:rPr lang="en-US" sz="2800" b="1" dirty="0" smtClean="0">
                <a:solidFill>
                  <a:srgbClr val="7030A0"/>
                </a:solidFill>
                <a:effectLst>
                  <a:outerShdw blurRad="38100" dist="38100" dir="2700000" algn="tl">
                    <a:srgbClr val="000000">
                      <a:alpha val="43137"/>
                    </a:srgbClr>
                  </a:outerShdw>
                </a:effectLst>
                <a:latin typeface="Times New Roman" pitchFamily="18" charset="0"/>
                <a:cs typeface="Times New Roman" pitchFamily="18" charset="0"/>
              </a:rPr>
              <a:t>needs- </a:t>
            </a:r>
            <a:r>
              <a:rPr lang="en-US" sz="2800" b="1" dirty="0" smtClean="0">
                <a:effectLst>
                  <a:outerShdw blurRad="38100" dist="38100" dir="2700000" algn="tl">
                    <a:srgbClr val="000000">
                      <a:alpha val="43137"/>
                    </a:srgbClr>
                  </a:outerShdw>
                </a:effectLst>
                <a:latin typeface="Times New Roman" pitchFamily="18" charset="0"/>
                <a:cs typeface="Times New Roman" pitchFamily="18" charset="0"/>
              </a:rPr>
              <a:t>of people with disability </a:t>
            </a:r>
            <a:r>
              <a:rPr lang="en-US" sz="2800" b="1" dirty="0">
                <a:effectLst>
                  <a:outerShdw blurRad="38100" dist="38100" dir="2700000" algn="tl">
                    <a:srgbClr val="000000">
                      <a:alpha val="43137"/>
                    </a:srgbClr>
                  </a:outerShdw>
                </a:effectLst>
                <a:latin typeface="Times New Roman" pitchFamily="18" charset="0"/>
                <a:cs typeface="Times New Roman" pitchFamily="18" charset="0"/>
              </a:rPr>
              <a:t>to ensure </a:t>
            </a:r>
            <a:r>
              <a:rPr lang="en-US" sz="2800" b="1" dirty="0" smtClean="0">
                <a:effectLst>
                  <a:outerShdw blurRad="38100" dist="38100" dir="2700000" algn="tl">
                    <a:srgbClr val="000000">
                      <a:alpha val="43137"/>
                    </a:srgbClr>
                  </a:outerShdw>
                </a:effectLst>
                <a:latin typeface="Times New Roman" pitchFamily="18" charset="0"/>
                <a:cs typeface="Times New Roman" pitchFamily="18" charset="0"/>
              </a:rPr>
              <a:t>equal </a:t>
            </a:r>
            <a:r>
              <a:rPr lang="en-US" sz="2800" b="1" dirty="0">
                <a:effectLst>
                  <a:outerShdw blurRad="38100" dist="38100" dir="2700000" algn="tl">
                    <a:srgbClr val="000000">
                      <a:alpha val="43137"/>
                    </a:srgbClr>
                  </a:outerShdw>
                </a:effectLst>
                <a:latin typeface="Times New Roman" pitchFamily="18" charset="0"/>
                <a:cs typeface="Times New Roman" pitchFamily="18" charset="0"/>
              </a:rPr>
              <a:t>opportunities </a:t>
            </a:r>
            <a:r>
              <a:rPr lang="en-US" sz="2800" dirty="0">
                <a:latin typeface="Times New Roman" pitchFamily="18" charset="0"/>
                <a:cs typeface="Times New Roman" pitchFamily="18" charset="0"/>
              </a:rPr>
              <a:t>to participate in society by strengthening referral to both internal and external pathways and ensuring that sector programs to </a:t>
            </a:r>
            <a:r>
              <a:rPr lang="en-US" sz="2800" b="1" i="1" dirty="0">
                <a:latin typeface="Times New Roman" pitchFamily="18" charset="0"/>
                <a:cs typeface="Times New Roman" pitchFamily="18" charset="0"/>
              </a:rPr>
              <a:t>provide rehabilitation</a:t>
            </a:r>
            <a:r>
              <a:rPr lang="en-US" sz="2800" dirty="0">
                <a:latin typeface="Times New Roman" pitchFamily="18" charset="0"/>
                <a:cs typeface="Times New Roman" pitchFamily="18" charset="0"/>
              </a:rPr>
              <a:t>, </a:t>
            </a:r>
            <a:r>
              <a:rPr lang="en-US" sz="2800" b="1" i="1" dirty="0">
                <a:latin typeface="Times New Roman" pitchFamily="18" charset="0"/>
                <a:cs typeface="Times New Roman" pitchFamily="18" charset="0"/>
              </a:rPr>
              <a:t>assistive devices </a:t>
            </a:r>
            <a:r>
              <a:rPr lang="en-US" sz="2800" dirty="0">
                <a:latin typeface="Times New Roman" pitchFamily="18" charset="0"/>
                <a:cs typeface="Times New Roman" pitchFamily="18" charset="0"/>
              </a:rPr>
              <a:t>and </a:t>
            </a:r>
            <a:r>
              <a:rPr lang="en-US" sz="2800" i="1" dirty="0">
                <a:latin typeface="Times New Roman" pitchFamily="18" charset="0"/>
                <a:cs typeface="Times New Roman" pitchFamily="18" charset="0"/>
              </a:rPr>
              <a:t>other </a:t>
            </a:r>
            <a:r>
              <a:rPr lang="en-US" sz="2800" b="1" i="1" dirty="0">
                <a:latin typeface="Times New Roman" pitchFamily="18" charset="0"/>
                <a:cs typeface="Times New Roman" pitchFamily="18" charset="0"/>
              </a:rPr>
              <a:t>disability-specific services </a:t>
            </a:r>
          </a:p>
        </p:txBody>
      </p:sp>
      <p:sp>
        <p:nvSpPr>
          <p:cNvPr id="4" name="Title 1"/>
          <p:cNvSpPr>
            <a:spLocks noGrp="1"/>
          </p:cNvSpPr>
          <p:nvPr>
            <p:ph type="title"/>
          </p:nvPr>
        </p:nvSpPr>
        <p:spPr>
          <a:xfrm>
            <a:off x="13854" y="20782"/>
            <a:ext cx="9130145" cy="893618"/>
          </a:xfrm>
          <a:solidFill>
            <a:schemeClr val="accent6">
              <a:lumMod val="60000"/>
              <a:lumOff val="40000"/>
            </a:schemeClr>
          </a:solidFill>
        </p:spPr>
        <p:txBody>
          <a:bodyPr>
            <a:normAutofit fontScale="90000"/>
          </a:bodyPr>
          <a:lstStyle/>
          <a:p>
            <a:r>
              <a:rPr lang="en-US" sz="3600" b="1" dirty="0">
                <a:latin typeface="Times New Roman" pitchFamily="18" charset="0"/>
                <a:cs typeface="Times New Roman" pitchFamily="18" charset="0"/>
              </a:rPr>
              <a:t>Strategies to Disability inclusive intervention &amp; rehabilitation…cont’d</a:t>
            </a:r>
          </a:p>
        </p:txBody>
      </p:sp>
      <p:sp>
        <p:nvSpPr>
          <p:cNvPr id="2" name="Slide Number Placeholder 1"/>
          <p:cNvSpPr>
            <a:spLocks noGrp="1"/>
          </p:cNvSpPr>
          <p:nvPr>
            <p:ph type="sldNum" sz="quarter" idx="12"/>
          </p:nvPr>
        </p:nvSpPr>
        <p:spPr/>
        <p:txBody>
          <a:bodyPr/>
          <a:lstStyle/>
          <a:p>
            <a:fld id="{29344CB4-3587-4451-B5F6-521D7FDB45C7}" type="slidenum">
              <a:rPr lang="en-US" smtClean="0"/>
              <a:t>27</a:t>
            </a:fld>
            <a:endParaRPr lang="en-US"/>
          </a:p>
        </p:txBody>
      </p:sp>
    </p:spTree>
    <p:extLst>
      <p:ext uri="{BB962C8B-B14F-4D97-AF65-F5344CB8AC3E}">
        <p14:creationId xmlns:p14="http://schemas.microsoft.com/office/powerpoint/2010/main" val="30811427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a:solidFill>
            <a:schemeClr val="accent6">
              <a:lumMod val="60000"/>
              <a:lumOff val="40000"/>
            </a:schemeClr>
          </a:solidFill>
        </p:spPr>
        <p:txBody>
          <a:bodyPr>
            <a:normAutofit/>
          </a:bodyPr>
          <a:lstStyle/>
          <a:p>
            <a:r>
              <a:rPr lang="en-US" sz="3200" b="1" dirty="0">
                <a:latin typeface="Times New Roman" pitchFamily="18" charset="0"/>
                <a:cs typeface="Times New Roman" pitchFamily="18" charset="0"/>
              </a:rPr>
              <a:t>Implement Disability Inclusive Project/ Program </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152400" y="884237"/>
            <a:ext cx="8839200" cy="5897563"/>
          </a:xfrm>
        </p:spPr>
        <p:txBody>
          <a:bodyPr>
            <a:normAutofit/>
          </a:bodyPr>
          <a:lstStyle/>
          <a:p>
            <a:pPr marL="0" indent="0">
              <a:buNone/>
            </a:pPr>
            <a:r>
              <a:rPr lang="en-US" b="1" dirty="0">
                <a:solidFill>
                  <a:srgbClr val="FF0000"/>
                </a:solidFill>
                <a:latin typeface="Times New Roman" pitchFamily="18" charset="0"/>
                <a:cs typeface="Times New Roman" pitchFamily="18" charset="0"/>
              </a:rPr>
              <a:t>Key considerations</a:t>
            </a:r>
            <a:r>
              <a:rPr lang="en-US" dirty="0">
                <a:latin typeface="Times New Roman" pitchFamily="18" charset="0"/>
                <a:cs typeface="Times New Roman" pitchFamily="18" charset="0"/>
              </a:rPr>
              <a:t> for inclusive project include:</a:t>
            </a:r>
          </a:p>
          <a:p>
            <a:pPr marL="514350" indent="-514350">
              <a:buFont typeface="+mj-lt"/>
              <a:buAutoNum type="alphaUcPeriod"/>
            </a:pPr>
            <a:r>
              <a:rPr lang="en-US" sz="2600" b="1" dirty="0">
                <a:latin typeface="Times New Roman" pitchFamily="18" charset="0"/>
                <a:cs typeface="Times New Roman" pitchFamily="18" charset="0"/>
              </a:rPr>
              <a:t>Education and vocational training </a:t>
            </a:r>
            <a:r>
              <a:rPr lang="en-US" sz="2600" dirty="0">
                <a:latin typeface="Times New Roman" pitchFamily="18" charset="0"/>
                <a:cs typeface="Times New Roman" pitchFamily="18" charset="0"/>
              </a:rPr>
              <a:t> </a:t>
            </a:r>
          </a:p>
          <a:p>
            <a:pPr marL="514350" indent="-514350">
              <a:buFont typeface="+mj-lt"/>
              <a:buAutoNum type="alphaUcPeriod"/>
            </a:pPr>
            <a:r>
              <a:rPr lang="en-US" sz="2600" b="1" dirty="0">
                <a:latin typeface="Times New Roman" pitchFamily="18" charset="0"/>
                <a:cs typeface="Times New Roman" pitchFamily="18" charset="0"/>
              </a:rPr>
              <a:t>Health Services </a:t>
            </a:r>
            <a:endParaRPr lang="en-US" sz="2600" dirty="0">
              <a:latin typeface="Times New Roman" pitchFamily="18" charset="0"/>
              <a:cs typeface="Times New Roman" pitchFamily="18" charset="0"/>
            </a:endParaRPr>
          </a:p>
          <a:p>
            <a:pPr marL="514350" indent="-514350">
              <a:buFont typeface="+mj-lt"/>
              <a:buAutoNum type="alphaUcPeriod"/>
            </a:pPr>
            <a:r>
              <a:rPr lang="en-US" sz="2600" b="1" dirty="0">
                <a:latin typeface="Times New Roman" pitchFamily="18" charset="0"/>
                <a:cs typeface="Times New Roman" pitchFamily="18" charset="0"/>
              </a:rPr>
              <a:t>Relief and social services </a:t>
            </a:r>
            <a:r>
              <a:rPr lang="en-US" sz="2600" dirty="0">
                <a:latin typeface="Times New Roman" pitchFamily="18" charset="0"/>
                <a:cs typeface="Times New Roman" pitchFamily="18" charset="0"/>
              </a:rPr>
              <a:t>– the two-way link between poverty and disability  </a:t>
            </a:r>
          </a:p>
          <a:p>
            <a:pPr marL="514350" indent="-514350">
              <a:buFont typeface="+mj-lt"/>
              <a:buAutoNum type="alphaUcPeriod"/>
            </a:pPr>
            <a:r>
              <a:rPr lang="en-US" sz="2600" b="1" dirty="0">
                <a:latin typeface="Times New Roman" pitchFamily="18" charset="0"/>
                <a:cs typeface="Times New Roman" pitchFamily="18" charset="0"/>
              </a:rPr>
              <a:t>Infrastructure and camp improvement</a:t>
            </a:r>
            <a:r>
              <a:rPr lang="en-US" sz="2600" dirty="0">
                <a:latin typeface="Times New Roman" pitchFamily="18" charset="0"/>
                <a:cs typeface="Times New Roman" pitchFamily="18" charset="0"/>
              </a:rPr>
              <a:t>, </a:t>
            </a:r>
            <a:r>
              <a:rPr lang="en-US" sz="2600" b="1" dirty="0">
                <a:latin typeface="Times New Roman" pitchFamily="18" charset="0"/>
                <a:cs typeface="Times New Roman" pitchFamily="18" charset="0"/>
              </a:rPr>
              <a:t>shelter, water and sanitation and environmental health </a:t>
            </a:r>
            <a:r>
              <a:rPr lang="en-US" sz="2600" dirty="0">
                <a:latin typeface="Times New Roman" pitchFamily="18" charset="0"/>
                <a:cs typeface="Times New Roman" pitchFamily="18" charset="0"/>
              </a:rPr>
              <a:t> </a:t>
            </a:r>
          </a:p>
          <a:p>
            <a:pPr marL="514350" indent="-514350">
              <a:buFont typeface="+mj-lt"/>
              <a:buAutoNum type="alphaUcPeriod"/>
            </a:pPr>
            <a:r>
              <a:rPr lang="en-US" sz="2600" b="1" dirty="0">
                <a:latin typeface="Times New Roman" pitchFamily="18" charset="0"/>
                <a:cs typeface="Times New Roman" pitchFamily="18" charset="0"/>
              </a:rPr>
              <a:t>Livelihoods, employment and microfinance </a:t>
            </a:r>
            <a:r>
              <a:rPr lang="en-US" sz="2600" dirty="0">
                <a:latin typeface="Times New Roman" pitchFamily="18" charset="0"/>
                <a:cs typeface="Times New Roman" pitchFamily="18" charset="0"/>
              </a:rPr>
              <a:t> </a:t>
            </a:r>
          </a:p>
          <a:p>
            <a:pPr marL="514350" indent="-514350">
              <a:buFont typeface="+mj-lt"/>
              <a:buAutoNum type="alphaUcPeriod"/>
            </a:pPr>
            <a:r>
              <a:rPr lang="en-US" sz="2600" b="1" dirty="0">
                <a:latin typeface="Times New Roman" pitchFamily="18" charset="0"/>
                <a:cs typeface="Times New Roman" pitchFamily="18" charset="0"/>
              </a:rPr>
              <a:t>Protection </a:t>
            </a:r>
            <a:r>
              <a:rPr lang="en-US" sz="2600" dirty="0">
                <a:latin typeface="Times New Roman" pitchFamily="18" charset="0"/>
                <a:cs typeface="Times New Roman" pitchFamily="18" charset="0"/>
              </a:rPr>
              <a:t>– </a:t>
            </a:r>
            <a:r>
              <a:rPr lang="en-US" sz="2400" dirty="0">
                <a:latin typeface="Times New Roman" pitchFamily="18" charset="0"/>
                <a:cs typeface="Times New Roman" pitchFamily="18" charset="0"/>
              </a:rPr>
              <a:t>marginalized groups and people with disabilities may face risks and vulnerabilities to experiencing violence, exploitation, abuse, neglect and violation of rights. </a:t>
            </a:r>
            <a:endParaRPr lang="en-US" sz="2600" dirty="0">
              <a:latin typeface="Times New Roman" pitchFamily="18" charset="0"/>
              <a:cs typeface="Times New Roman" pitchFamily="18" charset="0"/>
            </a:endParaRPr>
          </a:p>
          <a:p>
            <a:pPr marL="514350" indent="-514350">
              <a:buFont typeface="+mj-lt"/>
              <a:buAutoNum type="alphaUcPeriod"/>
            </a:pPr>
            <a:r>
              <a:rPr lang="en-US" sz="2600" b="1" dirty="0">
                <a:latin typeface="Times New Roman" pitchFamily="18" charset="0"/>
                <a:cs typeface="Times New Roman" pitchFamily="18" charset="0"/>
              </a:rPr>
              <a:t>Humanitarian and emergency response </a:t>
            </a:r>
            <a:r>
              <a:rPr lang="en-US" sz="2600" dirty="0">
                <a:latin typeface="Times New Roman" pitchFamily="18" charset="0"/>
                <a:cs typeface="Times New Roman" pitchFamily="18" charset="0"/>
              </a:rPr>
              <a:t> </a:t>
            </a:r>
          </a:p>
        </p:txBody>
      </p:sp>
      <p:sp>
        <p:nvSpPr>
          <p:cNvPr id="4" name="Slide Number Placeholder 3"/>
          <p:cNvSpPr>
            <a:spLocks noGrp="1"/>
          </p:cNvSpPr>
          <p:nvPr>
            <p:ph type="sldNum" sz="quarter" idx="12"/>
          </p:nvPr>
        </p:nvSpPr>
        <p:spPr/>
        <p:txBody>
          <a:bodyPr/>
          <a:lstStyle/>
          <a:p>
            <a:fld id="{29344CB4-3587-4451-B5F6-521D7FDB45C7}" type="slidenum">
              <a:rPr lang="en-US" smtClean="0"/>
              <a:t>28</a:t>
            </a:fld>
            <a:endParaRPr lang="en-US"/>
          </a:p>
        </p:txBody>
      </p:sp>
    </p:spTree>
    <p:extLst>
      <p:ext uri="{BB962C8B-B14F-4D97-AF65-F5344CB8AC3E}">
        <p14:creationId xmlns:p14="http://schemas.microsoft.com/office/powerpoint/2010/main" val="415804992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a:solidFill>
            <a:schemeClr val="accent6">
              <a:lumMod val="60000"/>
              <a:lumOff val="40000"/>
            </a:schemeClr>
          </a:solidFill>
        </p:spPr>
        <p:txBody>
          <a:bodyPr>
            <a:normAutofit/>
          </a:bodyPr>
          <a:lstStyle/>
          <a:p>
            <a:r>
              <a:rPr lang="en-US" sz="4000" b="1" dirty="0">
                <a:latin typeface="Times New Roman" pitchFamily="18" charset="0"/>
                <a:cs typeface="Times New Roman" pitchFamily="18" charset="0"/>
              </a:rPr>
              <a:t>Assistive Technologies (AT)</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a:xfrm>
            <a:off x="76200" y="838200"/>
            <a:ext cx="8915400" cy="5867400"/>
          </a:xfrm>
        </p:spPr>
        <p:txBody>
          <a:bodyPr>
            <a:normAutofit fontScale="85000" lnSpcReduction="10000"/>
          </a:bodyPr>
          <a:lstStyle/>
          <a:p>
            <a:r>
              <a:rPr lang="en-US" i="1" dirty="0">
                <a:solidFill>
                  <a:srgbClr val="FF0000"/>
                </a:solidFill>
                <a:latin typeface="Times New Roman" pitchFamily="18" charset="0"/>
                <a:cs typeface="Times New Roman" pitchFamily="18" charset="0"/>
              </a:rPr>
              <a:t>Surgery</a:t>
            </a:r>
            <a:r>
              <a:rPr lang="en-US" i="1" dirty="0">
                <a:latin typeface="Times New Roman" pitchFamily="18" charset="0"/>
                <a:cs typeface="Times New Roman" pitchFamily="18" charset="0"/>
              </a:rPr>
              <a:t>, </a:t>
            </a:r>
            <a:r>
              <a:rPr lang="en-US" i="1" dirty="0" smtClean="0">
                <a:solidFill>
                  <a:srgbClr val="FF0000"/>
                </a:solidFill>
                <a:latin typeface="Times New Roman" pitchFamily="18" charset="0"/>
                <a:cs typeface="Times New Roman" pitchFamily="18" charset="0"/>
              </a:rPr>
              <a:t>genetic </a:t>
            </a:r>
            <a:r>
              <a:rPr lang="en-US" i="1" dirty="0">
                <a:solidFill>
                  <a:srgbClr val="FF0000"/>
                </a:solidFill>
                <a:latin typeface="Times New Roman" pitchFamily="18" charset="0"/>
                <a:cs typeface="Times New Roman" pitchFamily="18" charset="0"/>
              </a:rPr>
              <a:t>therapy</a:t>
            </a:r>
            <a:r>
              <a:rPr lang="en-US" i="1" dirty="0">
                <a:latin typeface="Times New Roman" pitchFamily="18" charset="0"/>
                <a:cs typeface="Times New Roman" pitchFamily="18" charset="0"/>
              </a:rPr>
              <a:t>, </a:t>
            </a:r>
            <a:r>
              <a:rPr lang="en-US" i="1" dirty="0">
                <a:solidFill>
                  <a:srgbClr val="FF0000"/>
                </a:solidFill>
                <a:latin typeface="Times New Roman" pitchFamily="18" charset="0"/>
                <a:cs typeface="Times New Roman" pitchFamily="18" charset="0"/>
              </a:rPr>
              <a:t>rehabilitation</a:t>
            </a:r>
            <a:r>
              <a:rPr lang="en-US" i="1" dirty="0">
                <a:latin typeface="Times New Roman" pitchFamily="18" charset="0"/>
                <a:cs typeface="Times New Roman" pitchFamily="18" charset="0"/>
              </a:rPr>
              <a:t>, </a:t>
            </a:r>
            <a:r>
              <a:rPr lang="en-US" i="1" dirty="0">
                <a:solidFill>
                  <a:srgbClr val="FF0000"/>
                </a:solidFill>
                <a:latin typeface="Times New Roman" pitchFamily="18" charset="0"/>
                <a:cs typeface="Times New Roman" pitchFamily="18" charset="0"/>
              </a:rPr>
              <a:t>human assistance</a:t>
            </a:r>
            <a:r>
              <a:rPr lang="en-US" i="1" dirty="0">
                <a:latin typeface="Times New Roman" pitchFamily="18" charset="0"/>
                <a:cs typeface="Times New Roman" pitchFamily="18" charset="0"/>
              </a:rPr>
              <a:t>, and </a:t>
            </a:r>
            <a:r>
              <a:rPr lang="en-US" i="1" dirty="0" smtClean="0">
                <a:solidFill>
                  <a:srgbClr val="FF0000"/>
                </a:solidFill>
                <a:latin typeface="Times New Roman" pitchFamily="18" charset="0"/>
                <a:cs typeface="Times New Roman" pitchFamily="18" charset="0"/>
              </a:rPr>
              <a:t>assistive </a:t>
            </a:r>
            <a:r>
              <a:rPr lang="en-US" i="1" dirty="0">
                <a:solidFill>
                  <a:srgbClr val="FF0000"/>
                </a:solidFill>
                <a:latin typeface="Times New Roman" pitchFamily="18" charset="0"/>
                <a:cs typeface="Times New Roman" pitchFamily="18" charset="0"/>
              </a:rPr>
              <a:t>technology </a:t>
            </a:r>
            <a:r>
              <a:rPr lang="en-US" dirty="0">
                <a:latin typeface="Times New Roman" pitchFamily="18" charset="0"/>
                <a:cs typeface="Times New Roman" pitchFamily="18" charset="0"/>
              </a:rPr>
              <a:t>(AT) </a:t>
            </a:r>
            <a:r>
              <a:rPr lang="en-US" b="1" dirty="0">
                <a:solidFill>
                  <a:srgbClr val="FF0000"/>
                </a:solidFill>
                <a:latin typeface="Times New Roman" pitchFamily="18" charset="0"/>
                <a:cs typeface="Times New Roman" pitchFamily="18" charset="0"/>
              </a:rPr>
              <a:t>help disabled people cope with</a:t>
            </a:r>
            <a:r>
              <a:rPr lang="en-US" dirty="0">
                <a:latin typeface="Times New Roman" pitchFamily="18" charset="0"/>
                <a:cs typeface="Times New Roman" pitchFamily="18" charset="0"/>
              </a:rPr>
              <a:t> their disabilities. </a:t>
            </a:r>
          </a:p>
          <a:p>
            <a:r>
              <a:rPr lang="en-US" b="1" i="1" dirty="0">
                <a:latin typeface="Times New Roman" pitchFamily="18" charset="0"/>
                <a:cs typeface="Times New Roman" pitchFamily="18" charset="0"/>
              </a:rPr>
              <a:t>Surgery</a:t>
            </a:r>
            <a:r>
              <a:rPr lang="en-US" i="1" dirty="0">
                <a:latin typeface="Times New Roman" pitchFamily="18" charset="0"/>
                <a:cs typeface="Times New Roman" pitchFamily="18" charset="0"/>
              </a:rPr>
              <a:t> </a:t>
            </a:r>
            <a:r>
              <a:rPr lang="en-US" dirty="0">
                <a:latin typeface="Times New Roman" pitchFamily="18" charset="0"/>
                <a:cs typeface="Times New Roman" pitchFamily="18" charset="0"/>
              </a:rPr>
              <a:t>(medical intervention) helps decrease deficiency and, in some cases, restores capability. </a:t>
            </a:r>
          </a:p>
          <a:p>
            <a:r>
              <a:rPr lang="en-US" b="1" i="1" dirty="0">
                <a:latin typeface="Times New Roman" pitchFamily="18" charset="0"/>
                <a:cs typeface="Times New Roman" pitchFamily="18" charset="0"/>
              </a:rPr>
              <a:t>Genetic therapy </a:t>
            </a:r>
            <a:r>
              <a:rPr lang="en-US" dirty="0">
                <a:latin typeface="Times New Roman" pitchFamily="18" charset="0"/>
                <a:cs typeface="Times New Roman" pitchFamily="18" charset="0"/>
              </a:rPr>
              <a:t>attempts to remediate genes responsible for a given disease or disorder.  </a:t>
            </a:r>
          </a:p>
          <a:p>
            <a:r>
              <a:rPr lang="en-US" b="1" i="1" dirty="0">
                <a:latin typeface="Times New Roman" pitchFamily="18" charset="0"/>
                <a:cs typeface="Times New Roman" pitchFamily="18" charset="0"/>
              </a:rPr>
              <a:t>Rehabilitation</a:t>
            </a:r>
            <a:r>
              <a:rPr lang="en-US" i="1" dirty="0">
                <a:latin typeface="Times New Roman" pitchFamily="18" charset="0"/>
                <a:cs typeface="Times New Roman" pitchFamily="18" charset="0"/>
              </a:rPr>
              <a:t> </a:t>
            </a:r>
            <a:r>
              <a:rPr lang="en-US" dirty="0">
                <a:latin typeface="Times New Roman" pitchFamily="18" charset="0"/>
                <a:cs typeface="Times New Roman" pitchFamily="18" charset="0"/>
              </a:rPr>
              <a:t>develops and adapts residual capabilities, &amp; </a:t>
            </a:r>
          </a:p>
          <a:p>
            <a:r>
              <a:rPr lang="en-US" b="1" i="1" dirty="0">
                <a:latin typeface="Times New Roman" pitchFamily="18" charset="0"/>
                <a:cs typeface="Times New Roman" pitchFamily="18" charset="0"/>
              </a:rPr>
              <a:t>Human assistance </a:t>
            </a:r>
            <a:r>
              <a:rPr lang="en-US" dirty="0">
                <a:latin typeface="Times New Roman" pitchFamily="18" charset="0"/>
                <a:cs typeface="Times New Roman" pitchFamily="18" charset="0"/>
              </a:rPr>
              <a:t>aids daily living activities. </a:t>
            </a:r>
          </a:p>
          <a:p>
            <a:r>
              <a:rPr lang="en-US" dirty="0">
                <a:latin typeface="Times New Roman" pitchFamily="18" charset="0"/>
                <a:cs typeface="Times New Roman" pitchFamily="18" charset="0"/>
              </a:rPr>
              <a:t>AT works by compensating for absent or nonfunctional skills, by maintaining or enhancing existing abilities.</a:t>
            </a:r>
          </a:p>
          <a:p>
            <a:r>
              <a:rPr lang="en-US" b="1" dirty="0">
                <a:latin typeface="Times New Roman" pitchFamily="18" charset="0"/>
                <a:cs typeface="Times New Roman" pitchFamily="18" charset="0"/>
              </a:rPr>
              <a:t>AT</a:t>
            </a:r>
            <a:r>
              <a:rPr lang="en-US" dirty="0">
                <a:latin typeface="Times New Roman" pitchFamily="18" charset="0"/>
                <a:cs typeface="Times New Roman" pitchFamily="18" charset="0"/>
              </a:rPr>
              <a:t> varies from low-tech devices such as a cane or adapted loop, to high-tech systems such as assistive robotics or smart spaces. </a:t>
            </a:r>
          </a:p>
        </p:txBody>
      </p:sp>
      <p:sp>
        <p:nvSpPr>
          <p:cNvPr id="4" name="Slide Number Placeholder 3"/>
          <p:cNvSpPr>
            <a:spLocks noGrp="1"/>
          </p:cNvSpPr>
          <p:nvPr>
            <p:ph type="sldNum" sz="quarter" idx="12"/>
          </p:nvPr>
        </p:nvSpPr>
        <p:spPr/>
        <p:txBody>
          <a:bodyPr/>
          <a:lstStyle/>
          <a:p>
            <a:fld id="{29344CB4-3587-4451-B5F6-521D7FDB45C7}" type="slidenum">
              <a:rPr lang="en-US" smtClean="0"/>
              <a:t>29</a:t>
            </a:fld>
            <a:endParaRPr lang="en-US"/>
          </a:p>
        </p:txBody>
      </p:sp>
    </p:spTree>
    <p:extLst>
      <p:ext uri="{BB962C8B-B14F-4D97-AF65-F5344CB8AC3E}">
        <p14:creationId xmlns:p14="http://schemas.microsoft.com/office/powerpoint/2010/main" val="265193640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838200"/>
            <a:ext cx="8915400" cy="5867400"/>
          </a:xfrm>
        </p:spPr>
        <p:txBody>
          <a:bodyPr/>
          <a:lstStyle/>
          <a:p>
            <a:r>
              <a:rPr lang="en-US" dirty="0">
                <a:latin typeface="Times New Roman" pitchFamily="18" charset="0"/>
                <a:cs typeface="Times New Roman" pitchFamily="18" charset="0"/>
              </a:rPr>
              <a:t>The international standard ISO 9999 defines AT as any product, instrument, equipment or technical system used by a disabled person, especially produced or generally available, preventing, compensating, monitoring, relieving or neutralizing the impairment, disability or handicap.</a:t>
            </a:r>
          </a:p>
        </p:txBody>
      </p:sp>
      <p:sp>
        <p:nvSpPr>
          <p:cNvPr id="4" name="Title 1"/>
          <p:cNvSpPr>
            <a:spLocks noGrp="1"/>
          </p:cNvSpPr>
          <p:nvPr>
            <p:ph type="title"/>
          </p:nvPr>
        </p:nvSpPr>
        <p:spPr>
          <a:xfrm>
            <a:off x="0" y="0"/>
            <a:ext cx="9144000" cy="838200"/>
          </a:xfrm>
          <a:solidFill>
            <a:schemeClr val="accent6">
              <a:lumMod val="60000"/>
              <a:lumOff val="40000"/>
            </a:schemeClr>
          </a:solidFill>
        </p:spPr>
        <p:txBody>
          <a:bodyPr>
            <a:normAutofit/>
          </a:bodyPr>
          <a:lstStyle/>
          <a:p>
            <a:r>
              <a:rPr lang="en-US" sz="4000" b="1" dirty="0">
                <a:latin typeface="Times New Roman" pitchFamily="18" charset="0"/>
                <a:cs typeface="Times New Roman" pitchFamily="18" charset="0"/>
              </a:rPr>
              <a:t>Assistive Technologies (AT)…cont’d</a:t>
            </a:r>
            <a:endParaRPr lang="en-US" sz="4000" dirty="0">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fld id="{29344CB4-3587-4451-B5F6-521D7FDB45C7}" type="slidenum">
              <a:rPr lang="en-US" smtClean="0"/>
              <a:t>30</a:t>
            </a:fld>
            <a:endParaRPr lang="en-US"/>
          </a:p>
        </p:txBody>
      </p:sp>
    </p:spTree>
    <p:extLst>
      <p:ext uri="{BB962C8B-B14F-4D97-AF65-F5344CB8AC3E}">
        <p14:creationId xmlns:p14="http://schemas.microsoft.com/office/powerpoint/2010/main" val="331486346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838200"/>
            <a:ext cx="8839200" cy="5943600"/>
          </a:xfrm>
        </p:spPr>
        <p:txBody>
          <a:bodyPr>
            <a:normAutofit fontScale="85000" lnSpcReduction="20000"/>
          </a:bodyPr>
          <a:lstStyle/>
          <a:p>
            <a:pPr marL="514350" indent="-514350">
              <a:buFont typeface="+mj-lt"/>
              <a:buAutoNum type="alphaUcPeriod"/>
            </a:pPr>
            <a:r>
              <a:rPr lang="en-US" b="1" dirty="0">
                <a:latin typeface="Times New Roman" pitchFamily="18" charset="0"/>
                <a:cs typeface="Times New Roman" pitchFamily="18" charset="0"/>
              </a:rPr>
              <a:t>People with Communication Disabilities refers to </a:t>
            </a:r>
            <a:r>
              <a:rPr lang="en-US" dirty="0">
                <a:latin typeface="Times New Roman" pitchFamily="18" charset="0"/>
                <a:cs typeface="Times New Roman" pitchFamily="18" charset="0"/>
              </a:rPr>
              <a:t>be multiple difficulties including: Speech mechanism problem, Language processing, Hearing, Vision, Motor skills </a:t>
            </a:r>
          </a:p>
          <a:p>
            <a:pPr lvl="2"/>
            <a:r>
              <a:rPr lang="en-US" b="1" dirty="0">
                <a:latin typeface="Times New Roman" pitchFamily="18" charset="0"/>
                <a:cs typeface="Times New Roman" pitchFamily="18" charset="0"/>
              </a:rPr>
              <a:t>Needs &amp; Barriers: </a:t>
            </a:r>
            <a:r>
              <a:rPr lang="en-US" dirty="0">
                <a:latin typeface="Times New Roman" pitchFamily="18" charset="0"/>
                <a:cs typeface="Times New Roman" pitchFamily="18" charset="0"/>
              </a:rPr>
              <a:t>Safety Technologies, Self-care and medication management, social needs socialization, access to information technology, communication and interaction with environment, access to public administration and facilities (authorities, banks, public services), shopping recreation and leisure problems with speech, writing, esteem independence and employment. </a:t>
            </a:r>
          </a:p>
          <a:p>
            <a:pPr lvl="2"/>
            <a:r>
              <a:rPr lang="en-US" b="1" dirty="0">
                <a:latin typeface="Times New Roman" pitchFamily="18" charset="0"/>
                <a:cs typeface="Times New Roman" pitchFamily="18" charset="0"/>
              </a:rPr>
              <a:t>Assistive technologies: </a:t>
            </a:r>
            <a:r>
              <a:rPr lang="en-US" b="1" dirty="0">
                <a:solidFill>
                  <a:srgbClr val="FF0000"/>
                </a:solidFill>
                <a:latin typeface="Times New Roman" pitchFamily="18" charset="0"/>
                <a:cs typeface="Times New Roman" pitchFamily="18" charset="0"/>
              </a:rPr>
              <a:t>Mobile systems- </a:t>
            </a:r>
            <a:r>
              <a:rPr lang="en-US" dirty="0">
                <a:latin typeface="Times New Roman" pitchFamily="18" charset="0"/>
                <a:cs typeface="Times New Roman" pitchFamily="18" charset="0"/>
              </a:rPr>
              <a:t>phones, wearable electronics, computers, augmentative and alliterative communication (including I/O interfaces) (adaptable/configurable interfaces, tactile interfaces), </a:t>
            </a:r>
            <a:r>
              <a:rPr lang="en-US" b="1" dirty="0" err="1">
                <a:solidFill>
                  <a:srgbClr val="FF0000"/>
                </a:solidFill>
                <a:latin typeface="Times New Roman" pitchFamily="18" charset="0"/>
                <a:cs typeface="Times New Roman" pitchFamily="18" charset="0"/>
              </a:rPr>
              <a:t>vibro</a:t>
            </a:r>
            <a:r>
              <a:rPr lang="en-US" b="1" dirty="0">
                <a:solidFill>
                  <a:srgbClr val="FF0000"/>
                </a:solidFill>
                <a:latin typeface="Times New Roman" pitchFamily="18" charset="0"/>
                <a:cs typeface="Times New Roman" pitchFamily="18" charset="0"/>
              </a:rPr>
              <a:t>-tactile displays</a:t>
            </a:r>
            <a:r>
              <a:rPr lang="en-US" dirty="0">
                <a:latin typeface="Times New Roman" pitchFamily="18" charset="0"/>
                <a:cs typeface="Times New Roman" pitchFamily="18" charset="0"/>
              </a:rPr>
              <a:t> reading screen, speech technologies, augmentative–alliterative communication. </a:t>
            </a:r>
            <a:r>
              <a:rPr lang="en-US" b="1" dirty="0">
                <a:solidFill>
                  <a:srgbClr val="FF0000"/>
                </a:solidFill>
                <a:latin typeface="Times New Roman" pitchFamily="18" charset="0"/>
                <a:cs typeface="Times New Roman" pitchFamily="18" charset="0"/>
              </a:rPr>
              <a:t>Socialization and entertainment tools </a:t>
            </a:r>
            <a:r>
              <a:rPr lang="en-US" dirty="0">
                <a:latin typeface="Times New Roman" pitchFamily="18" charset="0"/>
                <a:cs typeface="Times New Roman" pitchFamily="18" charset="0"/>
              </a:rPr>
              <a:t>(special games, virtual companion‘s videoconferences). </a:t>
            </a:r>
            <a:r>
              <a:rPr lang="en-US" b="1" dirty="0">
                <a:solidFill>
                  <a:srgbClr val="FF0000"/>
                </a:solidFill>
                <a:latin typeface="Times New Roman" pitchFamily="18" charset="0"/>
                <a:cs typeface="Times New Roman" pitchFamily="18" charset="0"/>
              </a:rPr>
              <a:t>Medication organizers </a:t>
            </a:r>
            <a:r>
              <a:rPr lang="en-US" dirty="0">
                <a:latin typeface="Times New Roman" pitchFamily="18" charset="0"/>
                <a:cs typeface="Times New Roman" pitchFamily="18" charset="0"/>
              </a:rPr>
              <a:t>(medication reminder/management). </a:t>
            </a:r>
            <a:r>
              <a:rPr lang="en-US" b="1" dirty="0">
                <a:solidFill>
                  <a:srgbClr val="FF0000"/>
                </a:solidFill>
                <a:latin typeface="Times New Roman" pitchFamily="18" charset="0"/>
                <a:cs typeface="Times New Roman" pitchFamily="18" charset="0"/>
              </a:rPr>
              <a:t>Speech technology </a:t>
            </a:r>
            <a:r>
              <a:rPr lang="en-US" dirty="0">
                <a:latin typeface="Times New Roman" pitchFamily="18" charset="0"/>
                <a:cs typeface="Times New Roman" pitchFamily="18" charset="0"/>
              </a:rPr>
              <a:t>(audio technology for I/O interfaces and control, writing translators, text–speech translators, transportation (public transportation facilities, smart environments home control, pervasive computing, context awareness, middleware) </a:t>
            </a:r>
            <a:r>
              <a:rPr lang="en-US" b="1" dirty="0">
                <a:solidFill>
                  <a:srgbClr val="FF0000"/>
                </a:solidFill>
                <a:latin typeface="Times New Roman" pitchFamily="18" charset="0"/>
                <a:cs typeface="Times New Roman" pitchFamily="18" charset="0"/>
              </a:rPr>
              <a:t>Shopping tools </a:t>
            </a:r>
            <a:r>
              <a:rPr lang="en-US" dirty="0">
                <a:latin typeface="Times New Roman" pitchFamily="18" charset="0"/>
                <a:cs typeface="Times New Roman" pitchFamily="18" charset="0"/>
              </a:rPr>
              <a:t>(Internet access) and education tools.</a:t>
            </a:r>
          </a:p>
        </p:txBody>
      </p:sp>
      <p:sp>
        <p:nvSpPr>
          <p:cNvPr id="4" name="Title 1"/>
          <p:cNvSpPr>
            <a:spLocks noGrp="1"/>
          </p:cNvSpPr>
          <p:nvPr>
            <p:ph type="title"/>
          </p:nvPr>
        </p:nvSpPr>
        <p:spPr>
          <a:xfrm>
            <a:off x="0" y="0"/>
            <a:ext cx="9144000" cy="838200"/>
          </a:xfrm>
          <a:solidFill>
            <a:schemeClr val="accent6">
              <a:lumMod val="60000"/>
              <a:lumOff val="40000"/>
            </a:schemeClr>
          </a:solidFill>
        </p:spPr>
        <p:txBody>
          <a:bodyPr>
            <a:normAutofit/>
          </a:bodyPr>
          <a:lstStyle/>
          <a:p>
            <a:r>
              <a:rPr lang="en-US" sz="4000" b="1" dirty="0">
                <a:latin typeface="Times New Roman" pitchFamily="18" charset="0"/>
                <a:cs typeface="Times New Roman" pitchFamily="18" charset="0"/>
              </a:rPr>
              <a:t>Assistive Technologies (AT)…cont’d</a:t>
            </a:r>
            <a:endParaRPr lang="en-US" sz="4000" dirty="0">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fld id="{29344CB4-3587-4451-B5F6-521D7FDB45C7}" type="slidenum">
              <a:rPr lang="en-US" smtClean="0"/>
              <a:t>31</a:t>
            </a:fld>
            <a:endParaRPr lang="en-US"/>
          </a:p>
        </p:txBody>
      </p:sp>
    </p:spTree>
    <p:extLst>
      <p:ext uri="{BB962C8B-B14F-4D97-AF65-F5344CB8AC3E}">
        <p14:creationId xmlns:p14="http://schemas.microsoft.com/office/powerpoint/2010/main" val="374731665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838200"/>
            <a:ext cx="8915400" cy="5943600"/>
          </a:xfrm>
        </p:spPr>
        <p:txBody>
          <a:bodyPr>
            <a:normAutofit fontScale="85000" lnSpcReduction="10000"/>
          </a:bodyPr>
          <a:lstStyle/>
          <a:p>
            <a:pPr marL="514350" indent="-514350">
              <a:buFont typeface="+mj-lt"/>
              <a:buAutoNum type="alphaUcPeriod" startAt="2"/>
            </a:pPr>
            <a:r>
              <a:rPr lang="en-US" b="1" dirty="0">
                <a:latin typeface="Times New Roman" pitchFamily="18" charset="0"/>
                <a:cs typeface="Times New Roman" pitchFamily="18" charset="0"/>
              </a:rPr>
              <a:t>People with Cognitive Disabilities: The impairments may include: </a:t>
            </a:r>
            <a:r>
              <a:rPr lang="en-US" dirty="0">
                <a:latin typeface="Times New Roman" pitchFamily="18" charset="0"/>
                <a:cs typeface="Times New Roman" pitchFamily="18" charset="0"/>
              </a:rPr>
              <a:t>Cognition, memory loss and forgetfulness </a:t>
            </a:r>
          </a:p>
          <a:p>
            <a:pPr lvl="2"/>
            <a:r>
              <a:rPr lang="en-US" b="1" dirty="0">
                <a:latin typeface="Times New Roman" pitchFamily="18" charset="0"/>
                <a:cs typeface="Times New Roman" pitchFamily="18" charset="0"/>
              </a:rPr>
              <a:t>Needs &amp; Barriers are s</a:t>
            </a:r>
            <a:r>
              <a:rPr lang="en-US" dirty="0">
                <a:latin typeface="Times New Roman" pitchFamily="18" charset="0"/>
                <a:cs typeface="Times New Roman" pitchFamily="18" charset="0"/>
              </a:rPr>
              <a:t>urvival, hygiene (toileting, bathing, laundry); feeding (food preparation, </a:t>
            </a:r>
          </a:p>
          <a:p>
            <a:pPr lvl="2"/>
            <a:r>
              <a:rPr lang="en-US" dirty="0">
                <a:latin typeface="Times New Roman" pitchFamily="18" charset="0"/>
                <a:cs typeface="Times New Roman" pitchFamily="18" charset="0"/>
              </a:rPr>
              <a:t>eating, drinking), remembering, housekeeping—home cleaning, safety, safety technologies, safety of environment, self-care and medication </a:t>
            </a:r>
            <a:r>
              <a:rPr lang="en-US" b="1" dirty="0">
                <a:latin typeface="Times New Roman" pitchFamily="18" charset="0"/>
                <a:cs typeface="Times New Roman" pitchFamily="18" charset="0"/>
              </a:rPr>
              <a:t>m</a:t>
            </a:r>
            <a:r>
              <a:rPr lang="en-US" dirty="0">
                <a:latin typeface="Times New Roman" pitchFamily="18" charset="0"/>
                <a:cs typeface="Times New Roman" pitchFamily="18" charset="0"/>
              </a:rPr>
              <a:t>anagement, social needs, socialization, navigation, access to information technology, education, communication and interaction with environment, shopping, esteem, independence, employment, recreation and leisure </a:t>
            </a:r>
          </a:p>
          <a:p>
            <a:pPr lvl="2"/>
            <a:r>
              <a:rPr lang="en-US" b="1" dirty="0">
                <a:latin typeface="Times New Roman" pitchFamily="18" charset="0"/>
                <a:cs typeface="Times New Roman" pitchFamily="18" charset="0"/>
              </a:rPr>
              <a:t>Assistive technologies may include </a:t>
            </a:r>
            <a:r>
              <a:rPr lang="en-US" b="1" dirty="0">
                <a:solidFill>
                  <a:srgbClr val="FF0000"/>
                </a:solidFill>
                <a:latin typeface="Times New Roman" pitchFamily="18" charset="0"/>
                <a:cs typeface="Times New Roman" pitchFamily="18" charset="0"/>
              </a:rPr>
              <a:t>Mobile systems </a:t>
            </a:r>
            <a:r>
              <a:rPr lang="en-US" dirty="0">
                <a:latin typeface="Times New Roman" pitchFamily="18" charset="0"/>
                <a:cs typeface="Times New Roman" pitchFamily="18" charset="0"/>
              </a:rPr>
              <a:t>(phones, wearable electronics, and computers), </a:t>
            </a:r>
            <a:r>
              <a:rPr lang="en-US" b="1" dirty="0">
                <a:solidFill>
                  <a:srgbClr val="FF0000"/>
                </a:solidFill>
                <a:latin typeface="Times New Roman" pitchFamily="18" charset="0"/>
                <a:cs typeface="Times New Roman" pitchFamily="18" charset="0"/>
              </a:rPr>
              <a:t>socialization and entertainment tools </a:t>
            </a:r>
            <a:r>
              <a:rPr lang="en-US" dirty="0">
                <a:latin typeface="Times New Roman" pitchFamily="18" charset="0"/>
                <a:cs typeface="Times New Roman" pitchFamily="18" charset="0"/>
              </a:rPr>
              <a:t>(special games, virtual companions, videoconferences), </a:t>
            </a:r>
            <a:r>
              <a:rPr lang="en-US" b="1" dirty="0">
                <a:solidFill>
                  <a:srgbClr val="FF0000"/>
                </a:solidFill>
                <a:latin typeface="Times New Roman" pitchFamily="18" charset="0"/>
                <a:cs typeface="Times New Roman" pitchFamily="18" charset="0"/>
              </a:rPr>
              <a:t>augmentative and alliterative communication </a:t>
            </a:r>
            <a:r>
              <a:rPr lang="en-US" dirty="0">
                <a:latin typeface="Times New Roman" pitchFamily="18" charset="0"/>
                <a:cs typeface="Times New Roman" pitchFamily="18" charset="0"/>
              </a:rPr>
              <a:t>(including I/O interfaces), </a:t>
            </a:r>
            <a:r>
              <a:rPr lang="en-US" b="1" dirty="0">
                <a:solidFill>
                  <a:srgbClr val="FF0000"/>
                </a:solidFill>
                <a:latin typeface="Times New Roman" pitchFamily="18" charset="0"/>
                <a:cs typeface="Times New Roman" pitchFamily="18" charset="0"/>
              </a:rPr>
              <a:t>adaptable/configurable</a:t>
            </a:r>
            <a:r>
              <a:rPr lang="en-US" dirty="0">
                <a:latin typeface="Times New Roman" pitchFamily="18" charset="0"/>
                <a:cs typeface="Times New Roman" pitchFamily="18" charset="0"/>
              </a:rPr>
              <a:t> interfaces, </a:t>
            </a:r>
            <a:r>
              <a:rPr lang="en-US" b="1" dirty="0">
                <a:solidFill>
                  <a:srgbClr val="FF0000"/>
                </a:solidFill>
                <a:latin typeface="Times New Roman" pitchFamily="18" charset="0"/>
                <a:cs typeface="Times New Roman" pitchFamily="18" charset="0"/>
              </a:rPr>
              <a:t>organizer and reminder assistants </a:t>
            </a:r>
            <a:r>
              <a:rPr lang="en-US" dirty="0">
                <a:latin typeface="Times New Roman" pitchFamily="18" charset="0"/>
                <a:cs typeface="Times New Roman" pitchFamily="18" charset="0"/>
              </a:rPr>
              <a:t>for timekeeping), </a:t>
            </a:r>
            <a:r>
              <a:rPr lang="en-US" b="1" dirty="0">
                <a:solidFill>
                  <a:srgbClr val="FF0000"/>
                </a:solidFill>
                <a:latin typeface="Times New Roman" pitchFamily="18" charset="0"/>
                <a:cs typeface="Times New Roman" pitchFamily="18" charset="0"/>
              </a:rPr>
              <a:t>medications</a:t>
            </a:r>
            <a:r>
              <a:rPr lang="en-US" dirty="0">
                <a:latin typeface="Times New Roman" pitchFamily="18" charset="0"/>
                <a:cs typeface="Times New Roman" pitchFamily="18" charset="0"/>
              </a:rPr>
              <a:t>, (appointments, hygiene, etc., electronic organizers, medication reminder/management, procedure assistants, transportation public transportation facilities), </a:t>
            </a:r>
            <a:r>
              <a:rPr lang="en-US" b="1" dirty="0">
                <a:solidFill>
                  <a:srgbClr val="FF0000"/>
                </a:solidFill>
                <a:latin typeface="Times New Roman" pitchFamily="18" charset="0"/>
                <a:cs typeface="Times New Roman" pitchFamily="18" charset="0"/>
              </a:rPr>
              <a:t>Communication aids </a:t>
            </a:r>
            <a:r>
              <a:rPr lang="en-US" dirty="0">
                <a:latin typeface="Times New Roman" pitchFamily="18" charset="0"/>
                <a:cs typeface="Times New Roman" pitchFamily="18" charset="0"/>
              </a:rPr>
              <a:t>(communicators, multimedia procedure, assistants, large-screen programmable phones, electronic information organizers, electronic mail)</a:t>
            </a:r>
          </a:p>
        </p:txBody>
      </p:sp>
      <p:sp>
        <p:nvSpPr>
          <p:cNvPr id="4" name="Title 1"/>
          <p:cNvSpPr>
            <a:spLocks noGrp="1"/>
          </p:cNvSpPr>
          <p:nvPr>
            <p:ph type="title"/>
          </p:nvPr>
        </p:nvSpPr>
        <p:spPr>
          <a:xfrm>
            <a:off x="0" y="0"/>
            <a:ext cx="9144000" cy="838200"/>
          </a:xfrm>
          <a:solidFill>
            <a:schemeClr val="accent6">
              <a:lumMod val="60000"/>
              <a:lumOff val="40000"/>
            </a:schemeClr>
          </a:solidFill>
        </p:spPr>
        <p:txBody>
          <a:bodyPr>
            <a:normAutofit/>
          </a:bodyPr>
          <a:lstStyle/>
          <a:p>
            <a:r>
              <a:rPr lang="en-US" sz="4000" b="1" dirty="0">
                <a:latin typeface="Times New Roman" pitchFamily="18" charset="0"/>
                <a:cs typeface="Times New Roman" pitchFamily="18" charset="0"/>
              </a:rPr>
              <a:t>Assistive Technologies (AT)…cont’d</a:t>
            </a:r>
            <a:endParaRPr lang="en-US" sz="4000" dirty="0">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fld id="{29344CB4-3587-4451-B5F6-521D7FDB45C7}" type="slidenum">
              <a:rPr lang="en-US" smtClean="0"/>
              <a:t>32</a:t>
            </a:fld>
            <a:endParaRPr lang="en-US"/>
          </a:p>
        </p:txBody>
      </p:sp>
    </p:spTree>
    <p:extLst>
      <p:ext uri="{BB962C8B-B14F-4D97-AF65-F5344CB8AC3E}">
        <p14:creationId xmlns:p14="http://schemas.microsoft.com/office/powerpoint/2010/main" val="202913090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838200"/>
            <a:ext cx="8839200" cy="5943600"/>
          </a:xfrm>
        </p:spPr>
        <p:txBody>
          <a:bodyPr>
            <a:normAutofit/>
          </a:bodyPr>
          <a:lstStyle/>
          <a:p>
            <a:pPr marL="514350" indent="-514350">
              <a:buFont typeface="+mj-lt"/>
              <a:buAutoNum type="alphaUcPeriod" startAt="3"/>
            </a:pPr>
            <a:r>
              <a:rPr lang="en-US" b="1" dirty="0">
                <a:latin typeface="Times New Roman" pitchFamily="18" charset="0"/>
                <a:cs typeface="Times New Roman" pitchFamily="18" charset="0"/>
              </a:rPr>
              <a:t>People with Motor Disabilities impairment include </a:t>
            </a:r>
            <a:r>
              <a:rPr lang="en-US" dirty="0">
                <a:latin typeface="Times New Roman" pitchFamily="18" charset="0"/>
                <a:cs typeface="Times New Roman" pitchFamily="18" charset="0"/>
              </a:rPr>
              <a:t>Upper-limbs difficulties/ dexterity, lower-limb deficiencies </a:t>
            </a:r>
          </a:p>
          <a:p>
            <a:pPr lvl="2"/>
            <a:r>
              <a:rPr lang="en-US" b="1" dirty="0">
                <a:latin typeface="Times New Roman" pitchFamily="18" charset="0"/>
                <a:cs typeface="Times New Roman" pitchFamily="18" charset="0"/>
              </a:rPr>
              <a:t>Needs &amp; Barriers are </a:t>
            </a:r>
            <a:r>
              <a:rPr lang="en-US" dirty="0">
                <a:latin typeface="Times New Roman" pitchFamily="18" charset="0"/>
                <a:cs typeface="Times New Roman" pitchFamily="18" charset="0"/>
              </a:rPr>
              <a:t>the need for mobility, working in the inaccessible environment </a:t>
            </a:r>
          </a:p>
          <a:p>
            <a:pPr lvl="2"/>
            <a:r>
              <a:rPr lang="en-US" b="1" dirty="0">
                <a:latin typeface="Times New Roman" pitchFamily="18" charset="0"/>
                <a:cs typeface="Times New Roman" pitchFamily="18" charset="0"/>
              </a:rPr>
              <a:t>Assistive technologies may include </a:t>
            </a:r>
            <a:r>
              <a:rPr lang="en-US" dirty="0">
                <a:latin typeface="Times New Roman" pitchFamily="18" charset="0"/>
                <a:cs typeface="Times New Roman" pitchFamily="18" charset="0"/>
              </a:rPr>
              <a:t>orthotics (cognitive orthotics), smart environments, home control, shopping tools (internet access) and education tools.</a:t>
            </a:r>
          </a:p>
        </p:txBody>
      </p:sp>
      <p:sp>
        <p:nvSpPr>
          <p:cNvPr id="4" name="Title 1"/>
          <p:cNvSpPr>
            <a:spLocks noGrp="1"/>
          </p:cNvSpPr>
          <p:nvPr>
            <p:ph type="title"/>
          </p:nvPr>
        </p:nvSpPr>
        <p:spPr>
          <a:xfrm>
            <a:off x="0" y="0"/>
            <a:ext cx="9144000" cy="838200"/>
          </a:xfrm>
          <a:solidFill>
            <a:schemeClr val="accent6">
              <a:lumMod val="60000"/>
              <a:lumOff val="40000"/>
            </a:schemeClr>
          </a:solidFill>
        </p:spPr>
        <p:txBody>
          <a:bodyPr>
            <a:normAutofit/>
          </a:bodyPr>
          <a:lstStyle/>
          <a:p>
            <a:r>
              <a:rPr lang="en-US" sz="4000" b="1" dirty="0">
                <a:latin typeface="Times New Roman" pitchFamily="18" charset="0"/>
                <a:cs typeface="Times New Roman" pitchFamily="18" charset="0"/>
              </a:rPr>
              <a:t>Assistive Technologies (AT)…cont’d</a:t>
            </a:r>
            <a:endParaRPr lang="en-US" sz="4000" dirty="0">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fld id="{29344CB4-3587-4451-B5F6-521D7FDB45C7}" type="slidenum">
              <a:rPr lang="en-US" smtClean="0"/>
              <a:t>33</a:t>
            </a:fld>
            <a:endParaRPr lang="en-US"/>
          </a:p>
        </p:txBody>
      </p:sp>
    </p:spTree>
    <p:extLst>
      <p:ext uri="{BB962C8B-B14F-4D97-AF65-F5344CB8AC3E}">
        <p14:creationId xmlns:p14="http://schemas.microsoft.com/office/powerpoint/2010/main" val="129859223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a:solidFill>
            <a:schemeClr val="accent6">
              <a:lumMod val="60000"/>
              <a:lumOff val="40000"/>
            </a:schemeClr>
          </a:solidFill>
        </p:spPr>
        <p:txBody>
          <a:bodyPr>
            <a:normAutofit/>
          </a:bodyPr>
          <a:lstStyle/>
          <a:p>
            <a:r>
              <a:rPr lang="en-US" sz="4000" b="1" dirty="0">
                <a:latin typeface="Times New Roman" pitchFamily="18" charset="0"/>
                <a:cs typeface="Times New Roman" pitchFamily="18" charset="0"/>
              </a:rPr>
              <a:t>AT and the Marketplace </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a:xfrm>
            <a:off x="76200" y="914400"/>
            <a:ext cx="8915400" cy="5867400"/>
          </a:xfrm>
        </p:spPr>
        <p:txBody>
          <a:bodyPr>
            <a:normAutofit/>
          </a:bodyPr>
          <a:lstStyle/>
          <a:p>
            <a:r>
              <a:rPr lang="en-US" sz="2800" dirty="0">
                <a:latin typeface="Times New Roman" panose="02020603050405020304" pitchFamily="18" charset="0"/>
                <a:cs typeface="Times New Roman" pitchFamily="18" charset="0"/>
              </a:rPr>
              <a:t>Markets for assistive technologies follow the general marketing rule: trivialization or specialization.</a:t>
            </a:r>
          </a:p>
          <a:p>
            <a:r>
              <a:rPr lang="en-US" sz="2800" b="1" i="1" dirty="0">
                <a:latin typeface="Times New Roman" panose="02020603050405020304" pitchFamily="18" charset="0"/>
                <a:cs typeface="Times New Roman" panose="02020603050405020304" pitchFamily="18" charset="0"/>
              </a:rPr>
              <a:t>Specialization </a:t>
            </a:r>
            <a:r>
              <a:rPr lang="en-US" sz="2800" dirty="0">
                <a:latin typeface="Times New Roman" panose="02020603050405020304" pitchFamily="18" charset="0"/>
                <a:cs typeface="Times New Roman" panose="02020603050405020304" pitchFamily="18" charset="0"/>
              </a:rPr>
              <a:t>is based on the development of products or services that are </a:t>
            </a:r>
            <a:r>
              <a:rPr lang="en-US" sz="2800" b="1" dirty="0">
                <a:solidFill>
                  <a:srgbClr val="0070C0"/>
                </a:solidFill>
                <a:latin typeface="Times New Roman" panose="02020603050405020304" pitchFamily="18" charset="0"/>
                <a:cs typeface="Times New Roman" panose="02020603050405020304" pitchFamily="18" charset="0"/>
              </a:rPr>
              <a:t>adapted for Persons with disabilities</a:t>
            </a:r>
            <a:r>
              <a:rPr lang="en-US" sz="2800" dirty="0">
                <a:latin typeface="Times New Roman" panose="02020603050405020304" pitchFamily="18" charset="0"/>
                <a:cs typeface="Times New Roman" panose="02020603050405020304" pitchFamily="18" charset="0"/>
              </a:rPr>
              <a:t>.</a:t>
            </a:r>
          </a:p>
          <a:p>
            <a:pPr lvl="1"/>
            <a:r>
              <a:rPr lang="en-US" sz="2400" dirty="0">
                <a:latin typeface="Times New Roman" panose="02020603050405020304" pitchFamily="18" charset="0"/>
                <a:cs typeface="Times New Roman" panose="02020603050405020304" pitchFamily="18" charset="0"/>
              </a:rPr>
              <a:t>Nonetheless, the market for such AT is not growing quickly, owing to (1) development costs, (2) high price of the final product, and (3) generally low income of people with disabilities.</a:t>
            </a:r>
          </a:p>
          <a:p>
            <a:r>
              <a:rPr lang="en-US" sz="2800" b="1" i="1" dirty="0">
                <a:latin typeface="Times New Roman" panose="02020603050405020304" pitchFamily="18" charset="0"/>
                <a:cs typeface="Times New Roman" panose="02020603050405020304" pitchFamily="18" charset="0"/>
              </a:rPr>
              <a:t>Trivialization </a:t>
            </a:r>
            <a:r>
              <a:rPr lang="en-US" sz="2800" dirty="0">
                <a:latin typeface="Times New Roman" pitchFamily="18" charset="0"/>
                <a:cs typeface="Times New Roman" pitchFamily="18" charset="0"/>
              </a:rPr>
              <a:t>considers Persons with disabilities as an </a:t>
            </a:r>
            <a:r>
              <a:rPr lang="en-US" sz="2800" b="1" dirty="0">
                <a:solidFill>
                  <a:srgbClr val="0070C0"/>
                </a:solidFill>
                <a:latin typeface="Times New Roman" pitchFamily="18" charset="0"/>
                <a:cs typeface="Times New Roman" pitchFamily="18" charset="0"/>
              </a:rPr>
              <a:t>augmentation of the market for devices used by people</a:t>
            </a:r>
            <a:r>
              <a:rPr lang="en-US" sz="2800" dirty="0">
                <a:latin typeface="Times New Roman" pitchFamily="18" charset="0"/>
                <a:cs typeface="Times New Roman" pitchFamily="18" charset="0"/>
              </a:rPr>
              <a:t> </a:t>
            </a:r>
            <a:r>
              <a:rPr lang="en-US" sz="2800" b="1" dirty="0">
                <a:solidFill>
                  <a:srgbClr val="0070C0"/>
                </a:solidFill>
                <a:latin typeface="Times New Roman" pitchFamily="18" charset="0"/>
                <a:cs typeface="Times New Roman" pitchFamily="18" charset="0"/>
              </a:rPr>
              <a:t>without disabilities</a:t>
            </a:r>
            <a:r>
              <a:rPr lang="en-US" sz="2800"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29344CB4-3587-4451-B5F6-521D7FDB45C7}" type="slidenum">
              <a:rPr lang="en-US" smtClean="0"/>
              <a:t>34</a:t>
            </a:fld>
            <a:endParaRPr lang="en-US"/>
          </a:p>
        </p:txBody>
      </p:sp>
    </p:spTree>
    <p:extLst>
      <p:ext uri="{BB962C8B-B14F-4D97-AF65-F5344CB8AC3E}">
        <p14:creationId xmlns:p14="http://schemas.microsoft.com/office/powerpoint/2010/main" val="256488289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914400"/>
            <a:ext cx="8915400" cy="5867400"/>
          </a:xfrm>
        </p:spPr>
        <p:txBody>
          <a:bodyPr>
            <a:normAutofit fontScale="70000" lnSpcReduction="20000"/>
          </a:bodyPr>
          <a:lstStyle/>
          <a:p>
            <a:r>
              <a:rPr lang="en-US" dirty="0">
                <a:latin typeface="Times New Roman" pitchFamily="18" charset="0"/>
                <a:cs typeface="Times New Roman" pitchFamily="18" charset="0"/>
              </a:rPr>
              <a:t>Given the requirements of functionality, safety, and comfort, the design of AT for Persons with disabilities and Vulnerabilities requires both excellent engineering capacities and relevant knowledge about Persons with disabilities and Vulnerabilities characteristics.</a:t>
            </a:r>
          </a:p>
          <a:p>
            <a:r>
              <a:rPr lang="en-US" b="1" i="1" dirty="0">
                <a:solidFill>
                  <a:srgbClr val="FF0000"/>
                </a:solidFill>
                <a:latin typeface="Times New Roman" pitchFamily="18" charset="0"/>
                <a:cs typeface="Times New Roman" pitchFamily="18" charset="0"/>
              </a:rPr>
              <a:t>User-centered design </a:t>
            </a:r>
            <a:r>
              <a:rPr lang="en-US" dirty="0">
                <a:latin typeface="Times New Roman" pitchFamily="18" charset="0"/>
                <a:cs typeface="Times New Roman" pitchFamily="18" charset="0"/>
              </a:rPr>
              <a:t>is a set of techniques and processes that enable developers to focus on users, within the design process.</a:t>
            </a:r>
          </a:p>
          <a:p>
            <a:pPr lvl="1"/>
            <a:r>
              <a:rPr lang="en-US" dirty="0">
                <a:latin typeface="Times New Roman" pitchFamily="18" charset="0"/>
                <a:cs typeface="Times New Roman" pitchFamily="18" charset="0"/>
              </a:rPr>
              <a:t>The developed AT meets persons with disabilities satisfaction. </a:t>
            </a:r>
          </a:p>
          <a:p>
            <a:pPr lvl="1"/>
            <a:r>
              <a:rPr lang="en-US" dirty="0">
                <a:latin typeface="Times New Roman" pitchFamily="18" charset="0"/>
                <a:cs typeface="Times New Roman" pitchFamily="18" charset="0"/>
              </a:rPr>
              <a:t>However, this design method is expensive in terms of resources &amp; time expended by engineers and domain experts. </a:t>
            </a:r>
          </a:p>
          <a:p>
            <a:pPr lvl="1"/>
            <a:r>
              <a:rPr lang="en-US" dirty="0">
                <a:latin typeface="Times New Roman" pitchFamily="18" charset="0"/>
                <a:cs typeface="Times New Roman" pitchFamily="18" charset="0"/>
              </a:rPr>
              <a:t>Difficult to recruit potential end users and to interact with them, especially when these end users are older people, or people with disabilities.</a:t>
            </a:r>
          </a:p>
          <a:p>
            <a:r>
              <a:rPr lang="en-US" b="1" i="1" dirty="0">
                <a:solidFill>
                  <a:srgbClr val="FF0000"/>
                </a:solidFill>
                <a:latin typeface="Times New Roman" pitchFamily="18" charset="0"/>
                <a:cs typeface="Times New Roman" pitchFamily="18" charset="0"/>
              </a:rPr>
              <a:t>Universal design </a:t>
            </a:r>
            <a:r>
              <a:rPr lang="en-US" dirty="0">
                <a:latin typeface="Times New Roman" pitchFamily="18" charset="0"/>
                <a:cs typeface="Times New Roman" pitchFamily="18" charset="0"/>
              </a:rPr>
              <a:t>(</a:t>
            </a:r>
            <a:r>
              <a:rPr lang="en-US" i="1" dirty="0">
                <a:latin typeface="Times New Roman" pitchFamily="18" charset="0"/>
                <a:cs typeface="Times New Roman" pitchFamily="18" charset="0"/>
              </a:rPr>
              <a:t>design for all) </a:t>
            </a:r>
            <a:r>
              <a:rPr lang="en-US" dirty="0">
                <a:latin typeface="Times New Roman" pitchFamily="18" charset="0"/>
                <a:cs typeface="Times New Roman" pitchFamily="18" charset="0"/>
              </a:rPr>
              <a:t>is the design of products and environments to be usable by all people, to the greatest extent possible, without the need for adaptation or specialized design.</a:t>
            </a:r>
          </a:p>
          <a:p>
            <a:pPr lvl="1"/>
            <a:r>
              <a:rPr lang="en-US" dirty="0">
                <a:latin typeface="Times New Roman" pitchFamily="18" charset="0"/>
                <a:cs typeface="Times New Roman" pitchFamily="18" charset="0"/>
              </a:rPr>
              <a:t>Here, the design process is guided and constrained by a number of objectives: accessibility, adaptability, </a:t>
            </a:r>
            <a:r>
              <a:rPr lang="en-US" dirty="0" err="1">
                <a:latin typeface="Times New Roman" pitchFamily="18" charset="0"/>
                <a:cs typeface="Times New Roman" pitchFamily="18" charset="0"/>
              </a:rPr>
              <a:t>transgenerational</a:t>
            </a:r>
            <a:r>
              <a:rPr lang="en-US" dirty="0">
                <a:latin typeface="Times New Roman" pitchFamily="18" charset="0"/>
                <a:cs typeface="Times New Roman" pitchFamily="18" charset="0"/>
              </a:rPr>
              <a:t> applicability, and/or universal applicability or appeal.</a:t>
            </a:r>
          </a:p>
          <a:p>
            <a:pPr lvl="1"/>
            <a:r>
              <a:rPr lang="en-US" dirty="0">
                <a:latin typeface="Times New Roman" pitchFamily="18" charset="0"/>
                <a:cs typeface="Times New Roman" pitchFamily="18" charset="0"/>
              </a:rPr>
              <a:t>Universal design does not emphasize differences among persons with disabilities, or between persons with disabilities and the general population.</a:t>
            </a:r>
          </a:p>
          <a:p>
            <a:pPr lvl="1"/>
            <a:r>
              <a:rPr lang="en-US" dirty="0">
                <a:latin typeface="Times New Roman" pitchFamily="18" charset="0"/>
                <a:cs typeface="Times New Roman" pitchFamily="18" charset="0"/>
              </a:rPr>
              <a:t>May not be satisfying </a:t>
            </a:r>
          </a:p>
        </p:txBody>
      </p:sp>
      <p:sp>
        <p:nvSpPr>
          <p:cNvPr id="5" name="Title 1"/>
          <p:cNvSpPr>
            <a:spLocks noGrp="1"/>
          </p:cNvSpPr>
          <p:nvPr>
            <p:ph type="title"/>
          </p:nvPr>
        </p:nvSpPr>
        <p:spPr>
          <a:xfrm>
            <a:off x="0" y="0"/>
            <a:ext cx="9144000" cy="914400"/>
          </a:xfrm>
          <a:solidFill>
            <a:schemeClr val="accent6">
              <a:lumMod val="60000"/>
              <a:lumOff val="40000"/>
            </a:schemeClr>
          </a:solidFill>
        </p:spPr>
        <p:txBody>
          <a:bodyPr>
            <a:normAutofit/>
          </a:bodyPr>
          <a:lstStyle/>
          <a:p>
            <a:r>
              <a:rPr lang="en-US" sz="4000" b="1" dirty="0">
                <a:latin typeface="Times New Roman" pitchFamily="18" charset="0"/>
                <a:cs typeface="Times New Roman" pitchFamily="18" charset="0"/>
              </a:rPr>
              <a:t>AT and Design Methods </a:t>
            </a:r>
            <a:endParaRPr lang="en-US" sz="4000" dirty="0">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fld id="{29344CB4-3587-4451-B5F6-521D7FDB45C7}" type="slidenum">
              <a:rPr lang="en-US" smtClean="0"/>
              <a:t>35</a:t>
            </a:fld>
            <a:endParaRPr lang="en-US"/>
          </a:p>
        </p:txBody>
      </p:sp>
    </p:spTree>
    <p:extLst>
      <p:ext uri="{BB962C8B-B14F-4D97-AF65-F5344CB8AC3E}">
        <p14:creationId xmlns:p14="http://schemas.microsoft.com/office/powerpoint/2010/main" val="407169178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14400"/>
            <a:ext cx="8839200" cy="5867400"/>
          </a:xfrm>
        </p:spPr>
        <p:txBody>
          <a:bodyPr>
            <a:normAutofit/>
          </a:bodyPr>
          <a:lstStyle/>
          <a:p>
            <a:pPr marL="0" indent="0">
              <a:buNone/>
            </a:pPr>
            <a:r>
              <a:rPr lang="en-US" sz="3600" b="1" dirty="0">
                <a:latin typeface="Times New Roman" pitchFamily="18" charset="0"/>
                <a:cs typeface="Times New Roman" pitchFamily="18" charset="0"/>
              </a:rPr>
              <a:t>Some of the Barriers of employment</a:t>
            </a:r>
            <a:r>
              <a:rPr lang="en-US" sz="3900" b="1" dirty="0">
                <a:latin typeface="Times New Roman" pitchFamily="18" charset="0"/>
                <a:cs typeface="Times New Roman" pitchFamily="18" charset="0"/>
              </a:rPr>
              <a:t>:  </a:t>
            </a:r>
            <a:endParaRPr lang="en-US" sz="3900" dirty="0">
              <a:latin typeface="Times New Roman" pitchFamily="18" charset="0"/>
              <a:cs typeface="Times New Roman" pitchFamily="18" charset="0"/>
            </a:endParaRPr>
          </a:p>
          <a:p>
            <a:r>
              <a:rPr lang="en-US" sz="2400" b="1" dirty="0">
                <a:latin typeface="Times New Roman" pitchFamily="18" charset="0"/>
                <a:cs typeface="Times New Roman" pitchFamily="18" charset="0"/>
              </a:rPr>
              <a:t>Attitudes and Discrimination </a:t>
            </a:r>
            <a:endParaRPr lang="en-US" sz="2400" dirty="0">
              <a:latin typeface="Times New Roman" pitchFamily="18" charset="0"/>
              <a:cs typeface="Times New Roman" pitchFamily="18" charset="0"/>
            </a:endParaRPr>
          </a:p>
          <a:p>
            <a:r>
              <a:rPr lang="en-US" sz="2400" b="1" dirty="0">
                <a:latin typeface="Times New Roman" pitchFamily="18" charset="0"/>
                <a:cs typeface="Times New Roman" pitchFamily="18" charset="0"/>
              </a:rPr>
              <a:t>Accessibility: </a:t>
            </a:r>
            <a:r>
              <a:rPr lang="en-US" sz="2400" dirty="0">
                <a:latin typeface="Times New Roman" pitchFamily="18" charset="0"/>
                <a:cs typeface="Times New Roman" pitchFamily="18" charset="0"/>
              </a:rPr>
              <a:t>the physical environment; transportation; information and communications, etc.</a:t>
            </a:r>
          </a:p>
          <a:p>
            <a:r>
              <a:rPr lang="en-US" sz="2400" b="1" dirty="0">
                <a:latin typeface="Times New Roman" pitchFamily="18" charset="0"/>
                <a:cs typeface="Times New Roman" pitchFamily="18" charset="0"/>
              </a:rPr>
              <a:t>Education and Training </a:t>
            </a:r>
            <a:endParaRPr lang="en-US" sz="2400" dirty="0">
              <a:latin typeface="Times New Roman" pitchFamily="18" charset="0"/>
              <a:cs typeface="Times New Roman" pitchFamily="18" charset="0"/>
            </a:endParaRPr>
          </a:p>
          <a:p>
            <a:r>
              <a:rPr lang="en-US" sz="2400" b="1" dirty="0">
                <a:latin typeface="Times New Roman" pitchFamily="18" charset="0"/>
                <a:cs typeface="Times New Roman" pitchFamily="18" charset="0"/>
              </a:rPr>
              <a:t>Social Networks </a:t>
            </a:r>
            <a:endParaRPr lang="en-US" sz="2400" dirty="0">
              <a:latin typeface="Times New Roman" pitchFamily="18" charset="0"/>
              <a:cs typeface="Times New Roman" pitchFamily="18" charset="0"/>
            </a:endParaRPr>
          </a:p>
          <a:p>
            <a:r>
              <a:rPr lang="en-US" sz="2400" b="1" dirty="0">
                <a:latin typeface="Times New Roman" pitchFamily="18" charset="0"/>
                <a:cs typeface="Times New Roman" pitchFamily="18" charset="0"/>
              </a:rPr>
              <a:t>Gender- Women Disabilities </a:t>
            </a:r>
            <a:endParaRPr lang="en-US" sz="2400" dirty="0">
              <a:latin typeface="Times New Roman" pitchFamily="18" charset="0"/>
              <a:cs typeface="Times New Roman" pitchFamily="18" charset="0"/>
            </a:endParaRPr>
          </a:p>
          <a:p>
            <a:r>
              <a:rPr lang="en-US" sz="2400" b="1" dirty="0">
                <a:latin typeface="Times New Roman" pitchFamily="18" charset="0"/>
                <a:cs typeface="Times New Roman" pitchFamily="18" charset="0"/>
              </a:rPr>
              <a:t>Legal Barriers </a:t>
            </a:r>
            <a:endParaRPr lang="en-US" sz="2400" dirty="0">
              <a:latin typeface="Times New Roman" pitchFamily="18" charset="0"/>
              <a:cs typeface="Times New Roman" pitchFamily="18" charset="0"/>
            </a:endParaRPr>
          </a:p>
          <a:p>
            <a:r>
              <a:rPr lang="en-US" sz="2400" b="1" dirty="0">
                <a:latin typeface="Times New Roman" pitchFamily="18" charset="0"/>
                <a:cs typeface="Times New Roman" pitchFamily="18" charset="0"/>
              </a:rPr>
              <a:t>Inflexible Work Arrangements </a:t>
            </a:r>
            <a:endParaRPr lang="en-US" sz="2400" dirty="0">
              <a:latin typeface="Times New Roman" pitchFamily="18" charset="0"/>
              <a:cs typeface="Times New Roman" pitchFamily="18" charset="0"/>
            </a:endParaRPr>
          </a:p>
          <a:p>
            <a:r>
              <a:rPr lang="en-US" sz="2400" b="1" dirty="0">
                <a:latin typeface="Times New Roman" pitchFamily="18" charset="0"/>
                <a:cs typeface="Times New Roman" pitchFamily="18" charset="0"/>
              </a:rPr>
              <a:t>Dismissal on the Basis of Disability </a:t>
            </a:r>
            <a:endParaRPr lang="en-US" sz="2400" dirty="0">
              <a:latin typeface="Times New Roman" pitchFamily="18" charset="0"/>
              <a:cs typeface="Times New Roman" pitchFamily="18" charset="0"/>
            </a:endParaRPr>
          </a:p>
          <a:p>
            <a:r>
              <a:rPr lang="en-US" sz="2400" b="1" dirty="0">
                <a:latin typeface="Times New Roman" pitchFamily="18" charset="0"/>
                <a:cs typeface="Times New Roman" pitchFamily="18" charset="0"/>
              </a:rPr>
              <a:t>The Benefit Trap </a:t>
            </a:r>
            <a:endParaRPr lang="en-US" sz="2400" dirty="0">
              <a:latin typeface="Times New Roman" pitchFamily="18" charset="0"/>
              <a:cs typeface="Times New Roman" pitchFamily="18" charset="0"/>
            </a:endParaRPr>
          </a:p>
          <a:p>
            <a:endParaRPr lang="en-US" dirty="0"/>
          </a:p>
        </p:txBody>
      </p:sp>
      <p:sp>
        <p:nvSpPr>
          <p:cNvPr id="4" name="Title 1"/>
          <p:cNvSpPr>
            <a:spLocks noGrp="1"/>
          </p:cNvSpPr>
          <p:nvPr>
            <p:ph type="title"/>
          </p:nvPr>
        </p:nvSpPr>
        <p:spPr>
          <a:xfrm>
            <a:off x="0" y="0"/>
            <a:ext cx="9144000" cy="914400"/>
          </a:xfrm>
          <a:solidFill>
            <a:schemeClr val="accent6">
              <a:lumMod val="60000"/>
              <a:lumOff val="40000"/>
            </a:schemeClr>
          </a:solidFill>
        </p:spPr>
        <p:txBody>
          <a:bodyPr>
            <a:normAutofit fontScale="90000"/>
          </a:bodyPr>
          <a:lstStyle/>
          <a:p>
            <a:r>
              <a:rPr lang="en-US" sz="4000" b="1" dirty="0">
                <a:latin typeface="Times New Roman" pitchFamily="18" charset="0"/>
                <a:cs typeface="Times New Roman" pitchFamily="18" charset="0"/>
              </a:rPr>
              <a:t>Inclusive Job Opportunities &amp; Employment </a:t>
            </a:r>
            <a:endParaRPr lang="en-US" sz="4000" dirty="0">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fld id="{29344CB4-3587-4451-B5F6-521D7FDB45C7}" type="slidenum">
              <a:rPr lang="en-US" smtClean="0"/>
              <a:t>36</a:t>
            </a:fld>
            <a:endParaRPr lang="en-US"/>
          </a:p>
        </p:txBody>
      </p:sp>
    </p:spTree>
    <p:extLst>
      <p:ext uri="{BB962C8B-B14F-4D97-AF65-F5344CB8AC3E}">
        <p14:creationId xmlns:p14="http://schemas.microsoft.com/office/powerpoint/2010/main" val="277763546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14400"/>
            <a:ext cx="8839200" cy="5867400"/>
          </a:xfrm>
        </p:spPr>
        <p:txBody>
          <a:bodyPr>
            <a:normAutofit fontScale="85000" lnSpcReduction="10000"/>
          </a:bodyPr>
          <a:lstStyle/>
          <a:p>
            <a:pPr marL="514350" indent="-514350">
              <a:buFont typeface="+mj-lt"/>
              <a:buAutoNum type="arabicPeriod"/>
            </a:pPr>
            <a:r>
              <a:rPr lang="en-US" b="1" dirty="0">
                <a:latin typeface="Times New Roman" pitchFamily="18" charset="0"/>
                <a:cs typeface="Times New Roman" pitchFamily="18" charset="0"/>
              </a:rPr>
              <a:t>Anti-Discrimination Legislation </a:t>
            </a:r>
            <a:endParaRPr lang="en-US" dirty="0">
              <a:latin typeface="Times New Roman" pitchFamily="18" charset="0"/>
              <a:cs typeface="Times New Roman" pitchFamily="18" charset="0"/>
            </a:endParaRPr>
          </a:p>
          <a:p>
            <a:pPr marL="514350" indent="-514350">
              <a:buFont typeface="+mj-lt"/>
              <a:buAutoNum type="arabicPeriod"/>
            </a:pPr>
            <a:r>
              <a:rPr lang="en-US" b="1" dirty="0">
                <a:latin typeface="Times New Roman" pitchFamily="18" charset="0"/>
                <a:cs typeface="Times New Roman" pitchFamily="18" charset="0"/>
              </a:rPr>
              <a:t>Vocational Education And Training </a:t>
            </a:r>
            <a:endParaRPr lang="en-US" dirty="0">
              <a:latin typeface="Times New Roman" pitchFamily="18" charset="0"/>
              <a:cs typeface="Times New Roman" pitchFamily="18" charset="0"/>
            </a:endParaRPr>
          </a:p>
          <a:p>
            <a:pPr marL="514350" indent="-514350">
              <a:buFont typeface="+mj-lt"/>
              <a:buAutoNum type="arabicPeriod"/>
            </a:pPr>
            <a:r>
              <a:rPr lang="en-US" b="1" dirty="0">
                <a:latin typeface="Times New Roman" pitchFamily="18" charset="0"/>
                <a:cs typeface="Times New Roman" pitchFamily="18" charset="0"/>
              </a:rPr>
              <a:t>Wage Subsidies </a:t>
            </a:r>
            <a:endParaRPr lang="en-US" dirty="0">
              <a:latin typeface="Times New Roman" pitchFamily="18" charset="0"/>
              <a:cs typeface="Times New Roman" pitchFamily="18" charset="0"/>
            </a:endParaRPr>
          </a:p>
          <a:p>
            <a:pPr marL="514350" indent="-514350">
              <a:buFont typeface="+mj-lt"/>
              <a:buAutoNum type="arabicPeriod"/>
            </a:pPr>
            <a:r>
              <a:rPr lang="en-US" b="1" dirty="0">
                <a:latin typeface="Times New Roman" pitchFamily="18" charset="0"/>
                <a:cs typeface="Times New Roman" pitchFamily="18" charset="0"/>
              </a:rPr>
              <a:t>Supported Employment </a:t>
            </a:r>
            <a:endParaRPr lang="en-US" dirty="0">
              <a:latin typeface="Times New Roman" pitchFamily="18" charset="0"/>
              <a:cs typeface="Times New Roman" pitchFamily="18" charset="0"/>
            </a:endParaRPr>
          </a:p>
          <a:p>
            <a:pPr marL="514350" indent="-514350">
              <a:buFont typeface="+mj-lt"/>
              <a:buAutoNum type="arabicPeriod"/>
            </a:pPr>
            <a:r>
              <a:rPr lang="en-US" b="1" dirty="0">
                <a:latin typeface="Times New Roman" pitchFamily="18" charset="0"/>
                <a:cs typeface="Times New Roman" pitchFamily="18" charset="0"/>
              </a:rPr>
              <a:t>Workplace Accommodation Schemes </a:t>
            </a:r>
            <a:endParaRPr lang="en-US" dirty="0">
              <a:latin typeface="Times New Roman" pitchFamily="18" charset="0"/>
              <a:cs typeface="Times New Roman" pitchFamily="18" charset="0"/>
            </a:endParaRPr>
          </a:p>
          <a:p>
            <a:pPr lvl="1"/>
            <a:r>
              <a:rPr lang="en-US" dirty="0">
                <a:latin typeface="Times New Roman" pitchFamily="18" charset="0"/>
                <a:cs typeface="Times New Roman" pitchFamily="18" charset="0"/>
              </a:rPr>
              <a:t>The first is by </a:t>
            </a:r>
            <a:r>
              <a:rPr lang="en-US" b="1" dirty="0">
                <a:latin typeface="Times New Roman" pitchFamily="18" charset="0"/>
                <a:cs typeface="Times New Roman" pitchFamily="18" charset="0"/>
              </a:rPr>
              <a:t>offering tax breaks or tax credits </a:t>
            </a:r>
            <a:r>
              <a:rPr lang="en-US" dirty="0">
                <a:latin typeface="Times New Roman" pitchFamily="18" charset="0"/>
                <a:cs typeface="Times New Roman" pitchFamily="18" charset="0"/>
              </a:rPr>
              <a:t>for expenditures undertaken to make such adjustments. </a:t>
            </a:r>
          </a:p>
          <a:p>
            <a:pPr lvl="1"/>
            <a:r>
              <a:rPr lang="en-US" dirty="0">
                <a:latin typeface="Times New Roman" pitchFamily="18" charset="0"/>
                <a:cs typeface="Times New Roman" pitchFamily="18" charset="0"/>
              </a:rPr>
              <a:t>Another strategy is to </a:t>
            </a:r>
            <a:r>
              <a:rPr lang="en-US" b="1" dirty="0">
                <a:latin typeface="Times New Roman" pitchFamily="18" charset="0"/>
                <a:cs typeface="Times New Roman" pitchFamily="18" charset="0"/>
              </a:rPr>
              <a:t>provide full or partial funds for reasonable accommodations for employees with disabilities</a:t>
            </a:r>
            <a:r>
              <a:rPr lang="en-US" dirty="0">
                <a:latin typeface="Times New Roman" pitchFamily="18" charset="0"/>
                <a:cs typeface="Times New Roman" pitchFamily="18" charset="0"/>
              </a:rPr>
              <a:t>.</a:t>
            </a:r>
          </a:p>
          <a:p>
            <a:pPr marL="514350" indent="-514350">
              <a:buFont typeface="+mj-lt"/>
              <a:buAutoNum type="arabicPeriod"/>
            </a:pPr>
            <a:r>
              <a:rPr lang="en-US" b="1" dirty="0">
                <a:latin typeface="Times New Roman" pitchFamily="18" charset="0"/>
                <a:cs typeface="Times New Roman" pitchFamily="18" charset="0"/>
              </a:rPr>
              <a:t>Workers’ Compensation </a:t>
            </a:r>
            <a:endParaRPr lang="en-US" dirty="0">
              <a:latin typeface="Times New Roman" pitchFamily="18" charset="0"/>
              <a:cs typeface="Times New Roman" pitchFamily="18" charset="0"/>
            </a:endParaRPr>
          </a:p>
          <a:p>
            <a:pPr marL="514350" indent="-514350">
              <a:buFont typeface="+mj-lt"/>
              <a:buAutoNum type="arabicPeriod"/>
            </a:pPr>
            <a:r>
              <a:rPr lang="en-US" b="1" dirty="0">
                <a:latin typeface="Times New Roman" pitchFamily="18" charset="0"/>
                <a:cs typeface="Times New Roman" pitchFamily="18" charset="0"/>
              </a:rPr>
              <a:t>Quota Systems </a:t>
            </a:r>
            <a:endParaRPr lang="en-US" dirty="0">
              <a:latin typeface="Times New Roman" pitchFamily="18" charset="0"/>
              <a:cs typeface="Times New Roman" pitchFamily="18" charset="0"/>
            </a:endParaRPr>
          </a:p>
          <a:p>
            <a:pPr marL="514350" indent="-514350">
              <a:buFont typeface="+mj-lt"/>
              <a:buAutoNum type="arabicPeriod"/>
            </a:pPr>
            <a:r>
              <a:rPr lang="en-US" b="1" dirty="0">
                <a:latin typeface="Times New Roman" pitchFamily="18" charset="0"/>
                <a:cs typeface="Times New Roman" pitchFamily="18" charset="0"/>
              </a:rPr>
              <a:t>Sheltered Workshops- </a:t>
            </a:r>
            <a:r>
              <a:rPr lang="en-US" sz="2400" dirty="0">
                <a:latin typeface="Times New Roman" pitchFamily="18" charset="0"/>
                <a:cs typeface="Times New Roman" pitchFamily="18" charset="0"/>
              </a:rPr>
              <a:t>These programs only hire persons with disabilities, and structure jobs around the perceived abilities of each employee.</a:t>
            </a:r>
          </a:p>
        </p:txBody>
      </p:sp>
      <p:sp>
        <p:nvSpPr>
          <p:cNvPr id="4" name="Title 1"/>
          <p:cNvSpPr>
            <a:spLocks noGrp="1"/>
          </p:cNvSpPr>
          <p:nvPr>
            <p:ph type="title"/>
          </p:nvPr>
        </p:nvSpPr>
        <p:spPr>
          <a:xfrm>
            <a:off x="0" y="0"/>
            <a:ext cx="9144000" cy="914400"/>
          </a:xfrm>
          <a:solidFill>
            <a:schemeClr val="accent6">
              <a:lumMod val="60000"/>
              <a:lumOff val="40000"/>
            </a:schemeClr>
          </a:solidFill>
        </p:spPr>
        <p:txBody>
          <a:bodyPr>
            <a:noAutofit/>
          </a:bodyPr>
          <a:lstStyle/>
          <a:p>
            <a:r>
              <a:rPr lang="en-US" sz="3200" b="1" dirty="0">
                <a:latin typeface="Times New Roman" pitchFamily="18" charset="0"/>
                <a:cs typeface="Times New Roman" pitchFamily="18" charset="0"/>
              </a:rPr>
              <a:t>Strategies to Improve Employment for Persons with D &amp; V</a:t>
            </a:r>
            <a:endParaRPr lang="en-US" sz="3200" dirty="0">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fld id="{29344CB4-3587-4451-B5F6-521D7FDB45C7}" type="slidenum">
              <a:rPr lang="en-US" smtClean="0"/>
              <a:t>37</a:t>
            </a:fld>
            <a:endParaRPr lang="en-US"/>
          </a:p>
        </p:txBody>
      </p:sp>
    </p:spTree>
    <p:extLst>
      <p:ext uri="{BB962C8B-B14F-4D97-AF65-F5344CB8AC3E}">
        <p14:creationId xmlns:p14="http://schemas.microsoft.com/office/powerpoint/2010/main" val="269637211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14400"/>
            <a:ext cx="8839200" cy="5867400"/>
          </a:xfrm>
        </p:spPr>
        <p:txBody>
          <a:bodyPr>
            <a:normAutofit lnSpcReduction="10000"/>
          </a:bodyPr>
          <a:lstStyle/>
          <a:p>
            <a:pPr marL="514350" indent="-514350">
              <a:buFont typeface="+mj-lt"/>
              <a:buAutoNum type="arabicPeriod" startAt="9"/>
            </a:pPr>
            <a:r>
              <a:rPr lang="en-US" b="1" dirty="0">
                <a:latin typeface="Times New Roman" pitchFamily="18" charset="0"/>
                <a:cs typeface="Times New Roman" pitchFamily="18" charset="0"/>
              </a:rPr>
              <a:t>Private Sector Initiatives </a:t>
            </a:r>
            <a:endParaRPr lang="en-US" dirty="0">
              <a:latin typeface="Times New Roman" pitchFamily="18" charset="0"/>
              <a:cs typeface="Times New Roman" pitchFamily="18" charset="0"/>
            </a:endParaRPr>
          </a:p>
          <a:p>
            <a:pPr marL="514350" indent="-514350">
              <a:buFont typeface="+mj-lt"/>
              <a:buAutoNum type="arabicPeriod" startAt="9"/>
            </a:pPr>
            <a:r>
              <a:rPr lang="en-US" b="1" dirty="0">
                <a:latin typeface="Times New Roman" pitchFamily="18" charset="0"/>
                <a:cs typeface="Times New Roman" pitchFamily="18" charset="0"/>
              </a:rPr>
              <a:t>Employer Networks.</a:t>
            </a:r>
          </a:p>
          <a:p>
            <a:pPr lvl="1"/>
            <a:r>
              <a:rPr lang="en-US" sz="3000" dirty="0">
                <a:latin typeface="Times New Roman" pitchFamily="18" charset="0"/>
                <a:cs typeface="Times New Roman" pitchFamily="18" charset="0"/>
              </a:rPr>
              <a:t>The main activities of employer organizations include: </a:t>
            </a:r>
          </a:p>
          <a:p>
            <a:pPr lvl="2"/>
            <a:r>
              <a:rPr lang="en-US" sz="2600" b="1" dirty="0">
                <a:latin typeface="Times New Roman" pitchFamily="18" charset="0"/>
                <a:cs typeface="Times New Roman" pitchFamily="18" charset="0"/>
              </a:rPr>
              <a:t>Raising awareness </a:t>
            </a:r>
            <a:r>
              <a:rPr lang="en-US" sz="2600" dirty="0">
                <a:latin typeface="Times New Roman" pitchFamily="18" charset="0"/>
                <a:cs typeface="Times New Roman" pitchFamily="18" charset="0"/>
              </a:rPr>
              <a:t>and building capacity on disability inclusion; </a:t>
            </a:r>
          </a:p>
          <a:p>
            <a:pPr lvl="2"/>
            <a:r>
              <a:rPr lang="en-US" sz="2600" b="1" dirty="0">
                <a:latin typeface="Times New Roman" pitchFamily="18" charset="0"/>
                <a:cs typeface="Times New Roman" pitchFamily="18" charset="0"/>
              </a:rPr>
              <a:t>Providing information </a:t>
            </a:r>
            <a:r>
              <a:rPr lang="en-US" sz="2600" dirty="0">
                <a:latin typeface="Times New Roman" pitchFamily="18" charset="0"/>
                <a:cs typeface="Times New Roman" pitchFamily="18" charset="0"/>
              </a:rPr>
              <a:t>and tools on disability and employment; </a:t>
            </a:r>
          </a:p>
          <a:p>
            <a:pPr lvl="2"/>
            <a:r>
              <a:rPr lang="en-US" sz="2600" b="1" dirty="0">
                <a:latin typeface="Times New Roman" pitchFamily="18" charset="0"/>
                <a:cs typeface="Times New Roman" pitchFamily="18" charset="0"/>
              </a:rPr>
              <a:t>Influencing policy </a:t>
            </a:r>
            <a:r>
              <a:rPr lang="en-US" sz="2600" dirty="0">
                <a:latin typeface="Times New Roman" pitchFamily="18" charset="0"/>
                <a:cs typeface="Times New Roman" pitchFamily="18" charset="0"/>
              </a:rPr>
              <a:t>on the employment and training of persons with disabilities; </a:t>
            </a:r>
          </a:p>
          <a:p>
            <a:pPr lvl="2"/>
            <a:r>
              <a:rPr lang="en-US" sz="2600" b="1" dirty="0">
                <a:latin typeface="Times New Roman" pitchFamily="18" charset="0"/>
                <a:cs typeface="Times New Roman" pitchFamily="18" charset="0"/>
              </a:rPr>
              <a:t>Providing career development </a:t>
            </a:r>
            <a:r>
              <a:rPr lang="en-US" sz="2600" dirty="0">
                <a:latin typeface="Times New Roman" pitchFamily="18" charset="0"/>
                <a:cs typeface="Times New Roman" pitchFamily="18" charset="0"/>
              </a:rPr>
              <a:t>opportunities and organizing vocational training; </a:t>
            </a:r>
          </a:p>
          <a:p>
            <a:pPr lvl="2"/>
            <a:r>
              <a:rPr lang="en-US" sz="2600" b="1" dirty="0">
                <a:latin typeface="Times New Roman" pitchFamily="18" charset="0"/>
                <a:cs typeface="Times New Roman" pitchFamily="18" charset="0"/>
              </a:rPr>
              <a:t>Linking jobseekers </a:t>
            </a:r>
            <a:r>
              <a:rPr lang="en-US" sz="2600" dirty="0">
                <a:latin typeface="Times New Roman" pitchFamily="18" charset="0"/>
                <a:cs typeface="Times New Roman" pitchFamily="18" charset="0"/>
              </a:rPr>
              <a:t>with disabilities and employers; </a:t>
            </a:r>
          </a:p>
        </p:txBody>
      </p:sp>
      <p:sp>
        <p:nvSpPr>
          <p:cNvPr id="4" name="Title 1"/>
          <p:cNvSpPr>
            <a:spLocks noGrp="1"/>
          </p:cNvSpPr>
          <p:nvPr>
            <p:ph type="title"/>
          </p:nvPr>
        </p:nvSpPr>
        <p:spPr>
          <a:xfrm>
            <a:off x="0" y="0"/>
            <a:ext cx="9144000" cy="914400"/>
          </a:xfrm>
          <a:solidFill>
            <a:schemeClr val="accent6">
              <a:lumMod val="60000"/>
              <a:lumOff val="40000"/>
            </a:schemeClr>
          </a:solidFill>
        </p:spPr>
        <p:txBody>
          <a:bodyPr>
            <a:normAutofit fontScale="90000"/>
          </a:bodyPr>
          <a:lstStyle/>
          <a:p>
            <a:r>
              <a:rPr lang="en-US" sz="4000" b="1" dirty="0">
                <a:latin typeface="Times New Roman" pitchFamily="18" charset="0"/>
                <a:cs typeface="Times New Roman" pitchFamily="18" charset="0"/>
              </a:rPr>
              <a:t>Strategies to Improve Employment for Persons with D &amp; V…cont’d</a:t>
            </a:r>
            <a:endParaRPr lang="en-US" sz="4000" dirty="0">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fld id="{29344CB4-3587-4451-B5F6-521D7FDB45C7}" type="slidenum">
              <a:rPr lang="en-US" smtClean="0"/>
              <a:t>38</a:t>
            </a:fld>
            <a:endParaRPr lang="en-US"/>
          </a:p>
        </p:txBody>
      </p:sp>
    </p:spTree>
    <p:extLst>
      <p:ext uri="{BB962C8B-B14F-4D97-AF65-F5344CB8AC3E}">
        <p14:creationId xmlns:p14="http://schemas.microsoft.com/office/powerpoint/2010/main" val="283657977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14400"/>
            <a:ext cx="8839200" cy="5791200"/>
          </a:xfrm>
        </p:spPr>
        <p:txBody>
          <a:bodyPr>
            <a:normAutofit fontScale="92500" lnSpcReduction="20000"/>
          </a:bodyPr>
          <a:lstStyle/>
          <a:p>
            <a:pPr marL="514350" indent="-514350">
              <a:buFont typeface="+mj-lt"/>
              <a:buAutoNum type="arabicPeriod" startAt="11"/>
            </a:pPr>
            <a:r>
              <a:rPr lang="en-US" b="1" dirty="0">
                <a:latin typeface="Times New Roman" pitchFamily="18" charset="0"/>
                <a:cs typeface="Times New Roman" pitchFamily="18" charset="0"/>
              </a:rPr>
              <a:t>Support Disability-Inclusive Business: </a:t>
            </a:r>
            <a:r>
              <a:rPr lang="en-US" dirty="0">
                <a:latin typeface="Times New Roman" pitchFamily="18" charset="0"/>
                <a:cs typeface="Times New Roman" pitchFamily="18" charset="0"/>
              </a:rPr>
              <a:t>Governments: </a:t>
            </a:r>
          </a:p>
          <a:p>
            <a:pPr marL="914400" lvl="1" indent="-514350">
              <a:buFont typeface="+mj-lt"/>
              <a:buAutoNum type="alphaLcPeriod"/>
            </a:pPr>
            <a:r>
              <a:rPr lang="en-US" dirty="0">
                <a:latin typeface="Times New Roman" pitchFamily="18" charset="0"/>
                <a:cs typeface="Times New Roman" pitchFamily="18" charset="0"/>
              </a:rPr>
              <a:t>Introduce programs to raise awareness among private employers.</a:t>
            </a:r>
          </a:p>
          <a:p>
            <a:pPr marL="914400" lvl="1" indent="-514350">
              <a:buFont typeface="+mj-lt"/>
              <a:buAutoNum type="alphaLcPeriod"/>
            </a:pPr>
            <a:r>
              <a:rPr lang="en-US" dirty="0">
                <a:latin typeface="Times New Roman" pitchFamily="18" charset="0"/>
                <a:cs typeface="Times New Roman" pitchFamily="18" charset="0"/>
              </a:rPr>
              <a:t>Support employers‘ organizations and networks to share inclusion practices and build their capacities </a:t>
            </a:r>
          </a:p>
          <a:p>
            <a:pPr marL="514350" indent="-514350">
              <a:buFont typeface="+mj-lt"/>
              <a:buAutoNum type="arabicPeriod" startAt="12"/>
            </a:pPr>
            <a:r>
              <a:rPr lang="en-US" b="1" dirty="0">
                <a:latin typeface="Times New Roman" pitchFamily="18" charset="0"/>
                <a:cs typeface="Times New Roman" pitchFamily="18" charset="0"/>
              </a:rPr>
              <a:t>Social Enterprises</a:t>
            </a:r>
          </a:p>
          <a:p>
            <a:pPr marL="514350" indent="-514350">
              <a:buFont typeface="+mj-lt"/>
              <a:buAutoNum type="arabicPeriod" startAt="12"/>
            </a:pPr>
            <a:r>
              <a:rPr lang="en-US" b="1" dirty="0">
                <a:latin typeface="Times New Roman" pitchFamily="18" charset="0"/>
                <a:cs typeface="Times New Roman" pitchFamily="18" charset="0"/>
              </a:rPr>
              <a:t>Support Persons with Disabilities in the Workplace, etc.</a:t>
            </a:r>
            <a:endParaRPr lang="en-US" dirty="0">
              <a:latin typeface="Times New Roman" pitchFamily="18" charset="0"/>
              <a:cs typeface="Times New Roman" pitchFamily="18" charset="0"/>
            </a:endParaRPr>
          </a:p>
          <a:p>
            <a:pPr marL="914400" lvl="1" indent="-514350">
              <a:buFont typeface="+mj-lt"/>
              <a:buAutoNum type="alphaLcPeriod"/>
            </a:pPr>
            <a:r>
              <a:rPr lang="en-US" dirty="0">
                <a:latin typeface="Times New Roman" pitchFamily="18" charset="0"/>
                <a:cs typeface="Times New Roman" pitchFamily="18" charset="0"/>
              </a:rPr>
              <a:t>Promote flexible working arrangements  </a:t>
            </a:r>
          </a:p>
          <a:p>
            <a:pPr marL="914400" lvl="1" indent="-514350">
              <a:buFont typeface="+mj-lt"/>
              <a:buAutoNum type="alphaLcPeriod"/>
            </a:pPr>
            <a:r>
              <a:rPr lang="en-US" dirty="0">
                <a:latin typeface="Times New Roman" pitchFamily="18" charset="0"/>
                <a:cs typeface="Times New Roman" pitchFamily="18" charset="0"/>
              </a:rPr>
              <a:t>Provide funding support and tax incentives to start ups and social enterprise  </a:t>
            </a:r>
          </a:p>
          <a:p>
            <a:pPr marL="914400" lvl="1" indent="-514350">
              <a:buFont typeface="+mj-lt"/>
              <a:buAutoNum type="alphaLcPeriod"/>
            </a:pPr>
            <a:r>
              <a:rPr lang="en-US" dirty="0">
                <a:latin typeface="Times New Roman" pitchFamily="18" charset="0"/>
                <a:cs typeface="Times New Roman" pitchFamily="18" charset="0"/>
              </a:rPr>
              <a:t>Provide subsidies or tax incentives  </a:t>
            </a:r>
          </a:p>
          <a:p>
            <a:pPr marL="914400" lvl="1" indent="-514350">
              <a:buFont typeface="+mj-lt"/>
              <a:buAutoNum type="alphaLcPeriod"/>
            </a:pPr>
            <a:r>
              <a:rPr lang="en-US" dirty="0">
                <a:latin typeface="Times New Roman" pitchFamily="18" charset="0"/>
                <a:cs typeface="Times New Roman" pitchFamily="18" charset="0"/>
              </a:rPr>
              <a:t>Develop job coach accreditation and training standards and provide job coaching services  </a:t>
            </a:r>
          </a:p>
          <a:p>
            <a:endParaRPr lang="en-US" dirty="0"/>
          </a:p>
        </p:txBody>
      </p:sp>
      <p:sp>
        <p:nvSpPr>
          <p:cNvPr id="4" name="Title 1"/>
          <p:cNvSpPr>
            <a:spLocks noGrp="1"/>
          </p:cNvSpPr>
          <p:nvPr>
            <p:ph type="title"/>
          </p:nvPr>
        </p:nvSpPr>
        <p:spPr>
          <a:xfrm>
            <a:off x="0" y="0"/>
            <a:ext cx="9144000" cy="914400"/>
          </a:xfrm>
          <a:solidFill>
            <a:schemeClr val="accent6">
              <a:lumMod val="60000"/>
              <a:lumOff val="40000"/>
            </a:schemeClr>
          </a:solidFill>
        </p:spPr>
        <p:txBody>
          <a:bodyPr>
            <a:normAutofit fontScale="90000"/>
          </a:bodyPr>
          <a:lstStyle/>
          <a:p>
            <a:r>
              <a:rPr lang="en-US" sz="3600" b="1" dirty="0">
                <a:latin typeface="Times New Roman" pitchFamily="18" charset="0"/>
                <a:cs typeface="Times New Roman" pitchFamily="18" charset="0"/>
              </a:rPr>
              <a:t>Strategies to improve Employment for Persons with D &amp; V</a:t>
            </a:r>
            <a:r>
              <a:rPr lang="en-US" sz="4000" b="1" dirty="0">
                <a:latin typeface="Times New Roman" pitchFamily="18" charset="0"/>
                <a:cs typeface="Times New Roman" pitchFamily="18" charset="0"/>
              </a:rPr>
              <a:t>…cont’d</a:t>
            </a:r>
            <a:endParaRPr lang="en-US" sz="4000" dirty="0">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fld id="{29344CB4-3587-4451-B5F6-521D7FDB45C7}" type="slidenum">
              <a:rPr lang="en-US" smtClean="0"/>
              <a:t>39</a:t>
            </a:fld>
            <a:endParaRPr lang="en-US"/>
          </a:p>
        </p:txBody>
      </p:sp>
    </p:spTree>
    <p:extLst>
      <p:ext uri="{BB962C8B-B14F-4D97-AF65-F5344CB8AC3E}">
        <p14:creationId xmlns:p14="http://schemas.microsoft.com/office/powerpoint/2010/main" val="413601789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rot="19499703">
            <a:off x="687742" y="1320177"/>
            <a:ext cx="7672271" cy="4154984"/>
          </a:xfrm>
          <a:prstGeom prst="rect">
            <a:avLst/>
          </a:prstGeom>
          <a:noFill/>
        </p:spPr>
        <p:txBody>
          <a:bodyPr wrap="square" lIns="91440" tIns="45720" rIns="91440" bIns="4572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n-US" sz="8800" b="1" cap="all" spc="0" dirty="0">
                <a:ln w="0"/>
                <a:solidFill>
                  <a:srgbClr val="7030A0"/>
                </a:solidFill>
                <a:effectLst>
                  <a:reflection blurRad="12700" stA="50000" endPos="50000" dist="5000" dir="5400000" sy="-100000" rotWithShape="0"/>
                </a:effectLst>
              </a:rPr>
              <a:t>Thank you </a:t>
            </a:r>
          </a:p>
          <a:p>
            <a:pPr algn="ctr"/>
            <a:r>
              <a:rPr lang="en-US" sz="8800" b="1" cap="all" spc="0" dirty="0">
                <a:ln w="0"/>
                <a:solidFill>
                  <a:srgbClr val="7030A0"/>
                </a:solidFill>
                <a:effectLst>
                  <a:reflection blurRad="12700" stA="50000" endPos="50000" dist="5000" dir="5400000" sy="-100000" rotWithShape="0"/>
                </a:effectLst>
              </a:rPr>
              <a:t>for your </a:t>
            </a:r>
          </a:p>
          <a:p>
            <a:pPr algn="ctr"/>
            <a:r>
              <a:rPr lang="en-US" sz="8800" b="1" cap="all" spc="0" dirty="0">
                <a:ln w="0"/>
                <a:solidFill>
                  <a:srgbClr val="7030A0"/>
                </a:solidFill>
                <a:effectLst>
                  <a:reflection blurRad="12700" stA="50000" endPos="50000" dist="5000" dir="5400000" sy="-100000" rotWithShape="0"/>
                </a:effectLst>
              </a:rPr>
              <a:t>Attention!!</a:t>
            </a:r>
          </a:p>
        </p:txBody>
      </p:sp>
      <p:sp>
        <p:nvSpPr>
          <p:cNvPr id="2" name="Slide Number Placeholder 1"/>
          <p:cNvSpPr>
            <a:spLocks noGrp="1"/>
          </p:cNvSpPr>
          <p:nvPr>
            <p:ph type="sldNum" sz="quarter" idx="12"/>
          </p:nvPr>
        </p:nvSpPr>
        <p:spPr/>
        <p:txBody>
          <a:bodyPr/>
          <a:lstStyle/>
          <a:p>
            <a:fld id="{29344CB4-3587-4451-B5F6-521D7FDB45C7}" type="slidenum">
              <a:rPr lang="en-US" smtClean="0"/>
              <a:t>40</a:t>
            </a:fld>
            <a:endParaRPr lang="en-US"/>
          </a:p>
        </p:txBody>
      </p:sp>
    </p:spTree>
    <p:extLst>
      <p:ext uri="{BB962C8B-B14F-4D97-AF65-F5344CB8AC3E}">
        <p14:creationId xmlns:p14="http://schemas.microsoft.com/office/powerpoint/2010/main" val="410444170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11744</TotalTime>
  <Words>4282</Words>
  <Application>Microsoft Office PowerPoint</Application>
  <PresentationFormat>On-screen Show (4:3)</PresentationFormat>
  <Paragraphs>392</Paragraphs>
  <Slides>40</Slides>
  <Notes>1</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Office Theme</vt:lpstr>
      <vt:lpstr>Chapter 3  Identification and Differentiated Services </vt:lpstr>
      <vt:lpstr>Overview</vt:lpstr>
      <vt:lpstr>Overview…cont’d </vt:lpstr>
      <vt:lpstr>The Impact of Disability depends on: </vt:lpstr>
      <vt:lpstr>Impact of Disability… cont’d</vt:lpstr>
      <vt:lpstr>Factors Related to the person … cont’d</vt:lpstr>
      <vt:lpstr>Impact of Disability… cont’d</vt:lpstr>
      <vt:lpstr>Impact of Disability… cont’d</vt:lpstr>
      <vt:lpstr>Impact of Disability… cont’d</vt:lpstr>
      <vt:lpstr>Impact of Disability… cont’d</vt:lpstr>
      <vt:lpstr>Impact of Disability… cont’d</vt:lpstr>
      <vt:lpstr>Impact of Disability… cont’d</vt:lpstr>
      <vt:lpstr>Impact of Disability… cont’d</vt:lpstr>
      <vt:lpstr>Impact of Disability… cont’d</vt:lpstr>
      <vt:lpstr>Needs of Persons with Disabilities and Vulnerabilities</vt:lpstr>
      <vt:lpstr>Needs of …cont’d</vt:lpstr>
      <vt:lpstr>Social Needs of Persons  with Disabilities &amp; Vulnerabilities </vt:lpstr>
      <vt:lpstr>The Health Care Needs of Persons with D &amp; V</vt:lpstr>
      <vt:lpstr>Barriers to Health Care for Persons with D &amp; V Groups </vt:lpstr>
      <vt:lpstr>Addressing for Inclusive Barriers to Health Care </vt:lpstr>
      <vt:lpstr>Disability, vulnerability and the Environment </vt:lpstr>
      <vt:lpstr>Disability, vulnerability and the Environment 3&amp;15 </vt:lpstr>
      <vt:lpstr>Creating Inclusive Environment </vt:lpstr>
      <vt:lpstr>Examples of Environmental Modification </vt:lpstr>
      <vt:lpstr>Examples of Environmental Modification…cont’d </vt:lpstr>
      <vt:lpstr>Strategies to Disability inclusive intervention &amp; rehabilitation </vt:lpstr>
      <vt:lpstr>Strategies to Disability inclusive intervention &amp; rehabilitation…cont’d</vt:lpstr>
      <vt:lpstr>Implement Disability Inclusive Project/ Program </vt:lpstr>
      <vt:lpstr>Assistive Technologies (AT)</vt:lpstr>
      <vt:lpstr>Assistive Technologies (AT)…cont’d</vt:lpstr>
      <vt:lpstr>Assistive Technologies (AT)…cont’d</vt:lpstr>
      <vt:lpstr>Assistive Technologies (AT)…cont’d</vt:lpstr>
      <vt:lpstr>Assistive Technologies (AT)…cont’d</vt:lpstr>
      <vt:lpstr>AT and the Marketplace </vt:lpstr>
      <vt:lpstr>AT and Design Methods </vt:lpstr>
      <vt:lpstr>Inclusive Job Opportunities &amp; Employment </vt:lpstr>
      <vt:lpstr>Strategies to Improve Employment for Persons with D &amp; V</vt:lpstr>
      <vt:lpstr>Strategies to Improve Employment for Persons with D &amp; V…cont’d</vt:lpstr>
      <vt:lpstr>Strategies to improve Employment for Persons with D &amp; V…cont’d</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Identification and Differentiated Services</dc:title>
  <dc:creator>user</dc:creator>
  <cp:lastModifiedBy>Cool</cp:lastModifiedBy>
  <cp:revision>68</cp:revision>
  <cp:lastPrinted>2023-09-09T16:57:06Z</cp:lastPrinted>
  <dcterms:created xsi:type="dcterms:W3CDTF">2023-08-31T08:41:37Z</dcterms:created>
  <dcterms:modified xsi:type="dcterms:W3CDTF">2026-03-24T08:24:09Z</dcterms:modified>
</cp:coreProperties>
</file>