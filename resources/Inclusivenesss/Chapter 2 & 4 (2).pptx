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85" r:id="rId11"/>
    <p:sldId id="277" r:id="rId12"/>
    <p:sldId id="265" r:id="rId13"/>
    <p:sldId id="266" r:id="rId14"/>
    <p:sldId id="267" r:id="rId15"/>
    <p:sldId id="278" r:id="rId16"/>
    <p:sldId id="268" r:id="rId17"/>
    <p:sldId id="269" r:id="rId18"/>
    <p:sldId id="271" r:id="rId19"/>
    <p:sldId id="272" r:id="rId20"/>
    <p:sldId id="281" r:id="rId21"/>
    <p:sldId id="273" r:id="rId22"/>
    <p:sldId id="274" r:id="rId23"/>
    <p:sldId id="282" r:id="rId24"/>
    <p:sldId id="275" r:id="rId25"/>
    <p:sldId id="283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9E527-0CFA-427E-9438-E7FE297BE47E}" type="datetimeFigureOut">
              <a:rPr lang="en-US" smtClean="0"/>
              <a:pPr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9305F-92B5-46EC-8838-CC3522AE45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9144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Chapter 2: Concept of Inclusion</a:t>
            </a:r>
            <a:endParaRPr lang="en-US" b="1" dirty="0">
              <a:solidFill>
                <a:srgbClr val="FF0000"/>
              </a:solidFill>
              <a:latin typeface="Californian FB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ee the source image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19200"/>
            <a:ext cx="87630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1341438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Contents 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Definition of inclusion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Components of inclusion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Principles of inclusion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Rationale for inclusion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Benefits of inclusion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Features of Inclusive Environment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Inclusive Environments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Barriers to Inclusion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9144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itchFamily="18" charset="0"/>
              </a:rPr>
              <a:t>1. Definition of Inclusion </a:t>
            </a:r>
            <a:endParaRPr 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562600"/>
          </a:xfrm>
        </p:spPr>
        <p:txBody>
          <a:bodyPr>
            <a:normAutofit lnSpcReduction="10000"/>
          </a:bodyPr>
          <a:lstStyle/>
          <a:p>
            <a:r>
              <a:rPr lang="en-US" sz="2700" dirty="0" smtClean="0">
                <a:latin typeface="Californian FB" pitchFamily="18" charset="0"/>
              </a:rPr>
              <a:t>Inclusion in education/service refers to ―an </a:t>
            </a:r>
            <a:r>
              <a:rPr lang="en-US" sz="2700" dirty="0" smtClean="0">
                <a:solidFill>
                  <a:srgbClr val="0070C0"/>
                </a:solidFill>
                <a:latin typeface="Californian FB" pitchFamily="18" charset="0"/>
              </a:rPr>
              <a:t>ongoing process</a:t>
            </a:r>
            <a:r>
              <a:rPr lang="en-US" sz="2700" dirty="0" smtClean="0">
                <a:latin typeface="Californian FB" pitchFamily="18" charset="0"/>
              </a:rPr>
              <a:t> aimed at offering quality education/services for all while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respecting</a:t>
            </a:r>
            <a:r>
              <a:rPr lang="en-US" sz="2700" dirty="0" smtClean="0">
                <a:latin typeface="Californian FB" pitchFamily="18" charset="0"/>
              </a:rPr>
              <a:t> diversity and the different needs and abilities, characteristics and learning expectations of the students and communities and eliminating all forms of discrimination.</a:t>
            </a:r>
          </a:p>
          <a:p>
            <a:r>
              <a:rPr lang="en-US" sz="27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itchFamily="18" charset="0"/>
              </a:rPr>
              <a:t>Segregation/Special educ.</a:t>
            </a:r>
            <a:r>
              <a:rPr lang="en-US" sz="27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itchFamily="18" charset="0"/>
                <a:sym typeface="Wingdings" pitchFamily="2" charset="2"/>
              </a:rPr>
              <a:t> Integrated </a:t>
            </a:r>
            <a:r>
              <a:rPr lang="en-US" sz="27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itchFamily="18" charset="0"/>
                <a:sym typeface="Wingdings" pitchFamily="2" charset="2"/>
              </a:rPr>
              <a:t>Educ</a:t>
            </a:r>
            <a:r>
              <a:rPr lang="en-US" sz="27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itchFamily="18" charset="0"/>
                <a:sym typeface="Wingdings" pitchFamily="2" charset="2"/>
              </a:rPr>
              <a:t>.Inclusion</a:t>
            </a:r>
            <a:endParaRPr lang="en-US" sz="27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itchFamily="18" charset="0"/>
            </a:endParaRPr>
          </a:p>
          <a:p>
            <a:r>
              <a:rPr lang="en-US" sz="2700" dirty="0" smtClean="0">
                <a:latin typeface="Californian FB" pitchFamily="18" charset="0"/>
              </a:rPr>
              <a:t>Inclusion is seen as a process of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addressing and responding to the diversity of needs of all persons </a:t>
            </a:r>
            <a:r>
              <a:rPr lang="en-US" sz="2700" dirty="0" smtClean="0">
                <a:latin typeface="Californian FB" pitchFamily="18" charset="0"/>
              </a:rPr>
              <a:t>through </a:t>
            </a:r>
          </a:p>
          <a:p>
            <a:pPr lvl="1"/>
            <a:r>
              <a:rPr lang="en-US" sz="2700" b="1" dirty="0" smtClean="0">
                <a:solidFill>
                  <a:srgbClr val="FF0000"/>
                </a:solidFill>
                <a:latin typeface="Californian FB" pitchFamily="18" charset="0"/>
              </a:rPr>
              <a:t>increasing participation </a:t>
            </a:r>
            <a:r>
              <a:rPr lang="en-US" sz="2700" dirty="0" smtClean="0">
                <a:latin typeface="Californian FB" pitchFamily="18" charset="0"/>
              </a:rPr>
              <a:t>in learning, employment, services, cultures and communities, and </a:t>
            </a:r>
          </a:p>
          <a:p>
            <a:pPr lvl="1"/>
            <a:r>
              <a:rPr lang="en-US" sz="2700" b="1" dirty="0" smtClean="0">
                <a:solidFill>
                  <a:srgbClr val="FF0000"/>
                </a:solidFill>
                <a:latin typeface="Californian FB" pitchFamily="18" charset="0"/>
              </a:rPr>
              <a:t>reducing exclusion </a:t>
            </a:r>
            <a:r>
              <a:rPr lang="en-US" sz="2700" dirty="0" smtClean="0">
                <a:latin typeface="Californian FB" pitchFamily="18" charset="0"/>
              </a:rPr>
              <a:t>at all social contexts.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9906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Definition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of Inclusion </a:t>
            </a: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… </a:t>
            </a:r>
            <a:r>
              <a:rPr lang="en-US" sz="3600" b="1" dirty="0" smtClean="0">
                <a:solidFill>
                  <a:srgbClr val="0070C0"/>
                </a:solidFill>
              </a:rPr>
              <a:t>Cont’d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334000"/>
          </a:xfrm>
        </p:spPr>
        <p:txBody>
          <a:bodyPr>
            <a:normAutofit/>
          </a:bodyPr>
          <a:lstStyle/>
          <a:p>
            <a:r>
              <a:rPr lang="en-US" sz="2700" dirty="0" smtClean="0">
                <a:latin typeface="Californian FB" pitchFamily="18" charset="0"/>
              </a:rPr>
              <a:t>Inclusion involves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changes and modifications </a:t>
            </a:r>
            <a:r>
              <a:rPr lang="en-US" sz="2700" dirty="0" smtClean="0">
                <a:latin typeface="Californian FB" pitchFamily="18" charset="0"/>
              </a:rPr>
              <a:t>in content, approaches, structures and strategies, with a common vision which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covers all people</a:t>
            </a:r>
            <a:r>
              <a:rPr lang="en-US" sz="2700" dirty="0" smtClean="0">
                <a:latin typeface="Californian FB" pitchFamily="18" charset="0"/>
              </a:rPr>
              <a:t>, a conviction that it is the responsibility of the social system to educate all children (UNESCO 2005), employ and provide social services.</a:t>
            </a:r>
          </a:p>
          <a:p>
            <a:pPr marL="0" indent="0">
              <a:buNone/>
            </a:pPr>
            <a:endParaRPr lang="en-US" sz="2700" dirty="0" smtClean="0">
              <a:latin typeface="Californian FB" pitchFamily="18" charset="0"/>
            </a:endParaRPr>
          </a:p>
          <a:p>
            <a:r>
              <a:rPr lang="en-US" sz="2700" dirty="0">
                <a:latin typeface="Californian FB" pitchFamily="18" charset="0"/>
              </a:rPr>
              <a:t>Inclusion acknowledges </a:t>
            </a:r>
            <a:r>
              <a:rPr lang="en-US" sz="2700" dirty="0" smtClean="0">
                <a:latin typeface="Californian FB" pitchFamily="18" charset="0"/>
              </a:rPr>
              <a:t>that learning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begins at birth and continues throughout life</a:t>
            </a:r>
            <a:r>
              <a:rPr lang="en-US" sz="2700" dirty="0" smtClean="0">
                <a:latin typeface="Californian FB" pitchFamily="18" charset="0"/>
              </a:rPr>
              <a:t>, and includes learning in the home, the community, and in formal, informal and non-formal situations.</a:t>
            </a:r>
            <a:endParaRPr lang="en-US" sz="2700" dirty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21336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Inclusion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part of a wider strategy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promoting inclusive development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with the goal of creating a world where there is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peace, tolerance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sustainable use of resources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social justice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where the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basic needs and rights of all are met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This definition has the following components: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14600"/>
            <a:ext cx="8610600" cy="4191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700" b="1" dirty="0" smtClean="0">
                <a:solidFill>
                  <a:srgbClr val="FF0000"/>
                </a:solidFill>
                <a:latin typeface="Californian FB" pitchFamily="18" charset="0"/>
              </a:rPr>
              <a:t>i. Concepts about learners</a:t>
            </a:r>
          </a:p>
          <a:p>
            <a:r>
              <a:rPr lang="en-US" sz="2700" dirty="0" smtClean="0">
                <a:latin typeface="Californian FB" pitchFamily="18" charset="0"/>
              </a:rPr>
              <a:t>Education is a fundamental human right for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all people </a:t>
            </a:r>
          </a:p>
          <a:p>
            <a:r>
              <a:rPr lang="en-US" sz="2700" dirty="0" smtClean="0">
                <a:latin typeface="Californian FB" pitchFamily="18" charset="0"/>
              </a:rPr>
              <a:t>Learning begins at birth and continues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throughout life</a:t>
            </a:r>
            <a:r>
              <a:rPr lang="en-US" sz="2700" dirty="0" smtClean="0">
                <a:latin typeface="Californian FB" pitchFamily="18" charset="0"/>
              </a:rPr>
              <a:t> </a:t>
            </a:r>
          </a:p>
          <a:p>
            <a:r>
              <a:rPr lang="en-US" sz="2700" dirty="0" smtClean="0">
                <a:latin typeface="Californian FB" pitchFamily="18" charset="0"/>
              </a:rPr>
              <a:t>All children have a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right</a:t>
            </a:r>
            <a:r>
              <a:rPr lang="en-US" sz="2700" dirty="0" smtClean="0">
                <a:latin typeface="Californian FB" pitchFamily="18" charset="0"/>
              </a:rPr>
              <a:t> to education within their own community</a:t>
            </a:r>
          </a:p>
          <a:p>
            <a:r>
              <a:rPr lang="en-US" sz="2700" dirty="0" smtClean="0">
                <a:latin typeface="Californian FB" pitchFamily="18" charset="0"/>
              </a:rPr>
              <a:t>Everyone can learn, and any child can experience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difficulties</a:t>
            </a:r>
            <a:r>
              <a:rPr lang="en-US" sz="2700" dirty="0" smtClean="0">
                <a:latin typeface="Californian FB" pitchFamily="18" charset="0"/>
              </a:rPr>
              <a:t> in learning </a:t>
            </a:r>
          </a:p>
          <a:p>
            <a:r>
              <a:rPr lang="en-US" sz="2700" dirty="0" smtClean="0">
                <a:latin typeface="Californian FB" pitchFamily="18" charset="0"/>
              </a:rPr>
              <a:t>All learners need their learning supported child-focused teaching benefits all children.</a:t>
            </a:r>
            <a:endParaRPr lang="en-US" sz="2700" dirty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91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ii. Concepts about the education system and schools </a:t>
            </a:r>
          </a:p>
          <a:p>
            <a:r>
              <a:rPr lang="en-US" dirty="0" smtClean="0">
                <a:latin typeface="Californian FB" pitchFamily="18" charset="0"/>
              </a:rPr>
              <a:t>It is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broader</a:t>
            </a:r>
            <a:r>
              <a:rPr lang="en-US" dirty="0" smtClean="0">
                <a:latin typeface="Californian FB" pitchFamily="18" charset="0"/>
              </a:rPr>
              <a:t> than formal schooling</a:t>
            </a:r>
          </a:p>
          <a:p>
            <a:r>
              <a:rPr lang="en-US" dirty="0" smtClean="0">
                <a:latin typeface="Californian FB" pitchFamily="18" charset="0"/>
              </a:rPr>
              <a:t>It is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flexible</a:t>
            </a:r>
            <a:r>
              <a:rPr lang="en-US" dirty="0" smtClean="0">
                <a:latin typeface="Californian FB" pitchFamily="18" charset="0"/>
              </a:rPr>
              <a:t>,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responsive educational systems </a:t>
            </a:r>
          </a:p>
          <a:p>
            <a:r>
              <a:rPr lang="en-US" dirty="0" smtClean="0">
                <a:latin typeface="Californian FB" pitchFamily="18" charset="0"/>
              </a:rPr>
              <a:t>It creates </a:t>
            </a:r>
            <a:r>
              <a:rPr lang="en-US" b="1" dirty="0" smtClean="0">
                <a:latin typeface="Californian FB" pitchFamily="18" charset="0"/>
              </a:rPr>
              <a:t>enabling</a:t>
            </a:r>
            <a:r>
              <a:rPr lang="en-US" dirty="0" smtClean="0">
                <a:latin typeface="Californian FB" pitchFamily="18" charset="0"/>
              </a:rPr>
              <a:t> and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welcoming</a:t>
            </a:r>
            <a:r>
              <a:rPr lang="en-US" dirty="0" smtClean="0">
                <a:latin typeface="Californian FB" pitchFamily="18" charset="0"/>
              </a:rPr>
              <a:t> educational environments </a:t>
            </a:r>
          </a:p>
          <a:p>
            <a:r>
              <a:rPr lang="en-US" dirty="0" smtClean="0">
                <a:latin typeface="Californian FB" pitchFamily="18" charset="0"/>
              </a:rPr>
              <a:t>It promotes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school improvement </a:t>
            </a:r>
            <a:r>
              <a:rPr lang="en-US" dirty="0" smtClean="0">
                <a:latin typeface="Californian FB" pitchFamily="18" charset="0"/>
              </a:rPr>
              <a:t>– makes effective schools</a:t>
            </a:r>
          </a:p>
          <a:p>
            <a:r>
              <a:rPr lang="en-US" dirty="0" smtClean="0">
                <a:latin typeface="Californian FB" pitchFamily="18" charset="0"/>
              </a:rPr>
              <a:t>It involves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whole school approach and collaboration </a:t>
            </a:r>
            <a:r>
              <a:rPr lang="en-US" dirty="0" smtClean="0">
                <a:latin typeface="Californian FB" pitchFamily="18" charset="0"/>
              </a:rPr>
              <a:t>between partners.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iii. Concepts about diversity and discrimination </a:t>
            </a:r>
          </a:p>
          <a:p>
            <a:r>
              <a:rPr lang="en-US" dirty="0" smtClean="0">
                <a:latin typeface="Californian FB" pitchFamily="18" charset="0"/>
              </a:rPr>
              <a:t>It promotes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combating</a:t>
            </a:r>
            <a:r>
              <a:rPr lang="en-US" dirty="0" smtClean="0">
                <a:latin typeface="Californian FB" pitchFamily="18" charset="0"/>
              </a:rPr>
              <a:t> discrimination and exclusionary pressures at any social sectors </a:t>
            </a:r>
          </a:p>
          <a:p>
            <a:r>
              <a:rPr lang="en-US" dirty="0" smtClean="0">
                <a:latin typeface="Californian FB" pitchFamily="18" charset="0"/>
              </a:rPr>
              <a:t>It enables responding to/embracing diversity as a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resource</a:t>
            </a:r>
            <a:r>
              <a:rPr lang="en-US" dirty="0" smtClean="0">
                <a:latin typeface="Californian FB" pitchFamily="18" charset="0"/>
              </a:rPr>
              <a:t> not as a problem </a:t>
            </a:r>
          </a:p>
          <a:p>
            <a:r>
              <a:rPr lang="en-US" dirty="0" smtClean="0">
                <a:latin typeface="Californian FB" pitchFamily="18" charset="0"/>
              </a:rPr>
              <a:t>It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prepares</a:t>
            </a:r>
            <a:r>
              <a:rPr lang="en-US" dirty="0" smtClean="0">
                <a:latin typeface="Californian FB" pitchFamily="18" charset="0"/>
              </a:rPr>
              <a:t> learners for an inclusive society that respects and values difference.</a:t>
            </a:r>
            <a:endParaRPr lang="en-US" dirty="0">
              <a:latin typeface="Californian FB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76200"/>
            <a:ext cx="9144000" cy="838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Definition of Inclusion</a:t>
            </a:r>
            <a:r>
              <a:rPr lang="en-US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… </a:t>
            </a:r>
            <a:r>
              <a:rPr lang="en-US" sz="3600" b="1" dirty="0" smtClean="0">
                <a:solidFill>
                  <a:srgbClr val="0070C0"/>
                </a:solidFill>
              </a:rPr>
              <a:t>Cont’d</a:t>
            </a:r>
            <a:endParaRPr lang="en-US" sz="3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iv. Concepts about processes to promote inclusion </a:t>
            </a:r>
          </a:p>
          <a:p>
            <a:r>
              <a:rPr lang="en-US" dirty="0" smtClean="0">
                <a:latin typeface="Californian FB" pitchFamily="18" charset="0"/>
              </a:rPr>
              <a:t>It helps to identifying and overcoming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barriers</a:t>
            </a:r>
            <a:r>
              <a:rPr lang="en-US" dirty="0" smtClean="0">
                <a:latin typeface="Californian FB" pitchFamily="18" charset="0"/>
              </a:rPr>
              <a:t> to participation and exclusionary pressures </a:t>
            </a:r>
          </a:p>
          <a:p>
            <a:r>
              <a:rPr lang="en-US" dirty="0" smtClean="0">
                <a:latin typeface="Californian FB" pitchFamily="18" charset="0"/>
              </a:rPr>
              <a:t>It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increases</a:t>
            </a:r>
            <a:r>
              <a:rPr lang="en-US" dirty="0" smtClean="0">
                <a:latin typeface="Californian FB" pitchFamily="18" charset="0"/>
              </a:rPr>
              <a:t> real participation of all collaboration, partnership between all stakeholders </a:t>
            </a:r>
          </a:p>
          <a:p>
            <a:r>
              <a:rPr lang="en-US" dirty="0" smtClean="0">
                <a:latin typeface="Californian FB" pitchFamily="18" charset="0"/>
              </a:rPr>
              <a:t>It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promotes</a:t>
            </a:r>
            <a:r>
              <a:rPr lang="en-US" dirty="0" smtClean="0">
                <a:latin typeface="Californian FB" pitchFamily="18" charset="0"/>
              </a:rPr>
              <a:t> participatory methodology, action research, collaborative enquiry and other related activities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v. Concepts about resources </a:t>
            </a:r>
          </a:p>
          <a:p>
            <a:r>
              <a:rPr lang="en-US" dirty="0" smtClean="0">
                <a:latin typeface="Californian FB" pitchFamily="18" charset="0"/>
              </a:rPr>
              <a:t>Promotes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unlocking and fully </a:t>
            </a:r>
            <a:r>
              <a:rPr lang="en-US" dirty="0" smtClean="0">
                <a:latin typeface="Californian FB" pitchFamily="18" charset="0"/>
              </a:rPr>
              <a:t>using local resources redistributing existing resources </a:t>
            </a:r>
          </a:p>
          <a:p>
            <a:r>
              <a:rPr lang="en-US" dirty="0" smtClean="0">
                <a:latin typeface="Californian FB" pitchFamily="18" charset="0"/>
              </a:rPr>
              <a:t>It helps to perceive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people</a:t>
            </a:r>
            <a:r>
              <a:rPr lang="en-US" dirty="0" smtClean="0">
                <a:latin typeface="Californian FB" pitchFamily="18" charset="0"/>
              </a:rPr>
              <a:t> (children, parents, teachers, members of marginalized groups, etc) as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key resources </a:t>
            </a:r>
          </a:p>
          <a:p>
            <a:r>
              <a:rPr lang="en-US" dirty="0" smtClean="0">
                <a:latin typeface="Californian FB" pitchFamily="18" charset="0"/>
              </a:rPr>
              <a:t>It helps to use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appropriate resources and support </a:t>
            </a:r>
            <a:r>
              <a:rPr lang="en-US" dirty="0" smtClean="0">
                <a:latin typeface="Californian FB" pitchFamily="18" charset="0"/>
              </a:rPr>
              <a:t>within schools and at local levels for the needs of different children, e.g. mother tongue tuition, Braille, assistive devices.</a:t>
            </a:r>
            <a:endParaRPr lang="en-US" dirty="0">
              <a:latin typeface="Californian FB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Definition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of Inclusion … </a:t>
            </a:r>
            <a:r>
              <a:rPr lang="en-US" sz="3600" b="1" dirty="0" smtClean="0">
                <a:solidFill>
                  <a:srgbClr val="0070C0"/>
                </a:solidFill>
              </a:rPr>
              <a:t>Cont’d</a:t>
            </a:r>
            <a:endParaRPr lang="en-US" sz="3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McLeskey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Waldron (2000) have identified </a:t>
            </a:r>
            <a:r>
              <a:rPr lang="en-US" sz="2700" b="1" dirty="0" smtClean="0">
                <a:solidFill>
                  <a:srgbClr val="FF0000"/>
                </a:solidFill>
                <a:latin typeface="Californian FB" pitchFamily="18" charset="0"/>
              </a:rPr>
              <a:t>Inclusion includes the following components: </a:t>
            </a:r>
          </a:p>
          <a:p>
            <a:r>
              <a:rPr lang="en-US" sz="2700" dirty="0" smtClean="0">
                <a:latin typeface="Californian FB" pitchFamily="18" charset="0"/>
              </a:rPr>
              <a:t>Students with disabilities and vulnerability attend their neighborhood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schools </a:t>
            </a:r>
          </a:p>
          <a:p>
            <a:r>
              <a:rPr lang="en-US" sz="2700" dirty="0" smtClean="0">
                <a:latin typeface="Californian FB" pitchFamily="18" charset="0"/>
              </a:rPr>
              <a:t>Each student is in an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age-appropriate</a:t>
            </a:r>
            <a:r>
              <a:rPr lang="en-US" sz="2700" dirty="0" smtClean="0">
                <a:latin typeface="Californian FB" pitchFamily="18" charset="0"/>
              </a:rPr>
              <a:t> general education classroom </a:t>
            </a:r>
          </a:p>
          <a:p>
            <a:r>
              <a:rPr lang="en-US" sz="2700" dirty="0" smtClean="0">
                <a:latin typeface="Californian FB" pitchFamily="18" charset="0"/>
              </a:rPr>
              <a:t>Every student is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accepted and regarded as a full and valued member</a:t>
            </a:r>
            <a:r>
              <a:rPr lang="en-US" sz="2700" dirty="0" smtClean="0">
                <a:latin typeface="Californian FB" pitchFamily="18" charset="0"/>
              </a:rPr>
              <a:t> of the class and the school community. </a:t>
            </a:r>
            <a:endParaRPr lang="en-US" sz="2700" dirty="0">
              <a:latin typeface="Californian FB" pitchFamily="18" charset="0"/>
            </a:endParaRPr>
          </a:p>
          <a:p>
            <a:r>
              <a:rPr lang="en-US" sz="2700" dirty="0" smtClean="0">
                <a:latin typeface="Californian FB" pitchFamily="18" charset="0"/>
              </a:rPr>
              <a:t>Special education supports are provided to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each student </a:t>
            </a:r>
            <a:r>
              <a:rPr lang="en-US" sz="2700" dirty="0" smtClean="0">
                <a:latin typeface="Californian FB" pitchFamily="18" charset="0"/>
              </a:rPr>
              <a:t>with a disability within the context of the general education classroom.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 Components of Inclusion</a:t>
            </a:r>
            <a:endParaRPr lang="en-US" sz="3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683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McLeskey</a:t>
            </a:r>
            <a:r>
              <a:rPr lang="en-US" sz="36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and Waldron (2000) </a:t>
            </a: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Components </a:t>
            </a:r>
            <a:r>
              <a:rPr lang="en-US" sz="2000" b="1" dirty="0" smtClean="0">
                <a:solidFill>
                  <a:srgbClr val="0070C0"/>
                </a:solidFill>
              </a:rPr>
              <a:t>Cont’d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8674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Californian FB" pitchFamily="18" charset="0"/>
              </a:rPr>
              <a:t>All students receive an education that addresses their individual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needs </a:t>
            </a:r>
          </a:p>
          <a:p>
            <a:r>
              <a:rPr lang="en-US" sz="2800" dirty="0" smtClean="0">
                <a:latin typeface="Californian FB" pitchFamily="18" charset="0"/>
              </a:rPr>
              <a:t>No student is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excluded</a:t>
            </a:r>
            <a:r>
              <a:rPr lang="en-US" sz="2800" dirty="0" smtClean="0">
                <a:latin typeface="Californian FB" pitchFamily="18" charset="0"/>
              </a:rPr>
              <a:t> based on type or degree of disability.  </a:t>
            </a:r>
          </a:p>
          <a:p>
            <a:r>
              <a:rPr lang="en-US" sz="2800" dirty="0" smtClean="0">
                <a:latin typeface="Californian FB" pitchFamily="18" charset="0"/>
              </a:rPr>
              <a:t>All members of the school (e.g., administration, staff, students, and parents) promote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cooperative/collaborative teaching arrangements </a:t>
            </a:r>
          </a:p>
          <a:p>
            <a:r>
              <a:rPr lang="en-US" sz="2800" dirty="0" smtClean="0">
                <a:latin typeface="Californian FB" pitchFamily="18" charset="0"/>
              </a:rPr>
              <a:t>There is school-based planning, problem-solving, and ownership of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all students </a:t>
            </a:r>
            <a:r>
              <a:rPr lang="en-US" sz="2800" dirty="0" smtClean="0">
                <a:latin typeface="Californian FB" pitchFamily="18" charset="0"/>
              </a:rPr>
              <a:t>and programs </a:t>
            </a:r>
          </a:p>
          <a:p>
            <a:r>
              <a:rPr lang="en-US" sz="2800" dirty="0" smtClean="0">
                <a:latin typeface="Californian FB" pitchFamily="18" charset="0"/>
              </a:rPr>
              <a:t>Employed according to their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capacities</a:t>
            </a:r>
            <a:r>
              <a:rPr lang="en-US" sz="2800" dirty="0" smtClean="0">
                <a:latin typeface="Californian FB" pitchFamily="18" charset="0"/>
              </a:rPr>
              <a:t> without discriminations 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4456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3. BUT Inclusion </a:t>
            </a:r>
            <a:r>
              <a:rPr lang="en-US" b="1" dirty="0">
                <a:solidFill>
                  <a:srgbClr val="0070C0"/>
                </a:solidFill>
                <a:latin typeface="Californian FB" pitchFamily="18" charset="0"/>
              </a:rPr>
              <a:t>does not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mean…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5562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fornian FB" pitchFamily="18" charset="0"/>
              </a:rPr>
              <a:t>Placing students with disabilities into general education classrooms </a:t>
            </a:r>
            <a:r>
              <a:rPr lang="en-US" b="1" dirty="0">
                <a:solidFill>
                  <a:srgbClr val="0070C0"/>
                </a:solidFill>
                <a:latin typeface="Californian FB" pitchFamily="18" charset="0"/>
              </a:rPr>
              <a:t>without careful planning and adequate support</a:t>
            </a:r>
            <a:r>
              <a:rPr lang="en-US" dirty="0">
                <a:latin typeface="Californian FB" pitchFamily="18" charset="0"/>
              </a:rPr>
              <a:t>. </a:t>
            </a:r>
          </a:p>
          <a:p>
            <a:r>
              <a:rPr lang="en-US" b="1" dirty="0">
                <a:solidFill>
                  <a:srgbClr val="0070C0"/>
                </a:solidFill>
                <a:latin typeface="Californian FB" pitchFamily="18" charset="0"/>
              </a:rPr>
              <a:t>Reducing</a:t>
            </a:r>
            <a:r>
              <a:rPr lang="en-US" dirty="0">
                <a:latin typeface="Californian FB" pitchFamily="18" charset="0"/>
              </a:rPr>
              <a:t> services or funding for special education services. </a:t>
            </a:r>
          </a:p>
          <a:p>
            <a:r>
              <a:rPr lang="en-US" dirty="0">
                <a:latin typeface="Californian FB" pitchFamily="18" charset="0"/>
              </a:rPr>
              <a:t>Placing all students who have disabilities or who are at risk in one or a few </a:t>
            </a:r>
            <a:r>
              <a:rPr lang="en-US" b="1" dirty="0">
                <a:solidFill>
                  <a:srgbClr val="0070C0"/>
                </a:solidFill>
                <a:latin typeface="Californian FB" pitchFamily="18" charset="0"/>
              </a:rPr>
              <a:t>designated classrooms</a:t>
            </a:r>
            <a:r>
              <a:rPr lang="en-US" dirty="0">
                <a:latin typeface="Californian FB" pitchFamily="18" charset="0"/>
              </a:rPr>
              <a:t>. </a:t>
            </a:r>
          </a:p>
          <a:p>
            <a:r>
              <a:rPr lang="en-US" dirty="0">
                <a:latin typeface="Californian FB" pitchFamily="18" charset="0"/>
              </a:rPr>
              <a:t>Teachers spending a </a:t>
            </a:r>
            <a:r>
              <a:rPr lang="en-US" b="1" dirty="0">
                <a:solidFill>
                  <a:srgbClr val="0070C0"/>
                </a:solidFill>
                <a:latin typeface="Californian FB" pitchFamily="18" charset="0"/>
              </a:rPr>
              <a:t>disproportionate</a:t>
            </a:r>
            <a:r>
              <a:rPr lang="en-US" dirty="0">
                <a:latin typeface="Californian FB" pitchFamily="18" charset="0"/>
              </a:rPr>
              <a:t> amount of time teaching or adapting the curriculum for students with disabilities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7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683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Californian FB" pitchFamily="18" charset="0"/>
              </a:rPr>
              <a:t>3. BUT </a:t>
            </a:r>
            <a:r>
              <a:rPr lang="en-US" sz="4000" b="1" dirty="0">
                <a:solidFill>
                  <a:srgbClr val="0070C0"/>
                </a:solidFill>
                <a:latin typeface="Californian FB" pitchFamily="18" charset="0"/>
              </a:rPr>
              <a:t>Inclusion does not mean… </a:t>
            </a:r>
            <a:r>
              <a:rPr lang="en-US" sz="3600" b="1" dirty="0" smtClean="0">
                <a:solidFill>
                  <a:srgbClr val="0070C0"/>
                </a:solidFill>
              </a:rPr>
              <a:t>Cont’d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91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Isolating</a:t>
            </a:r>
            <a:r>
              <a:rPr lang="en-US" sz="2800" dirty="0" smtClean="0">
                <a:latin typeface="Californian FB" pitchFamily="18" charset="0"/>
              </a:rPr>
              <a:t> students with disabilities socially, physically, or academically within the general education school or classroom. 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Endangering</a:t>
            </a:r>
            <a:r>
              <a:rPr lang="en-US" sz="2800" dirty="0" smtClean="0">
                <a:latin typeface="Californian FB" pitchFamily="18" charset="0"/>
              </a:rPr>
              <a:t> the achievement of general education students through slower instruction or a less challenging curriculum. 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Relegating</a:t>
            </a:r>
            <a:r>
              <a:rPr lang="en-US" sz="2800" dirty="0" smtClean="0">
                <a:latin typeface="Californian FB" pitchFamily="18" charset="0"/>
              </a:rPr>
              <a:t> special education teachers to the role of assistants in the general education classroom. </a:t>
            </a:r>
          </a:p>
          <a:p>
            <a:r>
              <a:rPr lang="en-US" sz="2800" dirty="0" smtClean="0">
                <a:latin typeface="Californian FB" pitchFamily="18" charset="0"/>
              </a:rPr>
              <a:t>Requiring general and special education teachers to team together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without careful planning and well-defined responsibilities. </a:t>
            </a:r>
          </a:p>
          <a:p>
            <a:pPr>
              <a:buNone/>
            </a:pPr>
            <a:endParaRPr lang="en-US" sz="2800" dirty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9906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Californian FB" pitchFamily="18" charset="0"/>
              </a:rPr>
              <a:t>4. Principles of Inclusion </a:t>
            </a:r>
            <a:endParaRPr lang="en-US" sz="4000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UNESCO (2005) has provided four major inclusion principles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Californian FB" pitchFamily="18" charset="0"/>
              </a:rPr>
              <a:t>Inclusion is a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process</a:t>
            </a:r>
            <a:r>
              <a:rPr lang="en-US" sz="2800" dirty="0" smtClean="0">
                <a:latin typeface="Californian FB" pitchFamily="18" charset="0"/>
              </a:rPr>
              <a:t>. </a:t>
            </a:r>
          </a:p>
          <a:p>
            <a:r>
              <a:rPr lang="en-US" sz="2800" dirty="0" smtClean="0">
                <a:latin typeface="Californian FB" pitchFamily="18" charset="0"/>
              </a:rPr>
              <a:t>Inclusion is concerned with the identification and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removal of barriers </a:t>
            </a:r>
            <a:r>
              <a:rPr lang="en-US" sz="2800" dirty="0" smtClean="0">
                <a:latin typeface="Californian FB" pitchFamily="18" charset="0"/>
              </a:rPr>
              <a:t>that hinders the development of persons with disabilities</a:t>
            </a:r>
          </a:p>
          <a:p>
            <a:r>
              <a:rPr lang="en-US" sz="2800" dirty="0" smtClean="0">
                <a:latin typeface="Californian FB" pitchFamily="18" charset="0"/>
              </a:rPr>
              <a:t>Inclusion is about the presence, participation and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achievement</a:t>
            </a:r>
            <a:r>
              <a:rPr lang="en-US" sz="2800" dirty="0" smtClean="0">
                <a:latin typeface="Californian FB" pitchFamily="18" charset="0"/>
              </a:rPr>
              <a:t> of all persons</a:t>
            </a:r>
          </a:p>
          <a:p>
            <a:r>
              <a:rPr lang="en-US" sz="2800" dirty="0" smtClean="0">
                <a:latin typeface="Californian FB" pitchFamily="18" charset="0"/>
              </a:rPr>
              <a:t>Inclusion invokes a particular emphasis on those who may be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at risk of marginalization</a:t>
            </a:r>
            <a:r>
              <a:rPr lang="en-US" sz="2800" dirty="0" smtClean="0">
                <a:latin typeface="Californian FB" pitchFamily="18" charset="0"/>
              </a:rPr>
              <a:t>, exclusion or underachievement</a:t>
            </a:r>
            <a:endParaRPr lang="en-US" sz="2800" dirty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038"/>
            <a:ext cx="9144000" cy="8683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5. Rationale for Inclusion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867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Educational Foundations </a:t>
            </a:r>
          </a:p>
          <a:p>
            <a:r>
              <a:rPr lang="en-US" dirty="0" smtClean="0">
                <a:latin typeface="Californian FB" pitchFamily="18" charset="0"/>
              </a:rPr>
              <a:t>Children do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better</a:t>
            </a:r>
            <a:r>
              <a:rPr lang="en-US" dirty="0" smtClean="0">
                <a:latin typeface="Californian FB" pitchFamily="18" charset="0"/>
              </a:rPr>
              <a:t> academically, psychologically and socially in inclusive settings. </a:t>
            </a:r>
          </a:p>
          <a:p>
            <a:r>
              <a:rPr lang="en-US" dirty="0" smtClean="0">
                <a:latin typeface="Californian FB" pitchFamily="18" charset="0"/>
              </a:rPr>
              <a:t>A more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efficient</a:t>
            </a:r>
            <a:r>
              <a:rPr lang="en-US" dirty="0" smtClean="0">
                <a:latin typeface="Californian FB" pitchFamily="18" charset="0"/>
              </a:rPr>
              <a:t> use of education resources. 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Decreases</a:t>
            </a:r>
            <a:r>
              <a:rPr lang="en-US" dirty="0" smtClean="0">
                <a:latin typeface="Californian FB" pitchFamily="18" charset="0"/>
              </a:rPr>
              <a:t> dropouts and repetitions</a:t>
            </a:r>
          </a:p>
          <a:p>
            <a:r>
              <a:rPr lang="en-US" dirty="0" smtClean="0">
                <a:latin typeface="Californian FB" pitchFamily="18" charset="0"/>
              </a:rPr>
              <a:t>Teachers competency( knowledge, skills, collaboration, satisfaction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Social Foundation 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Segregation</a:t>
            </a:r>
            <a:r>
              <a:rPr lang="en-US" dirty="0" smtClean="0">
                <a:latin typeface="Californian FB" pitchFamily="18" charset="0"/>
              </a:rPr>
              <a:t> teaches individuals to be fearful, ignorant and breeds prejudice. </a:t>
            </a:r>
          </a:p>
          <a:p>
            <a:r>
              <a:rPr lang="en-US" dirty="0" smtClean="0">
                <a:latin typeface="Californian FB" pitchFamily="18" charset="0"/>
              </a:rPr>
              <a:t>All individuals need an education that will help them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develop relationships and prepare </a:t>
            </a:r>
            <a:r>
              <a:rPr lang="en-US" dirty="0" smtClean="0">
                <a:latin typeface="Californian FB" pitchFamily="18" charset="0"/>
              </a:rPr>
              <a:t>them for life in the wider community.</a:t>
            </a:r>
          </a:p>
          <a:p>
            <a:r>
              <a:rPr lang="en-US" dirty="0" smtClean="0">
                <a:latin typeface="Californian FB" pitchFamily="18" charset="0"/>
              </a:rPr>
              <a:t>Only inclusion has the potential to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reduce fear and to build friendship, respect and understanding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Legal Foundations </a:t>
            </a:r>
          </a:p>
          <a:p>
            <a:r>
              <a:rPr lang="en-US" dirty="0" smtClean="0">
                <a:latin typeface="Californian FB" pitchFamily="18" charset="0"/>
              </a:rPr>
              <a:t>All individuals have the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right</a:t>
            </a:r>
            <a:r>
              <a:rPr lang="en-US" dirty="0" smtClean="0">
                <a:latin typeface="Californian FB" pitchFamily="18" charset="0"/>
              </a:rPr>
              <a:t> to learn and live together.</a:t>
            </a:r>
          </a:p>
          <a:p>
            <a:r>
              <a:rPr lang="en-US" dirty="0" smtClean="0">
                <a:latin typeface="Californian FB" pitchFamily="18" charset="0"/>
              </a:rPr>
              <a:t>Human being shouldn‘t be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devalued or discriminated </a:t>
            </a:r>
            <a:r>
              <a:rPr lang="en-US" dirty="0" smtClean="0">
                <a:latin typeface="Californian FB" pitchFamily="18" charset="0"/>
              </a:rPr>
              <a:t>against by being excluded or sent away because of their disability. </a:t>
            </a:r>
          </a:p>
          <a:p>
            <a:r>
              <a:rPr lang="en-US" dirty="0" smtClean="0">
                <a:latin typeface="Californian FB" pitchFamily="18" charset="0"/>
              </a:rPr>
              <a:t>There are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no legitimate reasons </a:t>
            </a:r>
            <a:r>
              <a:rPr lang="en-US" dirty="0" smtClean="0">
                <a:latin typeface="Californian FB" pitchFamily="18" charset="0"/>
              </a:rPr>
              <a:t>to separate children for their education 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alifornian FB" pitchFamily="18" charset="0"/>
              </a:rPr>
              <a:t>Economic Foundation</a:t>
            </a:r>
          </a:p>
          <a:p>
            <a:r>
              <a:rPr lang="en-US" dirty="0" smtClean="0">
                <a:latin typeface="Californian FB" pitchFamily="18" charset="0"/>
              </a:rPr>
              <a:t>Inclusive education has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economic benefit</a:t>
            </a:r>
            <a:r>
              <a:rPr lang="en-US" dirty="0" smtClean="0">
                <a:latin typeface="Californian FB" pitchFamily="18" charset="0"/>
              </a:rPr>
              <a:t>, both for individual and for society. </a:t>
            </a:r>
          </a:p>
          <a:p>
            <a:r>
              <a:rPr lang="en-US" dirty="0" smtClean="0">
                <a:latin typeface="Californian FB" pitchFamily="18" charset="0"/>
              </a:rPr>
              <a:t>Inclusive education is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more cost-effective </a:t>
            </a:r>
            <a:r>
              <a:rPr lang="en-US" dirty="0" smtClean="0">
                <a:latin typeface="Californian FB" pitchFamily="18" charset="0"/>
              </a:rPr>
              <a:t>than the creation of special schools across the country. </a:t>
            </a:r>
          </a:p>
          <a:p>
            <a:r>
              <a:rPr lang="en-US" dirty="0" smtClean="0">
                <a:latin typeface="Californian FB" pitchFamily="18" charset="0"/>
              </a:rPr>
              <a:t>Children with disabilities go to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local schools 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Reduce</a:t>
            </a:r>
            <a:r>
              <a:rPr lang="en-US" dirty="0" smtClean="0">
                <a:latin typeface="Californian FB" pitchFamily="18" charset="0"/>
              </a:rPr>
              <a:t> wastage of repetition and dropout</a:t>
            </a:r>
          </a:p>
          <a:p>
            <a:r>
              <a:rPr lang="en-US" dirty="0" smtClean="0">
                <a:latin typeface="Californian FB" pitchFamily="18" charset="0"/>
              </a:rPr>
              <a:t>Children with disabilities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live with their family </a:t>
            </a:r>
            <a:r>
              <a:rPr lang="en-US" dirty="0" smtClean="0">
                <a:latin typeface="Californian FB" pitchFamily="18" charset="0"/>
              </a:rPr>
              <a:t>use community infrastructure 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Better employment and job creation </a:t>
            </a:r>
            <a:r>
              <a:rPr lang="en-US" dirty="0" smtClean="0">
                <a:latin typeface="Californian FB" pitchFamily="18" charset="0"/>
              </a:rPr>
              <a:t>opportunities for people with disabilities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6038"/>
            <a:ext cx="9144000" cy="1020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5. Rationale for Inclusion… </a:t>
            </a:r>
            <a:r>
              <a:rPr lang="en-US" sz="3600" b="1" dirty="0" smtClean="0">
                <a:solidFill>
                  <a:srgbClr val="0070C0"/>
                </a:solidFill>
                <a:latin typeface="Californian FB" pitchFamily="18" charset="0"/>
              </a:rPr>
              <a:t>cont’d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alifornian FB" pitchFamily="18" charset="0"/>
              </a:rPr>
              <a:t>Foundations for Building Inclusive Society </a:t>
            </a:r>
          </a:p>
          <a:p>
            <a:r>
              <a:rPr lang="en-US" sz="2800" dirty="0" smtClean="0">
                <a:latin typeface="Californian FB" pitchFamily="18" charset="0"/>
              </a:rPr>
              <a:t>Formation of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mutual</a:t>
            </a:r>
            <a:r>
              <a:rPr lang="en-US" sz="2800" dirty="0" smtClean="0">
                <a:latin typeface="Californian FB" pitchFamily="18" charset="0"/>
              </a:rPr>
              <a:t> understanding and appreciation of diversity</a:t>
            </a:r>
          </a:p>
          <a:p>
            <a:r>
              <a:rPr lang="en-US" sz="2800" dirty="0" smtClean="0">
                <a:latin typeface="Californian FB" pitchFamily="18" charset="0"/>
              </a:rPr>
              <a:t>Building up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empathy</a:t>
            </a:r>
            <a:r>
              <a:rPr lang="en-US" sz="2800" dirty="0" smtClean="0">
                <a:latin typeface="Californian FB" pitchFamily="18" charset="0"/>
              </a:rPr>
              <a:t>, tolerance and cooperation </a:t>
            </a:r>
          </a:p>
          <a:p>
            <a:r>
              <a:rPr lang="en-US" sz="2800" dirty="0" smtClean="0">
                <a:latin typeface="Californian FB" pitchFamily="18" charset="0"/>
              </a:rPr>
              <a:t>Promotion of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sustainable</a:t>
            </a:r>
            <a:r>
              <a:rPr lang="en-US" sz="2800" dirty="0" smtClean="0">
                <a:latin typeface="Californian FB" pitchFamily="18" charset="0"/>
              </a:rPr>
              <a:t> development </a:t>
            </a:r>
          </a:p>
          <a:p>
            <a:pPr>
              <a:buNone/>
            </a:pPr>
            <a:endParaRPr lang="en-US" sz="2800" dirty="0">
              <a:latin typeface="Californian FB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46038"/>
            <a:ext cx="9144000" cy="9445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5. Rationale for Inclusion… </a:t>
            </a:r>
            <a:r>
              <a:rPr lang="en-US" sz="3600" b="1" dirty="0" smtClean="0">
                <a:solidFill>
                  <a:srgbClr val="0070C0"/>
                </a:solidFill>
                <a:latin typeface="Californian FB" pitchFamily="18" charset="0"/>
              </a:rPr>
              <a:t>cont’d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915400" cy="10668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Californian FB" pitchFamily="18" charset="0"/>
              </a:rPr>
              <a:t>6. Factors that Influenced Development of Inclusion </a:t>
            </a:r>
            <a:endParaRPr lang="en-US" sz="3600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Inclusive education is facilitated by many influencing actors. Some of the major drivers include: </a:t>
            </a:r>
            <a:endParaRPr lang="en-US" sz="2700" dirty="0" smtClean="0">
              <a:latin typeface="Californian FB" pitchFamily="18" charset="0"/>
            </a:endParaRPr>
          </a:p>
          <a:p>
            <a:r>
              <a:rPr lang="en-US" sz="2700" dirty="0" smtClean="0">
                <a:latin typeface="Californian FB" pitchFamily="18" charset="0"/>
              </a:rPr>
              <a:t>Communities</a:t>
            </a:r>
          </a:p>
          <a:p>
            <a:r>
              <a:rPr lang="en-US" sz="2700" dirty="0" smtClean="0">
                <a:latin typeface="Californian FB" pitchFamily="18" charset="0"/>
              </a:rPr>
              <a:t>Activists and advocates</a:t>
            </a:r>
          </a:p>
          <a:p>
            <a:r>
              <a:rPr lang="en-US" sz="2700" dirty="0" smtClean="0">
                <a:latin typeface="Californian FB" pitchFamily="18" charset="0"/>
              </a:rPr>
              <a:t>The quality education and school improvement movement</a:t>
            </a:r>
          </a:p>
          <a:p>
            <a:r>
              <a:rPr lang="en-US" sz="2700" dirty="0" smtClean="0">
                <a:latin typeface="Californian FB" pitchFamily="18" charset="0"/>
              </a:rPr>
              <a:t>Special educational needs movement</a:t>
            </a:r>
          </a:p>
          <a:p>
            <a:r>
              <a:rPr lang="en-US" sz="2700" dirty="0" smtClean="0">
                <a:latin typeface="Californian FB" pitchFamily="18" charset="0"/>
              </a:rPr>
              <a:t>Involvement of International agencies</a:t>
            </a:r>
          </a:p>
          <a:p>
            <a:r>
              <a:rPr lang="en-US" sz="2700" dirty="0" smtClean="0">
                <a:latin typeface="Californian FB" pitchFamily="18" charset="0"/>
              </a:rPr>
              <a:t>Involvement of NGOs movements, networks and campaigns</a:t>
            </a:r>
            <a:endParaRPr lang="en-US" sz="2700" dirty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7. Benefits of Inclusion 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US" sz="2800" b="1" dirty="0" smtClean="0">
                <a:solidFill>
                  <a:srgbClr val="FF0000"/>
                </a:solidFill>
                <a:latin typeface="Californian FB" pitchFamily="18" charset="0"/>
              </a:rPr>
              <a:t>Benefits for Students with Special Needs Education </a:t>
            </a:r>
          </a:p>
          <a:p>
            <a:pPr marL="514350" indent="-51435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inclusive settings, people will develop: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Appropriate models of behavior.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Improved friendships with the social environment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Increased social initiations, interactions, relationships and networks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Gain peer role models for academic, social and behavior skills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Increased achievement of individualized educational program (IEP) goals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Greater access to general curriculum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Enhanced skill acquisition and generalization in their learning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improved academic achievement which leads to quality education services 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participate in a variety of integrated settings throughout their lives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Improved school staff collaboration to meet these students‘ needs and ability differences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Increased parental participation to meet these students‘ needs and ability differences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Enhanced families integration into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community.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7912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Californian FB" pitchFamily="18" charset="0"/>
              </a:rPr>
              <a:t>2. Benefits for persons without Special Needs Education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ariety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opportunities for interacting with their age peers who experience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SEN.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Serve as peer tutors during instructional activities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Play the role of a special “buddy” during lunch, in the bus or playground.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Learn about tolerance, individual difference, and human exceptionality.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Learn that students with SEN have many positive characteristics &amp; abilities.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Know service professions such as special education, speech therapy, physical therapy, etc.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ncreased appreciation, acceptance &amp; respect of individual differences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Increased understanding and acceptance of diversity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Opportunities to master activities by practicing &amp; teaching others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Have increased academic outcomes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Have opportunity to learn to communicate, </a:t>
            </a:r>
            <a:r>
              <a:rPr lang="en-US" sz="2800" dirty="0">
                <a:latin typeface="Californian FB" pitchFamily="18" charset="0"/>
              </a:rPr>
              <a:t>and deal </a:t>
            </a:r>
            <a:r>
              <a:rPr lang="en-US" sz="2800" b="1" dirty="0">
                <a:solidFill>
                  <a:srgbClr val="0070C0"/>
                </a:solidFill>
                <a:latin typeface="Californian FB" pitchFamily="18" charset="0"/>
              </a:rPr>
              <a:t>effectively</a:t>
            </a:r>
            <a:r>
              <a:rPr lang="en-US" sz="2800" dirty="0">
                <a:latin typeface="Californian FB" pitchFamily="18" charset="0"/>
              </a:rPr>
              <a:t> with a wide range of </a:t>
            </a:r>
            <a:r>
              <a:rPr lang="en-US" sz="2800" dirty="0" smtClean="0">
                <a:latin typeface="Californian FB" pitchFamily="18" charset="0"/>
              </a:rPr>
              <a:t>individuals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sz="2800" b="1" dirty="0" smtClean="0">
              <a:solidFill>
                <a:srgbClr val="FF0000"/>
              </a:solidFill>
              <a:latin typeface="Californian FB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7. Benefits of Inclusion</a:t>
            </a:r>
            <a:r>
              <a:rPr lang="en-US" sz="3200" b="1" dirty="0" smtClean="0">
                <a:solidFill>
                  <a:srgbClr val="0070C0"/>
                </a:solidFill>
                <a:latin typeface="Californian FB" pitchFamily="18" charset="0"/>
              </a:rPr>
              <a:t>…cont’d 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154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Benefits for Teachers</a:t>
            </a:r>
          </a:p>
          <a:p>
            <a:pPr lv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opportunities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learn new ways to teach different kinds of students. </a:t>
            </a:r>
          </a:p>
          <a:p>
            <a:pPr lvl="0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ain knowledge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such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ways children learn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&amp; can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 taught. </a:t>
            </a:r>
          </a:p>
          <a:p>
            <a:pPr lv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Develop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more positive attitudes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&amp; approaches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towards different people with diverse needs. </a:t>
            </a:r>
          </a:p>
          <a:p>
            <a:pPr lv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greater opportunities to explore new ideas  </a:t>
            </a:r>
          </a:p>
          <a:p>
            <a:pPr lvl="0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encourage their students to be more interested, more creative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&amp; more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attentive </a:t>
            </a:r>
          </a:p>
          <a:p>
            <a:pPr lv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experience greater job satisfaction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&amp; 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higher sense of accomplishment </a:t>
            </a:r>
          </a:p>
          <a:p>
            <a:pPr lv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Get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opportunities to exchange information about instructional activities and teaching strategies </a:t>
            </a:r>
          </a:p>
          <a:p>
            <a:pPr lv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Benefit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eveloping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teamwork and collaborative problem-solving skills to creatively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Develop positive attitude that help them promoting the recognition and appreciation that all students have strengths and are contributing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7. Benefits of Inclusion</a:t>
            </a:r>
            <a:r>
              <a:rPr lang="en-US" sz="3200" b="1" dirty="0" smtClean="0">
                <a:solidFill>
                  <a:srgbClr val="0070C0"/>
                </a:solidFill>
                <a:latin typeface="Californian FB" pitchFamily="18" charset="0"/>
              </a:rPr>
              <a:t>…cont’d 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9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fornian FB" pitchFamily="18" charset="0"/>
              </a:rPr>
              <a:t>Benefits for </a:t>
            </a:r>
            <a:r>
              <a:rPr lang="en-US" sz="2800" b="1" dirty="0" smtClean="0">
                <a:solidFill>
                  <a:srgbClr val="FF0000"/>
                </a:solidFill>
                <a:latin typeface="Californian FB" pitchFamily="18" charset="0"/>
              </a:rPr>
              <a:t>Parents/Family:</a:t>
            </a:r>
          </a:p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Learn more about how their children are being educated in schools with their peers in an inclusive environment </a:t>
            </a:r>
          </a:p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Become personally involved and feel a greater sense of accomplishment in helping their children to learn. </a:t>
            </a:r>
          </a:p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Feel valued and consider themselves as equal partners in providing quality learning opportunities for children. </a:t>
            </a:r>
          </a:p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Learn how to deal better with their children at home by using techniques that the teachers use in school. </a:t>
            </a:r>
          </a:p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out ways to interact with others in the community, as well as to understand and help solve each other‘s problems. </a:t>
            </a:r>
          </a:p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Know that their children—and ALL children—are receiving a quality education.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Experience positive attitude about themselves and their children by seeing their children accepted by others, successful in the inclusive setting, and belonging to the community where they live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7. Benefits of Inclusion</a:t>
            </a:r>
            <a:r>
              <a:rPr lang="en-US" sz="3200" b="1" dirty="0" smtClean="0">
                <a:solidFill>
                  <a:srgbClr val="0070C0"/>
                </a:solidFill>
                <a:latin typeface="Californian FB" pitchFamily="18" charset="0"/>
              </a:rPr>
              <a:t>…cont’d 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8. Features of Inclusive Environment </a:t>
            </a:r>
            <a:endParaRPr lang="en-US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63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Californian FB" pitchFamily="18" charset="0"/>
              </a:rPr>
              <a:t>it ensures the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respect and dignity </a:t>
            </a:r>
            <a:r>
              <a:rPr lang="en-US" sz="2800" dirty="0" smtClean="0">
                <a:latin typeface="Californian FB" pitchFamily="18" charset="0"/>
              </a:rPr>
              <a:t>of individuals with disabilities </a:t>
            </a:r>
          </a:p>
          <a:p>
            <a:r>
              <a:rPr lang="en-US" sz="2800" dirty="0" smtClean="0">
                <a:latin typeface="Californian FB" pitchFamily="18" charset="0"/>
              </a:rPr>
              <a:t> it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meets</a:t>
            </a:r>
            <a:r>
              <a:rPr lang="en-US" sz="2800" dirty="0" smtClean="0">
                <a:latin typeface="Californian FB" pitchFamily="18" charset="0"/>
              </a:rPr>
              <a:t> current accessibility standards to the greatest extent possible to all people with special needs </a:t>
            </a:r>
          </a:p>
          <a:p>
            <a:r>
              <a:rPr lang="en-US" sz="2800" dirty="0" smtClean="0">
                <a:latin typeface="Californian FB" pitchFamily="18" charset="0"/>
              </a:rPr>
              <a:t>provides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accommodations</a:t>
            </a:r>
            <a:r>
              <a:rPr lang="en-US" sz="2800" dirty="0" smtClean="0">
                <a:latin typeface="Californian FB" pitchFamily="18" charset="0"/>
              </a:rPr>
              <a:t> willingly and proactively </a:t>
            </a:r>
          </a:p>
          <a:p>
            <a:r>
              <a:rPr lang="en-US" sz="2800" dirty="0" smtClean="0">
                <a:latin typeface="Californian FB" pitchFamily="18" charset="0"/>
              </a:rPr>
              <a:t>Persons with disabilities are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welcomed</a:t>
            </a:r>
            <a:r>
              <a:rPr lang="en-US" sz="2800" dirty="0" smtClean="0">
                <a:latin typeface="Californian FB" pitchFamily="18" charset="0"/>
              </a:rPr>
              <a:t> and are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valued</a:t>
            </a:r>
            <a:r>
              <a:rPr lang="en-US" sz="2800" dirty="0" smtClean="0">
                <a:latin typeface="Californian FB" pitchFamily="18" charset="0"/>
              </a:rPr>
              <a:t> for their contributions as individuals.</a:t>
            </a:r>
            <a:endParaRPr lang="en-US" sz="2800" dirty="0"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9144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Californian FB" pitchFamily="18" charset="0"/>
              </a:rPr>
              <a:t>8. Features Inclusive Environments… cont’d </a:t>
            </a:r>
            <a:endParaRPr lang="en-US" sz="3600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912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develops whole-school/environment processes that promote inclusiveness and quality provisions and practice that are responsive to the individual needs and diversities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recognizes and responds to the diverse needs of their individuals and ensuring quality provisions for all through appropriate accommodations, organizational arrangements, resource use and partnerships with their community.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is committed to serve all individuals together regardless of differences. It is also deeply committed to the belief that all persons can learn, work and be productive.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involves restructuring environment, culture, policy, and practice.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promoting pro-social activities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makes provides services and facilities equally accessible to all people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involves mobilizing resources within the community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is alert to and uses a range of multi-skilled personnel to assist people in their learning and working environment. </a:t>
            </a:r>
          </a:p>
          <a:p>
            <a:pPr lvl="0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strives to create strong links with, clinicians, caregivers, and staff in local schools, work place, disability services providers and relevant support agencies within the wider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community.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Californian FB" pitchFamily="18" charset="0"/>
              </a:rPr>
              <a:t>It provides services and facilities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equally</a:t>
            </a:r>
            <a:r>
              <a:rPr lang="en-US" sz="2800" dirty="0" smtClean="0">
                <a:latin typeface="Californian FB" pitchFamily="18" charset="0"/>
              </a:rPr>
              <a:t> accessible to all people </a:t>
            </a:r>
          </a:p>
          <a:p>
            <a:r>
              <a:rPr lang="en-US" sz="2800" dirty="0" smtClean="0">
                <a:latin typeface="Californian FB" pitchFamily="18" charset="0"/>
              </a:rPr>
              <a:t>It involves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mobilizing</a:t>
            </a:r>
            <a:r>
              <a:rPr lang="en-US" sz="2800" dirty="0" smtClean="0">
                <a:latin typeface="Californian FB" pitchFamily="18" charset="0"/>
              </a:rPr>
              <a:t> resources within the community </a:t>
            </a:r>
          </a:p>
          <a:p>
            <a:r>
              <a:rPr lang="en-US" sz="2800" dirty="0" smtClean="0">
                <a:latin typeface="Californian FB" pitchFamily="18" charset="0"/>
              </a:rPr>
              <a:t>It is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alert</a:t>
            </a:r>
            <a:r>
              <a:rPr lang="en-US" sz="2800" dirty="0" smtClean="0">
                <a:latin typeface="Californian FB" pitchFamily="18" charset="0"/>
              </a:rPr>
              <a:t> to and uses a range of multi-skilled personnel to assist people in their learning and working environment. </a:t>
            </a:r>
          </a:p>
          <a:p>
            <a:r>
              <a:rPr lang="en-US" sz="2800" dirty="0" smtClean="0">
                <a:latin typeface="Californian FB" pitchFamily="18" charset="0"/>
              </a:rPr>
              <a:t>It strives to create strong </a:t>
            </a:r>
            <a:r>
              <a:rPr lang="en-US" sz="2800" b="1" dirty="0" smtClean="0">
                <a:solidFill>
                  <a:srgbClr val="0070C0"/>
                </a:solidFill>
                <a:latin typeface="Californian FB" pitchFamily="18" charset="0"/>
              </a:rPr>
              <a:t>links</a:t>
            </a:r>
            <a:r>
              <a:rPr lang="en-US" sz="2800" dirty="0" smtClean="0">
                <a:latin typeface="Californian FB" pitchFamily="18" charset="0"/>
              </a:rPr>
              <a:t> with, clinicians, caregivers, and staff in local schools, work place, disability services providers and relevant support agencies within the wider community. </a:t>
            </a:r>
          </a:p>
          <a:p>
            <a:endParaRPr lang="en-US" sz="2800" dirty="0">
              <a:latin typeface="Californian FB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9144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Californian FB" pitchFamily="18" charset="0"/>
              </a:rPr>
              <a:t>8. Features of Inclusive Environments</a:t>
            </a:r>
            <a:r>
              <a:rPr lang="en-US" sz="3100" b="1" dirty="0" smtClean="0">
                <a:solidFill>
                  <a:srgbClr val="0070C0"/>
                </a:solidFill>
                <a:latin typeface="Californian FB" pitchFamily="18" charset="0"/>
              </a:rPr>
              <a:t>… cont’d </a:t>
            </a:r>
            <a:endParaRPr lang="en-US" sz="3100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Californian FB" pitchFamily="18" charset="0"/>
              </a:rPr>
              <a:t>9. Barriers to Inclusion </a:t>
            </a:r>
            <a:endParaRPr lang="en-US" sz="4000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791200"/>
          </a:xfrm>
        </p:spPr>
        <p:txBody>
          <a:bodyPr>
            <a:normAutofit/>
          </a:bodyPr>
          <a:lstStyle/>
          <a:p>
            <a:r>
              <a:rPr lang="en-US" sz="2700" dirty="0" smtClean="0">
                <a:latin typeface="Californian FB" pitchFamily="18" charset="0"/>
              </a:rPr>
              <a:t>Though many countries seem committed to inclusion their rhetoric, and even in their legislation and policies, practices often fall short. Reasons for the policy-practice gap in inclusion are diverse. The major barriers include: </a:t>
            </a:r>
          </a:p>
          <a:p>
            <a:pPr lvl="1"/>
            <a:r>
              <a:rPr lang="en-US" dirty="0" smtClean="0">
                <a:latin typeface="Californian FB" pitchFamily="18" charset="0"/>
              </a:rPr>
              <a:t>Problems related with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societal values and beliefs- </a:t>
            </a:r>
            <a:r>
              <a:rPr lang="en-US" dirty="0" smtClean="0">
                <a:latin typeface="Californian FB" pitchFamily="18" charset="0"/>
              </a:rPr>
              <a:t>particularly the community 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Economic factors- 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Lack</a:t>
            </a:r>
            <a:r>
              <a:rPr lang="en-US" dirty="0" smtClean="0">
                <a:latin typeface="Californian FB" pitchFamily="18" charset="0"/>
              </a:rPr>
              <a:t> of taking measures to ensure conformity of </a:t>
            </a:r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implementation of inclusion practice with policies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  <a:latin typeface="Californian FB" pitchFamily="18" charset="0"/>
              </a:rPr>
              <a:t>Lack of stakeholders taking responsibility in their cooperation as well as collaboration for inclusion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867400"/>
          </a:xfrm>
        </p:spPr>
        <p:txBody>
          <a:bodyPr>
            <a:noAutofit/>
          </a:bodyPr>
          <a:lstStyle/>
          <a:p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Conservative traditions </a:t>
            </a:r>
            <a:r>
              <a:rPr lang="en-US" sz="2700" dirty="0" smtClean="0">
                <a:latin typeface="Californian FB" pitchFamily="18" charset="0"/>
              </a:rPr>
              <a:t>among the community members about inclusion </a:t>
            </a:r>
          </a:p>
          <a:p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Lack of knowledge and skills </a:t>
            </a:r>
            <a:r>
              <a:rPr lang="en-US" sz="2700" dirty="0" smtClean="0">
                <a:latin typeface="Californian FB" pitchFamily="18" charset="0"/>
              </a:rPr>
              <a:t>among teachers regarding inclusive education </a:t>
            </a:r>
          </a:p>
          <a:p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Rigid</a:t>
            </a:r>
            <a:r>
              <a:rPr lang="en-US" sz="2700" dirty="0" smtClean="0">
                <a:latin typeface="Californian FB" pitchFamily="18" charset="0"/>
              </a:rPr>
              <a:t> curricula, teaching method and examination systems </a:t>
            </a:r>
          </a:p>
          <a:p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Fragile democratic institutions </a:t>
            </a:r>
            <a:r>
              <a:rPr lang="en-US" sz="2700" dirty="0" smtClean="0">
                <a:latin typeface="Californian FB" pitchFamily="18" charset="0"/>
              </a:rPr>
              <a:t>that could not promote inclusion </a:t>
            </a:r>
          </a:p>
          <a:p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Inadequate resources </a:t>
            </a:r>
            <a:r>
              <a:rPr lang="en-US" sz="2700" dirty="0" smtClean="0">
                <a:latin typeface="Californian FB" pitchFamily="18" charset="0"/>
              </a:rPr>
              <a:t>and inaccessibility of social and physical environments</a:t>
            </a:r>
          </a:p>
          <a:p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Large class sizes </a:t>
            </a:r>
            <a:r>
              <a:rPr lang="en-US" sz="2700" dirty="0" smtClean="0">
                <a:latin typeface="Californian FB" pitchFamily="18" charset="0"/>
              </a:rPr>
              <a:t>that make teachers and stakeholders meet students‘ diverse needs </a:t>
            </a:r>
          </a:p>
          <a:p>
            <a:r>
              <a:rPr lang="en-US" sz="2700" dirty="0" smtClean="0">
                <a:latin typeface="Californian FB" pitchFamily="18" charset="0"/>
              </a:rPr>
              <a:t> Using inclusive models that may be </a:t>
            </a:r>
            <a:r>
              <a:rPr lang="en-US" sz="2700" b="1" dirty="0" smtClean="0">
                <a:solidFill>
                  <a:srgbClr val="0070C0"/>
                </a:solidFill>
                <a:latin typeface="Californian FB" pitchFamily="18" charset="0"/>
              </a:rPr>
              <a:t>imported</a:t>
            </a:r>
            <a:r>
              <a:rPr lang="en-US" sz="2700" dirty="0" smtClean="0">
                <a:latin typeface="Californian FB" pitchFamily="18" charset="0"/>
              </a:rPr>
              <a:t> from other countries. </a:t>
            </a:r>
          </a:p>
          <a:p>
            <a:pPr>
              <a:buNone/>
            </a:pPr>
            <a:endParaRPr lang="en-US" sz="2700" dirty="0">
              <a:latin typeface="Californian FB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Californian FB" pitchFamily="18" charset="0"/>
              </a:rPr>
              <a:t>9. Barriers to Inclusion</a:t>
            </a:r>
            <a:r>
              <a:rPr lang="en-US" sz="3200" b="1" dirty="0" smtClean="0">
                <a:solidFill>
                  <a:srgbClr val="0070C0"/>
                </a:solidFill>
                <a:latin typeface="Californian FB" pitchFamily="18" charset="0"/>
              </a:rPr>
              <a:t>…cont’d</a:t>
            </a:r>
            <a:r>
              <a:rPr lang="en-US" sz="4000" b="1" dirty="0" smtClean="0">
                <a:solidFill>
                  <a:srgbClr val="0070C0"/>
                </a:solidFill>
                <a:latin typeface="Californian FB" pitchFamily="18" charset="0"/>
              </a:rPr>
              <a:t> </a:t>
            </a:r>
            <a:endParaRPr lang="en-US" sz="4000" b="1" dirty="0">
              <a:solidFill>
                <a:srgbClr val="0070C0"/>
              </a:solidFill>
              <a:latin typeface="Californian FB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Chapter 4: Promoting Inclusive 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Culture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specific contents addressed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chapter are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definition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inclusive culture;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dimensions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inclusive culture,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policy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related to inclusive culture,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building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inclusive community,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means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establish inclusive culture,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inclusive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values and indigenous inclusive values and practices.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Inclusion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sense of belonging, connection and community at work.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Culture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―the ideas, customs, and social behavior of a particular people or society.‖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An inclusive culture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involves the full and successful integration of diverse people into a workplace or industry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806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9144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Inclusive cultures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562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Inclusive cultures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encompass both formal and informal policies and practices, and involve several core values: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Representation: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presence of people with disabilities across a range of employee roles and leadership positions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Receptivity: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Respect for differences in working styles and flexibility in tailoring positions to the strengths and abilities of employees and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Fairness: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Equitable access to all resources, opportunities, networks and decision making processes.</a:t>
            </a:r>
          </a:p>
        </p:txBody>
      </p:sp>
    </p:spTree>
    <p:extLst>
      <p:ext uri="{BB962C8B-B14F-4D97-AF65-F5344CB8AC3E}">
        <p14:creationId xmlns:p14="http://schemas.microsoft.com/office/powerpoint/2010/main" val="1057879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9144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Dimensions of Inclusive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culture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three dimensions/ elements of an inclusive culture: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Universal Design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Recruitment, Training and Advancement Opportunities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Workplace Accommodations and Accessibility: Policy &amp; Practice</a:t>
            </a:r>
          </a:p>
        </p:txBody>
      </p:sp>
    </p:spTree>
    <p:extLst>
      <p:ext uri="{BB962C8B-B14F-4D97-AF65-F5344CB8AC3E}">
        <p14:creationId xmlns:p14="http://schemas.microsoft.com/office/powerpoint/2010/main" val="2047421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944562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Benefits of Inclusive cultures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Specific </a:t>
            </a:r>
            <a:r>
              <a:rPr lang="en-US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positive outcomes include: </a:t>
            </a: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Reduced expenses corresponding to reduced employee turn-over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worker commitment to and identification with organizational success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Improved employee health and well-being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Improved productivity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employee investment in work performance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Reduced perception of discrimination and inequity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Improved cooperation and collaboration between co-workers, and between employees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759523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6836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Benefits of an Inclusive organization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638800"/>
          </a:xfrm>
        </p:spPr>
        <p:txBody>
          <a:bodyPr>
            <a:normAutofit/>
          </a:bodyPr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Job Satisfaction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Lower Turnover.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Higher Productivity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Higher Employee Morale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Improved Creativity and Innovation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Improved Problem-Solving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Organizational Flexibility.</a:t>
            </a:r>
          </a:p>
        </p:txBody>
      </p:sp>
    </p:spTree>
    <p:extLst>
      <p:ext uri="{BB962C8B-B14F-4D97-AF65-F5344CB8AC3E}">
        <p14:creationId xmlns:p14="http://schemas.microsoft.com/office/powerpoint/2010/main" val="3478266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46038"/>
            <a:ext cx="8991600" cy="94456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Building inclusive community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inclusive community: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everything that it can to respect all its citizens,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Gives citizens full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access to resources, and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romotes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equal treatment and opportunity.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Works to eliminate all forms of discrimination.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Engages all its citizens in decision-making processes that affect their lives.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Values diversity and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Responds quickly to racist and other discriminating incidents.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890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067800" cy="9144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Organization create inclusive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workplace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Things an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organization can do to create a more inclusive workplace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and, therefore, a more appealing place to work: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Appropriately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Connect with Employees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Interact with Different People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Create Employee Resource Groups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Place Importance on Inclusion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Hold Better Meetings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Invest in Diversity Training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People have opportunities to experience a variety of social roles that include friendships, contributing to the community and gaining new skills.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745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7620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The Motive to Build Inclusive Community 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91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motivation behind an individual, a group, or a community's desire to build an inclusive community because the motivation affects the following: </a:t>
            </a:r>
          </a:p>
          <a:p>
            <a:pPr lvl="0"/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and sequence of strategies selected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there were a crisis, you might have to start with a strategy that transforms the conflict.</a:t>
            </a:r>
          </a:p>
          <a:p>
            <a:pPr lvl="0"/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Resources available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more resources could be mobilized if the motivation came from a large institution or a local foundation. </a:t>
            </a:r>
          </a:p>
          <a:p>
            <a:pPr lvl="0"/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Amount of support and obstruction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the dominant group in the community is just as motivated as any other group, there is likely to be more support.</a:t>
            </a:r>
          </a:p>
          <a:p>
            <a:pPr lvl="0"/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Rate of progress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the major leaders and groups support the effort, progress is likely to be faster. </a:t>
            </a:r>
          </a:p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the goal is to raise awareness, everyone involved is likely to be satisfied if they learned new things about other groups.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018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9144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Characteristics of an Inclusive Community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Inclusive 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communities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the following set of characteristics: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Integrative and cooperative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Interactive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Invested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Diverse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Equitable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Accessible and Sensitive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Participatory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Safe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94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86836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Four key </a:t>
            </a:r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inclusive leadership behaviors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Empowerment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Enable team members to grow and excel by encouraging them to solve problems, come up with new ideas and develop new skills.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Accountability: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Show confidence in team members by holding them responsible for aspects of their performance that are within their control.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Stand up for what you believe is right, even when it means taking a risk.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Humility: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Admit mistakes, learn from criticism and different points of view, and overcome your limitations by seeking contributions from team members.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674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6836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Five stages in establishing inclusive culture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71500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what you want to achieve and what the benefits will be.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Undertake an inclusion review of your workplace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Decide where work is needed and create an action plan.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Communicate the plan with staff and put the plan into action.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Review, monitor and evaluate the plan’s impact and use what you find to plan future action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62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11430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Ten Characteristics of an Inclusive Organization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86400"/>
          </a:xfrm>
        </p:spPr>
        <p:txBody>
          <a:bodyPr>
            <a:normAutofit fontScale="850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accepts diversity and inclusion as a way of life.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evaluates individual and group performance on the basis of observable and measurable behaviors and competencies.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It operates under transparent policies and procedures.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It is consistent in its interactions with everyone.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It creates and maintains a learning culture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It has a comprehensive and easily accessible system of conflict resolution at all levels.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It recognizes that it is part of the community that it serves.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lives its mission and core values.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values earned privilege over unearned privilege.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accepts and embraces change.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012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9144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The seven Pillars of Inclusion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Access explores the importance of a welcoming environment and the habits that create it.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Attitude: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willingness 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embrace inclusion and diversity and to take meaningful action.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Choice,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Partnership,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Communication,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Policy and opportunity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Values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fundamental guides and prompts to action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48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Indigenous inclusion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715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Indigenous inclusion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defined as an organizational state that is embraced as a cultural norm, with enterprise-wide workplace strategies as well as a culture which invites the full participation of indigenous people into all aspects of business operations.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649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6836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Features of an indigenous inclusion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Inclusion has been embraced as a core competency and embedded into the organizational culture;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Companies share their organization‘s experience and achievements with inclusion and explain how it has helped their performance;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Human rights and responsibilities are promoted and respected. Employees are free of concerns related to basic equity issues;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Comprehensive Indigenous procurement, recruitment and corporate social responsibility strategies have been developed as part of an enterprise-wide coordinated approach;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Indigenous people are employed and retained in all areas of the organization including the senior leadership and executive positions;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There are significant revenues and jobs gained by Indigenous people and businesses through the organization‘s supply chain;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Indigenes community sustainable gains have been realized as a result of the relationships built between the company and the community;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High levels of Indigenous employee engagement are seen and experienced in the organization;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Leadership has put into place the resources needed to sustain its Indigenous inclusion strategy and it may have introduced an inclusion policy framework or statement;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Indigenous inclusion is integral to the mission and vision of the organization. </a:t>
            </a:r>
          </a:p>
        </p:txBody>
      </p:sp>
    </p:spTree>
    <p:extLst>
      <p:ext uri="{BB962C8B-B14F-4D97-AF65-F5344CB8AC3E}">
        <p14:creationId xmlns:p14="http://schemas.microsoft.com/office/powerpoint/2010/main" val="21225003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2" y="76200"/>
            <a:ext cx="9047328" cy="1143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What are inclusive practices?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86800" cy="5410200"/>
          </a:xfrm>
        </p:spPr>
        <p:txBody>
          <a:bodyPr/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Inclusive practice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an approach to teaching that recognizes the diversity of students, enabling all students to access course content, fully participate in learning activities and demonstrate their knowledge and strengths at assessment.</a:t>
            </a:r>
          </a:p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Inclusive practice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about the attitudes, approaches strategies talent to ensure that people are not excluded or isolated.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858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11430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Inclusive practices in education are based on </a:t>
            </a:r>
            <a:r>
              <a:rPr lang="en-US" sz="3600" b="1" i="1" dirty="0" smtClean="0">
                <a:latin typeface="Times New Roman" pitchFamily="18" charset="0"/>
                <a:cs typeface="Times New Roman" pitchFamily="18" charset="0"/>
              </a:rPr>
              <a:t>Six principles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334000"/>
          </a:xfrm>
        </p:spPr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Diversity enriches and strengthens all communities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learners‘ different learning styles and achievements are equally valued, respected and celebrated by society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learners are enabled to fulfill their potential by taking into account individual requirements and needs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Support is guaranteed and fully resourced across the whole learning experience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learners need friendship and support from people of their own age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children and young people are educated together as equals in their local communities </a:t>
            </a:r>
          </a:p>
        </p:txBody>
      </p:sp>
    </p:spTree>
    <p:extLst>
      <p:ext uri="{BB962C8B-B14F-4D97-AF65-F5344CB8AC3E}">
        <p14:creationId xmlns:p14="http://schemas.microsoft.com/office/powerpoint/2010/main" val="1799790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1020762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Benefits of Inclusion for Students with Disabilities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562600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Friendships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social initiations, relationships and networks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Peer role models for academic, social and behavior skills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achievement of Individual Educational Plan goals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Greater access to general curriculum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Enhanced skill acquisition and generalization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inclusion in future environments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Greater opportunities for interactions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Higher expectations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school staff collaboration 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parent participation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Families are more integrated into community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5337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19502861">
            <a:off x="-521615" y="2413544"/>
            <a:ext cx="87164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 for Your Attention!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 rot="19530793">
            <a:off x="2488812" y="4068098"/>
            <a:ext cx="63414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See You Next Week!</a:t>
            </a:r>
            <a:endParaRPr lang="en-U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471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3564</Words>
  <Application>Microsoft Office PowerPoint</Application>
  <PresentationFormat>On-screen Show (4:3)</PresentationFormat>
  <Paragraphs>335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Chapter 2: Concept of Inclusion</vt:lpstr>
      <vt:lpstr>Contents </vt:lpstr>
      <vt:lpstr>1. Definition of Inclusion </vt:lpstr>
      <vt:lpstr>1. Definition of Inclusion … Cont’d</vt:lpstr>
      <vt:lpstr>Inclusion is part of a wider strategy promoting inclusive development, with the goal of creating a world where there is peace, tolerance, and sustainable use of resources, social justice, and where the basic needs and rights of all are met. This definition has the following components:</vt:lpstr>
      <vt:lpstr>PowerPoint Presentation</vt:lpstr>
      <vt:lpstr>1. Definition of Inclusion … Cont’d</vt:lpstr>
      <vt:lpstr>2. Components of Inclusion</vt:lpstr>
      <vt:lpstr>McLeskey and Waldron (2000) ... Components Cont’d</vt:lpstr>
      <vt:lpstr>3. BUT Inclusion does not mean…</vt:lpstr>
      <vt:lpstr>3. BUT Inclusion does not mean… Cont’d</vt:lpstr>
      <vt:lpstr>4. Principles of Inclusion </vt:lpstr>
      <vt:lpstr>5. Rationale for Inclusion</vt:lpstr>
      <vt:lpstr>5. Rationale for Inclusion… cont’d</vt:lpstr>
      <vt:lpstr>5. Rationale for Inclusion… cont’d</vt:lpstr>
      <vt:lpstr>6. Factors that Influenced Development of Inclusion </vt:lpstr>
      <vt:lpstr>7. Benefits of Inclusion </vt:lpstr>
      <vt:lpstr>7. Benefits of Inclusion…cont’d </vt:lpstr>
      <vt:lpstr>7. Benefits of Inclusion…cont’d </vt:lpstr>
      <vt:lpstr>7. Benefits of Inclusion…cont’d </vt:lpstr>
      <vt:lpstr>8. Features of Inclusive Environment </vt:lpstr>
      <vt:lpstr>8. Features Inclusive Environments… cont’d </vt:lpstr>
      <vt:lpstr>8. Features of Inclusive Environments… cont’d </vt:lpstr>
      <vt:lpstr>9. Barriers to Inclusion </vt:lpstr>
      <vt:lpstr>9. Barriers to Inclusion…cont’d </vt:lpstr>
      <vt:lpstr>Chapter 4: Promoting Inclusive Culture</vt:lpstr>
      <vt:lpstr>Inclusive cultures</vt:lpstr>
      <vt:lpstr>Dimensions of Inclusive culture</vt:lpstr>
      <vt:lpstr>Benefits of Inclusive cultures </vt:lpstr>
      <vt:lpstr>Benefits of an Inclusive organization</vt:lpstr>
      <vt:lpstr>Building inclusive community </vt:lpstr>
      <vt:lpstr>Organization create inclusive workplace </vt:lpstr>
      <vt:lpstr>The Motive to Build Inclusive Community </vt:lpstr>
      <vt:lpstr>Characteristics of an Inclusive Community </vt:lpstr>
      <vt:lpstr>Four key inclusive leadership behaviors</vt:lpstr>
      <vt:lpstr>Five stages in establishing inclusive culture</vt:lpstr>
      <vt:lpstr>Ten Characteristics of an Inclusive Organization </vt:lpstr>
      <vt:lpstr>The seven Pillars of Inclusion</vt:lpstr>
      <vt:lpstr>Indigenous inclusion </vt:lpstr>
      <vt:lpstr>Features of an indigenous inclusion</vt:lpstr>
      <vt:lpstr>What are inclusive practices?</vt:lpstr>
      <vt:lpstr>Inclusive practices in education are based on Six principles</vt:lpstr>
      <vt:lpstr>Benefits of Inclusion for Students with Disabilities 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Concept of Inclusion</dc:title>
  <dc:creator>ismail - [2010]</dc:creator>
  <cp:lastModifiedBy>Cool</cp:lastModifiedBy>
  <cp:revision>31</cp:revision>
  <dcterms:created xsi:type="dcterms:W3CDTF">2021-11-16T17:05:00Z</dcterms:created>
  <dcterms:modified xsi:type="dcterms:W3CDTF">2024-04-19T06:45:33Z</dcterms:modified>
</cp:coreProperties>
</file>