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5"/>
  </p:notesMasterIdLst>
  <p:sldIdLst>
    <p:sldId id="256" r:id="rId2"/>
    <p:sldId id="522" r:id="rId3"/>
    <p:sldId id="347" r:id="rId4"/>
    <p:sldId id="523" r:id="rId5"/>
    <p:sldId id="524" r:id="rId6"/>
    <p:sldId id="526" r:id="rId7"/>
    <p:sldId id="527" r:id="rId8"/>
    <p:sldId id="528" r:id="rId9"/>
    <p:sldId id="530" r:id="rId10"/>
    <p:sldId id="531" r:id="rId11"/>
    <p:sldId id="532" r:id="rId12"/>
    <p:sldId id="533" r:id="rId13"/>
    <p:sldId id="534" r:id="rId14"/>
    <p:sldId id="535" r:id="rId15"/>
    <p:sldId id="536" r:id="rId16"/>
    <p:sldId id="537" r:id="rId17"/>
    <p:sldId id="538" r:id="rId18"/>
    <p:sldId id="552" r:id="rId19"/>
    <p:sldId id="539" r:id="rId20"/>
    <p:sldId id="540" r:id="rId21"/>
    <p:sldId id="541" r:id="rId22"/>
    <p:sldId id="542" r:id="rId23"/>
    <p:sldId id="543" r:id="rId24"/>
    <p:sldId id="544" r:id="rId25"/>
    <p:sldId id="545" r:id="rId26"/>
    <p:sldId id="546" r:id="rId27"/>
    <p:sldId id="547" r:id="rId28"/>
    <p:sldId id="584" r:id="rId29"/>
    <p:sldId id="548" r:id="rId30"/>
    <p:sldId id="553" r:id="rId31"/>
    <p:sldId id="549" r:id="rId32"/>
    <p:sldId id="554" r:id="rId33"/>
    <p:sldId id="550" r:id="rId34"/>
    <p:sldId id="555" r:id="rId35"/>
    <p:sldId id="556" r:id="rId36"/>
    <p:sldId id="557" r:id="rId37"/>
    <p:sldId id="558" r:id="rId38"/>
    <p:sldId id="559" r:id="rId39"/>
    <p:sldId id="560" r:id="rId40"/>
    <p:sldId id="561" r:id="rId41"/>
    <p:sldId id="562" r:id="rId42"/>
    <p:sldId id="563" r:id="rId43"/>
    <p:sldId id="564" r:id="rId44"/>
    <p:sldId id="565" r:id="rId45"/>
    <p:sldId id="566" r:id="rId46"/>
    <p:sldId id="567" r:id="rId47"/>
    <p:sldId id="568" r:id="rId48"/>
    <p:sldId id="569" r:id="rId49"/>
    <p:sldId id="570" r:id="rId50"/>
    <p:sldId id="571" r:id="rId51"/>
    <p:sldId id="572" r:id="rId52"/>
    <p:sldId id="573" r:id="rId53"/>
    <p:sldId id="574" r:id="rId54"/>
    <p:sldId id="575" r:id="rId55"/>
    <p:sldId id="576" r:id="rId56"/>
    <p:sldId id="577" r:id="rId57"/>
    <p:sldId id="578" r:id="rId58"/>
    <p:sldId id="579" r:id="rId59"/>
    <p:sldId id="580" r:id="rId60"/>
    <p:sldId id="581" r:id="rId61"/>
    <p:sldId id="582" r:id="rId62"/>
    <p:sldId id="583" r:id="rId63"/>
    <p:sldId id="368" r:id="rId6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88" autoAdjust="0"/>
    <p:restoredTop sz="94624" autoAdjust="0"/>
  </p:normalViewPr>
  <p:slideViewPr>
    <p:cSldViewPr>
      <p:cViewPr>
        <p:scale>
          <a:sx n="70" d="100"/>
          <a:sy n="70" d="100"/>
        </p:scale>
        <p:origin x="-1320" y="-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79D479E-20D3-4EAF-A20B-48FC2F32D191}" type="datetimeFigureOut">
              <a:rPr lang="en-US" smtClean="0"/>
              <a:pPr/>
              <a:t>2/17/2026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E97EEA9-706A-4380-9F93-43C7C4D91BB7}" type="slidenum">
              <a:rPr lang="en-US" smtClean="0"/>
              <a:pPr/>
              <a:t>‹#›</a:t>
            </a:fld>
            <a:endParaRPr lang="en-US"/>
          </a:p>
        </p:txBody>
      </p:sp>
    </p:spTree>
    <p:extLst>
      <p:ext uri="{BB962C8B-B14F-4D97-AF65-F5344CB8AC3E}">
        <p14:creationId xmlns:p14="http://schemas.microsoft.com/office/powerpoint/2010/main" val="27809871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E97EEA9-706A-4380-9F93-43C7C4D91BB7}" type="slidenum">
              <a:rPr lang="en-US" smtClean="0"/>
              <a:pPr/>
              <a:t>37</a:t>
            </a:fld>
            <a:endParaRPr lang="en-US"/>
          </a:p>
        </p:txBody>
      </p:sp>
    </p:spTree>
    <p:extLst>
      <p:ext uri="{BB962C8B-B14F-4D97-AF65-F5344CB8AC3E}">
        <p14:creationId xmlns:p14="http://schemas.microsoft.com/office/powerpoint/2010/main" val="25233932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E9987A2-10A2-4A28-A925-49DDBB1E39B7}" type="slidenum">
              <a:rPr lang="en-US"/>
              <a:pPr/>
              <a:t>63</a:t>
            </a:fld>
            <a:endParaRPr lang="en-US"/>
          </a:p>
        </p:txBody>
      </p:sp>
      <p:sp>
        <p:nvSpPr>
          <p:cNvPr id="439298" name="Rectangle 2"/>
          <p:cNvSpPr>
            <a:spLocks noGrp="1" noRot="1" noChangeAspect="1" noChangeArrowheads="1" noTextEdit="1"/>
          </p:cNvSpPr>
          <p:nvPr>
            <p:ph type="sldImg"/>
          </p:nvPr>
        </p:nvSpPr>
        <p:spPr>
          <a:ln/>
        </p:spPr>
      </p:sp>
      <p:sp>
        <p:nvSpPr>
          <p:cNvPr id="439299" name="Rectangle 3"/>
          <p:cNvSpPr>
            <a:spLocks noGrp="1" noChangeArrowheads="1"/>
          </p:cNvSpPr>
          <p:nvPr>
            <p:ph type="body" idx="1"/>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FCF980F-F0F6-4ABD-90D6-D39D318FD73F}" type="datetime1">
              <a:rPr lang="en-US" smtClean="0"/>
              <a:pPr/>
              <a:t>2/17/2026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spd="slow">
    <p:wipe dir="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70C0919-BFD2-4568-B773-80AF48C459CC}" type="datetime1">
              <a:rPr lang="en-US" smtClean="0"/>
              <a:pPr/>
              <a:t>2/17/2026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spd="slow">
    <p:wipe di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3D9DAFE-94BD-4C10-B8B4-DC20CAC1111A}" type="datetime1">
              <a:rPr lang="en-US" smtClean="0"/>
              <a:pPr/>
              <a:t>2/17/2026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spd="slow">
    <p:wipe di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633355AD-441D-4AA4-9306-E2802868BB3A}" type="datetime1">
              <a:rPr lang="en-US" smtClean="0"/>
              <a:pPr/>
              <a:t>2/17/2026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spd="slow">
    <p:wipe di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8204C0BB-E334-4088-B36A-15D9834F4AF7}" type="datetime1">
              <a:rPr lang="en-US" smtClean="0"/>
              <a:pPr/>
              <a:t>2/17/2026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spd="slow">
    <p:wipe di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DC55C222-7423-4EB9-A5CB-BC154FF7A8DC}" type="datetime1">
              <a:rPr lang="en-US" smtClean="0"/>
              <a:pPr/>
              <a:t>2/17/2026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spd="slow">
    <p:wipe dir="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2D6F49D-5DD8-4B22-9D0D-FC1D7B7CF74A}" type="datetime1">
              <a:rPr lang="en-US" smtClean="0"/>
              <a:pPr/>
              <a:t>2/17/2026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spd="slow">
    <p:wipe dir="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7F454FA-E608-4522-9088-5862F9779178}" type="datetime1">
              <a:rPr lang="en-US" smtClean="0"/>
              <a:pPr/>
              <a:t>2/17/2026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spd="slow">
    <p:wipe dir="u"/>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85322DA-7B61-437C-9C69-421F8B771F40}" type="datetime1">
              <a:rPr lang="en-US" smtClean="0"/>
              <a:pPr/>
              <a:t>2/17/2026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spd="slow">
    <p:wipe dir="u"/>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2B19724-570E-4BE7-8B9C-BAB1B846FA3C}" type="datetime1">
              <a:rPr lang="en-US" smtClean="0"/>
              <a:pPr/>
              <a:t>2/17/2026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spd="slow">
    <p:wipe dir="u"/>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8F7FC04-67BB-4116-8F64-19A91381F4D7}" type="datetime1">
              <a:rPr lang="en-US" smtClean="0"/>
              <a:pPr/>
              <a:t>2/17/2026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spd="slow">
    <p:wipe di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C256BDD-FA4D-4EBA-A13D-24B4360129C8}" type="datetime1">
              <a:rPr lang="en-US" smtClean="0"/>
              <a:pPr/>
              <a:t>2/17/2026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slow">
    <p:wipe dir="u"/>
  </p:transition>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9144000" cy="2590800"/>
          </a:xfrm>
        </p:spPr>
        <p:style>
          <a:lnRef idx="1">
            <a:schemeClr val="accent5"/>
          </a:lnRef>
          <a:fillRef idx="3">
            <a:schemeClr val="accent5"/>
          </a:fillRef>
          <a:effectRef idx="2">
            <a:schemeClr val="accent5"/>
          </a:effectRef>
          <a:fontRef idx="minor">
            <a:schemeClr val="lt1"/>
          </a:fontRef>
        </p:style>
        <p:txBody>
          <a:bodyPr>
            <a:normAutofit fontScale="90000"/>
          </a:bodyPr>
          <a:lstStyle/>
          <a:p>
            <a:r>
              <a:rPr lang="en-US" b="1" dirty="0" smtClean="0"/>
              <a:t/>
            </a:r>
            <a:br>
              <a:rPr lang="en-US" b="1" dirty="0" smtClean="0"/>
            </a:br>
            <a:r>
              <a:rPr lang="en-US" sz="8000" b="1" dirty="0" smtClean="0"/>
              <a:t>Welcome </a:t>
            </a:r>
            <a:br>
              <a:rPr lang="en-US" sz="8000" b="1" dirty="0" smtClean="0"/>
            </a:br>
            <a:r>
              <a:rPr lang="en-US" sz="8000" b="1" dirty="0" smtClean="0"/>
              <a:t>to</a:t>
            </a:r>
            <a:r>
              <a:rPr lang="en-US" b="1" dirty="0" smtClean="0"/>
              <a:t/>
            </a:r>
            <a:br>
              <a:rPr lang="en-US" b="1" dirty="0" smtClean="0"/>
            </a:br>
            <a:endParaRPr lang="en-US" dirty="0"/>
          </a:p>
        </p:txBody>
      </p:sp>
      <p:sp>
        <p:nvSpPr>
          <p:cNvPr id="3" name="Subtitle 2"/>
          <p:cNvSpPr>
            <a:spLocks noGrp="1"/>
          </p:cNvSpPr>
          <p:nvPr>
            <p:ph type="subTitle" idx="1"/>
          </p:nvPr>
        </p:nvSpPr>
        <p:spPr>
          <a:xfrm>
            <a:off x="228600" y="2743200"/>
            <a:ext cx="8686800" cy="3962400"/>
          </a:xfrm>
        </p:spPr>
        <p:txBody>
          <a:bodyPr>
            <a:normAutofit lnSpcReduction="10000"/>
          </a:bodyPr>
          <a:lstStyle/>
          <a:p>
            <a:r>
              <a:rPr lang="en-US" sz="6600" b="1" dirty="0" smtClean="0">
                <a:solidFill>
                  <a:srgbClr val="0070C0"/>
                </a:solidFill>
                <a:latin typeface="Algerian" pitchFamily="82" charset="0"/>
              </a:rPr>
              <a:t>Inclusiveness</a:t>
            </a:r>
            <a:r>
              <a:rPr lang="en-US" sz="6600" b="1" dirty="0" smtClean="0">
                <a:solidFill>
                  <a:srgbClr val="0070C0"/>
                </a:solidFill>
                <a:latin typeface="Comic Sans MS" pitchFamily="66" charset="0"/>
              </a:rPr>
              <a:t> </a:t>
            </a:r>
            <a:endParaRPr lang="en-US" sz="6500" b="1" cap="all" dirty="0" smtClean="0">
              <a:ln w="9000" cmpd="sng">
                <a:solidFill>
                  <a:schemeClr val="accent4">
                    <a:shade val="50000"/>
                    <a:satMod val="120000"/>
                  </a:schemeClr>
                </a:solidFill>
                <a:prstDash val="solid"/>
              </a:ln>
              <a:solidFill>
                <a:srgbClr val="0070C0"/>
              </a:solidFill>
              <a:effectLst>
                <a:reflection blurRad="12700" stA="28000" endPos="45000" dist="1000" dir="5400000" sy="-100000" algn="bl" rotWithShape="0"/>
              </a:effectLst>
              <a:latin typeface="Algerian" pitchFamily="82" charset="0"/>
            </a:endParaRPr>
          </a:p>
          <a:p>
            <a:endParaRPr lang="en-US" sz="6500" b="1" cap="all" dirty="0" smtClean="0">
              <a:ln w="9000" cmpd="sng">
                <a:solidFill>
                  <a:schemeClr val="accent4">
                    <a:shade val="50000"/>
                    <a:satMod val="120000"/>
                  </a:schemeClr>
                </a:solidFill>
                <a:prstDash val="solid"/>
              </a:ln>
              <a:solidFill>
                <a:srgbClr val="0070C0"/>
              </a:solidFill>
              <a:effectLst>
                <a:reflection blurRad="12700" stA="28000" endPos="45000" dist="1000" dir="5400000" sy="-100000" algn="bl" rotWithShape="0"/>
              </a:effectLst>
              <a:latin typeface="Algerian" pitchFamily="82" charset="0"/>
            </a:endParaRPr>
          </a:p>
          <a:p>
            <a:r>
              <a:rPr lang="en-US" b="1" cap="all" dirty="0" smtClean="0">
                <a:ln w="9000" cmpd="sng">
                  <a:solidFill>
                    <a:schemeClr val="accent4">
                      <a:shade val="50000"/>
                      <a:satMod val="120000"/>
                    </a:schemeClr>
                  </a:solidFill>
                  <a:prstDash val="solid"/>
                </a:ln>
                <a:solidFill>
                  <a:srgbClr val="0070C0"/>
                </a:solidFill>
                <a:effectLst>
                  <a:reflection blurRad="12700" stA="28000" endPos="45000" dist="1000" dir="5400000" sy="-100000" algn="bl" rotWithShape="0"/>
                </a:effectLst>
                <a:latin typeface="Algerian" pitchFamily="82" charset="0"/>
              </a:rPr>
              <a:t>Course code: </a:t>
            </a:r>
            <a:r>
              <a:rPr lang="en-US" b="1" dirty="0" smtClean="0">
                <a:solidFill>
                  <a:srgbClr val="0070C0"/>
                </a:solidFill>
                <a:latin typeface="Algerian" pitchFamily="82" charset="0"/>
              </a:rPr>
              <a:t>SNIE 1012</a:t>
            </a:r>
            <a:endParaRPr lang="en-US" b="1" cap="all" dirty="0" smtClean="0">
              <a:ln w="9000" cmpd="sng">
                <a:solidFill>
                  <a:schemeClr val="accent4">
                    <a:shade val="50000"/>
                    <a:satMod val="120000"/>
                  </a:schemeClr>
                </a:solidFill>
                <a:prstDash val="solid"/>
              </a:ln>
              <a:solidFill>
                <a:srgbClr val="0070C0"/>
              </a:solidFill>
              <a:effectLst>
                <a:reflection blurRad="12700" stA="28000" endPos="45000" dist="1000" dir="5400000" sy="-100000" algn="bl" rotWithShape="0"/>
              </a:effectLst>
              <a:latin typeface="Algerian" pitchFamily="82" charset="0"/>
            </a:endParaRPr>
          </a:p>
          <a:p>
            <a:pPr algn="just"/>
            <a:endParaRPr lang="en-US" sz="2800" b="1" dirty="0">
              <a:solidFill>
                <a:schemeClr val="tx1"/>
              </a:solidFill>
            </a:endParaRPr>
          </a:p>
          <a:p>
            <a:r>
              <a:rPr lang="en-US" b="1" dirty="0" err="1" smtClean="0">
                <a:solidFill>
                  <a:schemeClr val="tx1"/>
                </a:solidFill>
              </a:rPr>
              <a:t>Gashaw</a:t>
            </a:r>
            <a:r>
              <a:rPr lang="en-US" b="1" dirty="0" smtClean="0">
                <a:solidFill>
                  <a:schemeClr val="tx1"/>
                </a:solidFill>
              </a:rPr>
              <a:t> </a:t>
            </a:r>
            <a:r>
              <a:rPr lang="en-US" b="1" dirty="0" err="1" smtClean="0">
                <a:solidFill>
                  <a:schemeClr val="tx1"/>
                </a:solidFill>
              </a:rPr>
              <a:t>Tesfa</a:t>
            </a:r>
            <a:endParaRPr lang="en-US" b="1" dirty="0" smtClean="0">
              <a:solidFill>
                <a:schemeClr val="tx1"/>
              </a:solidFill>
            </a:endParaRPr>
          </a:p>
          <a:p>
            <a:pPr algn="r"/>
            <a:endParaRPr lang="en-US" sz="2800" b="1" dirty="0">
              <a:solidFill>
                <a:schemeClr val="tx1"/>
              </a:solidFill>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1</a:t>
            </a:fld>
            <a:endParaRPr lang="en-US" dirty="0"/>
          </a:p>
        </p:txBody>
      </p:sp>
    </p:spTree>
  </p:cSld>
  <p:clrMapOvr>
    <a:masterClrMapping/>
  </p:clrMapOvr>
  <p:transition spd="slow">
    <p:wipe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8686800" cy="2316162"/>
          </a:xfrm>
        </p:spPr>
        <p:txBody>
          <a:bodyPr>
            <a:normAutofit fontScale="90000"/>
          </a:bodyPr>
          <a:lstStyle/>
          <a:p>
            <a:r>
              <a:rPr lang="en-US" sz="4000" b="1" dirty="0" smtClean="0">
                <a:latin typeface="Comic Sans MS" pitchFamily="66" charset="0"/>
              </a:rPr>
              <a:t/>
            </a:r>
            <a:br>
              <a:rPr lang="en-US" sz="4000" b="1" dirty="0" smtClean="0">
                <a:latin typeface="Comic Sans MS" pitchFamily="66" charset="0"/>
              </a:rPr>
            </a:br>
            <a:r>
              <a:rPr lang="en-US" sz="4000" b="1" dirty="0" smtClean="0">
                <a:latin typeface="Times New Roman" pitchFamily="18" charset="0"/>
                <a:cs typeface="Times New Roman" pitchFamily="18" charset="0"/>
              </a:rPr>
              <a:t>Target Group</a:t>
            </a:r>
            <a:r>
              <a:rPr lang="en-US" sz="4000" dirty="0" smtClean="0">
                <a:latin typeface="Times New Roman" pitchFamily="18" charset="0"/>
                <a:cs typeface="Times New Roman" pitchFamily="18" charset="0"/>
              </a:rPr>
              <a:t>: </a:t>
            </a:r>
            <a:r>
              <a:rPr lang="en-US" sz="3600" b="1" dirty="0" smtClean="0">
                <a:solidFill>
                  <a:schemeClr val="accent4">
                    <a:lumMod val="75000"/>
                  </a:schemeClr>
                </a:solidFill>
                <a:latin typeface="Times New Roman" pitchFamily="18" charset="0"/>
                <a:cs typeface="Times New Roman" pitchFamily="18" charset="0"/>
              </a:rPr>
              <a:t>All 1</a:t>
            </a:r>
            <a:r>
              <a:rPr lang="en-US" sz="3600" b="1" baseline="30000" dirty="0" smtClean="0">
                <a:solidFill>
                  <a:schemeClr val="accent4">
                    <a:lumMod val="75000"/>
                  </a:schemeClr>
                </a:solidFill>
                <a:latin typeface="Times New Roman" pitchFamily="18" charset="0"/>
                <a:cs typeface="Times New Roman" pitchFamily="18" charset="0"/>
              </a:rPr>
              <a:t>st</a:t>
            </a:r>
            <a:r>
              <a:rPr lang="en-US" sz="3600" b="1" dirty="0" smtClean="0">
                <a:solidFill>
                  <a:schemeClr val="accent4">
                    <a:lumMod val="75000"/>
                  </a:schemeClr>
                </a:solidFill>
                <a:latin typeface="Times New Roman" pitchFamily="18" charset="0"/>
                <a:cs typeface="Times New Roman" pitchFamily="18" charset="0"/>
              </a:rPr>
              <a:t> Year Students</a:t>
            </a:r>
            <a:r>
              <a:rPr lang="en-US" sz="3600" dirty="0" smtClean="0">
                <a:solidFill>
                  <a:schemeClr val="accent4">
                    <a:lumMod val="75000"/>
                  </a:schemeClr>
                </a:solidFill>
                <a:latin typeface="Times New Roman" pitchFamily="18" charset="0"/>
                <a:cs typeface="Times New Roman" pitchFamily="18" charset="0"/>
              </a:rPr>
              <a:t> </a:t>
            </a:r>
            <a:br>
              <a:rPr lang="en-US" sz="3600" dirty="0" smtClean="0">
                <a:solidFill>
                  <a:schemeClr val="accent4">
                    <a:lumMod val="75000"/>
                  </a:schemeClr>
                </a:solidFill>
                <a:latin typeface="Times New Roman" pitchFamily="18" charset="0"/>
                <a:cs typeface="Times New Roman" pitchFamily="18" charset="0"/>
              </a:rPr>
            </a:br>
            <a:r>
              <a:rPr lang="en-US" sz="4000" dirty="0" smtClean="0">
                <a:latin typeface="Times New Roman" pitchFamily="18" charset="0"/>
                <a:cs typeface="Times New Roman" pitchFamily="18" charset="0"/>
              </a:rPr>
              <a:t/>
            </a:r>
            <a:br>
              <a:rPr lang="en-US" sz="4000" dirty="0" smtClean="0">
                <a:latin typeface="Times New Roman" pitchFamily="18" charset="0"/>
                <a:cs typeface="Times New Roman" pitchFamily="18" charset="0"/>
              </a:rPr>
            </a:br>
            <a:r>
              <a:rPr lang="en-US" sz="4000" b="1" dirty="0" smtClean="0">
                <a:latin typeface="Times New Roman" pitchFamily="18" charset="0"/>
                <a:cs typeface="Times New Roman" pitchFamily="18" charset="0"/>
              </a:rPr>
              <a:t>Instructor’s Name</a:t>
            </a:r>
            <a:r>
              <a:rPr lang="en-US" sz="4000" dirty="0" smtClean="0">
                <a:latin typeface="Times New Roman" pitchFamily="18" charset="0"/>
                <a:cs typeface="Times New Roman" pitchFamily="18" charset="0"/>
              </a:rPr>
              <a:t>: </a:t>
            </a:r>
            <a:r>
              <a:rPr lang="en-US" sz="3600" b="1" dirty="0" err="1" smtClean="0">
                <a:solidFill>
                  <a:srgbClr val="7030A0"/>
                </a:solidFill>
                <a:latin typeface="Times New Roman" pitchFamily="18" charset="0"/>
                <a:cs typeface="Times New Roman" pitchFamily="18" charset="0"/>
              </a:rPr>
              <a:t>Gashaw</a:t>
            </a:r>
            <a:r>
              <a:rPr lang="en-US" sz="3600" b="1" dirty="0" smtClean="0">
                <a:solidFill>
                  <a:srgbClr val="7030A0"/>
                </a:solidFill>
                <a:latin typeface="Times New Roman" pitchFamily="18" charset="0"/>
                <a:cs typeface="Times New Roman" pitchFamily="18" charset="0"/>
              </a:rPr>
              <a:t> </a:t>
            </a:r>
            <a:r>
              <a:rPr lang="en-US" sz="3600" b="1" dirty="0" err="1" smtClean="0">
                <a:solidFill>
                  <a:srgbClr val="7030A0"/>
                </a:solidFill>
                <a:latin typeface="Times New Roman" pitchFamily="18" charset="0"/>
                <a:cs typeface="Times New Roman" pitchFamily="18" charset="0"/>
              </a:rPr>
              <a:t>Tesfa</a:t>
            </a:r>
            <a:r>
              <a:rPr lang="en-US" sz="3600" b="1" dirty="0" smtClean="0">
                <a:latin typeface="Times New Roman" pitchFamily="18" charset="0"/>
                <a:cs typeface="Times New Roman" pitchFamily="18" charset="0"/>
              </a:rPr>
              <a:t> </a:t>
            </a:r>
            <a:r>
              <a:rPr lang="en-US" sz="3100" b="1" dirty="0" smtClean="0">
                <a:solidFill>
                  <a:schemeClr val="accent4">
                    <a:lumMod val="75000"/>
                  </a:schemeClr>
                </a:solidFill>
                <a:latin typeface="Times New Roman" pitchFamily="18" charset="0"/>
                <a:cs typeface="Times New Roman" pitchFamily="18" charset="0"/>
              </a:rPr>
              <a:t>(Lecturer)</a:t>
            </a:r>
            <a:r>
              <a:rPr lang="en-US" b="1" dirty="0" smtClean="0">
                <a:latin typeface="Comic Sans MS" pitchFamily="66" charset="0"/>
              </a:rPr>
              <a:t/>
            </a:r>
            <a:br>
              <a:rPr lang="en-US" b="1" dirty="0" smtClean="0">
                <a:latin typeface="Comic Sans MS" pitchFamily="66" charset="0"/>
              </a:rPr>
            </a:b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a:t>
            </a:fld>
            <a:endParaRPr lang="en-US"/>
          </a:p>
        </p:txBody>
      </p:sp>
      <p:pic>
        <p:nvPicPr>
          <p:cNvPr id="5" name="Picture 3"/>
          <p:cNvPicPr>
            <a:picLocks noGrp="1" noChangeAspect="1"/>
          </p:cNvPicPr>
          <p:nvPr>
            <p:ph idx="1"/>
          </p:nvPr>
        </p:nvPicPr>
        <p:blipFill>
          <a:blip r:embed="rId2" cstate="print"/>
          <a:stretch>
            <a:fillRect/>
          </a:stretch>
        </p:blipFill>
        <p:spPr>
          <a:xfrm>
            <a:off x="685800" y="2209800"/>
            <a:ext cx="7620000" cy="3886200"/>
          </a:xfrm>
          <a:prstGeom prst="rect">
            <a:avLst/>
          </a:prstGeom>
        </p:spPr>
      </p:pic>
    </p:spTree>
  </p:cSld>
  <p:clrMapOvr>
    <a:masterClrMapping/>
  </p:clrMapOvr>
  <p:transition spd="slow">
    <p:wipe dir="u"/>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pPr lvl="0"/>
            <a:r>
              <a:rPr lang="en-US" b="1" dirty="0" smtClean="0">
                <a:solidFill>
                  <a:srgbClr val="FF0000"/>
                </a:solidFill>
                <a:latin typeface="Comic Sans MS" pitchFamily="66" charset="0"/>
              </a:rPr>
              <a:t>Course Description </a:t>
            </a:r>
            <a:endParaRPr lang="en-US" b="1" dirty="0"/>
          </a:p>
        </p:txBody>
      </p:sp>
      <p:sp>
        <p:nvSpPr>
          <p:cNvPr id="3" name="Content Placeholder 2"/>
          <p:cNvSpPr>
            <a:spLocks noGrp="1"/>
          </p:cNvSpPr>
          <p:nvPr>
            <p:ph idx="1"/>
          </p:nvPr>
        </p:nvSpPr>
        <p:spPr>
          <a:xfrm>
            <a:off x="152400" y="1143000"/>
            <a:ext cx="8763000" cy="5486400"/>
          </a:xfrm>
        </p:spPr>
        <p:txBody>
          <a:bodyPr>
            <a:normAutofit fontScale="32500" lnSpcReduction="20000"/>
          </a:bodyPr>
          <a:lstStyle/>
          <a:p>
            <a:pPr>
              <a:lnSpc>
                <a:spcPct val="120000"/>
              </a:lnSpc>
            </a:pPr>
            <a:r>
              <a:rPr lang="en-US" sz="7400" dirty="0" smtClean="0">
                <a:latin typeface="Californian FB" pitchFamily="18" charset="0"/>
              </a:rPr>
              <a:t>Development efforts of any organization need to include and benefit people with </a:t>
            </a:r>
            <a:r>
              <a:rPr lang="en-US" sz="7400" b="1" dirty="0" smtClean="0">
                <a:solidFill>
                  <a:srgbClr val="FF0000"/>
                </a:solidFill>
                <a:latin typeface="Californian FB" pitchFamily="18" charset="0"/>
              </a:rPr>
              <a:t>various types of disabilities</a:t>
            </a:r>
            <a:r>
              <a:rPr lang="en-US" sz="7400" dirty="0" smtClean="0">
                <a:latin typeface="Californian FB" pitchFamily="18" charset="0"/>
              </a:rPr>
              <a:t>, </a:t>
            </a:r>
            <a:r>
              <a:rPr lang="en-US" sz="7400" b="1" dirty="0" smtClean="0">
                <a:solidFill>
                  <a:srgbClr val="FF0000"/>
                </a:solidFill>
                <a:latin typeface="Californian FB" pitchFamily="18" charset="0"/>
              </a:rPr>
              <a:t>people at risks of exclusion/discrimination and marginalization</a:t>
            </a:r>
            <a:r>
              <a:rPr lang="en-US" sz="7400" dirty="0" smtClean="0">
                <a:latin typeface="Californian FB" pitchFamily="18" charset="0"/>
              </a:rPr>
              <a:t>, </a:t>
            </a:r>
            <a:r>
              <a:rPr lang="en-US" sz="7400" b="1" dirty="0" smtClean="0">
                <a:effectLst>
                  <a:outerShdw blurRad="38100" dist="38100" dir="2700000" algn="tl">
                    <a:srgbClr val="000000">
                      <a:alpha val="43137"/>
                    </a:srgbClr>
                  </a:outerShdw>
                </a:effectLst>
                <a:latin typeface="Californian FB" pitchFamily="18" charset="0"/>
              </a:rPr>
              <a:t>through</a:t>
            </a:r>
            <a:r>
              <a:rPr lang="en-US" sz="7400" dirty="0" smtClean="0">
                <a:effectLst>
                  <a:outerShdw blurRad="38100" dist="38100" dir="2700000" algn="tl">
                    <a:srgbClr val="000000">
                      <a:alpha val="43137"/>
                    </a:srgbClr>
                  </a:outerShdw>
                </a:effectLst>
                <a:latin typeface="Californian FB" pitchFamily="18" charset="0"/>
              </a:rPr>
              <a:t> </a:t>
            </a:r>
            <a:r>
              <a:rPr lang="en-US" sz="7400" b="1" dirty="0" smtClean="0">
                <a:effectLst>
                  <a:outerShdw blurRad="38100" dist="38100" dir="2700000" algn="tl">
                    <a:srgbClr val="000000">
                      <a:alpha val="43137"/>
                    </a:srgbClr>
                  </a:outerShdw>
                </a:effectLst>
                <a:latin typeface="Californian FB" pitchFamily="18" charset="0"/>
              </a:rPr>
              <a:t>providing</a:t>
            </a:r>
            <a:r>
              <a:rPr lang="en-US" sz="7400" dirty="0" smtClean="0">
                <a:latin typeface="Californian FB" pitchFamily="18" charset="0"/>
              </a:rPr>
              <a:t> </a:t>
            </a:r>
            <a:r>
              <a:rPr lang="en-US" sz="7400" i="1" dirty="0" smtClean="0">
                <a:solidFill>
                  <a:srgbClr val="0070C0"/>
                </a:solidFill>
                <a:latin typeface="Californian FB" pitchFamily="18" charset="0"/>
              </a:rPr>
              <a:t>quality education and training</a:t>
            </a:r>
            <a:r>
              <a:rPr lang="en-US" sz="7400" dirty="0" smtClean="0">
                <a:latin typeface="Californian FB" pitchFamily="18" charset="0"/>
              </a:rPr>
              <a:t>, </a:t>
            </a:r>
            <a:r>
              <a:rPr lang="en-US" sz="7400" i="1" dirty="0" smtClean="0">
                <a:solidFill>
                  <a:srgbClr val="0070C0"/>
                </a:solidFill>
                <a:latin typeface="Californian FB" pitchFamily="18" charset="0"/>
              </a:rPr>
              <a:t>creating equity</a:t>
            </a:r>
            <a:r>
              <a:rPr lang="en-US" sz="7400" dirty="0" smtClean="0">
                <a:latin typeface="Californian FB" pitchFamily="18" charset="0"/>
              </a:rPr>
              <a:t>, </a:t>
            </a:r>
            <a:r>
              <a:rPr lang="en-US" sz="7400" i="1" dirty="0" smtClean="0">
                <a:solidFill>
                  <a:srgbClr val="0070C0"/>
                </a:solidFill>
                <a:latin typeface="Californian FB" pitchFamily="18" charset="0"/>
              </a:rPr>
              <a:t>accessibility</a:t>
            </a:r>
            <a:r>
              <a:rPr lang="en-US" sz="7400" dirty="0" smtClean="0">
                <a:latin typeface="Californian FB" pitchFamily="18" charset="0"/>
              </a:rPr>
              <a:t>, </a:t>
            </a:r>
            <a:r>
              <a:rPr lang="en-US" sz="7400" i="1" dirty="0" smtClean="0">
                <a:solidFill>
                  <a:srgbClr val="0070C0"/>
                </a:solidFill>
                <a:latin typeface="Californian FB" pitchFamily="18" charset="0"/>
              </a:rPr>
              <a:t>employability</a:t>
            </a:r>
            <a:r>
              <a:rPr lang="en-US" sz="7400" dirty="0" smtClean="0">
                <a:latin typeface="Californian FB" pitchFamily="18" charset="0"/>
              </a:rPr>
              <a:t>, </a:t>
            </a:r>
            <a:r>
              <a:rPr lang="en-US" sz="7400" i="1" dirty="0" smtClean="0">
                <a:solidFill>
                  <a:srgbClr val="0070C0"/>
                </a:solidFill>
                <a:latin typeface="Californian FB" pitchFamily="18" charset="0"/>
              </a:rPr>
              <a:t>promoting prosperity</a:t>
            </a:r>
            <a:r>
              <a:rPr lang="en-US" sz="7400" dirty="0" smtClean="0">
                <a:latin typeface="Californian FB" pitchFamily="18" charset="0"/>
              </a:rPr>
              <a:t>, </a:t>
            </a:r>
            <a:r>
              <a:rPr lang="en-US" sz="7400" i="1" dirty="0" smtClean="0">
                <a:solidFill>
                  <a:srgbClr val="0070C0"/>
                </a:solidFill>
                <a:latin typeface="Californian FB" pitchFamily="18" charset="0"/>
              </a:rPr>
              <a:t>reducing poverty </a:t>
            </a:r>
            <a:r>
              <a:rPr lang="en-US" sz="7400" dirty="0" smtClean="0">
                <a:latin typeface="Californian FB" pitchFamily="18" charset="0"/>
              </a:rPr>
              <a:t>and </a:t>
            </a:r>
            <a:r>
              <a:rPr lang="en-US" sz="7400" i="1" dirty="0" smtClean="0">
                <a:solidFill>
                  <a:srgbClr val="0070C0"/>
                </a:solidFill>
                <a:latin typeface="Californian FB" pitchFamily="18" charset="0"/>
              </a:rPr>
              <a:t>enhancing peace, stability</a:t>
            </a:r>
            <a:r>
              <a:rPr lang="en-US" sz="7400" dirty="0" smtClean="0">
                <a:latin typeface="Californian FB" pitchFamily="18" charset="0"/>
              </a:rPr>
              <a:t> and </a:t>
            </a:r>
            <a:r>
              <a:rPr lang="en-US" sz="7400" i="1" dirty="0" smtClean="0">
                <a:solidFill>
                  <a:srgbClr val="0070C0"/>
                </a:solidFill>
                <a:latin typeface="Californian FB" pitchFamily="18" charset="0"/>
              </a:rPr>
              <a:t>creating inclusive society</a:t>
            </a:r>
            <a:r>
              <a:rPr lang="en-US" sz="7400" dirty="0" smtClean="0">
                <a:latin typeface="Californian FB" pitchFamily="18" charset="0"/>
              </a:rPr>
              <a:t>. </a:t>
            </a:r>
          </a:p>
          <a:p>
            <a:pPr>
              <a:lnSpc>
                <a:spcPct val="120000"/>
              </a:lnSpc>
              <a:buNone/>
            </a:pPr>
            <a:endParaRPr lang="en-US" sz="4000" dirty="0" smtClean="0">
              <a:latin typeface="Californian FB" pitchFamily="18" charset="0"/>
            </a:endParaRPr>
          </a:p>
          <a:p>
            <a:pPr>
              <a:lnSpc>
                <a:spcPct val="120000"/>
              </a:lnSpc>
            </a:pPr>
            <a:r>
              <a:rPr lang="en-US" sz="7400" spc="-15" dirty="0" smtClean="0">
                <a:latin typeface="Californian FB" pitchFamily="18" charset="0"/>
                <a:ea typeface="Times New Roman" panose="02020603050405020304" pitchFamily="18" charset="0"/>
              </a:rPr>
              <a:t>I</a:t>
            </a:r>
            <a:r>
              <a:rPr lang="en-US" sz="7400" spc="10" dirty="0" smtClean="0">
                <a:latin typeface="Californian FB" pitchFamily="18" charset="0"/>
                <a:ea typeface="Times New Roman" panose="02020603050405020304" pitchFamily="18" charset="0"/>
              </a:rPr>
              <a:t>n</a:t>
            </a:r>
            <a:r>
              <a:rPr lang="en-US" sz="7400" spc="-5" dirty="0" smtClean="0">
                <a:latin typeface="Californian FB" pitchFamily="18" charset="0"/>
                <a:ea typeface="Times New Roman" panose="02020603050405020304" pitchFamily="18" charset="0"/>
              </a:rPr>
              <a:t>c</a:t>
            </a:r>
            <a:r>
              <a:rPr lang="en-US" sz="7400" dirty="0" smtClean="0">
                <a:latin typeface="Californian FB" pitchFamily="18" charset="0"/>
                <a:ea typeface="Times New Roman" panose="02020603050405020304" pitchFamily="18" charset="0"/>
              </a:rPr>
              <a:t>lus</a:t>
            </a:r>
            <a:r>
              <a:rPr lang="en-US" sz="7400" spc="5" dirty="0" smtClean="0">
                <a:latin typeface="Californian FB" pitchFamily="18" charset="0"/>
                <a:ea typeface="Times New Roman" panose="02020603050405020304" pitchFamily="18" charset="0"/>
              </a:rPr>
              <a:t>i</a:t>
            </a:r>
            <a:r>
              <a:rPr lang="en-US" sz="7400" dirty="0" smtClean="0">
                <a:latin typeface="Californian FB" pitchFamily="18" charset="0"/>
                <a:ea typeface="Times New Roman" panose="02020603050405020304" pitchFamily="18" charset="0"/>
              </a:rPr>
              <a:t>v</a:t>
            </a:r>
            <a:r>
              <a:rPr lang="en-US" sz="7400" spc="-5" dirty="0" smtClean="0">
                <a:latin typeface="Californian FB" pitchFamily="18" charset="0"/>
                <a:ea typeface="Times New Roman" panose="02020603050405020304" pitchFamily="18" charset="0"/>
              </a:rPr>
              <a:t>e</a:t>
            </a:r>
            <a:r>
              <a:rPr lang="en-US" sz="7400" dirty="0" smtClean="0">
                <a:latin typeface="Californian FB" pitchFamily="18" charset="0"/>
                <a:ea typeface="Times New Roman" panose="02020603050405020304" pitchFamily="18" charset="0"/>
              </a:rPr>
              <a:t>n</a:t>
            </a:r>
            <a:r>
              <a:rPr lang="en-US" sz="7400" spc="-5" dirty="0" smtClean="0">
                <a:latin typeface="Californian FB" pitchFamily="18" charset="0"/>
                <a:ea typeface="Times New Roman" panose="02020603050405020304" pitchFamily="18" charset="0"/>
              </a:rPr>
              <a:t>e</a:t>
            </a:r>
            <a:r>
              <a:rPr lang="en-US" sz="7400" dirty="0" smtClean="0">
                <a:latin typeface="Californian FB" pitchFamily="18" charset="0"/>
                <a:ea typeface="Times New Roman" panose="02020603050405020304" pitchFamily="18" charset="0"/>
              </a:rPr>
              <a:t>ss</a:t>
            </a:r>
            <a:r>
              <a:rPr lang="en-US" sz="7400" spc="10" dirty="0" smtClean="0">
                <a:latin typeface="Californian FB" pitchFamily="18" charset="0"/>
                <a:ea typeface="Times New Roman" panose="02020603050405020304" pitchFamily="18" charset="0"/>
              </a:rPr>
              <a:t> </a:t>
            </a:r>
            <a:r>
              <a:rPr lang="en-US" sz="7400" dirty="0" smtClean="0">
                <a:latin typeface="Californian FB" pitchFamily="18" charset="0"/>
                <a:ea typeface="Times New Roman" panose="02020603050405020304" pitchFamily="18" charset="0"/>
              </a:rPr>
              <a:t>p</a:t>
            </a:r>
            <a:r>
              <a:rPr lang="en-US" sz="7400" spc="-15" dirty="0" smtClean="0">
                <a:latin typeface="Californian FB" pitchFamily="18" charset="0"/>
                <a:ea typeface="Times New Roman" panose="02020603050405020304" pitchFamily="18" charset="0"/>
              </a:rPr>
              <a:t>r</a:t>
            </a:r>
            <a:r>
              <a:rPr lang="en-US" sz="7400" dirty="0" smtClean="0">
                <a:latin typeface="Californian FB" pitchFamily="18" charset="0"/>
                <a:ea typeface="Times New Roman" panose="02020603050405020304" pitchFamily="18" charset="0"/>
              </a:rPr>
              <a:t>omo</a:t>
            </a:r>
            <a:r>
              <a:rPr lang="en-US" sz="7400" spc="5" dirty="0" smtClean="0">
                <a:latin typeface="Californian FB" pitchFamily="18" charset="0"/>
                <a:ea typeface="Times New Roman" panose="02020603050405020304" pitchFamily="18" charset="0"/>
              </a:rPr>
              <a:t>t</a:t>
            </a:r>
            <a:r>
              <a:rPr lang="en-US" sz="7400" spc="-5" dirty="0" smtClean="0">
                <a:latin typeface="Californian FB" pitchFamily="18" charset="0"/>
                <a:ea typeface="Times New Roman" panose="02020603050405020304" pitchFamily="18" charset="0"/>
              </a:rPr>
              <a:t>e</a:t>
            </a:r>
            <a:r>
              <a:rPr lang="en-US" sz="7400" dirty="0" smtClean="0">
                <a:latin typeface="Californian FB" pitchFamily="18" charset="0"/>
                <a:ea typeface="Times New Roman" panose="02020603050405020304" pitchFamily="18" charset="0"/>
              </a:rPr>
              <a:t>s</a:t>
            </a:r>
            <a:r>
              <a:rPr lang="en-US" sz="7400" spc="10" dirty="0" smtClean="0">
                <a:latin typeface="Californian FB" pitchFamily="18" charset="0"/>
                <a:ea typeface="Times New Roman" panose="02020603050405020304" pitchFamily="18" charset="0"/>
              </a:rPr>
              <a:t> </a:t>
            </a:r>
            <a:r>
              <a:rPr lang="en-US" sz="7400" spc="-5" dirty="0" smtClean="0">
                <a:latin typeface="Californian FB" pitchFamily="18" charset="0"/>
                <a:ea typeface="Times New Roman" panose="02020603050405020304" pitchFamily="18" charset="0"/>
              </a:rPr>
              <a:t>e</a:t>
            </a:r>
            <a:r>
              <a:rPr lang="en-US" sz="7400" dirty="0" smtClean="0">
                <a:latin typeface="Californian FB" pitchFamily="18" charset="0"/>
                <a:ea typeface="Times New Roman" panose="02020603050405020304" pitchFamily="18" charset="0"/>
              </a:rPr>
              <a:t>f</a:t>
            </a:r>
            <a:r>
              <a:rPr lang="en-US" sz="7400" spc="-5" dirty="0" smtClean="0">
                <a:latin typeface="Californian FB" pitchFamily="18" charset="0"/>
                <a:ea typeface="Times New Roman" panose="02020603050405020304" pitchFamily="18" charset="0"/>
              </a:rPr>
              <a:t>fec</a:t>
            </a:r>
            <a:r>
              <a:rPr lang="en-US" sz="7400" dirty="0" smtClean="0">
                <a:latin typeface="Californian FB" pitchFamily="18" charset="0"/>
                <a:ea typeface="Times New Roman" panose="02020603050405020304" pitchFamily="18" charset="0"/>
              </a:rPr>
              <a:t>t</a:t>
            </a:r>
            <a:r>
              <a:rPr lang="en-US" sz="7400" spc="5" dirty="0" smtClean="0">
                <a:latin typeface="Californian FB" pitchFamily="18" charset="0"/>
                <a:ea typeface="Times New Roman" panose="02020603050405020304" pitchFamily="18" charset="0"/>
              </a:rPr>
              <a:t>i</a:t>
            </a:r>
            <a:r>
              <a:rPr lang="en-US" sz="7400" dirty="0" smtClean="0">
                <a:latin typeface="Californian FB" pitchFamily="18" charset="0"/>
                <a:ea typeface="Times New Roman" panose="02020603050405020304" pitchFamily="18" charset="0"/>
              </a:rPr>
              <a:t>ve d</a:t>
            </a:r>
            <a:r>
              <a:rPr lang="en-US" sz="7400" spc="-5" dirty="0" smtClean="0">
                <a:latin typeface="Californian FB" pitchFamily="18" charset="0"/>
                <a:ea typeface="Times New Roman" panose="02020603050405020304" pitchFamily="18" charset="0"/>
              </a:rPr>
              <a:t>e</a:t>
            </a:r>
            <a:r>
              <a:rPr lang="en-US" sz="7400" spc="10" dirty="0" smtClean="0">
                <a:latin typeface="Californian FB" pitchFamily="18" charset="0"/>
                <a:ea typeface="Times New Roman" panose="02020603050405020304" pitchFamily="18" charset="0"/>
              </a:rPr>
              <a:t>v</a:t>
            </a:r>
            <a:r>
              <a:rPr lang="en-US" sz="7400" spc="-5" dirty="0" smtClean="0">
                <a:latin typeface="Californian FB" pitchFamily="18" charset="0"/>
                <a:ea typeface="Times New Roman" panose="02020603050405020304" pitchFamily="18" charset="0"/>
              </a:rPr>
              <a:t>e</a:t>
            </a:r>
            <a:r>
              <a:rPr lang="en-US" sz="7400" dirty="0" smtClean="0">
                <a:latin typeface="Californian FB" pitchFamily="18" charset="0"/>
                <a:ea typeface="Times New Roman" panose="02020603050405020304" pitchFamily="18" charset="0"/>
              </a:rPr>
              <a:t>lop</a:t>
            </a:r>
            <a:r>
              <a:rPr lang="en-US" sz="7400" spc="5" dirty="0" smtClean="0">
                <a:latin typeface="Californian FB" pitchFamily="18" charset="0"/>
                <a:ea typeface="Times New Roman" panose="02020603050405020304" pitchFamily="18" charset="0"/>
              </a:rPr>
              <a:t>m</a:t>
            </a:r>
            <a:r>
              <a:rPr lang="en-US" sz="7400" spc="-5" dirty="0" smtClean="0">
                <a:latin typeface="Californian FB" pitchFamily="18" charset="0"/>
                <a:ea typeface="Times New Roman" panose="02020603050405020304" pitchFamily="18" charset="0"/>
              </a:rPr>
              <a:t>e</a:t>
            </a:r>
            <a:r>
              <a:rPr lang="en-US" sz="7400" dirty="0" smtClean="0">
                <a:latin typeface="Californian FB" pitchFamily="18" charset="0"/>
                <a:ea typeface="Times New Roman" panose="02020603050405020304" pitchFamily="18" charset="0"/>
              </a:rPr>
              <a:t>n</a:t>
            </a:r>
            <a:r>
              <a:rPr lang="en-US" sz="7400" spc="15" dirty="0" smtClean="0">
                <a:latin typeface="Californian FB" pitchFamily="18" charset="0"/>
                <a:ea typeface="Times New Roman" panose="02020603050405020304" pitchFamily="18" charset="0"/>
              </a:rPr>
              <a:t>t</a:t>
            </a:r>
            <a:r>
              <a:rPr lang="en-US" sz="7400" dirty="0" smtClean="0">
                <a:latin typeface="Californian FB" pitchFamily="18" charset="0"/>
                <a:ea typeface="Times New Roman" panose="02020603050405020304" pitchFamily="18" charset="0"/>
              </a:rPr>
              <a:t>s</a:t>
            </a:r>
            <a:r>
              <a:rPr lang="en-US" sz="7400" spc="5" dirty="0" smtClean="0">
                <a:latin typeface="Californian FB" pitchFamily="18" charset="0"/>
                <a:ea typeface="Times New Roman" panose="02020603050405020304" pitchFamily="18" charset="0"/>
              </a:rPr>
              <a:t> </a:t>
            </a:r>
            <a:r>
              <a:rPr lang="en-US" sz="7400" dirty="0" smtClean="0">
                <a:latin typeface="Californian FB" pitchFamily="18" charset="0"/>
                <a:ea typeface="Times New Roman" panose="02020603050405020304" pitchFamily="18" charset="0"/>
              </a:rPr>
              <a:t>throu</a:t>
            </a:r>
            <a:r>
              <a:rPr lang="en-US" sz="7400" spc="-15" dirty="0" smtClean="0">
                <a:latin typeface="Californian FB" pitchFamily="18" charset="0"/>
                <a:ea typeface="Times New Roman" panose="02020603050405020304" pitchFamily="18" charset="0"/>
              </a:rPr>
              <a:t>g</a:t>
            </a:r>
            <a:r>
              <a:rPr lang="en-US" sz="7400" dirty="0" smtClean="0">
                <a:latin typeface="Californian FB" pitchFamily="18" charset="0"/>
                <a:ea typeface="Times New Roman" panose="02020603050405020304" pitchFamily="18" charset="0"/>
              </a:rPr>
              <a:t>h</a:t>
            </a:r>
            <a:r>
              <a:rPr lang="en-US" sz="7400" spc="5" dirty="0" smtClean="0">
                <a:latin typeface="Californian FB" pitchFamily="18" charset="0"/>
                <a:ea typeface="Times New Roman" panose="02020603050405020304" pitchFamily="18" charset="0"/>
              </a:rPr>
              <a:t> </a:t>
            </a:r>
            <a:r>
              <a:rPr lang="en-US" sz="7400" dirty="0" smtClean="0">
                <a:latin typeface="Californian FB" pitchFamily="18" charset="0"/>
                <a:ea typeface="Times New Roman" panose="02020603050405020304" pitchFamily="18" charset="0"/>
              </a:rPr>
              <a:t>full</a:t>
            </a:r>
            <a:r>
              <a:rPr lang="en-US" sz="7400" spc="5" dirty="0" smtClean="0">
                <a:latin typeface="Californian FB" pitchFamily="18" charset="0"/>
                <a:ea typeface="Times New Roman" panose="02020603050405020304" pitchFamily="18" charset="0"/>
              </a:rPr>
              <a:t> </a:t>
            </a:r>
            <a:r>
              <a:rPr lang="en-US" sz="7400" dirty="0" smtClean="0">
                <a:latin typeface="Californian FB" pitchFamily="18" charset="0"/>
                <a:ea typeface="Times New Roman" panose="02020603050405020304" pitchFamily="18" charset="0"/>
              </a:rPr>
              <a:t>p</a:t>
            </a:r>
            <a:r>
              <a:rPr lang="en-US" sz="7400" spc="-5" dirty="0" smtClean="0">
                <a:latin typeface="Californian FB" pitchFamily="18" charset="0"/>
                <a:ea typeface="Times New Roman" panose="02020603050405020304" pitchFamily="18" charset="0"/>
              </a:rPr>
              <a:t>a</a:t>
            </a:r>
            <a:r>
              <a:rPr lang="en-US" sz="7400" dirty="0" smtClean="0">
                <a:latin typeface="Californian FB" pitchFamily="18" charset="0"/>
                <a:ea typeface="Times New Roman" panose="02020603050405020304" pitchFamily="18" charset="0"/>
              </a:rPr>
              <a:t>rticip</a:t>
            </a:r>
            <a:r>
              <a:rPr lang="en-US" sz="7400" spc="5" dirty="0" smtClean="0">
                <a:latin typeface="Californian FB" pitchFamily="18" charset="0"/>
                <a:ea typeface="Times New Roman" panose="02020603050405020304" pitchFamily="18" charset="0"/>
              </a:rPr>
              <a:t>a</a:t>
            </a:r>
            <a:r>
              <a:rPr lang="en-US" sz="7400" dirty="0" smtClean="0">
                <a:latin typeface="Californian FB" pitchFamily="18" charset="0"/>
                <a:ea typeface="Times New Roman" panose="02020603050405020304" pitchFamily="18" charset="0"/>
              </a:rPr>
              <a:t>t</a:t>
            </a:r>
            <a:r>
              <a:rPr lang="en-US" sz="7400" spc="5" dirty="0" smtClean="0">
                <a:latin typeface="Californian FB" pitchFamily="18" charset="0"/>
                <a:ea typeface="Times New Roman" panose="02020603050405020304" pitchFamily="18" charset="0"/>
              </a:rPr>
              <a:t>i</a:t>
            </a:r>
            <a:r>
              <a:rPr lang="en-US" sz="7400" dirty="0" smtClean="0">
                <a:latin typeface="Californian FB" pitchFamily="18" charset="0"/>
                <a:ea typeface="Times New Roman" panose="02020603050405020304" pitchFamily="18" charset="0"/>
              </a:rPr>
              <a:t>on</a:t>
            </a:r>
            <a:r>
              <a:rPr lang="en-US" sz="7400" spc="5" dirty="0" smtClean="0">
                <a:latin typeface="Californian FB" pitchFamily="18" charset="0"/>
                <a:ea typeface="Times New Roman" panose="02020603050405020304" pitchFamily="18" charset="0"/>
              </a:rPr>
              <a:t> </a:t>
            </a:r>
            <a:r>
              <a:rPr lang="en-US" sz="7400" dirty="0" smtClean="0">
                <a:latin typeface="Californian FB" pitchFamily="18" charset="0"/>
                <a:ea typeface="Times New Roman" panose="02020603050405020304" pitchFamily="18" charset="0"/>
              </a:rPr>
              <a:t>of</a:t>
            </a:r>
            <a:r>
              <a:rPr lang="en-US" sz="7400" spc="20" dirty="0" smtClean="0">
                <a:latin typeface="Californian FB" pitchFamily="18" charset="0"/>
                <a:ea typeface="Times New Roman" panose="02020603050405020304" pitchFamily="18" charset="0"/>
              </a:rPr>
              <a:t> </a:t>
            </a:r>
            <a:r>
              <a:rPr lang="en-US" sz="7400" spc="40" dirty="0" smtClean="0">
                <a:latin typeface="Californian FB" pitchFamily="18" charset="0"/>
                <a:ea typeface="Times New Roman" panose="02020603050405020304" pitchFamily="18" charset="0"/>
              </a:rPr>
              <a:t>a</a:t>
            </a:r>
            <a:r>
              <a:rPr lang="en-US" sz="7400" spc="35" dirty="0" smtClean="0">
                <a:latin typeface="Californian FB" pitchFamily="18" charset="0"/>
                <a:ea typeface="Times New Roman" panose="02020603050405020304" pitchFamily="18" charset="0"/>
              </a:rPr>
              <a:t>l</a:t>
            </a:r>
            <a:r>
              <a:rPr lang="en-US" sz="7400" dirty="0" smtClean="0">
                <a:latin typeface="Californian FB" pitchFamily="18" charset="0"/>
                <a:ea typeface="Times New Roman" panose="02020603050405020304" pitchFamily="18" charset="0"/>
              </a:rPr>
              <a:t>l memb</a:t>
            </a:r>
            <a:r>
              <a:rPr lang="en-US" sz="7400" spc="-5" dirty="0" smtClean="0">
                <a:latin typeface="Californian FB" pitchFamily="18" charset="0"/>
                <a:ea typeface="Times New Roman" panose="02020603050405020304" pitchFamily="18" charset="0"/>
              </a:rPr>
              <a:t>e</a:t>
            </a:r>
            <a:r>
              <a:rPr lang="en-US" sz="7400" dirty="0" smtClean="0">
                <a:latin typeface="Californian FB" pitchFamily="18" charset="0"/>
                <a:ea typeface="Times New Roman" panose="02020603050405020304" pitchFamily="18" charset="0"/>
              </a:rPr>
              <a:t>rs</a:t>
            </a:r>
            <a:r>
              <a:rPr lang="en-US" sz="7400" spc="140" dirty="0" smtClean="0">
                <a:latin typeface="Californian FB" pitchFamily="18" charset="0"/>
                <a:ea typeface="Times New Roman" panose="02020603050405020304" pitchFamily="18" charset="0"/>
              </a:rPr>
              <a:t> </a:t>
            </a:r>
            <a:r>
              <a:rPr lang="en-US" sz="7400" dirty="0" smtClean="0">
                <a:latin typeface="Californian FB" pitchFamily="18" charset="0"/>
                <a:ea typeface="Times New Roman" panose="02020603050405020304" pitchFamily="18" charset="0"/>
              </a:rPr>
              <a:t>of</a:t>
            </a:r>
            <a:r>
              <a:rPr lang="en-US" sz="7400" spc="140" dirty="0" smtClean="0">
                <a:latin typeface="Californian FB" pitchFamily="18" charset="0"/>
                <a:ea typeface="Times New Roman" panose="02020603050405020304" pitchFamily="18" charset="0"/>
              </a:rPr>
              <a:t> </a:t>
            </a:r>
            <a:r>
              <a:rPr lang="en-US" sz="7400" dirty="0" smtClean="0">
                <a:latin typeface="Californian FB" pitchFamily="18" charset="0"/>
                <a:ea typeface="Times New Roman" panose="02020603050405020304" pitchFamily="18" charset="0"/>
              </a:rPr>
              <a:t>a</a:t>
            </a:r>
            <a:r>
              <a:rPr lang="en-US" sz="7400" spc="140" dirty="0" smtClean="0">
                <a:latin typeface="Californian FB" pitchFamily="18" charset="0"/>
                <a:ea typeface="Times New Roman" panose="02020603050405020304" pitchFamily="18" charset="0"/>
              </a:rPr>
              <a:t> </a:t>
            </a:r>
            <a:r>
              <a:rPr lang="en-US" sz="7400" dirty="0" smtClean="0">
                <a:latin typeface="Californian FB" pitchFamily="18" charset="0"/>
                <a:ea typeface="Times New Roman" panose="02020603050405020304" pitchFamily="18" charset="0"/>
              </a:rPr>
              <a:t>p</a:t>
            </a:r>
            <a:r>
              <a:rPr lang="en-US" sz="7400" spc="10" dirty="0" smtClean="0">
                <a:latin typeface="Californian FB" pitchFamily="18" charset="0"/>
                <a:ea typeface="Times New Roman" panose="02020603050405020304" pitchFamily="18" charset="0"/>
              </a:rPr>
              <a:t>o</a:t>
            </a:r>
            <a:r>
              <a:rPr lang="en-US" sz="7400" dirty="0" smtClean="0">
                <a:latin typeface="Californian FB" pitchFamily="18" charset="0"/>
                <a:ea typeface="Times New Roman" panose="02020603050405020304" pitchFamily="18" charset="0"/>
              </a:rPr>
              <a:t>pulatio</a:t>
            </a:r>
            <a:r>
              <a:rPr lang="en-US" sz="7400" spc="10" dirty="0" smtClean="0">
                <a:latin typeface="Californian FB" pitchFamily="18" charset="0"/>
                <a:ea typeface="Times New Roman" panose="02020603050405020304" pitchFamily="18" charset="0"/>
              </a:rPr>
              <a:t>n</a:t>
            </a:r>
            <a:r>
              <a:rPr lang="am-ET" sz="7400" dirty="0" smtClean="0">
                <a:latin typeface="Nyala" panose="02000504070300020003" pitchFamily="2" charset="0"/>
              </a:rPr>
              <a:t>.</a:t>
            </a:r>
            <a:endParaRPr lang="en-US" sz="7400" dirty="0" smtClean="0">
              <a:latin typeface="Californian FB" pitchFamily="18" charset="0"/>
            </a:endParaRPr>
          </a:p>
          <a:p>
            <a:endParaRPr lang="en-US" dirty="0" smtClean="0"/>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3</a:t>
            </a:fld>
            <a:endParaRPr lang="en-US"/>
          </a:p>
        </p:txBody>
      </p:sp>
    </p:spTree>
  </p:cSld>
  <p:clrMapOvr>
    <a:masterClrMapping/>
  </p:clrMapOvr>
  <p:transition spd="slow">
    <p:wipe dir="u"/>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x-none" b="1" smtClean="0">
                <a:latin typeface="Californian FB" pitchFamily="18" charset="0"/>
              </a:rPr>
              <a:t>Course objective</a:t>
            </a:r>
            <a:r>
              <a:rPr lang="en-US" b="1" dirty="0" smtClean="0">
                <a:latin typeface="Californian FB" pitchFamily="18" charset="0"/>
              </a:rPr>
              <a:t>/</a:t>
            </a:r>
            <a:r>
              <a:rPr lang="am-ET" b="1" dirty="0" smtClean="0">
                <a:solidFill>
                  <a:srgbClr val="FF0000"/>
                </a:solidFill>
              </a:rPr>
              <a:t>Course Rationale </a:t>
            </a:r>
            <a:endParaRPr lang="en-US" dirty="0">
              <a:latin typeface="Californian FB" pitchFamily="18" charset="0"/>
            </a:endParaRPr>
          </a:p>
        </p:txBody>
      </p:sp>
      <p:sp>
        <p:nvSpPr>
          <p:cNvPr id="3" name="Content Placeholder 2"/>
          <p:cNvSpPr>
            <a:spLocks noGrp="1"/>
          </p:cNvSpPr>
          <p:nvPr>
            <p:ph idx="1"/>
          </p:nvPr>
        </p:nvSpPr>
        <p:spPr>
          <a:xfrm>
            <a:off x="152400" y="1600200"/>
            <a:ext cx="8763000" cy="5029200"/>
          </a:xfrm>
        </p:spPr>
        <p:txBody>
          <a:bodyPr>
            <a:normAutofit/>
          </a:bodyPr>
          <a:lstStyle/>
          <a:p>
            <a:r>
              <a:rPr lang="en-US" dirty="0" smtClean="0">
                <a:latin typeface="Californian FB" pitchFamily="18" charset="0"/>
              </a:rPr>
              <a:t>The </a:t>
            </a:r>
            <a:r>
              <a:rPr lang="en-US" b="1" dirty="0" smtClean="0">
                <a:solidFill>
                  <a:srgbClr val="FF0000"/>
                </a:solidFill>
                <a:latin typeface="Californian FB" pitchFamily="18" charset="0"/>
              </a:rPr>
              <a:t>objective</a:t>
            </a:r>
            <a:r>
              <a:rPr lang="en-US" dirty="0" smtClean="0">
                <a:solidFill>
                  <a:srgbClr val="FF0000"/>
                </a:solidFill>
                <a:latin typeface="Californian FB" pitchFamily="18" charset="0"/>
              </a:rPr>
              <a:t> </a:t>
            </a:r>
            <a:r>
              <a:rPr lang="en-US" dirty="0" smtClean="0">
                <a:latin typeface="Californian FB" pitchFamily="18" charset="0"/>
              </a:rPr>
              <a:t>of this course is to develop knowledge, skill and attitude of the learners so that they can provide appropriate services, the tools and strategies that help to create a convenient inclusive environment. </a:t>
            </a:r>
          </a:p>
          <a:p>
            <a:pPr>
              <a:buNone/>
            </a:pP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4</a:t>
            </a:fld>
            <a:endParaRPr lang="en-US"/>
          </a:p>
        </p:txBody>
      </p:sp>
    </p:spTree>
  </p:cSld>
  <p:clrMapOvr>
    <a:masterClrMapping/>
  </p:clrMapOvr>
  <p:transition spd="slow">
    <p:wipe dir="u"/>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0070C0"/>
                </a:solidFill>
              </a:rPr>
              <a:t>Expected Learning Outcomes</a:t>
            </a:r>
            <a:endParaRPr lang="en-US" b="1" dirty="0">
              <a:solidFill>
                <a:srgbClr val="0070C0"/>
              </a:solidFill>
            </a:endParaRPr>
          </a:p>
        </p:txBody>
      </p:sp>
      <p:sp>
        <p:nvSpPr>
          <p:cNvPr id="3" name="Content Placeholder 2"/>
          <p:cNvSpPr>
            <a:spLocks noGrp="1"/>
          </p:cNvSpPr>
          <p:nvPr>
            <p:ph idx="1"/>
          </p:nvPr>
        </p:nvSpPr>
        <p:spPr>
          <a:xfrm>
            <a:off x="152400" y="1295400"/>
            <a:ext cx="8763000" cy="5410200"/>
          </a:xfrm>
        </p:spPr>
        <p:txBody>
          <a:bodyPr>
            <a:normAutofit/>
          </a:bodyPr>
          <a:lstStyle/>
          <a:p>
            <a:pPr>
              <a:buNone/>
            </a:pPr>
            <a:r>
              <a:rPr lang="am-ET" dirty="0" smtClean="0"/>
              <a:t>Up on the completion of this </a:t>
            </a:r>
            <a:r>
              <a:rPr lang="en-US" dirty="0" smtClean="0">
                <a:latin typeface="Californian FB" pitchFamily="18" charset="0"/>
              </a:rPr>
              <a:t>Co</a:t>
            </a:r>
            <a:r>
              <a:rPr lang="am-ET" dirty="0" smtClean="0"/>
              <a:t>urse, students will be able to: </a:t>
            </a:r>
            <a:endParaRPr lang="en-US" dirty="0" smtClean="0">
              <a:latin typeface="Californian FB" pitchFamily="18" charset="0"/>
            </a:endParaRPr>
          </a:p>
          <a:p>
            <a:pPr lvl="1"/>
            <a:r>
              <a:rPr lang="en-US" dirty="0" smtClean="0">
                <a:latin typeface="Californian FB" pitchFamily="18" charset="0"/>
              </a:rPr>
              <a:t>Identify the needs and potentials of persons with disabilities and vulnerabilities.</a:t>
            </a:r>
          </a:p>
          <a:p>
            <a:pPr lvl="1"/>
            <a:r>
              <a:rPr lang="en-US" dirty="0" smtClean="0">
                <a:latin typeface="Californian FB" pitchFamily="18" charset="0"/>
              </a:rPr>
              <a:t>Identify environmental and social barriers that hinder the needs, potentials and full participations, in all aspects of life of persons disabilities and vulnerabilities </a:t>
            </a:r>
          </a:p>
          <a:p>
            <a:pPr lvl="1"/>
            <a:r>
              <a:rPr lang="en-US" dirty="0" smtClean="0">
                <a:latin typeface="Californian FB" pitchFamily="18" charset="0"/>
              </a:rPr>
              <a:t>Demonstrate desirable inclusive attitude towards all persons with disabilities and vulnerabilities in full participations </a:t>
            </a:r>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5</a:t>
            </a:fld>
            <a:endParaRPr lang="en-US"/>
          </a:p>
        </p:txBody>
      </p:sp>
    </p:spTree>
  </p:cSld>
  <p:clrMapOvr>
    <a:masterClrMapping/>
  </p:clrMapOvr>
  <p:transition spd="slow">
    <p:wipe dir="u"/>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990600"/>
            <a:ext cx="8763000" cy="5638800"/>
          </a:xfrm>
        </p:spPr>
        <p:txBody>
          <a:bodyPr>
            <a:normAutofit/>
          </a:bodyPr>
          <a:lstStyle/>
          <a:p>
            <a:pPr lvl="0"/>
            <a:r>
              <a:rPr lang="en-US" dirty="0" smtClean="0">
                <a:latin typeface="Californian FB" pitchFamily="18" charset="0"/>
              </a:rPr>
              <a:t>Apply various assessment strategies for service provisions for evidence-based planning and implementation to meet the needs of  persons with disabilities and vulnerabilities </a:t>
            </a:r>
          </a:p>
          <a:p>
            <a:pPr lvl="0"/>
            <a:r>
              <a:rPr lang="en-US" dirty="0" smtClean="0">
                <a:latin typeface="Californian FB" pitchFamily="18" charset="0"/>
              </a:rPr>
              <a:t>Adapt environments and services according to the need and potential of the persons with disabilities and vulnerabilities </a:t>
            </a:r>
          </a:p>
          <a:p>
            <a:pPr lvl="0"/>
            <a:r>
              <a:rPr lang="en-US" dirty="0" smtClean="0">
                <a:latin typeface="Californian FB" pitchFamily="18" charset="0"/>
              </a:rPr>
              <a:t>Utilize appropriate assistive technology and other support mechanisms that address the needs of persons with disabilities and vulnerabilities </a:t>
            </a:r>
          </a:p>
          <a:p>
            <a:endParaRPr lang="en-US" dirty="0">
              <a:latin typeface="Californian FB"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6</a:t>
            </a:fld>
            <a:endParaRPr lang="en-US"/>
          </a:p>
        </p:txBody>
      </p:sp>
    </p:spTree>
  </p:cSld>
  <p:clrMapOvr>
    <a:masterClrMapping/>
  </p:clrMapOvr>
  <p:transition spd="slow">
    <p:wipe dir="u"/>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14400"/>
            <a:ext cx="8458200" cy="5562600"/>
          </a:xfrm>
        </p:spPr>
        <p:txBody>
          <a:bodyPr>
            <a:normAutofit/>
          </a:bodyPr>
          <a:lstStyle/>
          <a:p>
            <a:pPr lvl="0"/>
            <a:r>
              <a:rPr lang="en-US" sz="3000" dirty="0" smtClean="0">
                <a:latin typeface="Californian FB" pitchFamily="18" charset="0"/>
              </a:rPr>
              <a:t>Respect and advocate for the right of persons with disabilities and vulnerabilities </a:t>
            </a:r>
          </a:p>
          <a:p>
            <a:pPr lvl="0"/>
            <a:r>
              <a:rPr lang="en-US" sz="3000" dirty="0" smtClean="0">
                <a:latin typeface="Californian FB" pitchFamily="18" charset="0"/>
              </a:rPr>
              <a:t>Collaboratively work with special needs experts and significant others for the life success of all persons with disabilities and vulnerabilities in every endeavors and in all environments.</a:t>
            </a:r>
          </a:p>
          <a:p>
            <a:pPr lvl="0"/>
            <a:r>
              <a:rPr lang="en-US" sz="3000" dirty="0" smtClean="0">
                <a:latin typeface="Californian FB" pitchFamily="18" charset="0"/>
              </a:rPr>
              <a:t>Create and maintain successful inclusive environment  for persons with disabilities and vulnerabilities</a:t>
            </a:r>
          </a:p>
          <a:p>
            <a:pPr lvl="0"/>
            <a:r>
              <a:rPr lang="en-US" sz="3000" dirty="0" smtClean="0">
                <a:latin typeface="Californian FB" pitchFamily="18" charset="0"/>
              </a:rPr>
              <a:t>Promote the process of building inclusive society </a:t>
            </a:r>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7</a:t>
            </a:fld>
            <a:endParaRPr lang="en-US"/>
          </a:p>
        </p:txBody>
      </p:sp>
    </p:spTree>
  </p:cSld>
  <p:clrMapOvr>
    <a:masterClrMapping/>
  </p:clrMapOvr>
  <p:transition spd="slow">
    <p:wipe dir="u"/>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x-none" b="1" smtClean="0">
                <a:solidFill>
                  <a:srgbClr val="FF0000"/>
                </a:solidFill>
              </a:rPr>
              <a:t>Course Contents  </a:t>
            </a:r>
            <a:endParaRPr lang="en-US" dirty="0">
              <a:solidFill>
                <a:srgbClr val="FF0000"/>
              </a:solidFill>
            </a:endParaRPr>
          </a:p>
        </p:txBody>
      </p:sp>
      <p:sp>
        <p:nvSpPr>
          <p:cNvPr id="3" name="Content Placeholder 2"/>
          <p:cNvSpPr>
            <a:spLocks noGrp="1"/>
          </p:cNvSpPr>
          <p:nvPr>
            <p:ph idx="1"/>
          </p:nvPr>
        </p:nvSpPr>
        <p:spPr>
          <a:xfrm>
            <a:off x="457200" y="1295400"/>
            <a:ext cx="8229600" cy="5181600"/>
          </a:xfrm>
        </p:spPr>
        <p:txBody>
          <a:bodyPr>
            <a:normAutofit/>
          </a:bodyPr>
          <a:lstStyle/>
          <a:p>
            <a:r>
              <a:rPr lang="x-none" b="1" smtClean="0">
                <a:solidFill>
                  <a:srgbClr val="FF0000"/>
                </a:solidFill>
              </a:rPr>
              <a:t>Chapter 1:  Understanding Disabilities and Vulnerabilities </a:t>
            </a:r>
            <a:endParaRPr lang="en-US" b="1" dirty="0" smtClean="0">
              <a:solidFill>
                <a:srgbClr val="FF0000"/>
              </a:solidFill>
            </a:endParaRPr>
          </a:p>
          <a:p>
            <a:pPr lvl="1"/>
            <a:r>
              <a:rPr lang="en-US" dirty="0" smtClean="0">
                <a:latin typeface="Californian FB" pitchFamily="18" charset="0"/>
              </a:rPr>
              <a:t>Definitions of disability and vulnerability  </a:t>
            </a:r>
          </a:p>
          <a:p>
            <a:pPr lvl="1"/>
            <a:r>
              <a:rPr lang="en-US" dirty="0" smtClean="0">
                <a:latin typeface="Californian FB" pitchFamily="18" charset="0"/>
              </a:rPr>
              <a:t>Types of disabilities and vulnerabilities </a:t>
            </a:r>
          </a:p>
          <a:p>
            <a:pPr lvl="1"/>
            <a:r>
              <a:rPr lang="en-US" dirty="0" smtClean="0">
                <a:latin typeface="Californian FB" pitchFamily="18" charset="0"/>
              </a:rPr>
              <a:t>Causes of disability and vulnerability </a:t>
            </a:r>
          </a:p>
          <a:p>
            <a:pPr lvl="1"/>
            <a:r>
              <a:rPr lang="en-US" dirty="0" smtClean="0">
                <a:latin typeface="Californian FB" pitchFamily="18" charset="0"/>
              </a:rPr>
              <a:t>Historical movements from segregation to inclusion  </a:t>
            </a:r>
          </a:p>
          <a:p>
            <a:pPr lvl="1"/>
            <a:r>
              <a:rPr lang="en-US" dirty="0" smtClean="0">
                <a:latin typeface="Californian FB" pitchFamily="18" charset="0"/>
              </a:rPr>
              <a:t>The effects of attitude on the move towards inclusion  </a:t>
            </a:r>
          </a:p>
          <a:p>
            <a:pPr lvl="1"/>
            <a:r>
              <a:rPr lang="en-US" dirty="0" smtClean="0">
                <a:latin typeface="Californian FB" pitchFamily="18" charset="0"/>
              </a:rPr>
              <a:t>Models of disability </a:t>
            </a:r>
            <a:endParaRPr lang="en-US" dirty="0">
              <a:latin typeface="Californian FB"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8</a:t>
            </a:fld>
            <a:endParaRPr lang="en-US"/>
          </a:p>
        </p:txBody>
      </p:sp>
    </p:spTree>
  </p:cSld>
  <p:clrMapOvr>
    <a:masterClrMapping/>
  </p:clrMapOvr>
  <p:transition spd="slow">
    <p:wipe dir="u"/>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x-none" sz="3600" b="1" smtClean="0">
                <a:solidFill>
                  <a:srgbClr val="FF0000"/>
                </a:solidFill>
              </a:rPr>
              <a:t>Chapter 2: Concept of Inclusion  </a:t>
            </a:r>
            <a:endParaRPr lang="en-US" sz="3600" dirty="0">
              <a:solidFill>
                <a:srgbClr val="FF0000"/>
              </a:solidFill>
            </a:endParaRPr>
          </a:p>
        </p:txBody>
      </p:sp>
      <p:sp>
        <p:nvSpPr>
          <p:cNvPr id="3" name="Content Placeholder 2"/>
          <p:cNvSpPr>
            <a:spLocks noGrp="1"/>
          </p:cNvSpPr>
          <p:nvPr>
            <p:ph idx="1"/>
          </p:nvPr>
        </p:nvSpPr>
        <p:spPr/>
        <p:txBody>
          <a:bodyPr/>
          <a:lstStyle/>
          <a:p>
            <a:pPr lvl="1"/>
            <a:r>
              <a:rPr lang="en-US" dirty="0" smtClean="0">
                <a:latin typeface="Californian FB" pitchFamily="18" charset="0"/>
              </a:rPr>
              <a:t>Definition  inclusion </a:t>
            </a:r>
          </a:p>
          <a:p>
            <a:pPr lvl="1"/>
            <a:r>
              <a:rPr lang="en-US" dirty="0" smtClean="0">
                <a:latin typeface="Californian FB" pitchFamily="18" charset="0"/>
                <a:ea typeface="Times New Roman" panose="02020603050405020304" pitchFamily="18" charset="0"/>
                <a:cs typeface="Times New Roman" panose="02020603050405020304" pitchFamily="18" charset="0"/>
              </a:rPr>
              <a:t>Components of inclusion</a:t>
            </a:r>
            <a:endParaRPr lang="en-US" dirty="0" smtClean="0">
              <a:latin typeface="Californian FB" pitchFamily="18" charset="0"/>
            </a:endParaRPr>
          </a:p>
          <a:p>
            <a:pPr lvl="1"/>
            <a:r>
              <a:rPr lang="en-US" dirty="0" smtClean="0">
                <a:latin typeface="Californian FB" pitchFamily="18" charset="0"/>
              </a:rPr>
              <a:t>Principles of inclusion (</a:t>
            </a:r>
            <a:r>
              <a:rPr lang="en-US" dirty="0" smtClean="0">
                <a:latin typeface="Nyala" panose="02000504070300020003" pitchFamily="2" charset="0"/>
                <a:ea typeface="Times New Roman" panose="02020603050405020304" pitchFamily="18" charset="0"/>
                <a:cs typeface="Times New Roman" panose="02020603050405020304" pitchFamily="18" charset="0"/>
              </a:rPr>
              <a:t>UNESCO)</a:t>
            </a:r>
            <a:endParaRPr lang="en-US" dirty="0" smtClean="0">
              <a:latin typeface="Californian FB" pitchFamily="18" charset="0"/>
            </a:endParaRPr>
          </a:p>
          <a:p>
            <a:pPr lvl="1"/>
            <a:r>
              <a:rPr lang="en-US" dirty="0" smtClean="0">
                <a:latin typeface="Californian FB" pitchFamily="18" charset="0"/>
              </a:rPr>
              <a:t>Rationale for inclusion</a:t>
            </a:r>
          </a:p>
          <a:p>
            <a:pPr lvl="1"/>
            <a:r>
              <a:rPr lang="en-US" dirty="0" smtClean="0">
                <a:latin typeface="Californian FB" pitchFamily="18" charset="0"/>
              </a:rPr>
              <a:t>Features inclusive environment </a:t>
            </a:r>
          </a:p>
          <a:p>
            <a:pPr lvl="1"/>
            <a:r>
              <a:rPr lang="en-US" dirty="0" smtClean="0">
                <a:latin typeface="Californian FB" pitchFamily="18" charset="0"/>
                <a:ea typeface="Times New Roman" panose="02020603050405020304" pitchFamily="18" charset="0"/>
                <a:cs typeface="Times New Roman" panose="02020603050405020304" pitchFamily="18" charset="0"/>
              </a:rPr>
              <a:t>Benefits of Inclusion</a:t>
            </a:r>
          </a:p>
          <a:p>
            <a:pPr lvl="1"/>
            <a:r>
              <a:rPr lang="en-US" dirty="0" smtClean="0">
                <a:latin typeface="Californian FB" pitchFamily="18" charset="0"/>
                <a:ea typeface="Times New Roman" panose="02020603050405020304" pitchFamily="18" charset="0"/>
                <a:cs typeface="Times New Roman" panose="02020603050405020304" pitchFamily="18" charset="0"/>
              </a:rPr>
              <a:t>Barriers to inclusion</a:t>
            </a:r>
          </a:p>
          <a:p>
            <a:pPr lvl="1"/>
            <a:endParaRPr lang="en-US" dirty="0" smtClean="0">
              <a:latin typeface="Californian FB" pitchFamily="18" charset="0"/>
            </a:endParaRPr>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9</a:t>
            </a:fld>
            <a:endParaRPr lang="en-US"/>
          </a:p>
        </p:txBody>
      </p:sp>
    </p:spTree>
  </p:cSld>
  <p:clrMapOvr>
    <a:masterClrMapping/>
  </p:clrMapOvr>
  <p:transition spd="slow">
    <p:wipe dir="u"/>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x-none" sz="3600" b="1" smtClean="0">
                <a:solidFill>
                  <a:srgbClr val="FF0000"/>
                </a:solidFill>
                <a:latin typeface="Californian FB" pitchFamily="18" charset="0"/>
              </a:rPr>
              <a:t>Chapter 3: Identification, Assessment </a:t>
            </a:r>
            <a:r>
              <a:rPr lang="en-US" sz="3600" b="1" dirty="0" smtClean="0">
                <a:solidFill>
                  <a:srgbClr val="FF0000"/>
                </a:solidFill>
                <a:latin typeface="Californian FB" pitchFamily="18" charset="0"/>
              </a:rPr>
              <a:t>&amp;</a:t>
            </a:r>
            <a:r>
              <a:rPr lang="x-none" sz="3600" b="1" smtClean="0">
                <a:solidFill>
                  <a:srgbClr val="FF0000"/>
                </a:solidFill>
                <a:latin typeface="Californian FB" pitchFamily="18" charset="0"/>
              </a:rPr>
              <a:t> Differentiated services </a:t>
            </a:r>
            <a:endParaRPr lang="en-US" sz="3600" dirty="0">
              <a:solidFill>
                <a:srgbClr val="FF0000"/>
              </a:solidFill>
              <a:latin typeface="Californian FB" pitchFamily="18" charset="0"/>
            </a:endParaRPr>
          </a:p>
        </p:txBody>
      </p:sp>
      <p:sp>
        <p:nvSpPr>
          <p:cNvPr id="3" name="Content Placeholder 2"/>
          <p:cNvSpPr>
            <a:spLocks noGrp="1"/>
          </p:cNvSpPr>
          <p:nvPr>
            <p:ph idx="1"/>
          </p:nvPr>
        </p:nvSpPr>
        <p:spPr>
          <a:xfrm>
            <a:off x="152400" y="1371600"/>
            <a:ext cx="8839200" cy="5334000"/>
          </a:xfrm>
        </p:spPr>
        <p:txBody>
          <a:bodyPr>
            <a:normAutofit fontScale="85000" lnSpcReduction="10000"/>
          </a:bodyPr>
          <a:lstStyle/>
          <a:p>
            <a:pPr lvl="1"/>
            <a:r>
              <a:rPr lang="en-US" dirty="0" smtClean="0">
                <a:latin typeface="Californian FB" pitchFamily="18" charset="0"/>
              </a:rPr>
              <a:t>Level of disabilities for support </a:t>
            </a:r>
          </a:p>
          <a:p>
            <a:pPr lvl="1"/>
            <a:r>
              <a:rPr lang="en-US" dirty="0" smtClean="0">
                <a:latin typeface="Californian FB" pitchFamily="18" charset="0"/>
              </a:rPr>
              <a:t>Needs and potentials of persons with disabilities </a:t>
            </a:r>
          </a:p>
          <a:p>
            <a:pPr lvl="1"/>
            <a:r>
              <a:rPr lang="en-US" dirty="0" smtClean="0">
                <a:latin typeface="Californian FB" pitchFamily="18" charset="0"/>
              </a:rPr>
              <a:t>Needs and potentials of persons with vulnerabilities  </a:t>
            </a:r>
          </a:p>
          <a:p>
            <a:pPr lvl="1"/>
            <a:r>
              <a:rPr lang="en-US" dirty="0" smtClean="0">
                <a:latin typeface="Californian FB" pitchFamily="18" charset="0"/>
              </a:rPr>
              <a:t>Assessment and evaluation Availability of legal frameworks in line with inclusion </a:t>
            </a:r>
          </a:p>
          <a:p>
            <a:pPr lvl="1"/>
            <a:r>
              <a:rPr lang="en-US" dirty="0" smtClean="0">
                <a:latin typeface="Californian FB" pitchFamily="18" charset="0"/>
              </a:rPr>
              <a:t>Assessment and evaluation inclusiveness of the sector plans </a:t>
            </a:r>
          </a:p>
          <a:p>
            <a:pPr lvl="1"/>
            <a:r>
              <a:rPr lang="en-US" dirty="0" smtClean="0">
                <a:latin typeface="Californian FB" pitchFamily="18" charset="0"/>
              </a:rPr>
              <a:t>Assessment and evaluation attitude towards inclusion</a:t>
            </a:r>
          </a:p>
          <a:p>
            <a:pPr lvl="1"/>
            <a:r>
              <a:rPr lang="en-US" dirty="0" smtClean="0">
                <a:latin typeface="Californian FB" pitchFamily="18" charset="0"/>
              </a:rPr>
              <a:t>Assessment and evaluation of accessibilities of social and physical environments  </a:t>
            </a:r>
          </a:p>
          <a:p>
            <a:pPr lvl="1"/>
            <a:r>
              <a:rPr lang="en-US" dirty="0" smtClean="0">
                <a:latin typeface="Californian FB" pitchFamily="18" charset="0"/>
              </a:rPr>
              <a:t>Assessment and evaluation of strategies and plans that remove social and physical barriers to facilitate inclusiveness </a:t>
            </a:r>
          </a:p>
          <a:p>
            <a:pPr lvl="1"/>
            <a:r>
              <a:rPr lang="en-US" dirty="0" smtClean="0">
                <a:latin typeface="Californian FB" pitchFamily="18" charset="0"/>
              </a:rPr>
              <a:t>The components and  purpose of differentiated  service plans  </a:t>
            </a:r>
          </a:p>
          <a:p>
            <a:pPr lvl="1"/>
            <a:r>
              <a:rPr lang="en-US" dirty="0" smtClean="0">
                <a:latin typeface="Californian FB" pitchFamily="18" charset="0"/>
              </a:rPr>
              <a:t>Assistive technologies and software to enhance inclusion </a:t>
            </a:r>
            <a:endParaRPr lang="en-US" dirty="0">
              <a:latin typeface="Californian FB" pitchFamily="18" charset="0"/>
            </a:endParaRPr>
          </a:p>
        </p:txBody>
      </p:sp>
    </p:spTree>
  </p:cSld>
  <p:clrMapOvr>
    <a:masterClrMapping/>
  </p:clrMapOvr>
  <p:transition spd="slow">
    <p:wipe dir="u"/>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x-none" sz="3600" b="1" smtClean="0">
                <a:solidFill>
                  <a:srgbClr val="FF0000"/>
                </a:solidFill>
              </a:rPr>
              <a:t>Chapter 4:  Promoting Inclusive Culture </a:t>
            </a:r>
            <a:endParaRPr lang="en-US" sz="3600" dirty="0">
              <a:solidFill>
                <a:srgbClr val="FF0000"/>
              </a:solidFill>
            </a:endParaRPr>
          </a:p>
        </p:txBody>
      </p:sp>
      <p:sp>
        <p:nvSpPr>
          <p:cNvPr id="3" name="Content Placeholder 2"/>
          <p:cNvSpPr>
            <a:spLocks noGrp="1"/>
          </p:cNvSpPr>
          <p:nvPr>
            <p:ph idx="1"/>
          </p:nvPr>
        </p:nvSpPr>
        <p:spPr/>
        <p:txBody>
          <a:bodyPr/>
          <a:lstStyle/>
          <a:p>
            <a:pPr lvl="1"/>
            <a:r>
              <a:rPr lang="en-US" dirty="0" smtClean="0">
                <a:latin typeface="Californian FB" pitchFamily="18" charset="0"/>
              </a:rPr>
              <a:t>Definition of Inclusive Culture </a:t>
            </a:r>
          </a:p>
          <a:p>
            <a:pPr lvl="1"/>
            <a:r>
              <a:rPr lang="en-US" dirty="0" smtClean="0">
                <a:latin typeface="Californian FB" pitchFamily="18" charset="0"/>
              </a:rPr>
              <a:t>Dimensions of Inclusive culture</a:t>
            </a:r>
          </a:p>
          <a:p>
            <a:pPr lvl="1"/>
            <a:r>
              <a:rPr lang="en-US" dirty="0" smtClean="0">
                <a:latin typeface="Californian FB" pitchFamily="18" charset="0"/>
              </a:rPr>
              <a:t>Policy related to Inclusive Culture </a:t>
            </a:r>
          </a:p>
          <a:p>
            <a:pPr lvl="1"/>
            <a:r>
              <a:rPr lang="en-US" dirty="0" smtClean="0">
                <a:latin typeface="Californian FB" pitchFamily="18" charset="0"/>
              </a:rPr>
              <a:t>Building inclusive community </a:t>
            </a:r>
          </a:p>
          <a:p>
            <a:pPr lvl="1"/>
            <a:r>
              <a:rPr lang="en-US" dirty="0" smtClean="0">
                <a:latin typeface="Californian FB" pitchFamily="18" charset="0"/>
              </a:rPr>
              <a:t>Means of establish inclusive culture  </a:t>
            </a:r>
          </a:p>
          <a:p>
            <a:pPr lvl="1"/>
            <a:r>
              <a:rPr lang="en-US" dirty="0" smtClean="0">
                <a:latin typeface="Californian FB" pitchFamily="18" charset="0"/>
              </a:rPr>
              <a:t>Inclusive values </a:t>
            </a:r>
          </a:p>
          <a:p>
            <a:pPr lvl="1"/>
            <a:r>
              <a:rPr lang="en-US" dirty="0" smtClean="0">
                <a:latin typeface="Californian FB" pitchFamily="18" charset="0"/>
              </a:rPr>
              <a:t>Indigenous inclusive values and practices </a:t>
            </a:r>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11</a:t>
            </a:fld>
            <a:endParaRPr lang="en-US"/>
          </a:p>
        </p:txBody>
      </p:sp>
    </p:spTree>
  </p:cSld>
  <p:clrMapOvr>
    <a:masterClrMapping/>
  </p:clrMapOvr>
  <p:transition spd="slow">
    <p:wipe dir="u"/>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noAutofit/>
          </a:bodyPr>
          <a:lstStyle/>
          <a:p>
            <a:r>
              <a:rPr lang="x-none" sz="3600" b="1" smtClean="0">
                <a:solidFill>
                  <a:srgbClr val="FF0000"/>
                </a:solidFill>
                <a:latin typeface="Californian FB" pitchFamily="18" charset="0"/>
              </a:rPr>
              <a:t>Chapter 5: Inclusion for Peace, Democracy and Development  </a:t>
            </a:r>
            <a:endParaRPr lang="en-US" sz="3600" dirty="0">
              <a:solidFill>
                <a:srgbClr val="FF0000"/>
              </a:solidFill>
              <a:latin typeface="Californian FB" pitchFamily="18" charset="0"/>
            </a:endParaRPr>
          </a:p>
        </p:txBody>
      </p:sp>
      <p:sp>
        <p:nvSpPr>
          <p:cNvPr id="3" name="Content Placeholder 2"/>
          <p:cNvSpPr>
            <a:spLocks noGrp="1"/>
          </p:cNvSpPr>
          <p:nvPr>
            <p:ph idx="1"/>
          </p:nvPr>
        </p:nvSpPr>
        <p:spPr>
          <a:xfrm>
            <a:off x="152400" y="1447800"/>
            <a:ext cx="8763000" cy="5181600"/>
          </a:xfrm>
        </p:spPr>
        <p:txBody>
          <a:bodyPr>
            <a:normAutofit fontScale="85000" lnSpcReduction="20000"/>
          </a:bodyPr>
          <a:lstStyle/>
          <a:p>
            <a:pPr lvl="0"/>
            <a:r>
              <a:rPr lang="en-US" dirty="0" smtClean="0">
                <a:latin typeface="Californian FB" pitchFamily="18" charset="0"/>
              </a:rPr>
              <a:t>Definition of Peace, Democracy and development from the perspective of Inclusiveness </a:t>
            </a:r>
          </a:p>
          <a:p>
            <a:pPr lvl="0"/>
            <a:r>
              <a:rPr lang="en-US" dirty="0" smtClean="0">
                <a:latin typeface="Californian FB" pitchFamily="18" charset="0"/>
              </a:rPr>
              <a:t>Sources of exclusionary practices </a:t>
            </a:r>
          </a:p>
          <a:p>
            <a:pPr lvl="0"/>
            <a:r>
              <a:rPr lang="en-US" dirty="0" smtClean="0">
                <a:latin typeface="Californian FB" pitchFamily="18" charset="0"/>
              </a:rPr>
              <a:t>Exclusionary practices in the community</a:t>
            </a:r>
          </a:p>
          <a:p>
            <a:pPr lvl="0"/>
            <a:r>
              <a:rPr lang="en-US" dirty="0" smtClean="0">
                <a:latin typeface="Californian FB" pitchFamily="18" charset="0"/>
              </a:rPr>
              <a:t>Respecting divers needs, culture, values, demands and ideas </a:t>
            </a:r>
          </a:p>
          <a:p>
            <a:pPr lvl="0"/>
            <a:r>
              <a:rPr lang="en-US" dirty="0" smtClean="0">
                <a:latin typeface="Californian FB" pitchFamily="18" charset="0"/>
              </a:rPr>
              <a:t>Conflict emanated from exclusion </a:t>
            </a:r>
          </a:p>
          <a:p>
            <a:pPr lvl="0"/>
            <a:r>
              <a:rPr lang="en-US" dirty="0" smtClean="0">
                <a:latin typeface="Californian FB" pitchFamily="18" charset="0"/>
              </a:rPr>
              <a:t>The full participation of the marginalized group of people</a:t>
            </a:r>
          </a:p>
          <a:p>
            <a:pPr lvl="0"/>
            <a:r>
              <a:rPr lang="en-US" dirty="0" smtClean="0">
                <a:latin typeface="Californian FB" pitchFamily="18" charset="0"/>
              </a:rPr>
              <a:t>The democratic principles for inclusive practices  </a:t>
            </a:r>
          </a:p>
          <a:p>
            <a:pPr lvl="0"/>
            <a:r>
              <a:rPr lang="en-US" dirty="0" smtClean="0">
                <a:latin typeface="Californian FB" pitchFamily="18" charset="0"/>
              </a:rPr>
              <a:t>The importance of inclusion for psychosocial development</a:t>
            </a:r>
          </a:p>
          <a:p>
            <a:pPr lvl="0"/>
            <a:r>
              <a:rPr lang="en-US" dirty="0" smtClean="0">
                <a:latin typeface="Californian FB" pitchFamily="18" charset="0"/>
              </a:rPr>
              <a:t>The importance of inclusion for economic development </a:t>
            </a:r>
          </a:p>
          <a:p>
            <a:pPr lvl="0"/>
            <a:r>
              <a:rPr lang="en-US" dirty="0" smtClean="0">
                <a:latin typeface="Californian FB" pitchFamily="18" charset="0"/>
              </a:rPr>
              <a:t>The importance of inclusion for peace  </a:t>
            </a:r>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12</a:t>
            </a:fld>
            <a:endParaRPr lang="en-US"/>
          </a:p>
        </p:txBody>
      </p:sp>
    </p:spTree>
  </p:cSld>
  <p:clrMapOvr>
    <a:masterClrMapping/>
  </p:clrMapOvr>
  <p:transition spd="slow">
    <p:wipe dir="u"/>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pPr algn="r"/>
            <a:r>
              <a:rPr lang="en-US" dirty="0" smtClean="0"/>
              <a:t>Cont…</a:t>
            </a:r>
            <a:endParaRPr lang="en-US" dirty="0"/>
          </a:p>
        </p:txBody>
      </p:sp>
      <p:sp>
        <p:nvSpPr>
          <p:cNvPr id="3" name="Content Placeholder 2"/>
          <p:cNvSpPr>
            <a:spLocks noGrp="1"/>
          </p:cNvSpPr>
          <p:nvPr>
            <p:ph idx="1"/>
          </p:nvPr>
        </p:nvSpPr>
        <p:spPr>
          <a:xfrm>
            <a:off x="457200" y="1143000"/>
            <a:ext cx="8458200" cy="5334000"/>
          </a:xfrm>
        </p:spPr>
        <p:txBody>
          <a:bodyPr>
            <a:normAutofit/>
          </a:bodyPr>
          <a:lstStyle/>
          <a:p>
            <a:r>
              <a:rPr lang="x-none" b="1" smtClean="0">
                <a:solidFill>
                  <a:srgbClr val="FF0000"/>
                </a:solidFill>
              </a:rPr>
              <a:t>Chapter 6: Legal frame work  </a:t>
            </a:r>
            <a:endParaRPr lang="en-US" b="1" dirty="0" smtClean="0">
              <a:solidFill>
                <a:srgbClr val="FF0000"/>
              </a:solidFill>
            </a:endParaRPr>
          </a:p>
          <a:p>
            <a:pPr lvl="1"/>
            <a:r>
              <a:rPr lang="en-US" dirty="0" smtClean="0"/>
              <a:t>Components of legal framework </a:t>
            </a:r>
          </a:p>
          <a:p>
            <a:pPr lvl="1"/>
            <a:r>
              <a:rPr lang="en-US" dirty="0" smtClean="0"/>
              <a:t>International legal frame works in relation to inclusiveness </a:t>
            </a:r>
          </a:p>
          <a:p>
            <a:pPr lvl="1"/>
            <a:r>
              <a:rPr lang="en-US" dirty="0" smtClean="0"/>
              <a:t>National legal frame works in relation to inclusiveness</a:t>
            </a:r>
          </a:p>
          <a:p>
            <a:r>
              <a:rPr lang="x-none" b="1" smtClean="0">
                <a:solidFill>
                  <a:srgbClr val="FF0000"/>
                </a:solidFill>
              </a:rPr>
              <a:t>Chapter 7</a:t>
            </a:r>
            <a:r>
              <a:rPr lang="en-US" b="1" dirty="0" smtClean="0">
                <a:solidFill>
                  <a:srgbClr val="FF0000"/>
                </a:solidFill>
              </a:rPr>
              <a:t>:</a:t>
            </a:r>
            <a:r>
              <a:rPr lang="x-none" b="1" smtClean="0">
                <a:solidFill>
                  <a:srgbClr val="FF0000"/>
                </a:solidFill>
              </a:rPr>
              <a:t> Resources Management for Inclusion  </a:t>
            </a:r>
            <a:endParaRPr lang="en-US" b="1" dirty="0" smtClean="0">
              <a:solidFill>
                <a:srgbClr val="FF0000"/>
              </a:solidFill>
            </a:endParaRPr>
          </a:p>
          <a:p>
            <a:pPr lvl="1"/>
            <a:r>
              <a:rPr lang="en-US" dirty="0" smtClean="0"/>
              <a:t>Resources for inclusion </a:t>
            </a:r>
          </a:p>
          <a:p>
            <a:pPr lvl="1"/>
            <a:r>
              <a:rPr lang="en-US" dirty="0" smtClean="0"/>
              <a:t>Planning for inclusion services </a:t>
            </a:r>
          </a:p>
          <a:p>
            <a:pPr>
              <a:buNone/>
            </a:pP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13</a:t>
            </a:fld>
            <a:endParaRPr lang="en-US"/>
          </a:p>
        </p:txBody>
      </p:sp>
    </p:spTree>
  </p:cSld>
  <p:clrMapOvr>
    <a:masterClrMapping/>
  </p:clrMapOvr>
  <p:transition spd="slow">
    <p:wipe dir="u"/>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r"/>
            <a:r>
              <a:rPr lang="en-US" dirty="0" smtClean="0"/>
              <a:t>Cont…</a:t>
            </a:r>
            <a:endParaRPr lang="en-US" dirty="0"/>
          </a:p>
        </p:txBody>
      </p:sp>
      <p:sp>
        <p:nvSpPr>
          <p:cNvPr id="3" name="Content Placeholder 2"/>
          <p:cNvSpPr>
            <a:spLocks noGrp="1"/>
          </p:cNvSpPr>
          <p:nvPr>
            <p:ph idx="1"/>
          </p:nvPr>
        </p:nvSpPr>
        <p:spPr>
          <a:xfrm>
            <a:off x="228600" y="1600200"/>
            <a:ext cx="8686800" cy="5105400"/>
          </a:xfrm>
        </p:spPr>
        <p:txBody>
          <a:bodyPr>
            <a:normAutofit fontScale="92500"/>
          </a:bodyPr>
          <a:lstStyle/>
          <a:p>
            <a:r>
              <a:rPr lang="x-none" sz="3900" b="1" smtClean="0">
                <a:solidFill>
                  <a:srgbClr val="FF0000"/>
                </a:solidFill>
                <a:latin typeface="Californian FB" pitchFamily="18" charset="0"/>
              </a:rPr>
              <a:t>Chapter 8: Collaborative Partnerships with stakeholders </a:t>
            </a:r>
            <a:endParaRPr lang="en-US" sz="3900" b="1" dirty="0" smtClean="0">
              <a:solidFill>
                <a:srgbClr val="FF0000"/>
              </a:solidFill>
              <a:latin typeface="Californian FB" pitchFamily="18" charset="0"/>
            </a:endParaRPr>
          </a:p>
          <a:p>
            <a:pPr lvl="1"/>
            <a:r>
              <a:rPr lang="en-US" dirty="0" smtClean="0">
                <a:latin typeface="Californian FB" pitchFamily="18" charset="0"/>
              </a:rPr>
              <a:t>Definition of collaboration, partnership and stack holder</a:t>
            </a:r>
          </a:p>
          <a:p>
            <a:pPr lvl="1"/>
            <a:r>
              <a:rPr lang="en-US" dirty="0" smtClean="0">
                <a:latin typeface="Californian FB" pitchFamily="18" charset="0"/>
              </a:rPr>
              <a:t>Key elements of successful collaboration </a:t>
            </a:r>
          </a:p>
          <a:p>
            <a:pPr lvl="1"/>
            <a:r>
              <a:rPr lang="en-US" dirty="0" smtClean="0">
                <a:latin typeface="Californian FB" pitchFamily="18" charset="0"/>
              </a:rPr>
              <a:t>The benefits and challenges of collaboration for various stakeholders for the success of inclusion  </a:t>
            </a:r>
          </a:p>
          <a:p>
            <a:pPr lvl="1"/>
            <a:r>
              <a:rPr lang="en-US" dirty="0" smtClean="0">
                <a:latin typeface="Californian FB" pitchFamily="18" charset="0"/>
              </a:rPr>
              <a:t>The strategies for effective co-planning and team working </a:t>
            </a:r>
          </a:p>
          <a:p>
            <a:pPr lvl="1"/>
            <a:r>
              <a:rPr lang="en-US" dirty="0" smtClean="0">
                <a:latin typeface="Californian FB" pitchFamily="18" charset="0"/>
              </a:rPr>
              <a:t>Characteristics of successful stockholders partnerships </a:t>
            </a:r>
          </a:p>
          <a:p>
            <a:pPr lvl="1"/>
            <a:r>
              <a:rPr lang="en-US" dirty="0" smtClean="0">
                <a:latin typeface="Californian FB" pitchFamily="18" charset="0"/>
              </a:rPr>
              <a:t>Strategies for community involvement </a:t>
            </a:r>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14</a:t>
            </a:fld>
            <a:endParaRPr lang="en-US"/>
          </a:p>
        </p:txBody>
      </p:sp>
    </p:spTree>
  </p:cSld>
  <p:clrMapOvr>
    <a:masterClrMapping/>
  </p:clrMapOvr>
  <p:transition spd="slow">
    <p:wipe dir="u"/>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554162"/>
          </a:xfrm>
        </p:spPr>
        <p:txBody>
          <a:bodyPr>
            <a:normAutofit fontScale="90000"/>
          </a:bodyPr>
          <a:lstStyle/>
          <a:p>
            <a:r>
              <a:rPr lang="en-US" sz="3200" b="1" u="sng" dirty="0" smtClean="0">
                <a:solidFill>
                  <a:srgbClr val="FF0000"/>
                </a:solidFill>
                <a:latin typeface="Californian FB" pitchFamily="18" charset="0"/>
                <a:ea typeface="Times New Roman" panose="02020603050405020304" pitchFamily="18" charset="0"/>
                <a:cs typeface="Times New Roman" panose="02020603050405020304" pitchFamily="18" charset="0"/>
              </a:rPr>
              <a:t>Chapter One</a:t>
            </a:r>
            <a:r>
              <a:rPr lang="en-US" sz="3200" b="1" spc="-5" dirty="0" smtClean="0">
                <a:solidFill>
                  <a:srgbClr val="FF0000"/>
                </a:solidFill>
                <a:latin typeface="Californian FB" pitchFamily="18" charset="0"/>
                <a:ea typeface="Times New Roman" panose="02020603050405020304" pitchFamily="18" charset="0"/>
                <a:cs typeface="Times New Roman" panose="02020603050405020304" pitchFamily="18" charset="0"/>
              </a:rPr>
              <a:t> </a:t>
            </a:r>
            <a:br>
              <a:rPr lang="en-US" sz="3200" b="1" spc="-5" dirty="0" smtClean="0">
                <a:solidFill>
                  <a:srgbClr val="FF0000"/>
                </a:solidFill>
                <a:latin typeface="Californian FB" pitchFamily="18" charset="0"/>
                <a:ea typeface="Times New Roman" panose="02020603050405020304" pitchFamily="18" charset="0"/>
                <a:cs typeface="Times New Roman" panose="02020603050405020304" pitchFamily="18" charset="0"/>
              </a:rPr>
            </a:br>
            <a:r>
              <a:rPr lang="en-US" sz="3200" b="1" spc="-5" dirty="0" smtClean="0">
                <a:solidFill>
                  <a:srgbClr val="FF0000"/>
                </a:solidFill>
                <a:latin typeface="Californian FB" pitchFamily="18" charset="0"/>
                <a:ea typeface="Times New Roman" panose="02020603050405020304" pitchFamily="18" charset="0"/>
                <a:cs typeface="Times New Roman" panose="02020603050405020304" pitchFamily="18" charset="0"/>
              </a:rPr>
              <a:t>U</a:t>
            </a:r>
            <a:r>
              <a:rPr lang="en-US" sz="3200" b="1" dirty="0" smtClean="0">
                <a:solidFill>
                  <a:srgbClr val="FF0000"/>
                </a:solidFill>
                <a:latin typeface="Californian FB" pitchFamily="18" charset="0"/>
                <a:ea typeface="Times New Roman" panose="02020603050405020304" pitchFamily="18" charset="0"/>
                <a:cs typeface="Times New Roman" panose="02020603050405020304" pitchFamily="18" charset="0"/>
              </a:rPr>
              <a:t>nder</a:t>
            </a:r>
            <a:r>
              <a:rPr lang="en-US" sz="3200" b="1" spc="-5" dirty="0" smtClean="0">
                <a:solidFill>
                  <a:srgbClr val="FF0000"/>
                </a:solidFill>
                <a:latin typeface="Californian FB" pitchFamily="18" charset="0"/>
                <a:ea typeface="Times New Roman" panose="02020603050405020304" pitchFamily="18" charset="0"/>
                <a:cs typeface="Times New Roman" panose="02020603050405020304" pitchFamily="18" charset="0"/>
              </a:rPr>
              <a:t>s</a:t>
            </a:r>
            <a:r>
              <a:rPr lang="en-US" sz="3200" b="1" spc="-10" dirty="0" smtClean="0">
                <a:solidFill>
                  <a:srgbClr val="FF0000"/>
                </a:solidFill>
                <a:latin typeface="Californian FB" pitchFamily="18" charset="0"/>
                <a:ea typeface="Times New Roman" panose="02020603050405020304" pitchFamily="18" charset="0"/>
                <a:cs typeface="Times New Roman" panose="02020603050405020304" pitchFamily="18" charset="0"/>
              </a:rPr>
              <a:t>t</a:t>
            </a:r>
            <a:r>
              <a:rPr lang="en-US" sz="3200" b="1" spc="5" dirty="0" smtClean="0">
                <a:solidFill>
                  <a:srgbClr val="FF0000"/>
                </a:solidFill>
                <a:latin typeface="Californian FB" pitchFamily="18" charset="0"/>
                <a:ea typeface="Times New Roman" panose="02020603050405020304" pitchFamily="18" charset="0"/>
                <a:cs typeface="Times New Roman" panose="02020603050405020304" pitchFamily="18" charset="0"/>
              </a:rPr>
              <a:t>a</a:t>
            </a:r>
            <a:r>
              <a:rPr lang="en-US" sz="3200" b="1" dirty="0" smtClean="0">
                <a:solidFill>
                  <a:srgbClr val="FF0000"/>
                </a:solidFill>
                <a:latin typeface="Californian FB" pitchFamily="18" charset="0"/>
                <a:ea typeface="Times New Roman" panose="02020603050405020304" pitchFamily="18" charset="0"/>
                <a:cs typeface="Times New Roman" panose="02020603050405020304" pitchFamily="18" charset="0"/>
              </a:rPr>
              <a:t>nd</a:t>
            </a:r>
            <a:r>
              <a:rPr lang="en-US" sz="3200" b="1" spc="-5" dirty="0" smtClean="0">
                <a:solidFill>
                  <a:srgbClr val="FF0000"/>
                </a:solidFill>
                <a:latin typeface="Californian FB" pitchFamily="18" charset="0"/>
                <a:ea typeface="Times New Roman" panose="02020603050405020304" pitchFamily="18" charset="0"/>
                <a:cs typeface="Times New Roman" panose="02020603050405020304" pitchFamily="18" charset="0"/>
              </a:rPr>
              <a:t>i</a:t>
            </a:r>
            <a:r>
              <a:rPr lang="en-US" sz="3200" b="1" dirty="0" smtClean="0">
                <a:solidFill>
                  <a:srgbClr val="FF0000"/>
                </a:solidFill>
                <a:latin typeface="Californian FB" pitchFamily="18" charset="0"/>
                <a:ea typeface="Times New Roman" panose="02020603050405020304" pitchFamily="18" charset="0"/>
                <a:cs typeface="Times New Roman" panose="02020603050405020304" pitchFamily="18" charset="0"/>
              </a:rPr>
              <a:t>ng</a:t>
            </a:r>
            <a:r>
              <a:rPr lang="en-US" sz="3200" b="1" spc="5" dirty="0" smtClean="0">
                <a:solidFill>
                  <a:srgbClr val="FF0000"/>
                </a:solidFill>
                <a:latin typeface="Californian FB" pitchFamily="18" charset="0"/>
                <a:ea typeface="Times New Roman" panose="02020603050405020304" pitchFamily="18" charset="0"/>
                <a:cs typeface="Times New Roman" panose="02020603050405020304" pitchFamily="18" charset="0"/>
              </a:rPr>
              <a:t> </a:t>
            </a:r>
            <a:r>
              <a:rPr lang="en-US" sz="3200" b="1" spc="-5" dirty="0" smtClean="0">
                <a:solidFill>
                  <a:srgbClr val="FF0000"/>
                </a:solidFill>
                <a:latin typeface="Californian FB" pitchFamily="18" charset="0"/>
                <a:ea typeface="Times New Roman" panose="02020603050405020304" pitchFamily="18" charset="0"/>
                <a:cs typeface="Times New Roman" panose="02020603050405020304" pitchFamily="18" charset="0"/>
              </a:rPr>
              <a:t>Dis</a:t>
            </a:r>
            <a:r>
              <a:rPr lang="en-US" sz="3200" b="1" spc="5" dirty="0" smtClean="0">
                <a:solidFill>
                  <a:srgbClr val="FF0000"/>
                </a:solidFill>
                <a:latin typeface="Californian FB" pitchFamily="18" charset="0"/>
                <a:ea typeface="Times New Roman" panose="02020603050405020304" pitchFamily="18" charset="0"/>
                <a:cs typeface="Times New Roman" panose="02020603050405020304" pitchFamily="18" charset="0"/>
              </a:rPr>
              <a:t>a</a:t>
            </a:r>
            <a:r>
              <a:rPr lang="en-US" sz="3200" b="1" dirty="0" smtClean="0">
                <a:solidFill>
                  <a:srgbClr val="FF0000"/>
                </a:solidFill>
                <a:latin typeface="Californian FB" pitchFamily="18" charset="0"/>
                <a:ea typeface="Times New Roman" panose="02020603050405020304" pitchFamily="18" charset="0"/>
                <a:cs typeface="Times New Roman" panose="02020603050405020304" pitchFamily="18" charset="0"/>
              </a:rPr>
              <a:t>b</a:t>
            </a:r>
            <a:r>
              <a:rPr lang="en-US" sz="3200" b="1" spc="-5" dirty="0" smtClean="0">
                <a:solidFill>
                  <a:srgbClr val="FF0000"/>
                </a:solidFill>
                <a:latin typeface="Californian FB" pitchFamily="18" charset="0"/>
                <a:ea typeface="Times New Roman" panose="02020603050405020304" pitchFamily="18" charset="0"/>
                <a:cs typeface="Times New Roman" panose="02020603050405020304" pitchFamily="18" charset="0"/>
              </a:rPr>
              <a:t>il</a:t>
            </a:r>
            <a:r>
              <a:rPr lang="en-US" sz="3200" b="1" spc="5" dirty="0" smtClean="0">
                <a:solidFill>
                  <a:srgbClr val="FF0000"/>
                </a:solidFill>
                <a:latin typeface="Californian FB" pitchFamily="18" charset="0"/>
                <a:ea typeface="Times New Roman" panose="02020603050405020304" pitchFamily="18" charset="0"/>
                <a:cs typeface="Times New Roman" panose="02020603050405020304" pitchFamily="18" charset="0"/>
              </a:rPr>
              <a:t>i</a:t>
            </a:r>
            <a:r>
              <a:rPr lang="en-US" sz="3200" b="1" dirty="0" smtClean="0">
                <a:solidFill>
                  <a:srgbClr val="FF0000"/>
                </a:solidFill>
                <a:latin typeface="Californian FB" pitchFamily="18" charset="0"/>
                <a:ea typeface="Times New Roman" panose="02020603050405020304" pitchFamily="18" charset="0"/>
                <a:cs typeface="Times New Roman" panose="02020603050405020304" pitchFamily="18" charset="0"/>
              </a:rPr>
              <a:t>t</a:t>
            </a:r>
            <a:r>
              <a:rPr lang="en-US" sz="3200" b="1" spc="5" dirty="0" smtClean="0">
                <a:solidFill>
                  <a:srgbClr val="FF0000"/>
                </a:solidFill>
                <a:latin typeface="Californian FB" pitchFamily="18" charset="0"/>
                <a:ea typeface="Times New Roman" panose="02020603050405020304" pitchFamily="18" charset="0"/>
                <a:cs typeface="Times New Roman" panose="02020603050405020304" pitchFamily="18" charset="0"/>
              </a:rPr>
              <a:t>i</a:t>
            </a:r>
            <a:r>
              <a:rPr lang="en-US" sz="3200" b="1" spc="-10" dirty="0" smtClean="0">
                <a:solidFill>
                  <a:srgbClr val="FF0000"/>
                </a:solidFill>
                <a:latin typeface="Californian FB" pitchFamily="18" charset="0"/>
                <a:ea typeface="Times New Roman" panose="02020603050405020304" pitchFamily="18" charset="0"/>
                <a:cs typeface="Times New Roman" panose="02020603050405020304" pitchFamily="18" charset="0"/>
              </a:rPr>
              <a:t>e</a:t>
            </a:r>
            <a:r>
              <a:rPr lang="en-US" sz="3200" b="1" dirty="0" smtClean="0">
                <a:solidFill>
                  <a:srgbClr val="FF0000"/>
                </a:solidFill>
                <a:latin typeface="Californian FB" pitchFamily="18" charset="0"/>
                <a:ea typeface="Times New Roman" panose="02020603050405020304" pitchFamily="18" charset="0"/>
                <a:cs typeface="Times New Roman" panose="02020603050405020304" pitchFamily="18" charset="0"/>
              </a:rPr>
              <a:t>s</a:t>
            </a:r>
            <a:r>
              <a:rPr lang="en-US" sz="3200" b="1" spc="-10" dirty="0" smtClean="0">
                <a:solidFill>
                  <a:srgbClr val="FF0000"/>
                </a:solidFill>
                <a:latin typeface="Californian FB" pitchFamily="18" charset="0"/>
                <a:ea typeface="Times New Roman" panose="02020603050405020304" pitchFamily="18" charset="0"/>
                <a:cs typeface="Times New Roman" panose="02020603050405020304" pitchFamily="18" charset="0"/>
              </a:rPr>
              <a:t> </a:t>
            </a:r>
            <a:r>
              <a:rPr lang="en-US" sz="3200" b="1" spc="-5" dirty="0" smtClean="0">
                <a:solidFill>
                  <a:srgbClr val="FF0000"/>
                </a:solidFill>
                <a:latin typeface="Californian FB" pitchFamily="18" charset="0"/>
                <a:ea typeface="Times New Roman" panose="02020603050405020304" pitchFamily="18" charset="0"/>
                <a:cs typeface="Times New Roman" panose="02020603050405020304" pitchFamily="18" charset="0"/>
              </a:rPr>
              <a:t>a</a:t>
            </a:r>
            <a:r>
              <a:rPr lang="en-US" sz="3200" b="1" dirty="0" smtClean="0">
                <a:solidFill>
                  <a:srgbClr val="FF0000"/>
                </a:solidFill>
                <a:latin typeface="Californian FB" pitchFamily="18" charset="0"/>
                <a:ea typeface="Times New Roman" panose="02020603050405020304" pitchFamily="18" charset="0"/>
                <a:cs typeface="Times New Roman" panose="02020603050405020304" pitchFamily="18" charset="0"/>
              </a:rPr>
              <a:t>nd </a:t>
            </a:r>
            <a:r>
              <a:rPr lang="en-US" sz="3200" b="1" spc="-5" dirty="0" smtClean="0">
                <a:solidFill>
                  <a:srgbClr val="FF0000"/>
                </a:solidFill>
                <a:latin typeface="Californian FB" pitchFamily="18" charset="0"/>
                <a:ea typeface="Times New Roman" panose="02020603050405020304" pitchFamily="18" charset="0"/>
                <a:cs typeface="Times New Roman" panose="02020603050405020304" pitchFamily="18" charset="0"/>
              </a:rPr>
              <a:t>V</a:t>
            </a:r>
            <a:r>
              <a:rPr lang="en-US" sz="3200" b="1" dirty="0" smtClean="0">
                <a:solidFill>
                  <a:srgbClr val="FF0000"/>
                </a:solidFill>
                <a:latin typeface="Californian FB" pitchFamily="18" charset="0"/>
                <a:ea typeface="Times New Roman" panose="02020603050405020304" pitchFamily="18" charset="0"/>
                <a:cs typeface="Times New Roman" panose="02020603050405020304" pitchFamily="18" charset="0"/>
              </a:rPr>
              <a:t>u</a:t>
            </a:r>
            <a:r>
              <a:rPr lang="en-US" sz="3200" b="1" spc="5" dirty="0" smtClean="0">
                <a:solidFill>
                  <a:srgbClr val="FF0000"/>
                </a:solidFill>
                <a:latin typeface="Californian FB" pitchFamily="18" charset="0"/>
                <a:ea typeface="Times New Roman" panose="02020603050405020304" pitchFamily="18" charset="0"/>
                <a:cs typeface="Times New Roman" panose="02020603050405020304" pitchFamily="18" charset="0"/>
              </a:rPr>
              <a:t>l</a:t>
            </a:r>
            <a:r>
              <a:rPr lang="en-US" sz="3200" b="1" dirty="0" smtClean="0">
                <a:solidFill>
                  <a:srgbClr val="FF0000"/>
                </a:solidFill>
                <a:latin typeface="Californian FB" pitchFamily="18" charset="0"/>
                <a:ea typeface="Times New Roman" panose="02020603050405020304" pitchFamily="18" charset="0"/>
                <a:cs typeface="Times New Roman" panose="02020603050405020304" pitchFamily="18" charset="0"/>
              </a:rPr>
              <a:t>ne</a:t>
            </a:r>
            <a:r>
              <a:rPr lang="en-US" sz="3200" b="1" spc="-10" dirty="0" smtClean="0">
                <a:solidFill>
                  <a:srgbClr val="FF0000"/>
                </a:solidFill>
                <a:latin typeface="Californian FB" pitchFamily="18" charset="0"/>
                <a:ea typeface="Times New Roman" panose="02020603050405020304" pitchFamily="18" charset="0"/>
                <a:cs typeface="Times New Roman" panose="02020603050405020304" pitchFamily="18" charset="0"/>
              </a:rPr>
              <a:t>r</a:t>
            </a:r>
            <a:r>
              <a:rPr lang="en-US" sz="3200" b="1" spc="5" dirty="0" smtClean="0">
                <a:solidFill>
                  <a:srgbClr val="FF0000"/>
                </a:solidFill>
                <a:latin typeface="Californian FB" pitchFamily="18" charset="0"/>
                <a:ea typeface="Times New Roman" panose="02020603050405020304" pitchFamily="18" charset="0"/>
                <a:cs typeface="Times New Roman" panose="02020603050405020304" pitchFamily="18" charset="0"/>
              </a:rPr>
              <a:t>a</a:t>
            </a:r>
            <a:r>
              <a:rPr lang="en-US" sz="3200" b="1" dirty="0" smtClean="0">
                <a:solidFill>
                  <a:srgbClr val="FF0000"/>
                </a:solidFill>
                <a:latin typeface="Californian FB" pitchFamily="18" charset="0"/>
                <a:ea typeface="Times New Roman" panose="02020603050405020304" pitchFamily="18" charset="0"/>
                <a:cs typeface="Times New Roman" panose="02020603050405020304" pitchFamily="18" charset="0"/>
              </a:rPr>
              <a:t>b</a:t>
            </a:r>
            <a:r>
              <a:rPr lang="en-US" sz="3200" b="1" spc="-5" dirty="0" smtClean="0">
                <a:solidFill>
                  <a:srgbClr val="FF0000"/>
                </a:solidFill>
                <a:latin typeface="Californian FB" pitchFamily="18" charset="0"/>
                <a:ea typeface="Times New Roman" panose="02020603050405020304" pitchFamily="18" charset="0"/>
                <a:cs typeface="Times New Roman" panose="02020603050405020304" pitchFamily="18" charset="0"/>
              </a:rPr>
              <a:t>il</a:t>
            </a:r>
            <a:r>
              <a:rPr lang="en-US" sz="3200" b="1" spc="5" dirty="0" smtClean="0">
                <a:solidFill>
                  <a:srgbClr val="FF0000"/>
                </a:solidFill>
                <a:latin typeface="Californian FB" pitchFamily="18" charset="0"/>
                <a:ea typeface="Times New Roman" panose="02020603050405020304" pitchFamily="18" charset="0"/>
                <a:cs typeface="Times New Roman" panose="02020603050405020304" pitchFamily="18" charset="0"/>
              </a:rPr>
              <a:t>i</a:t>
            </a:r>
            <a:r>
              <a:rPr lang="en-US" sz="3200" b="1" dirty="0" smtClean="0">
                <a:solidFill>
                  <a:srgbClr val="FF0000"/>
                </a:solidFill>
                <a:latin typeface="Californian FB" pitchFamily="18" charset="0"/>
                <a:ea typeface="Times New Roman" panose="02020603050405020304" pitchFamily="18" charset="0"/>
                <a:cs typeface="Times New Roman" panose="02020603050405020304" pitchFamily="18" charset="0"/>
              </a:rPr>
              <a:t>t</a:t>
            </a:r>
            <a:r>
              <a:rPr lang="en-US" sz="3200" b="1" spc="5" dirty="0" smtClean="0">
                <a:solidFill>
                  <a:srgbClr val="FF0000"/>
                </a:solidFill>
                <a:latin typeface="Californian FB" pitchFamily="18" charset="0"/>
                <a:ea typeface="Times New Roman" panose="02020603050405020304" pitchFamily="18" charset="0"/>
                <a:cs typeface="Times New Roman" panose="02020603050405020304" pitchFamily="18" charset="0"/>
              </a:rPr>
              <a:t>i</a:t>
            </a:r>
            <a:r>
              <a:rPr lang="en-US" sz="3200" b="1" spc="-10" dirty="0" smtClean="0">
                <a:solidFill>
                  <a:srgbClr val="FF0000"/>
                </a:solidFill>
                <a:latin typeface="Californian FB" pitchFamily="18" charset="0"/>
                <a:ea typeface="Times New Roman" panose="02020603050405020304" pitchFamily="18" charset="0"/>
                <a:cs typeface="Times New Roman" panose="02020603050405020304" pitchFamily="18" charset="0"/>
              </a:rPr>
              <a:t>e</a:t>
            </a:r>
            <a:r>
              <a:rPr lang="en-US" sz="3200" b="1" dirty="0" smtClean="0">
                <a:solidFill>
                  <a:srgbClr val="FF0000"/>
                </a:solidFill>
                <a:latin typeface="Californian FB" pitchFamily="18" charset="0"/>
                <a:ea typeface="Times New Roman" panose="02020603050405020304" pitchFamily="18" charset="0"/>
                <a:cs typeface="Times New Roman" panose="02020603050405020304" pitchFamily="18" charset="0"/>
              </a:rPr>
              <a:t>s</a:t>
            </a:r>
            <a:endParaRPr lang="en-US" sz="3200" dirty="0">
              <a:latin typeface="Californian FB"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15</a:t>
            </a:fld>
            <a:endParaRPr lang="en-US"/>
          </a:p>
        </p:txBody>
      </p:sp>
      <p:pic>
        <p:nvPicPr>
          <p:cNvPr id="5" name="Picture 7"/>
          <p:cNvPicPr>
            <a:picLocks noGrp="1"/>
          </p:cNvPicPr>
          <p:nvPr>
            <p:ph idx="1"/>
          </p:nvPr>
        </p:nvPicPr>
        <p:blipFill>
          <a:blip r:embed="rId2" cstate="print"/>
          <a:srcRect/>
          <a:stretch>
            <a:fillRect/>
          </a:stretch>
        </p:blipFill>
        <p:spPr bwMode="auto">
          <a:xfrm>
            <a:off x="457200" y="1828800"/>
            <a:ext cx="8077199" cy="4525963"/>
          </a:xfrm>
          <a:prstGeom prst="rect">
            <a:avLst/>
          </a:prstGeom>
          <a:noFill/>
          <a:ln>
            <a:noFill/>
          </a:ln>
        </p:spPr>
      </p:pic>
    </p:spTree>
  </p:cSld>
  <p:clrMapOvr>
    <a:masterClrMapping/>
  </p:clrMapOvr>
  <p:transition spd="slow">
    <p:wipe dir="u"/>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a:bodyPr>
          <a:lstStyle/>
          <a:p>
            <a:pPr lvl="1" algn="ctr" rtl="0">
              <a:spcBef>
                <a:spcPct val="0"/>
              </a:spcBef>
            </a:pPr>
            <a:r>
              <a:rPr lang="en-US" sz="3200" b="1" dirty="0" smtClean="0">
                <a:solidFill>
                  <a:srgbClr val="FF0000"/>
                </a:solidFill>
                <a:latin typeface="Californian FB" pitchFamily="18" charset="0"/>
              </a:rPr>
              <a:t>Definitions of Disability and Vulnerability  </a:t>
            </a:r>
            <a:endParaRPr lang="en-US" sz="3200" b="1" dirty="0">
              <a:solidFill>
                <a:srgbClr val="FF0000"/>
              </a:solidFill>
              <a:latin typeface="Californian FB" pitchFamily="18" charset="0"/>
            </a:endParaRPr>
          </a:p>
        </p:txBody>
      </p:sp>
      <p:sp>
        <p:nvSpPr>
          <p:cNvPr id="3" name="Content Placeholder 2"/>
          <p:cNvSpPr>
            <a:spLocks noGrp="1"/>
          </p:cNvSpPr>
          <p:nvPr>
            <p:ph idx="1"/>
          </p:nvPr>
        </p:nvSpPr>
        <p:spPr>
          <a:xfrm>
            <a:off x="152400" y="990600"/>
            <a:ext cx="8839200" cy="5638800"/>
          </a:xfrm>
        </p:spPr>
        <p:txBody>
          <a:bodyPr>
            <a:normAutofit fontScale="92500"/>
          </a:bodyPr>
          <a:lstStyle/>
          <a:p>
            <a:r>
              <a:rPr lang="en-US" b="1" dirty="0" smtClean="0">
                <a:solidFill>
                  <a:srgbClr val="0070C0"/>
                </a:solidFill>
                <a:latin typeface="Californian FB" pitchFamily="18" charset="0"/>
              </a:rPr>
              <a:t>Impairment</a:t>
            </a:r>
          </a:p>
          <a:p>
            <a:pPr lvl="1"/>
            <a:r>
              <a:rPr lang="en-US" dirty="0" smtClean="0">
                <a:solidFill>
                  <a:srgbClr val="FF0000"/>
                </a:solidFill>
                <a:latin typeface="Californian FB" pitchFamily="18" charset="0"/>
              </a:rPr>
              <a:t>lack/abnormality</a:t>
            </a:r>
            <a:r>
              <a:rPr lang="en-US" dirty="0" smtClean="0">
                <a:latin typeface="Californian FB" pitchFamily="18" charset="0"/>
              </a:rPr>
              <a:t> of an anatomic, physiological or psychological structure or function or deviation on a person.</a:t>
            </a:r>
          </a:p>
          <a:p>
            <a:pPr lvl="1"/>
            <a:r>
              <a:rPr lang="en-US" dirty="0" smtClean="0">
                <a:latin typeface="Californian FB" pitchFamily="18" charset="0"/>
              </a:rPr>
              <a:t>It  refers  to  any  </a:t>
            </a:r>
            <a:r>
              <a:rPr lang="en-US" dirty="0" smtClean="0">
                <a:solidFill>
                  <a:srgbClr val="FF0000"/>
                </a:solidFill>
                <a:latin typeface="Californian FB" pitchFamily="18" charset="0"/>
              </a:rPr>
              <a:t>loss</a:t>
            </a:r>
            <a:r>
              <a:rPr lang="en-US" dirty="0" smtClean="0">
                <a:latin typeface="Californian FB" pitchFamily="18" charset="0"/>
              </a:rPr>
              <a:t>  or  abnormality  of  physiological,  psychological  or  anatomical structure or function. </a:t>
            </a:r>
          </a:p>
          <a:p>
            <a:pPr lvl="1"/>
            <a:r>
              <a:rPr lang="en-US" dirty="0" smtClean="0">
                <a:latin typeface="Californian FB" pitchFamily="18" charset="0"/>
              </a:rPr>
              <a:t>It is the </a:t>
            </a:r>
            <a:r>
              <a:rPr lang="en-US" dirty="0" smtClean="0">
                <a:solidFill>
                  <a:srgbClr val="FF0000"/>
                </a:solidFill>
                <a:latin typeface="Californian FB" pitchFamily="18" charset="0"/>
              </a:rPr>
              <a:t>absence</a:t>
            </a:r>
            <a:r>
              <a:rPr lang="en-US" dirty="0" smtClean="0">
                <a:latin typeface="Californian FB" pitchFamily="18" charset="0"/>
              </a:rPr>
              <a:t> of particular body part or organ. </a:t>
            </a:r>
          </a:p>
          <a:p>
            <a:pPr lvl="1"/>
            <a:r>
              <a:rPr lang="en-US" dirty="0" smtClean="0">
                <a:latin typeface="Californian FB" pitchFamily="18" charset="0"/>
              </a:rPr>
              <a:t>It could also a condition in which the body exists but </a:t>
            </a:r>
            <a:r>
              <a:rPr lang="en-US" dirty="0" smtClean="0">
                <a:solidFill>
                  <a:srgbClr val="FF0000"/>
                </a:solidFill>
                <a:latin typeface="Californian FB" pitchFamily="18" charset="0"/>
              </a:rPr>
              <a:t>doesn‘t</a:t>
            </a:r>
            <a:r>
              <a:rPr lang="en-US" dirty="0" smtClean="0">
                <a:latin typeface="Californian FB" pitchFamily="18" charset="0"/>
              </a:rPr>
              <a:t> </a:t>
            </a:r>
            <a:r>
              <a:rPr lang="en-US" dirty="0" smtClean="0">
                <a:solidFill>
                  <a:srgbClr val="FF0000"/>
                </a:solidFill>
                <a:latin typeface="Californian FB" pitchFamily="18" charset="0"/>
              </a:rPr>
              <a:t>function</a:t>
            </a:r>
            <a:r>
              <a:rPr lang="en-US" dirty="0" smtClean="0">
                <a:latin typeface="Californian FB" pitchFamily="18" charset="0"/>
              </a:rPr>
              <a:t>. </a:t>
            </a:r>
          </a:p>
          <a:p>
            <a:pPr lvl="1">
              <a:buNone/>
            </a:pPr>
            <a:r>
              <a:rPr lang="en-US" i="1" dirty="0" smtClean="0"/>
              <a:t>Some children, for instance,  have impairments  such  as  eyes  that  do  not see  well,  arms  and  legs  that  are deformed,  or  a brain  not  developing  in  a  typical  way  etc.</a:t>
            </a:r>
            <a:endParaRPr lang="en-US" i="1"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16</a:t>
            </a:fld>
            <a:endParaRPr lang="en-US"/>
          </a:p>
        </p:txBody>
      </p:sp>
    </p:spTree>
  </p:cSld>
  <p:clrMapOvr>
    <a:masterClrMapping/>
  </p:clrMapOvr>
  <p:transition spd="slow">
    <p:wipe dir="u"/>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b="1" dirty="0" smtClean="0">
                <a:solidFill>
                  <a:srgbClr val="0070C0"/>
                </a:solidFill>
                <a:latin typeface="Nyala" panose="02000504070300020003" pitchFamily="2" charset="0"/>
                <a:ea typeface="Times New Roman" panose="02020603050405020304" pitchFamily="18" charset="0"/>
              </a:rPr>
              <a:t>Disability </a:t>
            </a:r>
            <a:endParaRPr lang="en-US" dirty="0"/>
          </a:p>
        </p:txBody>
      </p:sp>
      <p:sp>
        <p:nvSpPr>
          <p:cNvPr id="3" name="Content Placeholder 2"/>
          <p:cNvSpPr>
            <a:spLocks noGrp="1"/>
          </p:cNvSpPr>
          <p:nvPr>
            <p:ph idx="1"/>
          </p:nvPr>
        </p:nvSpPr>
        <p:spPr>
          <a:xfrm>
            <a:off x="152400" y="1295400"/>
            <a:ext cx="8763000" cy="5334000"/>
          </a:xfrm>
        </p:spPr>
        <p:txBody>
          <a:bodyPr>
            <a:normAutofit lnSpcReduction="10000"/>
          </a:bodyPr>
          <a:lstStyle/>
          <a:p>
            <a:pPr>
              <a:buNone/>
            </a:pPr>
            <a:r>
              <a:rPr lang="en-US" b="1" dirty="0" smtClean="0">
                <a:solidFill>
                  <a:srgbClr val="FF0000"/>
                </a:solidFill>
                <a:latin typeface="Californian FB" pitchFamily="18" charset="0"/>
              </a:rPr>
              <a:t>Medical Approach </a:t>
            </a:r>
          </a:p>
          <a:p>
            <a:pPr lvl="1"/>
            <a:r>
              <a:rPr lang="en-US" dirty="0" smtClean="0">
                <a:latin typeface="Californian FB" pitchFamily="18" charset="0"/>
              </a:rPr>
              <a:t>It is a </a:t>
            </a:r>
            <a:r>
              <a:rPr lang="en-US" dirty="0" smtClean="0">
                <a:solidFill>
                  <a:srgbClr val="FF0000"/>
                </a:solidFill>
                <a:latin typeface="Californian FB" pitchFamily="18" charset="0"/>
              </a:rPr>
              <a:t>pathology</a:t>
            </a:r>
            <a:r>
              <a:rPr lang="en-US" dirty="0" smtClean="0">
                <a:latin typeface="Californian FB" pitchFamily="18" charset="0"/>
              </a:rPr>
              <a:t> (</a:t>
            </a:r>
            <a:r>
              <a:rPr lang="en-US" b="1" dirty="0" smtClean="0">
                <a:latin typeface="Californian FB" pitchFamily="18" charset="0"/>
              </a:rPr>
              <a:t>physiological, biological and intellectual). </a:t>
            </a:r>
          </a:p>
          <a:p>
            <a:pPr lvl="1"/>
            <a:r>
              <a:rPr lang="en-US" dirty="0" smtClean="0">
                <a:latin typeface="Californian FB" pitchFamily="18" charset="0"/>
              </a:rPr>
              <a:t>Disability means </a:t>
            </a:r>
            <a:r>
              <a:rPr lang="en-US" dirty="0" smtClean="0">
                <a:solidFill>
                  <a:srgbClr val="FF0000"/>
                </a:solidFill>
                <a:latin typeface="Californian FB" pitchFamily="18" charset="0"/>
              </a:rPr>
              <a:t>functional limitations </a:t>
            </a:r>
            <a:r>
              <a:rPr lang="en-US" dirty="0" smtClean="0">
                <a:latin typeface="Californian FB" pitchFamily="18" charset="0"/>
              </a:rPr>
              <a:t>due to physical, intellectual or psychic impairment, health or psychic disorders on a person.</a:t>
            </a:r>
          </a:p>
          <a:p>
            <a:pPr lvl="1"/>
            <a:r>
              <a:rPr lang="en-US" dirty="0" smtClean="0">
                <a:latin typeface="Californian FB" pitchFamily="18" charset="0"/>
              </a:rPr>
              <a:t>So it can be treated, -changed" or -improved" and made more normal. </a:t>
            </a:r>
            <a:endParaRPr lang="en-US" dirty="0" smtClean="0">
              <a:latin typeface="Californian FB" pitchFamily="18" charset="0"/>
              <a:ea typeface="Times New Roman" panose="02020603050405020304" pitchFamily="18" charset="0"/>
            </a:endParaRPr>
          </a:p>
          <a:p>
            <a:pPr lvl="1">
              <a:buFont typeface="Wingdings" panose="05000000000000000000" pitchFamily="2" charset="2"/>
              <a:buChar char="ü"/>
            </a:pPr>
            <a:endParaRPr lang="en-US" dirty="0" smtClean="0">
              <a:latin typeface="Californian FB" pitchFamily="18" charset="0"/>
              <a:ea typeface="Times New Roman" panose="02020603050405020304" pitchFamily="18" charset="0"/>
            </a:endParaRPr>
          </a:p>
          <a:p>
            <a:pPr lvl="1">
              <a:buFont typeface="Wingdings" panose="05000000000000000000" pitchFamily="2" charset="2"/>
              <a:buChar char="ü"/>
            </a:pPr>
            <a:endParaRPr lang="en-US" dirty="0" smtClean="0">
              <a:latin typeface="Californian FB" pitchFamily="18" charset="0"/>
              <a:ea typeface="Times New Roman" panose="02020603050405020304" pitchFamily="18" charset="0"/>
            </a:endParaRPr>
          </a:p>
          <a:p>
            <a:pPr lvl="1">
              <a:buFont typeface="Wingdings" panose="05000000000000000000" pitchFamily="2" charset="2"/>
              <a:buChar char="ü"/>
            </a:pPr>
            <a:r>
              <a:rPr lang="en-US" i="1" dirty="0" smtClean="0">
                <a:solidFill>
                  <a:srgbClr val="FF0000"/>
                </a:solidFill>
                <a:latin typeface="Californian FB" pitchFamily="18" charset="0"/>
                <a:ea typeface="Times New Roman" panose="02020603050405020304" pitchFamily="18" charset="0"/>
                <a:cs typeface="Times New Roman" panose="02020603050405020304" pitchFamily="18" charset="0"/>
              </a:rPr>
              <a:t>Impairment may or may not lead to disability</a:t>
            </a:r>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17</a:t>
            </a:fld>
            <a:endParaRPr lang="en-US"/>
          </a:p>
        </p:txBody>
      </p:sp>
    </p:spTree>
  </p:cSld>
  <p:clrMapOvr>
    <a:masterClrMapping/>
  </p:clrMapOvr>
  <p:transition spd="slow">
    <p:wipe dir="u"/>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r"/>
            <a:r>
              <a:rPr lang="en-US" dirty="0" smtClean="0"/>
              <a:t>Cont…</a:t>
            </a:r>
            <a:endParaRPr lang="en-US" dirty="0"/>
          </a:p>
        </p:txBody>
      </p:sp>
      <p:sp>
        <p:nvSpPr>
          <p:cNvPr id="3" name="Content Placeholder 2"/>
          <p:cNvSpPr>
            <a:spLocks noGrp="1"/>
          </p:cNvSpPr>
          <p:nvPr>
            <p:ph idx="1"/>
          </p:nvPr>
        </p:nvSpPr>
        <p:spPr>
          <a:xfrm>
            <a:off x="457200" y="1219200"/>
            <a:ext cx="8229600" cy="5410200"/>
          </a:xfrm>
        </p:spPr>
        <p:txBody>
          <a:bodyPr>
            <a:normAutofit lnSpcReduction="10000"/>
          </a:bodyPr>
          <a:lstStyle/>
          <a:p>
            <a:pPr>
              <a:buNone/>
            </a:pPr>
            <a:r>
              <a:rPr lang="en-US" b="1" dirty="0" smtClean="0">
                <a:solidFill>
                  <a:srgbClr val="FF0000"/>
                </a:solidFill>
                <a:latin typeface="Californian FB" pitchFamily="18" charset="0"/>
              </a:rPr>
              <a:t>The social definition of disability: </a:t>
            </a:r>
          </a:p>
          <a:p>
            <a:pPr lvl="1"/>
            <a:r>
              <a:rPr lang="en-US" dirty="0" smtClean="0">
                <a:latin typeface="Californian FB" pitchFamily="18" charset="0"/>
              </a:rPr>
              <a:t>Disability is a highly </a:t>
            </a:r>
            <a:r>
              <a:rPr lang="en-US" dirty="0" smtClean="0">
                <a:solidFill>
                  <a:srgbClr val="FF0000"/>
                </a:solidFill>
                <a:latin typeface="Californian FB" pitchFamily="18" charset="0"/>
              </a:rPr>
              <a:t>varied and complex condition </a:t>
            </a:r>
            <a:r>
              <a:rPr lang="en-US" dirty="0" smtClean="0">
                <a:latin typeface="Californian FB" pitchFamily="18" charset="0"/>
              </a:rPr>
              <a:t>with a range of implications for social identity and behavior. </a:t>
            </a:r>
          </a:p>
          <a:p>
            <a:pPr lvl="1"/>
            <a:r>
              <a:rPr lang="en-US" dirty="0" smtClean="0">
                <a:latin typeface="Californian FB" pitchFamily="18" charset="0"/>
              </a:rPr>
              <a:t>Disability largely depends on the </a:t>
            </a:r>
            <a:r>
              <a:rPr lang="en-US" dirty="0" smtClean="0">
                <a:solidFill>
                  <a:srgbClr val="FF0000"/>
                </a:solidFill>
                <a:latin typeface="Californian FB" pitchFamily="18" charset="0"/>
              </a:rPr>
              <a:t>context</a:t>
            </a:r>
            <a:r>
              <a:rPr lang="en-US" dirty="0" smtClean="0">
                <a:latin typeface="Californian FB" pitchFamily="18" charset="0"/>
              </a:rPr>
              <a:t> and is a consequence of </a:t>
            </a:r>
            <a:r>
              <a:rPr lang="en-US" dirty="0" smtClean="0">
                <a:solidFill>
                  <a:srgbClr val="FF0000"/>
                </a:solidFill>
                <a:latin typeface="Californian FB" pitchFamily="18" charset="0"/>
              </a:rPr>
              <a:t>discrimination</a:t>
            </a:r>
            <a:r>
              <a:rPr lang="en-US" dirty="0" smtClean="0">
                <a:latin typeface="Californian FB" pitchFamily="18" charset="0"/>
              </a:rPr>
              <a:t>, </a:t>
            </a:r>
            <a:r>
              <a:rPr lang="en-US" dirty="0" smtClean="0">
                <a:solidFill>
                  <a:srgbClr val="FF0000"/>
                </a:solidFill>
                <a:latin typeface="Californian FB" pitchFamily="18" charset="0"/>
              </a:rPr>
              <a:t>prejudice</a:t>
            </a:r>
            <a:r>
              <a:rPr lang="en-US" dirty="0" smtClean="0">
                <a:latin typeface="Californian FB" pitchFamily="18" charset="0"/>
              </a:rPr>
              <a:t> and </a:t>
            </a:r>
            <a:r>
              <a:rPr lang="en-US" dirty="0" smtClean="0">
                <a:solidFill>
                  <a:srgbClr val="FF0000"/>
                </a:solidFill>
                <a:latin typeface="Californian FB" pitchFamily="18" charset="0"/>
              </a:rPr>
              <a:t>exclusion</a:t>
            </a:r>
            <a:r>
              <a:rPr lang="en-US" dirty="0" smtClean="0">
                <a:latin typeface="Californian FB" pitchFamily="18" charset="0"/>
              </a:rPr>
              <a:t>.  </a:t>
            </a:r>
          </a:p>
          <a:p>
            <a:pPr lvl="1"/>
            <a:r>
              <a:rPr lang="en-US" dirty="0" smtClean="0">
                <a:latin typeface="Californian FB" pitchFamily="18" charset="0"/>
              </a:rPr>
              <a:t>Emphasizes the shortcomings in the environment and in many organized activities in society, for example on information, communication and education, which prevent persons with disabilities from participating on equal terms. </a:t>
            </a:r>
            <a:endParaRPr lang="en-US" dirty="0">
              <a:latin typeface="Californian FB"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18</a:t>
            </a:fld>
            <a:endParaRPr lang="en-US"/>
          </a:p>
        </p:txBody>
      </p:sp>
    </p:spTree>
  </p:cSld>
  <p:clrMapOvr>
    <a:masterClrMapping/>
  </p:clrMapOvr>
  <p:transition spd="slow">
    <p:wipe dir="u"/>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Causes of Disability </a:t>
            </a:r>
            <a:endParaRPr lang="en-US" dirty="0">
              <a:solidFill>
                <a:srgbClr val="FF0000"/>
              </a:solidFill>
            </a:endParaRPr>
          </a:p>
        </p:txBody>
      </p:sp>
      <p:sp>
        <p:nvSpPr>
          <p:cNvPr id="3" name="Content Placeholder 2"/>
          <p:cNvSpPr>
            <a:spLocks noGrp="1"/>
          </p:cNvSpPr>
          <p:nvPr>
            <p:ph idx="1"/>
          </p:nvPr>
        </p:nvSpPr>
        <p:spPr/>
        <p:txBody>
          <a:bodyPr>
            <a:normAutofit/>
          </a:bodyPr>
          <a:lstStyle/>
          <a:p>
            <a:pPr>
              <a:buNone/>
            </a:pPr>
            <a:r>
              <a:rPr lang="en-US" b="1" dirty="0" smtClean="0">
                <a:solidFill>
                  <a:srgbClr val="0070C0"/>
                </a:solidFill>
                <a:latin typeface="Californian FB" pitchFamily="18" charset="0"/>
              </a:rPr>
              <a:t>Genetic Causes </a:t>
            </a:r>
          </a:p>
          <a:p>
            <a:pPr lvl="1"/>
            <a:r>
              <a:rPr lang="en-US" dirty="0" smtClean="0">
                <a:solidFill>
                  <a:srgbClr val="FF0000"/>
                </a:solidFill>
                <a:latin typeface="Californian FB" pitchFamily="18" charset="0"/>
              </a:rPr>
              <a:t>Abnormalities</a:t>
            </a:r>
            <a:r>
              <a:rPr lang="en-US" dirty="0" smtClean="0">
                <a:latin typeface="Californian FB" pitchFamily="18" charset="0"/>
              </a:rPr>
              <a:t> in </a:t>
            </a:r>
            <a:r>
              <a:rPr lang="en-US" dirty="0" smtClean="0">
                <a:solidFill>
                  <a:srgbClr val="FF0000"/>
                </a:solidFill>
                <a:latin typeface="Californian FB" pitchFamily="18" charset="0"/>
              </a:rPr>
              <a:t>genes</a:t>
            </a:r>
            <a:r>
              <a:rPr lang="en-US" dirty="0" smtClean="0">
                <a:latin typeface="Californian FB" pitchFamily="18" charset="0"/>
              </a:rPr>
              <a:t> and genetic inheritance can cause intellectual disability in children. </a:t>
            </a:r>
          </a:p>
          <a:p>
            <a:pPr lvl="1"/>
            <a:r>
              <a:rPr lang="en-US" dirty="0" smtClean="0">
                <a:latin typeface="Californian FB" pitchFamily="18" charset="0"/>
              </a:rPr>
              <a:t>In some countries, </a:t>
            </a:r>
            <a:r>
              <a:rPr lang="en-US" b="1" dirty="0" smtClean="0">
                <a:solidFill>
                  <a:srgbClr val="FF0000"/>
                </a:solidFill>
                <a:latin typeface="Californian FB" pitchFamily="18" charset="0"/>
              </a:rPr>
              <a:t>Down syndrome </a:t>
            </a:r>
            <a:r>
              <a:rPr lang="en-US" dirty="0" smtClean="0">
                <a:latin typeface="Californian FB" pitchFamily="18" charset="0"/>
              </a:rPr>
              <a:t>is the most common genetic condition. Sometimes, diseases, illnesses, and over-exposure to x-rays can cause a genetic disorder. </a:t>
            </a:r>
            <a:endParaRPr lang="en-US" dirty="0">
              <a:latin typeface="Californian FB"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19</a:t>
            </a:fld>
            <a:endParaRPr lang="en-US"/>
          </a:p>
        </p:txBody>
      </p:sp>
    </p:spTree>
  </p:cSld>
  <p:clrMapOvr>
    <a:masterClrMapping/>
  </p:clrMapOvr>
  <p:transition spd="slow">
    <p:wipe dir="u"/>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a:bodyPr>
          <a:lstStyle/>
          <a:p>
            <a:pPr algn="r"/>
            <a:r>
              <a:rPr lang="en-US" sz="2800" dirty="0" smtClean="0"/>
              <a:t>Cont…</a:t>
            </a:r>
            <a:endParaRPr lang="en-US" sz="2800" dirty="0"/>
          </a:p>
        </p:txBody>
      </p:sp>
      <p:sp>
        <p:nvSpPr>
          <p:cNvPr id="3" name="Content Placeholder 2"/>
          <p:cNvSpPr>
            <a:spLocks noGrp="1"/>
          </p:cNvSpPr>
          <p:nvPr>
            <p:ph idx="1"/>
          </p:nvPr>
        </p:nvSpPr>
        <p:spPr>
          <a:xfrm>
            <a:off x="152400" y="838200"/>
            <a:ext cx="8763000" cy="5867400"/>
          </a:xfrm>
        </p:spPr>
        <p:txBody>
          <a:bodyPr>
            <a:normAutofit fontScale="77500" lnSpcReduction="20000"/>
          </a:bodyPr>
          <a:lstStyle/>
          <a:p>
            <a:pPr>
              <a:buNone/>
            </a:pPr>
            <a:r>
              <a:rPr lang="en-US" sz="4100" b="1" dirty="0" smtClean="0">
                <a:solidFill>
                  <a:srgbClr val="0070C0"/>
                </a:solidFill>
                <a:latin typeface="Californian FB" pitchFamily="18" charset="0"/>
              </a:rPr>
              <a:t>Environmental  </a:t>
            </a:r>
          </a:p>
          <a:p>
            <a:pPr lvl="1"/>
            <a:r>
              <a:rPr lang="en-US" sz="3100" dirty="0" smtClean="0">
                <a:solidFill>
                  <a:srgbClr val="FF0000"/>
                </a:solidFill>
                <a:latin typeface="Californian FB" pitchFamily="18" charset="0"/>
              </a:rPr>
              <a:t>Poverty and malnutrition </a:t>
            </a:r>
            <a:r>
              <a:rPr lang="en-US" sz="3100" dirty="0" smtClean="0">
                <a:latin typeface="Californian FB" pitchFamily="18" charset="0"/>
              </a:rPr>
              <a:t>in pregnant mothers can cause a deficiency in vital minerals and result in deformation issues in the unborn child. </a:t>
            </a:r>
          </a:p>
          <a:p>
            <a:pPr lvl="1"/>
            <a:r>
              <a:rPr lang="en-US" sz="3100" dirty="0" smtClean="0">
                <a:latin typeface="Californian FB" pitchFamily="18" charset="0"/>
              </a:rPr>
              <a:t>After birth, poverty and malnutrition can also cause poor development of vital organs in the child</a:t>
            </a:r>
          </a:p>
          <a:p>
            <a:pPr lvl="1"/>
            <a:r>
              <a:rPr lang="en-US" sz="3100" dirty="0" smtClean="0">
                <a:latin typeface="Californian FB" pitchFamily="18" charset="0"/>
              </a:rPr>
              <a:t>The use </a:t>
            </a:r>
            <a:r>
              <a:rPr lang="en-US" sz="3100" dirty="0" smtClean="0">
                <a:solidFill>
                  <a:srgbClr val="FF0000"/>
                </a:solidFill>
                <a:latin typeface="Californian FB" pitchFamily="18" charset="0"/>
              </a:rPr>
              <a:t>of drugs, alcohol, tobacco</a:t>
            </a:r>
            <a:r>
              <a:rPr lang="en-US" sz="3100" dirty="0" smtClean="0">
                <a:latin typeface="Californian FB" pitchFamily="18" charset="0"/>
              </a:rPr>
              <a:t>, the exposure to certain toxic chemicals and illnesses, toxoplasmosis, cytomegalovirus, rubella and syphilis by a pregnant mother</a:t>
            </a:r>
          </a:p>
          <a:p>
            <a:pPr lvl="1"/>
            <a:r>
              <a:rPr lang="en-US" sz="3100" dirty="0" smtClean="0">
                <a:latin typeface="Californian FB" pitchFamily="18" charset="0"/>
              </a:rPr>
              <a:t>Childhood </a:t>
            </a:r>
            <a:r>
              <a:rPr lang="en-US" sz="3100" dirty="0" smtClean="0">
                <a:solidFill>
                  <a:srgbClr val="FF0000"/>
                </a:solidFill>
                <a:latin typeface="Californian FB" pitchFamily="18" charset="0"/>
              </a:rPr>
              <a:t>diseases</a:t>
            </a:r>
            <a:r>
              <a:rPr lang="en-US" sz="3100" dirty="0" smtClean="0">
                <a:latin typeface="Californian FB" pitchFamily="18" charset="0"/>
              </a:rPr>
              <a:t> such as a whooping cough, measles, and chicken pox may lead to meningitis and encephalitis. This can cause damage to the brain of the child. </a:t>
            </a:r>
          </a:p>
          <a:p>
            <a:pPr lvl="1"/>
            <a:r>
              <a:rPr lang="en-US" sz="3100" dirty="0" smtClean="0">
                <a:latin typeface="Californian FB" pitchFamily="18" charset="0"/>
              </a:rPr>
              <a:t>Toxic material such as lead and mercury can damage the brain too.</a:t>
            </a:r>
          </a:p>
          <a:p>
            <a:r>
              <a:rPr lang="en-US" sz="3100" dirty="0" smtClean="0">
                <a:latin typeface="Californian FB" pitchFamily="18" charset="0"/>
              </a:rPr>
              <a:t>Unfortunate life events such as drowning, automobile accidents, falls and so on can result in people losing their sight, hearing, limbs and other vital parts of their body and cause disability.</a:t>
            </a:r>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20</a:t>
            </a:fld>
            <a:endParaRPr lang="en-US"/>
          </a:p>
        </p:txBody>
      </p:sp>
    </p:spTree>
  </p:cSld>
  <p:clrMapOvr>
    <a:masterClrMapping/>
  </p:clrMapOvr>
  <p:transition spd="slow">
    <p:wipe dir="u"/>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a:bodyPr>
          <a:lstStyle/>
          <a:p>
            <a:r>
              <a:rPr lang="en-US" sz="3600" b="1" dirty="0" smtClean="0">
                <a:solidFill>
                  <a:srgbClr val="FF0000"/>
                </a:solidFill>
              </a:rPr>
              <a:t>Type of Disabilities</a:t>
            </a:r>
            <a:endParaRPr lang="en-US" sz="3600" dirty="0">
              <a:solidFill>
                <a:srgbClr val="FF0000"/>
              </a:solidFill>
            </a:endParaRPr>
          </a:p>
        </p:txBody>
      </p:sp>
      <p:sp>
        <p:nvSpPr>
          <p:cNvPr id="3" name="Content Placeholder 2"/>
          <p:cNvSpPr>
            <a:spLocks noGrp="1"/>
          </p:cNvSpPr>
          <p:nvPr>
            <p:ph idx="1"/>
          </p:nvPr>
        </p:nvSpPr>
        <p:spPr>
          <a:xfrm>
            <a:off x="228600" y="1066800"/>
            <a:ext cx="8686800" cy="5638800"/>
          </a:xfrm>
        </p:spPr>
        <p:txBody>
          <a:bodyPr>
            <a:normAutofit lnSpcReduction="10000"/>
          </a:bodyPr>
          <a:lstStyle/>
          <a:p>
            <a:pPr>
              <a:buNone/>
            </a:pPr>
            <a:r>
              <a:rPr lang="en-US" b="1" dirty="0" smtClean="0">
                <a:solidFill>
                  <a:srgbClr val="FF0000"/>
                </a:solidFill>
              </a:rPr>
              <a:t>Visual Impairment</a:t>
            </a:r>
          </a:p>
          <a:p>
            <a:pPr lvl="1">
              <a:buFont typeface="Wingdings" panose="05000000000000000000" pitchFamily="2" charset="2"/>
              <a:buChar char="ü"/>
            </a:pPr>
            <a:r>
              <a:rPr lang="en-US" dirty="0" smtClean="0">
                <a:latin typeface="Californian FB" pitchFamily="18" charset="0"/>
                <a:cs typeface="Times New Roman" panose="02020603050405020304" pitchFamily="18" charset="0"/>
              </a:rPr>
              <a:t>is an impairment on </a:t>
            </a:r>
            <a:r>
              <a:rPr lang="en-US" dirty="0" smtClean="0">
                <a:solidFill>
                  <a:srgbClr val="FF0000"/>
                </a:solidFill>
                <a:latin typeface="Californian FB" pitchFamily="18" charset="0"/>
                <a:cs typeface="Times New Roman" panose="02020603050405020304" pitchFamily="18" charset="0"/>
              </a:rPr>
              <a:t>vision</a:t>
            </a:r>
            <a:r>
              <a:rPr lang="en-US" dirty="0" smtClean="0">
                <a:latin typeface="Californian FB" pitchFamily="18" charset="0"/>
                <a:cs typeface="Times New Roman" panose="02020603050405020304" pitchFamily="18" charset="0"/>
              </a:rPr>
              <a:t>. It has </a:t>
            </a:r>
            <a:r>
              <a:rPr lang="en-US" dirty="0" smtClean="0">
                <a:solidFill>
                  <a:srgbClr val="FF0000"/>
                </a:solidFill>
                <a:latin typeface="Californian FB" pitchFamily="18" charset="0"/>
                <a:cs typeface="Times New Roman" panose="02020603050405020304" pitchFamily="18" charset="0"/>
              </a:rPr>
              <a:t>two</a:t>
            </a:r>
            <a:r>
              <a:rPr lang="en-US" dirty="0" smtClean="0">
                <a:latin typeface="Californian FB" pitchFamily="18" charset="0"/>
                <a:cs typeface="Times New Roman" panose="02020603050405020304" pitchFamily="18" charset="0"/>
              </a:rPr>
              <a:t> classification </a:t>
            </a:r>
          </a:p>
          <a:p>
            <a:pPr lvl="2">
              <a:buFont typeface="Wingdings" panose="05000000000000000000" pitchFamily="2" charset="2"/>
              <a:buChar char="ü"/>
            </a:pPr>
            <a:r>
              <a:rPr lang="en-US" sz="2800" b="1" dirty="0" smtClean="0">
                <a:solidFill>
                  <a:srgbClr val="0070C0"/>
                </a:solidFill>
                <a:latin typeface="Californian FB" pitchFamily="18" charset="0"/>
              </a:rPr>
              <a:t>Blindness, a total loss of vision</a:t>
            </a:r>
            <a:r>
              <a:rPr lang="en-US" sz="2800" b="1" dirty="0" smtClean="0">
                <a:latin typeface="Californian FB" pitchFamily="18" charset="0"/>
              </a:rPr>
              <a:t>. </a:t>
            </a:r>
            <a:r>
              <a:rPr lang="en-US" sz="2800" dirty="0" smtClean="0">
                <a:latin typeface="Californian FB" pitchFamily="18" charset="0"/>
              </a:rPr>
              <a:t>The term blindness typically refers to </a:t>
            </a:r>
            <a:r>
              <a:rPr lang="en-US" sz="2800" dirty="0" smtClean="0">
                <a:solidFill>
                  <a:srgbClr val="0070C0"/>
                </a:solidFill>
                <a:latin typeface="Californian FB" pitchFamily="18" charset="0"/>
              </a:rPr>
              <a:t>vision loss </a:t>
            </a:r>
            <a:r>
              <a:rPr lang="en-US" sz="2800" dirty="0" smtClean="0">
                <a:latin typeface="Californian FB" pitchFamily="18" charset="0"/>
              </a:rPr>
              <a:t>that is not correctable with eyeglasses or contact lenses. Blindness may not mean a total absence  of sight, however. </a:t>
            </a:r>
          </a:p>
          <a:p>
            <a:pPr lvl="2">
              <a:buFont typeface="Wingdings" panose="05000000000000000000" pitchFamily="2" charset="2"/>
              <a:buChar char="ü"/>
            </a:pPr>
            <a:r>
              <a:rPr lang="en-US" sz="2800" b="1" dirty="0" smtClean="0">
                <a:solidFill>
                  <a:srgbClr val="0070C0"/>
                </a:solidFill>
                <a:latin typeface="Californian FB" pitchFamily="18" charset="0"/>
              </a:rPr>
              <a:t>Low vision</a:t>
            </a:r>
            <a:r>
              <a:rPr lang="en-US" sz="2800" dirty="0" smtClean="0">
                <a:latin typeface="Californian FB" pitchFamily="18" charset="0"/>
              </a:rPr>
              <a:t>:</a:t>
            </a:r>
            <a:r>
              <a:rPr lang="en-US" sz="2800" dirty="0" smtClean="0">
                <a:latin typeface="Californian FB" pitchFamily="18" charset="0"/>
                <a:cs typeface="Times New Roman" panose="02020603050405020304" pitchFamily="18" charset="0"/>
              </a:rPr>
              <a:t> refers to people with </a:t>
            </a:r>
            <a:r>
              <a:rPr lang="en-US" sz="2800" dirty="0" smtClean="0">
                <a:solidFill>
                  <a:srgbClr val="FF0000"/>
                </a:solidFill>
                <a:latin typeface="Californian FB" pitchFamily="18" charset="0"/>
                <a:cs typeface="Times New Roman" panose="02020603050405020304" pitchFamily="18" charset="0"/>
              </a:rPr>
              <a:t>difficulty of sight</a:t>
            </a:r>
            <a:r>
              <a:rPr lang="en-US" sz="2800" dirty="0" smtClean="0">
                <a:latin typeface="Californian FB" pitchFamily="18" charset="0"/>
                <a:cs typeface="Times New Roman" panose="02020603050405020304" pitchFamily="18" charset="0"/>
              </a:rPr>
              <a:t> (</a:t>
            </a:r>
            <a:r>
              <a:rPr lang="en-US" sz="2800" dirty="0" smtClean="0">
                <a:latin typeface="Californian FB" pitchFamily="18" charset="0"/>
              </a:rPr>
              <a:t>moderately impaired vision). People with low vision may have a visual impairment that affects only central vision—the area directly in front of the eyes—or peripheral vision—the area to either side of and slightly behind the eyes.</a:t>
            </a:r>
            <a:endParaRPr lang="en-US" sz="2800" dirty="0">
              <a:latin typeface="Californian FB"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21</a:t>
            </a:fld>
            <a:endParaRPr lang="en-US"/>
          </a:p>
        </p:txBody>
      </p:sp>
    </p:spTree>
  </p:cSld>
  <p:clrMapOvr>
    <a:masterClrMapping/>
  </p:clrMapOvr>
  <p:transition spd="slow">
    <p:wipe dir="u"/>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a:bodyPr>
          <a:lstStyle/>
          <a:p>
            <a:r>
              <a:rPr lang="en-US" sz="3500" b="1" dirty="0" smtClean="0">
                <a:solidFill>
                  <a:srgbClr val="FF0000"/>
                </a:solidFill>
                <a:latin typeface="Californian FB" pitchFamily="18" charset="0"/>
              </a:rPr>
              <a:t>Hearing Impairment</a:t>
            </a:r>
            <a:endParaRPr lang="en-US" sz="3500" dirty="0">
              <a:solidFill>
                <a:srgbClr val="FF0000"/>
              </a:solidFill>
              <a:latin typeface="Californian FB" pitchFamily="18" charset="0"/>
            </a:endParaRPr>
          </a:p>
        </p:txBody>
      </p:sp>
      <p:sp>
        <p:nvSpPr>
          <p:cNvPr id="3" name="Content Placeholder 2"/>
          <p:cNvSpPr>
            <a:spLocks noGrp="1"/>
          </p:cNvSpPr>
          <p:nvPr>
            <p:ph idx="1"/>
          </p:nvPr>
        </p:nvSpPr>
        <p:spPr>
          <a:xfrm>
            <a:off x="457200" y="1143000"/>
            <a:ext cx="8229600" cy="5486400"/>
          </a:xfrm>
        </p:spPr>
        <p:txBody>
          <a:bodyPr>
            <a:normAutofit/>
          </a:bodyPr>
          <a:lstStyle/>
          <a:p>
            <a:r>
              <a:rPr lang="en-US" dirty="0" smtClean="0">
                <a:latin typeface="Californian FB" pitchFamily="18" charset="0"/>
              </a:rPr>
              <a:t>It is a generic term indicating a continuum of </a:t>
            </a:r>
            <a:r>
              <a:rPr lang="en-US" b="1" dirty="0" smtClean="0">
                <a:solidFill>
                  <a:srgbClr val="FF0000"/>
                </a:solidFill>
                <a:latin typeface="Californian FB" pitchFamily="18" charset="0"/>
              </a:rPr>
              <a:t>hearing loss </a:t>
            </a:r>
            <a:r>
              <a:rPr lang="en-US" dirty="0" smtClean="0">
                <a:latin typeface="Californian FB" pitchFamily="18" charset="0"/>
              </a:rPr>
              <a:t>from mild to profound, which includes:</a:t>
            </a:r>
          </a:p>
          <a:p>
            <a:pPr lvl="1"/>
            <a:r>
              <a:rPr lang="en-US" dirty="0" smtClean="0">
                <a:solidFill>
                  <a:srgbClr val="FF0000"/>
                </a:solidFill>
                <a:latin typeface="Californian FB" pitchFamily="18" charset="0"/>
              </a:rPr>
              <a:t>Hard of Hearing</a:t>
            </a:r>
            <a:r>
              <a:rPr lang="en-US" dirty="0" smtClean="0">
                <a:latin typeface="Californian FB" pitchFamily="18" charset="0"/>
              </a:rPr>
              <a:t>:  whether permanent of </a:t>
            </a:r>
            <a:r>
              <a:rPr lang="en-US" b="1" dirty="0" smtClean="0">
                <a:latin typeface="Californian FB" pitchFamily="18" charset="0"/>
              </a:rPr>
              <a:t>fluctuating</a:t>
            </a:r>
            <a:r>
              <a:rPr lang="en-US" dirty="0" smtClean="0">
                <a:latin typeface="Californian FB" pitchFamily="18" charset="0"/>
              </a:rPr>
              <a:t>, which adversely affects a child's educational performance. Supported by hearing aids</a:t>
            </a:r>
          </a:p>
          <a:p>
            <a:pPr lvl="1"/>
            <a:r>
              <a:rPr lang="en-US" dirty="0" smtClean="0">
                <a:solidFill>
                  <a:srgbClr val="FF0000"/>
                </a:solidFill>
                <a:latin typeface="Californian FB" pitchFamily="18" charset="0"/>
              </a:rPr>
              <a:t>Deaf</a:t>
            </a:r>
            <a:r>
              <a:rPr lang="en-US" dirty="0" smtClean="0">
                <a:latin typeface="Californian FB" pitchFamily="18" charset="0"/>
              </a:rPr>
              <a:t>: r</a:t>
            </a:r>
            <a:r>
              <a:rPr lang="en-US" dirty="0" smtClean="0">
                <a:latin typeface="Californian FB" pitchFamily="18" charset="0"/>
                <a:ea typeface="Times New Roman" panose="02020603050405020304" pitchFamily="18" charset="0"/>
              </a:rPr>
              <a:t>efers to people who are </a:t>
            </a:r>
            <a:r>
              <a:rPr lang="en-US" dirty="0" smtClean="0">
                <a:solidFill>
                  <a:srgbClr val="FF0000"/>
                </a:solidFill>
                <a:latin typeface="Californian FB" pitchFamily="18" charset="0"/>
                <a:ea typeface="Times New Roman" panose="02020603050405020304" pitchFamily="18" charset="0"/>
              </a:rPr>
              <a:t>unable to understand speech </a:t>
            </a:r>
            <a:r>
              <a:rPr lang="en-US" dirty="0" smtClean="0">
                <a:latin typeface="Californian FB" pitchFamily="18" charset="0"/>
                <a:ea typeface="Times New Roman" panose="02020603050405020304" pitchFamily="18" charset="0"/>
              </a:rPr>
              <a:t>even with hearing aid </a:t>
            </a:r>
            <a:r>
              <a:rPr lang="en-US" dirty="0" smtClean="0">
                <a:latin typeface="Californian FB" pitchFamily="18" charset="0"/>
              </a:rPr>
              <a:t>but can successfully communicate in sign language. </a:t>
            </a:r>
            <a:endParaRPr lang="en-US" dirty="0">
              <a:latin typeface="Californian FB"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22</a:t>
            </a:fld>
            <a:endParaRPr lang="en-US"/>
          </a:p>
        </p:txBody>
      </p:sp>
    </p:spTree>
  </p:cSld>
  <p:clrMapOvr>
    <a:masterClrMapping/>
  </p:clrMapOvr>
  <p:transition spd="slow">
    <p:wipe dir="u"/>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smtClean="0">
                <a:solidFill>
                  <a:srgbClr val="FF0000"/>
                </a:solidFill>
                <a:latin typeface="Californian FB" pitchFamily="18" charset="0"/>
              </a:rPr>
              <a:t>Specific Learning Disability</a:t>
            </a:r>
            <a:endParaRPr lang="en-US" sz="3600" dirty="0">
              <a:solidFill>
                <a:srgbClr val="FF0000"/>
              </a:solidFill>
              <a:latin typeface="Californian FB" pitchFamily="18" charset="0"/>
            </a:endParaRPr>
          </a:p>
        </p:txBody>
      </p:sp>
      <p:sp>
        <p:nvSpPr>
          <p:cNvPr id="3" name="Content Placeholder 2"/>
          <p:cNvSpPr>
            <a:spLocks noGrp="1"/>
          </p:cNvSpPr>
          <p:nvPr>
            <p:ph idx="1"/>
          </p:nvPr>
        </p:nvSpPr>
        <p:spPr>
          <a:xfrm>
            <a:off x="228600" y="1371600"/>
            <a:ext cx="8763000" cy="5257800"/>
          </a:xfrm>
        </p:spPr>
        <p:txBody>
          <a:bodyPr>
            <a:normAutofit lnSpcReduction="10000"/>
          </a:bodyPr>
          <a:lstStyle/>
          <a:p>
            <a:r>
              <a:rPr lang="en-US" b="1" dirty="0" smtClean="0">
                <a:latin typeface="Californian FB" pitchFamily="18" charset="0"/>
              </a:rPr>
              <a:t>a disorder in one or more of the basic psychological </a:t>
            </a:r>
            <a:r>
              <a:rPr lang="en-US" dirty="0" smtClean="0">
                <a:latin typeface="Californian FB" pitchFamily="18" charset="0"/>
              </a:rPr>
              <a:t>processes involved in understanding or in using </a:t>
            </a:r>
            <a:r>
              <a:rPr lang="en-US" dirty="0" smtClean="0">
                <a:solidFill>
                  <a:srgbClr val="FF0000"/>
                </a:solidFill>
                <a:latin typeface="Californian FB" pitchFamily="18" charset="0"/>
              </a:rPr>
              <a:t>language</a:t>
            </a:r>
            <a:r>
              <a:rPr lang="en-US" dirty="0" smtClean="0">
                <a:latin typeface="Californian FB" pitchFamily="18" charset="0"/>
              </a:rPr>
              <a:t>, </a:t>
            </a:r>
            <a:r>
              <a:rPr lang="en-US" dirty="0" smtClean="0">
                <a:solidFill>
                  <a:srgbClr val="FF0000"/>
                </a:solidFill>
                <a:latin typeface="Californian FB" pitchFamily="18" charset="0"/>
              </a:rPr>
              <a:t>spoken</a:t>
            </a:r>
            <a:r>
              <a:rPr lang="en-US" dirty="0" smtClean="0">
                <a:latin typeface="Californian FB" pitchFamily="18" charset="0"/>
              </a:rPr>
              <a:t> or </a:t>
            </a:r>
            <a:r>
              <a:rPr lang="en-US" dirty="0" smtClean="0">
                <a:solidFill>
                  <a:srgbClr val="FF0000"/>
                </a:solidFill>
                <a:latin typeface="Californian FB" pitchFamily="18" charset="0"/>
              </a:rPr>
              <a:t>written</a:t>
            </a:r>
            <a:r>
              <a:rPr lang="en-US" dirty="0" smtClean="0">
                <a:latin typeface="Californian FB" pitchFamily="18" charset="0"/>
              </a:rPr>
              <a:t>, that may manifest itself in the imperfect ability to listen, think, speak, read, write, spell, or to do mathematical calculations.</a:t>
            </a:r>
          </a:p>
          <a:p>
            <a:r>
              <a:rPr lang="en-US" dirty="0" smtClean="0">
                <a:latin typeface="Californian FB" pitchFamily="18" charset="0"/>
              </a:rPr>
              <a:t>A hidden disabilities: the person looks </a:t>
            </a:r>
            <a:r>
              <a:rPr lang="en-US" dirty="0" smtClean="0">
                <a:solidFill>
                  <a:srgbClr val="FF0000"/>
                </a:solidFill>
                <a:latin typeface="Californian FB" pitchFamily="18" charset="0"/>
              </a:rPr>
              <a:t>perfectly</a:t>
            </a:r>
            <a:r>
              <a:rPr lang="en-US" dirty="0" smtClean="0">
                <a:latin typeface="Californian FB" pitchFamily="18" charset="0"/>
              </a:rPr>
              <a:t> –normal and seems to be a very bright and intelligent person, yet may be unable to demonstrate the skill level expected from someone of a similar age.</a:t>
            </a:r>
            <a:endParaRPr lang="en-US" dirty="0">
              <a:latin typeface="Californian FB"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23</a:t>
            </a:fld>
            <a:endParaRPr lang="en-US"/>
          </a:p>
        </p:txBody>
      </p:sp>
    </p:spTree>
  </p:cSld>
  <p:clrMapOvr>
    <a:masterClrMapping/>
  </p:clrMapOvr>
  <p:transition spd="slow">
    <p:wipe dir="u"/>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smtClean="0">
                <a:solidFill>
                  <a:srgbClr val="FF0000"/>
                </a:solidFill>
                <a:latin typeface="Californian FB" pitchFamily="18" charset="0"/>
              </a:rPr>
              <a:t>Types of Specific Learning Disabilities</a:t>
            </a:r>
            <a:endParaRPr lang="en-US" sz="3600" dirty="0">
              <a:solidFill>
                <a:srgbClr val="FF0000"/>
              </a:solidFill>
              <a:latin typeface="Californian FB" pitchFamily="18" charset="0"/>
            </a:endParaRPr>
          </a:p>
        </p:txBody>
      </p:sp>
      <p:sp>
        <p:nvSpPr>
          <p:cNvPr id="3" name="Content Placeholder 2"/>
          <p:cNvSpPr>
            <a:spLocks noGrp="1"/>
          </p:cNvSpPr>
          <p:nvPr>
            <p:ph idx="1"/>
          </p:nvPr>
        </p:nvSpPr>
        <p:spPr/>
        <p:txBody>
          <a:bodyPr>
            <a:normAutofit fontScale="92500"/>
          </a:bodyPr>
          <a:lstStyle/>
          <a:p>
            <a:pPr>
              <a:buNone/>
            </a:pPr>
            <a:r>
              <a:rPr lang="en-US" b="1" dirty="0" smtClean="0">
                <a:solidFill>
                  <a:srgbClr val="FF0000"/>
                </a:solidFill>
              </a:rPr>
              <a:t>Auditory Processing Disorder (APD) </a:t>
            </a:r>
          </a:p>
          <a:p>
            <a:r>
              <a:rPr lang="en-US" dirty="0" smtClean="0">
                <a:latin typeface="Californian FB" pitchFamily="18" charset="0"/>
              </a:rPr>
              <a:t>Also known as Central Auditory Processing Disorder, this is a condition that adversely affects how </a:t>
            </a:r>
            <a:r>
              <a:rPr lang="en-US" dirty="0" smtClean="0">
                <a:solidFill>
                  <a:srgbClr val="FF0000"/>
                </a:solidFill>
                <a:latin typeface="Californian FB" pitchFamily="18" charset="0"/>
              </a:rPr>
              <a:t>sound</a:t>
            </a:r>
            <a:r>
              <a:rPr lang="en-US" dirty="0" smtClean="0">
                <a:latin typeface="Californian FB" pitchFamily="18" charset="0"/>
              </a:rPr>
              <a:t> that travels unimpeded through the ear is processed or interpreted by the brain.</a:t>
            </a:r>
          </a:p>
          <a:p>
            <a:r>
              <a:rPr lang="en-US" dirty="0" smtClean="0">
                <a:latin typeface="Californian FB" pitchFamily="18" charset="0"/>
              </a:rPr>
              <a:t>Cannot </a:t>
            </a:r>
            <a:r>
              <a:rPr lang="en-US" dirty="0" smtClean="0">
                <a:solidFill>
                  <a:srgbClr val="FF0000"/>
                </a:solidFill>
                <a:latin typeface="Californian FB" pitchFamily="18" charset="0"/>
              </a:rPr>
              <a:t>hear</a:t>
            </a:r>
            <a:r>
              <a:rPr lang="en-US" dirty="0" smtClean="0">
                <a:latin typeface="Californian FB" pitchFamily="18" charset="0"/>
              </a:rPr>
              <a:t> loud sounds, tell where sounds are coming from, to make sense of the order of sounds, or to block out competing background noises. </a:t>
            </a:r>
            <a:endParaRPr lang="en-US" dirty="0">
              <a:latin typeface="Californian FB"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24</a:t>
            </a:fld>
            <a:endParaRPr lang="en-US"/>
          </a:p>
        </p:txBody>
      </p:sp>
    </p:spTree>
  </p:cSld>
  <p:clrMapOvr>
    <a:masterClrMapping/>
  </p:clrMapOvr>
  <p:transition spd="slow">
    <p:wipe dir="u"/>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609600"/>
            <a:ext cx="8763000" cy="6019800"/>
          </a:xfrm>
        </p:spPr>
        <p:txBody>
          <a:bodyPr>
            <a:normAutofit fontScale="70000" lnSpcReduction="20000"/>
          </a:bodyPr>
          <a:lstStyle/>
          <a:p>
            <a:pPr>
              <a:buNone/>
            </a:pPr>
            <a:r>
              <a:rPr lang="en-US" sz="3100" b="1" dirty="0" smtClean="0">
                <a:solidFill>
                  <a:srgbClr val="FF0000"/>
                </a:solidFill>
                <a:latin typeface="Californian FB" pitchFamily="18" charset="0"/>
              </a:rPr>
              <a:t>Dyscalculia </a:t>
            </a:r>
          </a:p>
          <a:p>
            <a:pPr lvl="1"/>
            <a:r>
              <a:rPr lang="en-US" sz="3100" dirty="0" smtClean="0">
                <a:latin typeface="Californian FB" pitchFamily="18" charset="0"/>
              </a:rPr>
              <a:t> A</a:t>
            </a:r>
            <a:r>
              <a:rPr lang="en-US" sz="3100" b="1" dirty="0" smtClean="0">
                <a:latin typeface="Californian FB" pitchFamily="18" charset="0"/>
              </a:rPr>
              <a:t> specific learning disability that affects a person‘s ability to </a:t>
            </a:r>
            <a:r>
              <a:rPr lang="en-US" sz="3100" dirty="0" smtClean="0">
                <a:solidFill>
                  <a:srgbClr val="0070C0"/>
                </a:solidFill>
                <a:latin typeface="Californian FB" pitchFamily="18" charset="0"/>
              </a:rPr>
              <a:t>understand numbers and learn math</a:t>
            </a:r>
            <a:r>
              <a:rPr lang="en-US" sz="3100" dirty="0" smtClean="0">
                <a:latin typeface="Californian FB" pitchFamily="18" charset="0"/>
              </a:rPr>
              <a:t>. Individuals with this type of LD may also have poor comprehension of math symbols, may struggle with memorizing and organizing numbers, have difficulty telling time, or have trouble with counting.</a:t>
            </a:r>
            <a:endParaRPr lang="en-US" sz="3100" b="1" dirty="0" smtClean="0">
              <a:latin typeface="Californian FB" pitchFamily="18" charset="0"/>
            </a:endParaRPr>
          </a:p>
          <a:p>
            <a:pPr>
              <a:buNone/>
            </a:pPr>
            <a:r>
              <a:rPr lang="en-US" sz="3100" b="1" dirty="0" err="1" smtClean="0">
                <a:solidFill>
                  <a:srgbClr val="FF0000"/>
                </a:solidFill>
                <a:latin typeface="Californian FB" pitchFamily="18" charset="0"/>
              </a:rPr>
              <a:t>Dysgraphia</a:t>
            </a:r>
            <a:endParaRPr lang="en-US" sz="3100" b="1" dirty="0" smtClean="0">
              <a:solidFill>
                <a:srgbClr val="FF0000"/>
              </a:solidFill>
              <a:latin typeface="Californian FB" pitchFamily="18" charset="0"/>
            </a:endParaRPr>
          </a:p>
          <a:p>
            <a:pPr lvl="1"/>
            <a:r>
              <a:rPr lang="en-US" sz="3100" dirty="0" smtClean="0">
                <a:latin typeface="Californian FB" pitchFamily="18" charset="0"/>
              </a:rPr>
              <a:t>A specific learning disability that affects a person‘s </a:t>
            </a:r>
            <a:r>
              <a:rPr lang="en-US" sz="3100" b="1" dirty="0" smtClean="0">
                <a:solidFill>
                  <a:srgbClr val="0070C0"/>
                </a:solidFill>
                <a:latin typeface="Californian FB" pitchFamily="18" charset="0"/>
              </a:rPr>
              <a:t>handwriting ability and  fine motor skills</a:t>
            </a:r>
            <a:r>
              <a:rPr lang="en-US" sz="3100" dirty="0" smtClean="0">
                <a:latin typeface="Californian FB" pitchFamily="18" charset="0"/>
              </a:rPr>
              <a:t>. </a:t>
            </a:r>
          </a:p>
          <a:p>
            <a:pPr lvl="1"/>
            <a:r>
              <a:rPr lang="en-US" sz="3100" dirty="0" smtClean="0">
                <a:latin typeface="Californian FB" pitchFamily="18" charset="0"/>
              </a:rPr>
              <a:t>Problems may include illegible handwriting, inconsistent spacing, poor spatial planning on paper, poor spelling, and difficulty composing writing as well as thinking and writing at the same time.</a:t>
            </a:r>
          </a:p>
          <a:p>
            <a:pPr>
              <a:buNone/>
            </a:pPr>
            <a:r>
              <a:rPr lang="en-US" sz="3100" b="1" dirty="0" smtClean="0">
                <a:solidFill>
                  <a:srgbClr val="FF0000"/>
                </a:solidFill>
                <a:latin typeface="Californian FB" pitchFamily="18" charset="0"/>
              </a:rPr>
              <a:t>Dyslexia </a:t>
            </a:r>
          </a:p>
          <a:p>
            <a:pPr lvl="1"/>
            <a:r>
              <a:rPr lang="en-US" sz="3100" dirty="0" smtClean="0">
                <a:latin typeface="Californian FB" pitchFamily="18" charset="0"/>
              </a:rPr>
              <a:t>A specific learning disability that affects </a:t>
            </a:r>
            <a:r>
              <a:rPr lang="en-US" sz="3100" b="1" dirty="0" smtClean="0">
                <a:solidFill>
                  <a:srgbClr val="0070C0"/>
                </a:solidFill>
                <a:latin typeface="Californian FB" pitchFamily="18" charset="0"/>
              </a:rPr>
              <a:t>reading and related language-based processing skills</a:t>
            </a:r>
            <a:r>
              <a:rPr lang="en-US" sz="3100" dirty="0" smtClean="0">
                <a:latin typeface="Californian FB" pitchFamily="18" charset="0"/>
              </a:rPr>
              <a:t>. The severity can differ in each individual but can affect reading fluency; decoding, reading comprehension, recall, writing, spelling, and sometimes speech and can exist along with other related disorders. Dyslexia is sometimes referred to as a Language Based Learning Disability.</a:t>
            </a:r>
            <a:endParaRPr lang="en-US" sz="3100" b="1" dirty="0" smtClean="0">
              <a:latin typeface="Californian FB" pitchFamily="18" charset="0"/>
            </a:endParaRPr>
          </a:p>
          <a:p>
            <a:endParaRPr lang="en-US" b="1" dirty="0" smtClean="0"/>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25</a:t>
            </a:fld>
            <a:endParaRPr lang="en-US"/>
          </a:p>
        </p:txBody>
      </p:sp>
    </p:spTree>
  </p:cSld>
  <p:clrMapOvr>
    <a:masterClrMapping/>
  </p:clrMapOvr>
  <p:transition spd="slow">
    <p:wipe dir="u"/>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609600"/>
            <a:ext cx="8458200" cy="6019800"/>
          </a:xfrm>
        </p:spPr>
        <p:txBody>
          <a:bodyPr>
            <a:normAutofit fontScale="92500" lnSpcReduction="20000"/>
          </a:bodyPr>
          <a:lstStyle/>
          <a:p>
            <a:pPr>
              <a:buNone/>
            </a:pPr>
            <a:r>
              <a:rPr lang="en-US" b="1" dirty="0" smtClean="0">
                <a:solidFill>
                  <a:srgbClr val="FF0000"/>
                </a:solidFill>
                <a:latin typeface="Californian FB" pitchFamily="18" charset="0"/>
              </a:rPr>
              <a:t>Language Processing Disorder</a:t>
            </a:r>
          </a:p>
          <a:p>
            <a:pPr lvl="1"/>
            <a:r>
              <a:rPr lang="en-US" dirty="0" smtClean="0">
                <a:latin typeface="Californian FB" pitchFamily="18" charset="0"/>
              </a:rPr>
              <a:t>A specific type of Auditory Processing Disorder (APD) in which there is difficulty attaching meaning to </a:t>
            </a:r>
            <a:r>
              <a:rPr lang="en-US" b="1" dirty="0" smtClean="0">
                <a:solidFill>
                  <a:srgbClr val="0070C0"/>
                </a:solidFill>
                <a:latin typeface="Californian FB" pitchFamily="18" charset="0"/>
              </a:rPr>
              <a:t>sound</a:t>
            </a:r>
            <a:r>
              <a:rPr lang="en-US" dirty="0" smtClean="0">
                <a:latin typeface="Californian FB" pitchFamily="18" charset="0"/>
              </a:rPr>
              <a:t> groups that form words, sentences and stories. </a:t>
            </a:r>
          </a:p>
          <a:p>
            <a:pPr lvl="1"/>
            <a:r>
              <a:rPr lang="en-US" dirty="0" smtClean="0">
                <a:latin typeface="Californian FB" pitchFamily="18" charset="0"/>
              </a:rPr>
              <a:t>While an APD affects the interpretation of all sounds coming into the brain, a Language Processing Disorder (LPD) relates only to the processing of language. LPD can affect expressive language and/or receptive language.</a:t>
            </a:r>
            <a:endParaRPr lang="en-US" b="1" dirty="0" smtClean="0">
              <a:latin typeface="Californian FB" pitchFamily="18" charset="0"/>
            </a:endParaRPr>
          </a:p>
          <a:p>
            <a:pPr>
              <a:buNone/>
            </a:pPr>
            <a:r>
              <a:rPr lang="en-US" b="1" dirty="0" smtClean="0">
                <a:solidFill>
                  <a:srgbClr val="FF0000"/>
                </a:solidFill>
                <a:latin typeface="Californian FB" pitchFamily="18" charset="0"/>
              </a:rPr>
              <a:t>Non-Verbal Learning Disabilities</a:t>
            </a:r>
          </a:p>
          <a:p>
            <a:pPr lvl="1"/>
            <a:r>
              <a:rPr lang="en-US" dirty="0" smtClean="0">
                <a:latin typeface="Californian FB" pitchFamily="18" charset="0"/>
              </a:rPr>
              <a:t>A disorder which is usually characterized by a significant discrepancy between higher verbal skills and weaker motor, visual-spatial and social skills. </a:t>
            </a:r>
          </a:p>
          <a:p>
            <a:pPr lvl="1"/>
            <a:r>
              <a:rPr lang="en-US" dirty="0" smtClean="0">
                <a:latin typeface="Californian FB" pitchFamily="18" charset="0"/>
              </a:rPr>
              <a:t>Typically, an individual with NLD (or NVLD) has trouble interpreting nonverbal cues like </a:t>
            </a:r>
            <a:r>
              <a:rPr lang="en-US" b="1" dirty="0" smtClean="0">
                <a:solidFill>
                  <a:srgbClr val="0070C0"/>
                </a:solidFill>
                <a:latin typeface="Californian FB" pitchFamily="18" charset="0"/>
              </a:rPr>
              <a:t>facial expressions or body language, and may have poor coordination.</a:t>
            </a:r>
            <a:endParaRPr lang="en-US" b="1" dirty="0">
              <a:solidFill>
                <a:srgbClr val="0070C0"/>
              </a:solidFill>
              <a:latin typeface="Californian FB"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26</a:t>
            </a:fld>
            <a:endParaRPr lang="en-US"/>
          </a:p>
        </p:txBody>
      </p:sp>
    </p:spTree>
  </p:cSld>
  <p:clrMapOvr>
    <a:masterClrMapping/>
  </p:clrMapOvr>
  <p:transition spd="slow">
    <p:wipe dir="u"/>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381000"/>
            <a:ext cx="8763000" cy="6324600"/>
          </a:xfrm>
        </p:spPr>
        <p:txBody>
          <a:bodyPr>
            <a:normAutofit/>
          </a:bodyPr>
          <a:lstStyle/>
          <a:p>
            <a:pPr>
              <a:buNone/>
            </a:pPr>
            <a:r>
              <a:rPr lang="en-US" b="1" dirty="0" smtClean="0">
                <a:solidFill>
                  <a:srgbClr val="FF0000"/>
                </a:solidFill>
                <a:latin typeface="Californian FB" pitchFamily="18" charset="0"/>
              </a:rPr>
              <a:t>Visual Perceptual/Visual Motor Deficit</a:t>
            </a:r>
          </a:p>
          <a:p>
            <a:pPr lvl="1"/>
            <a:r>
              <a:rPr lang="en-US" dirty="0" smtClean="0">
                <a:latin typeface="Californian FB" pitchFamily="18" charset="0"/>
              </a:rPr>
              <a:t>A disorder that affects the understanding of information that a person </a:t>
            </a:r>
            <a:r>
              <a:rPr lang="en-US" dirty="0" smtClean="0">
                <a:solidFill>
                  <a:srgbClr val="FF0000"/>
                </a:solidFill>
                <a:latin typeface="Californian FB" pitchFamily="18" charset="0"/>
              </a:rPr>
              <a:t>sees</a:t>
            </a:r>
            <a:r>
              <a:rPr lang="en-US" dirty="0" smtClean="0">
                <a:latin typeface="Californian FB" pitchFamily="18" charset="0"/>
              </a:rPr>
              <a:t>, or the ability to draw or copy. A characteristic seen in people with learning disabilities such as </a:t>
            </a:r>
            <a:r>
              <a:rPr lang="en-US" dirty="0" err="1" smtClean="0">
                <a:latin typeface="Californian FB" pitchFamily="18" charset="0"/>
              </a:rPr>
              <a:t>Dysgraphia</a:t>
            </a:r>
            <a:r>
              <a:rPr lang="en-US" dirty="0" smtClean="0">
                <a:latin typeface="Californian FB" pitchFamily="18" charset="0"/>
              </a:rPr>
              <a:t> or Non-verbal LD, it can result in missing subtle differences in shapes or printed letters, losing place frequently, struggles with cutting, holding pencil too tightly, or poor eye/hand coordination. </a:t>
            </a:r>
          </a:p>
          <a:p>
            <a:pPr>
              <a:buNone/>
            </a:pPr>
            <a:r>
              <a:rPr lang="en-US" dirty="0" smtClean="0">
                <a:latin typeface="Californian FB" pitchFamily="18" charset="0"/>
              </a:rPr>
              <a:t> </a:t>
            </a:r>
            <a:endParaRPr lang="en-US" dirty="0">
              <a:latin typeface="Californian FB"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27</a:t>
            </a:fld>
            <a:endParaRPr lang="en-US"/>
          </a:p>
        </p:txBody>
      </p:sp>
    </p:spTree>
  </p:cSld>
  <p:clrMapOvr>
    <a:masterClrMapping/>
  </p:clrMapOvr>
  <p:transition spd="slow">
    <p:wipe dir="u"/>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FF0000"/>
                </a:solidFill>
                <a:latin typeface="Californian FB" pitchFamily="18" charset="0"/>
              </a:rPr>
              <a:t>Speech and Language Impairments </a:t>
            </a:r>
            <a:endParaRPr lang="en-US" dirty="0"/>
          </a:p>
        </p:txBody>
      </p:sp>
      <p:sp>
        <p:nvSpPr>
          <p:cNvPr id="3" name="Content Placeholder 2"/>
          <p:cNvSpPr>
            <a:spLocks noGrp="1"/>
          </p:cNvSpPr>
          <p:nvPr>
            <p:ph idx="1"/>
          </p:nvPr>
        </p:nvSpPr>
        <p:spPr>
          <a:xfrm>
            <a:off x="381000" y="1371600"/>
            <a:ext cx="8305800" cy="5410200"/>
          </a:xfrm>
        </p:spPr>
        <p:txBody>
          <a:bodyPr/>
          <a:lstStyle/>
          <a:p>
            <a:pPr lvl="1"/>
            <a:r>
              <a:rPr lang="en-US" dirty="0" smtClean="0">
                <a:latin typeface="Californian FB" pitchFamily="18" charset="0"/>
              </a:rPr>
              <a:t>A </a:t>
            </a:r>
            <a:r>
              <a:rPr lang="en-US" dirty="0">
                <a:latin typeface="Californian FB" pitchFamily="18" charset="0"/>
              </a:rPr>
              <a:t>communication disorder such as </a:t>
            </a:r>
            <a:r>
              <a:rPr lang="en-US" b="1" dirty="0">
                <a:solidFill>
                  <a:srgbClr val="0070C0"/>
                </a:solidFill>
                <a:latin typeface="Californian FB" pitchFamily="18" charset="0"/>
              </a:rPr>
              <a:t>stuttering, impaired articulation, language impairment, or a voice impairment </a:t>
            </a:r>
            <a:r>
              <a:rPr lang="en-US" dirty="0">
                <a:latin typeface="Californian FB" pitchFamily="18" charset="0"/>
              </a:rPr>
              <a:t>that adversely affects a child‘s educational performance.  It is disorder that adversely affects the child's ability to talk, understand, read, and write. This disability category can be divided into two groups: speech impairments and language impairments.</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28</a:t>
            </a:fld>
            <a:endParaRPr lang="en-US"/>
          </a:p>
        </p:txBody>
      </p:sp>
    </p:spTree>
    <p:extLst>
      <p:ext uri="{BB962C8B-B14F-4D97-AF65-F5344CB8AC3E}">
        <p14:creationId xmlns:p14="http://schemas.microsoft.com/office/powerpoint/2010/main" val="3532570473"/>
      </p:ext>
    </p:extLst>
  </p:cSld>
  <p:clrMapOvr>
    <a:masterClrMapping/>
  </p:clrMapOvr>
  <p:transition spd="slow">
    <p:wipe dir="u"/>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90600"/>
          </a:xfrm>
        </p:spPr>
        <p:txBody>
          <a:bodyPr>
            <a:noAutofit/>
          </a:bodyPr>
          <a:lstStyle/>
          <a:p>
            <a:r>
              <a:rPr lang="en-US" sz="3600" b="1" dirty="0" smtClean="0">
                <a:solidFill>
                  <a:srgbClr val="FF0000"/>
                </a:solidFill>
              </a:rPr>
              <a:t>Speech Impairments </a:t>
            </a:r>
            <a:endParaRPr lang="en-US" sz="3600" dirty="0">
              <a:solidFill>
                <a:srgbClr val="FF0000"/>
              </a:solidFill>
            </a:endParaRPr>
          </a:p>
        </p:txBody>
      </p:sp>
      <p:sp>
        <p:nvSpPr>
          <p:cNvPr id="3" name="Content Placeholder 2"/>
          <p:cNvSpPr>
            <a:spLocks noGrp="1"/>
          </p:cNvSpPr>
          <p:nvPr>
            <p:ph idx="1"/>
          </p:nvPr>
        </p:nvSpPr>
        <p:spPr>
          <a:xfrm>
            <a:off x="152400" y="1371600"/>
            <a:ext cx="8839200" cy="5257800"/>
          </a:xfrm>
        </p:spPr>
        <p:txBody>
          <a:bodyPr>
            <a:noAutofit/>
          </a:bodyPr>
          <a:lstStyle/>
          <a:p>
            <a:r>
              <a:rPr lang="en-US" sz="2800" dirty="0" smtClean="0">
                <a:latin typeface="Californian FB" pitchFamily="18" charset="0"/>
              </a:rPr>
              <a:t>There are three basic types of speech impairments: </a:t>
            </a:r>
          </a:p>
          <a:p>
            <a:pPr marL="457200" lvl="1" indent="0">
              <a:buNone/>
            </a:pPr>
            <a:r>
              <a:rPr lang="en-US" dirty="0" smtClean="0">
                <a:solidFill>
                  <a:srgbClr val="0070C0"/>
                </a:solidFill>
                <a:latin typeface="Californian FB" pitchFamily="18" charset="0"/>
              </a:rPr>
              <a:t>A. Articulation </a:t>
            </a:r>
            <a:r>
              <a:rPr lang="en-US" dirty="0" smtClean="0">
                <a:solidFill>
                  <a:srgbClr val="0070C0"/>
                </a:solidFill>
                <a:latin typeface="Californian FB" pitchFamily="18" charset="0"/>
              </a:rPr>
              <a:t>disorders </a:t>
            </a:r>
            <a:r>
              <a:rPr lang="en-US" dirty="0" smtClean="0">
                <a:latin typeface="Californian FB" pitchFamily="18" charset="0"/>
              </a:rPr>
              <a:t>are </a:t>
            </a:r>
            <a:r>
              <a:rPr lang="en-US" dirty="0" smtClean="0">
                <a:solidFill>
                  <a:srgbClr val="FF0000"/>
                </a:solidFill>
                <a:latin typeface="Californian FB" pitchFamily="18" charset="0"/>
              </a:rPr>
              <a:t>errors in the production of speech sounds</a:t>
            </a:r>
            <a:r>
              <a:rPr lang="en-US" dirty="0" smtClean="0">
                <a:latin typeface="Californian FB" pitchFamily="18" charset="0"/>
              </a:rPr>
              <a:t> that may be related to anatomical or physiological limitations in the skeletal, muscular, or neuromuscular support for speech production. These disorders include: </a:t>
            </a:r>
          </a:p>
          <a:p>
            <a:pPr lvl="2"/>
            <a:r>
              <a:rPr lang="en-US" sz="2800" dirty="0" smtClean="0">
                <a:latin typeface="Californian FB" pitchFamily="18" charset="0"/>
              </a:rPr>
              <a:t>Omissions: (</a:t>
            </a:r>
            <a:r>
              <a:rPr lang="en-US" sz="2800" dirty="0" err="1" smtClean="0">
                <a:latin typeface="Californian FB" pitchFamily="18" charset="0"/>
              </a:rPr>
              <a:t>bo</a:t>
            </a:r>
            <a:r>
              <a:rPr lang="en-US" sz="2800" dirty="0" smtClean="0">
                <a:latin typeface="Californian FB" pitchFamily="18" charset="0"/>
              </a:rPr>
              <a:t> for boat) </a:t>
            </a:r>
          </a:p>
          <a:p>
            <a:pPr lvl="2"/>
            <a:r>
              <a:rPr lang="en-US" sz="2800" dirty="0" smtClean="0">
                <a:latin typeface="Californian FB" pitchFamily="18" charset="0"/>
              </a:rPr>
              <a:t>Substitutions: (</a:t>
            </a:r>
            <a:r>
              <a:rPr lang="en-US" sz="2800" dirty="0" err="1" smtClean="0">
                <a:latin typeface="Californian FB" pitchFamily="18" charset="0"/>
              </a:rPr>
              <a:t>wabbit</a:t>
            </a:r>
            <a:r>
              <a:rPr lang="en-US" sz="2800" dirty="0" smtClean="0">
                <a:latin typeface="Californian FB" pitchFamily="18" charset="0"/>
              </a:rPr>
              <a:t> for rabbit) </a:t>
            </a:r>
          </a:p>
          <a:p>
            <a:pPr lvl="2"/>
            <a:r>
              <a:rPr lang="en-US" sz="2800" dirty="0" smtClean="0">
                <a:latin typeface="Californian FB" pitchFamily="18" charset="0"/>
              </a:rPr>
              <a:t>Distortions: (</a:t>
            </a:r>
            <a:r>
              <a:rPr lang="en-US" sz="2800" dirty="0" err="1" smtClean="0">
                <a:latin typeface="Californian FB" pitchFamily="18" charset="0"/>
              </a:rPr>
              <a:t>shlip</a:t>
            </a:r>
            <a:r>
              <a:rPr lang="en-US" sz="2800" dirty="0" smtClean="0">
                <a:latin typeface="Californian FB" pitchFamily="18" charset="0"/>
              </a:rPr>
              <a:t> for sip) </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29</a:t>
            </a:fld>
            <a:endParaRPr lang="en-US"/>
          </a:p>
        </p:txBody>
      </p:sp>
    </p:spTree>
  </p:cSld>
  <p:clrMapOvr>
    <a:masterClrMapping/>
  </p:clrMapOvr>
  <p:transition spd="slow">
    <p:wipe dir="u"/>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pPr algn="r"/>
            <a:r>
              <a:rPr lang="en-US" dirty="0" smtClean="0"/>
              <a:t>Cont…</a:t>
            </a:r>
            <a:endParaRPr lang="en-US" dirty="0"/>
          </a:p>
        </p:txBody>
      </p:sp>
      <p:sp>
        <p:nvSpPr>
          <p:cNvPr id="3" name="Content Placeholder 2"/>
          <p:cNvSpPr>
            <a:spLocks noGrp="1"/>
          </p:cNvSpPr>
          <p:nvPr>
            <p:ph idx="1"/>
          </p:nvPr>
        </p:nvSpPr>
        <p:spPr>
          <a:xfrm>
            <a:off x="152400" y="914400"/>
            <a:ext cx="8763000" cy="5715000"/>
          </a:xfrm>
        </p:spPr>
        <p:txBody>
          <a:bodyPr>
            <a:normAutofit lnSpcReduction="10000"/>
          </a:bodyPr>
          <a:lstStyle/>
          <a:p>
            <a:pPr marL="457200" lvl="1" indent="0">
              <a:buNone/>
            </a:pPr>
            <a:r>
              <a:rPr lang="en-US" sz="2600" dirty="0" smtClean="0">
                <a:latin typeface="Californian FB" pitchFamily="18" charset="0"/>
              </a:rPr>
              <a:t>B. </a:t>
            </a:r>
            <a:r>
              <a:rPr lang="en-US" sz="2600" b="1" dirty="0" smtClean="0">
                <a:solidFill>
                  <a:srgbClr val="FF0000"/>
                </a:solidFill>
                <a:latin typeface="Californian FB" pitchFamily="18" charset="0"/>
              </a:rPr>
              <a:t>Fluency </a:t>
            </a:r>
            <a:r>
              <a:rPr lang="en-US" sz="2600" b="1" dirty="0" smtClean="0">
                <a:solidFill>
                  <a:srgbClr val="FF0000"/>
                </a:solidFill>
                <a:latin typeface="Californian FB" pitchFamily="18" charset="0"/>
              </a:rPr>
              <a:t>disorders </a:t>
            </a:r>
            <a:r>
              <a:rPr lang="en-US" sz="2600" dirty="0" smtClean="0">
                <a:latin typeface="Californian FB" pitchFamily="18" charset="0"/>
              </a:rPr>
              <a:t>are difficulties with the </a:t>
            </a:r>
            <a:r>
              <a:rPr lang="en-US" sz="2600" dirty="0" smtClean="0">
                <a:solidFill>
                  <a:srgbClr val="0070C0"/>
                </a:solidFill>
                <a:latin typeface="Californian FB" pitchFamily="18" charset="0"/>
              </a:rPr>
              <a:t>rhythm and timing of speech</a:t>
            </a:r>
            <a:r>
              <a:rPr lang="en-US" sz="2600" dirty="0" smtClean="0">
                <a:latin typeface="Californian FB" pitchFamily="18" charset="0"/>
              </a:rPr>
              <a:t> characterized by hesitations, repetitions, or prolongations of sounds, syllables, words, or phrases. Common fluency disorders include: </a:t>
            </a:r>
          </a:p>
          <a:p>
            <a:pPr lvl="2"/>
            <a:r>
              <a:rPr lang="en-US" sz="2600" dirty="0" smtClean="0">
                <a:solidFill>
                  <a:srgbClr val="FF0000"/>
                </a:solidFill>
                <a:latin typeface="Californian FB" pitchFamily="18" charset="0"/>
              </a:rPr>
              <a:t>Stuttering</a:t>
            </a:r>
            <a:r>
              <a:rPr lang="en-US" sz="2600" dirty="0" smtClean="0">
                <a:latin typeface="Californian FB" pitchFamily="18" charset="0"/>
              </a:rPr>
              <a:t>: rapid-fire repetitions of consonant or vowel sounds especially at the beginning of words, prolongations, hesitations, interjections, and complete verbal blocks </a:t>
            </a:r>
          </a:p>
          <a:p>
            <a:pPr lvl="2"/>
            <a:r>
              <a:rPr lang="en-US" sz="2600" dirty="0" smtClean="0">
                <a:solidFill>
                  <a:srgbClr val="FF0000"/>
                </a:solidFill>
                <a:latin typeface="Californian FB" pitchFamily="18" charset="0"/>
              </a:rPr>
              <a:t>Cluttering</a:t>
            </a:r>
            <a:r>
              <a:rPr lang="en-US" sz="2600" dirty="0" smtClean="0">
                <a:latin typeface="Californian FB" pitchFamily="18" charset="0"/>
              </a:rPr>
              <a:t>: excessively fast and jerky speech </a:t>
            </a:r>
          </a:p>
          <a:p>
            <a:pPr marL="457200" lvl="1" indent="0">
              <a:buNone/>
            </a:pPr>
            <a:r>
              <a:rPr lang="en-US" sz="2600" b="1" dirty="0" smtClean="0">
                <a:solidFill>
                  <a:srgbClr val="FF0000"/>
                </a:solidFill>
                <a:latin typeface="Californian FB" pitchFamily="18" charset="0"/>
              </a:rPr>
              <a:t>C. Voice </a:t>
            </a:r>
            <a:r>
              <a:rPr lang="en-US" sz="2600" b="1" dirty="0" smtClean="0">
                <a:solidFill>
                  <a:srgbClr val="FF0000"/>
                </a:solidFill>
                <a:latin typeface="Californian FB" pitchFamily="18" charset="0"/>
              </a:rPr>
              <a:t>disorders </a:t>
            </a:r>
            <a:r>
              <a:rPr lang="en-US" sz="2600" dirty="0" smtClean="0">
                <a:latin typeface="Californian FB" pitchFamily="18" charset="0"/>
              </a:rPr>
              <a:t>are problems with the </a:t>
            </a:r>
            <a:r>
              <a:rPr lang="en-US" sz="2600" dirty="0" smtClean="0">
                <a:solidFill>
                  <a:srgbClr val="0070C0"/>
                </a:solidFill>
                <a:latin typeface="Californian FB" pitchFamily="18" charset="0"/>
              </a:rPr>
              <a:t>quality or use of one's voice</a:t>
            </a:r>
            <a:r>
              <a:rPr lang="en-US" sz="2600" dirty="0" smtClean="0">
                <a:latin typeface="Californian FB" pitchFamily="18" charset="0"/>
              </a:rPr>
              <a:t> resulting from disorders in the larynx. Voice disorders are characterized by abnormal production and/or absences of vocal quality, pitch, loudness, resonance, and/or duration. </a:t>
            </a:r>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30</a:t>
            </a:fld>
            <a:endParaRPr lang="en-US"/>
          </a:p>
        </p:txBody>
      </p:sp>
    </p:spTree>
  </p:cSld>
  <p:clrMapOvr>
    <a:masterClrMapping/>
  </p:clrMapOvr>
  <p:transition spd="slow">
    <p:wipe dir="u"/>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a:bodyPr>
          <a:lstStyle/>
          <a:p>
            <a:r>
              <a:rPr lang="en-US" sz="3200" b="1" dirty="0" smtClean="0">
                <a:solidFill>
                  <a:srgbClr val="FF0000"/>
                </a:solidFill>
              </a:rPr>
              <a:t>Language Impairments </a:t>
            </a:r>
            <a:endParaRPr lang="en-US" sz="3200" dirty="0">
              <a:solidFill>
                <a:srgbClr val="FF0000"/>
              </a:solidFill>
            </a:endParaRPr>
          </a:p>
        </p:txBody>
      </p:sp>
      <p:sp>
        <p:nvSpPr>
          <p:cNvPr id="3" name="Content Placeholder 2"/>
          <p:cNvSpPr>
            <a:spLocks noGrp="1"/>
          </p:cNvSpPr>
          <p:nvPr>
            <p:ph idx="1"/>
          </p:nvPr>
        </p:nvSpPr>
        <p:spPr>
          <a:xfrm>
            <a:off x="304800" y="1371600"/>
            <a:ext cx="8534400" cy="4953000"/>
          </a:xfrm>
        </p:spPr>
        <p:txBody>
          <a:bodyPr>
            <a:normAutofit/>
          </a:bodyPr>
          <a:lstStyle/>
          <a:p>
            <a:r>
              <a:rPr lang="en-US" dirty="0" smtClean="0">
                <a:latin typeface="Californian FB" pitchFamily="18" charset="0"/>
              </a:rPr>
              <a:t>There are five basic areas of language impairments: </a:t>
            </a:r>
          </a:p>
          <a:p>
            <a:pPr lvl="1"/>
            <a:r>
              <a:rPr lang="en-US" dirty="0" smtClean="0">
                <a:solidFill>
                  <a:srgbClr val="FF0000"/>
                </a:solidFill>
                <a:latin typeface="Californian FB" pitchFamily="18" charset="0"/>
              </a:rPr>
              <a:t>Phonological disorders </a:t>
            </a:r>
            <a:r>
              <a:rPr lang="en-US" dirty="0" smtClean="0">
                <a:latin typeface="Californian FB" pitchFamily="18" charset="0"/>
              </a:rPr>
              <a:t>are defined as the abnormal organization of the phonological system, or a significant </a:t>
            </a:r>
            <a:r>
              <a:rPr lang="en-US" dirty="0" smtClean="0">
                <a:solidFill>
                  <a:srgbClr val="FF0000"/>
                </a:solidFill>
                <a:latin typeface="Californian FB" pitchFamily="18" charset="0"/>
              </a:rPr>
              <a:t>deficit in speech production or perception</a:t>
            </a:r>
            <a:r>
              <a:rPr lang="en-US" dirty="0" smtClean="0">
                <a:latin typeface="Californian FB" pitchFamily="18" charset="0"/>
              </a:rPr>
              <a:t>.</a:t>
            </a:r>
          </a:p>
          <a:p>
            <a:pPr lvl="2"/>
            <a:r>
              <a:rPr lang="en-US" dirty="0" smtClean="0">
                <a:latin typeface="Californian FB" pitchFamily="18" charset="0"/>
              </a:rPr>
              <a:t>A child with a phonological disorder may be described as hard to understand or as not saying the sounds correctly. </a:t>
            </a:r>
          </a:p>
          <a:p>
            <a:pPr lvl="2"/>
            <a:r>
              <a:rPr lang="en-US" dirty="0" err="1" smtClean="0">
                <a:latin typeface="Californian FB" pitchFamily="18" charset="0"/>
              </a:rPr>
              <a:t>Apraxia</a:t>
            </a:r>
            <a:r>
              <a:rPr lang="en-US" dirty="0" smtClean="0">
                <a:latin typeface="Californian FB" pitchFamily="18" charset="0"/>
              </a:rPr>
              <a:t> of speech is a specific phonological disorder where the student may want to speak but has difficulty planning what to say and the motor movements to use. </a:t>
            </a:r>
          </a:p>
        </p:txBody>
      </p:sp>
      <p:sp>
        <p:nvSpPr>
          <p:cNvPr id="4" name="Slide Number Placeholder 3"/>
          <p:cNvSpPr>
            <a:spLocks noGrp="1"/>
          </p:cNvSpPr>
          <p:nvPr>
            <p:ph type="sldNum" sz="quarter" idx="12"/>
          </p:nvPr>
        </p:nvSpPr>
        <p:spPr/>
        <p:txBody>
          <a:bodyPr/>
          <a:lstStyle/>
          <a:p>
            <a:fld id="{B6F15528-21DE-4FAA-801E-634DDDAF4B2B}" type="slidenum">
              <a:rPr lang="en-US" smtClean="0"/>
              <a:pPr/>
              <a:t>31</a:t>
            </a:fld>
            <a:endParaRPr lang="en-US"/>
          </a:p>
        </p:txBody>
      </p:sp>
    </p:spTree>
  </p:cSld>
  <p:clrMapOvr>
    <a:masterClrMapping/>
  </p:clrMapOvr>
  <p:transition spd="slow">
    <p:wipe dir="u"/>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a:bodyPr>
          <a:lstStyle/>
          <a:p>
            <a:pPr algn="r"/>
            <a:r>
              <a:rPr lang="en-US" sz="3200" dirty="0" smtClean="0"/>
              <a:t>Cont…</a:t>
            </a:r>
            <a:endParaRPr lang="en-US" sz="3200" dirty="0"/>
          </a:p>
        </p:txBody>
      </p:sp>
      <p:sp>
        <p:nvSpPr>
          <p:cNvPr id="3" name="Content Placeholder 2"/>
          <p:cNvSpPr>
            <a:spLocks noGrp="1"/>
          </p:cNvSpPr>
          <p:nvPr>
            <p:ph idx="1"/>
          </p:nvPr>
        </p:nvSpPr>
        <p:spPr>
          <a:xfrm>
            <a:off x="228600" y="838200"/>
            <a:ext cx="8686800" cy="5791200"/>
          </a:xfrm>
        </p:spPr>
        <p:txBody>
          <a:bodyPr>
            <a:normAutofit/>
          </a:bodyPr>
          <a:lstStyle/>
          <a:p>
            <a:pPr marL="342900" lvl="1" indent="-342900">
              <a:buFont typeface="Arial" pitchFamily="34" charset="0"/>
              <a:buChar char="•"/>
            </a:pPr>
            <a:r>
              <a:rPr lang="en-US" b="1" dirty="0" smtClean="0">
                <a:solidFill>
                  <a:srgbClr val="FF0000"/>
                </a:solidFill>
                <a:latin typeface="Californian FB" pitchFamily="18" charset="0"/>
              </a:rPr>
              <a:t>Morphological disorders </a:t>
            </a:r>
            <a:r>
              <a:rPr lang="en-US" dirty="0" smtClean="0">
                <a:latin typeface="Californian FB" pitchFamily="18" charset="0"/>
              </a:rPr>
              <a:t>are defined as difficulties with morphological inflections (inflections on nouns, verbs, and adjectives that signal different kinds of meanings). </a:t>
            </a:r>
          </a:p>
          <a:p>
            <a:pPr marL="342900" lvl="1" indent="-342900">
              <a:buFont typeface="Arial" pitchFamily="34" charset="0"/>
              <a:buChar char="•"/>
            </a:pPr>
            <a:r>
              <a:rPr lang="en-US" b="1" dirty="0" smtClean="0">
                <a:solidFill>
                  <a:srgbClr val="FF0000"/>
                </a:solidFill>
                <a:latin typeface="Californian FB" pitchFamily="18" charset="0"/>
              </a:rPr>
              <a:t>Semantic disorders </a:t>
            </a:r>
            <a:r>
              <a:rPr lang="en-US" dirty="0" smtClean="0">
                <a:latin typeface="Californian FB" pitchFamily="18" charset="0"/>
              </a:rPr>
              <a:t>are characterized by </a:t>
            </a:r>
            <a:r>
              <a:rPr lang="en-US" dirty="0" smtClean="0">
                <a:solidFill>
                  <a:srgbClr val="00B0F0"/>
                </a:solidFill>
                <a:latin typeface="Californian FB" pitchFamily="18" charset="0"/>
              </a:rPr>
              <a:t>poor vocabulary development, inappropriate use of word meanings, and/or inability to comprehend word meanings</a:t>
            </a:r>
            <a:r>
              <a:rPr lang="en-US" dirty="0" smtClean="0">
                <a:latin typeface="Californian FB" pitchFamily="18" charset="0"/>
              </a:rPr>
              <a:t>. These students will demonstrate restrictions in word meanings, difficulty with multiple word meanings, excessive use of nonspecific terms (e.g., thing and stuff), and indefinite references (e.g., that and there). </a:t>
            </a:r>
          </a:p>
          <a:p>
            <a:pPr marL="342900" lvl="1" indent="-342900">
              <a:buNone/>
            </a:pPr>
            <a:endParaRPr lang="en-US" dirty="0" smtClean="0"/>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32</a:t>
            </a:fld>
            <a:endParaRPr lang="en-US"/>
          </a:p>
        </p:txBody>
      </p:sp>
    </p:spTree>
  </p:cSld>
  <p:clrMapOvr>
    <a:masterClrMapping/>
  </p:clrMapOvr>
  <p:transition spd="slow">
    <p:wipe dir="u"/>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pPr algn="r"/>
            <a:r>
              <a:rPr lang="en-US" sz="3200" dirty="0" smtClean="0"/>
              <a:t>Cont…</a:t>
            </a:r>
            <a:endParaRPr lang="en-US" sz="3200" dirty="0"/>
          </a:p>
        </p:txBody>
      </p:sp>
      <p:sp>
        <p:nvSpPr>
          <p:cNvPr id="3" name="Content Placeholder 2"/>
          <p:cNvSpPr>
            <a:spLocks noGrp="1"/>
          </p:cNvSpPr>
          <p:nvPr>
            <p:ph idx="1"/>
          </p:nvPr>
        </p:nvSpPr>
        <p:spPr>
          <a:xfrm>
            <a:off x="228600" y="838200"/>
            <a:ext cx="8458200" cy="5791200"/>
          </a:xfrm>
        </p:spPr>
        <p:txBody>
          <a:bodyPr>
            <a:normAutofit/>
          </a:bodyPr>
          <a:lstStyle/>
          <a:p>
            <a:pPr lvl="1"/>
            <a:r>
              <a:rPr lang="en-US" b="1" dirty="0" smtClean="0">
                <a:solidFill>
                  <a:srgbClr val="FF0000"/>
                </a:solidFill>
                <a:latin typeface="Californian FB" pitchFamily="18" charset="0"/>
              </a:rPr>
              <a:t>Syntactic deficits </a:t>
            </a:r>
            <a:r>
              <a:rPr lang="en-US" dirty="0" smtClean="0">
                <a:latin typeface="Californian FB" pitchFamily="18" charset="0"/>
              </a:rPr>
              <a:t>are characterized by difficulty in acquiring the </a:t>
            </a:r>
            <a:r>
              <a:rPr lang="en-US" dirty="0" smtClean="0">
                <a:solidFill>
                  <a:srgbClr val="FF0000"/>
                </a:solidFill>
                <a:latin typeface="Californian FB" pitchFamily="18" charset="0"/>
              </a:rPr>
              <a:t>rules</a:t>
            </a:r>
            <a:r>
              <a:rPr lang="en-US" dirty="0" smtClean="0">
                <a:latin typeface="Californian FB" pitchFamily="18" charset="0"/>
              </a:rPr>
              <a:t> that govern word order and others aspects of grammar such as subject-verb agreement. Typically, these students produce shorter and less elaborate sentences with fewer cohesive conjunctions than their peers. </a:t>
            </a:r>
          </a:p>
          <a:p>
            <a:pPr lvl="1"/>
            <a:r>
              <a:rPr lang="en-US" b="1" dirty="0" smtClean="0">
                <a:solidFill>
                  <a:srgbClr val="FF0000"/>
                </a:solidFill>
                <a:latin typeface="Californian FB" pitchFamily="18" charset="0"/>
              </a:rPr>
              <a:t>Pragmatic difficulties </a:t>
            </a:r>
            <a:r>
              <a:rPr lang="en-US" dirty="0" smtClean="0">
                <a:latin typeface="Californian FB" pitchFamily="18" charset="0"/>
              </a:rPr>
              <a:t>are characterized as problems in understanding and </a:t>
            </a:r>
            <a:r>
              <a:rPr lang="en-US" dirty="0" smtClean="0">
                <a:solidFill>
                  <a:srgbClr val="FF0000"/>
                </a:solidFill>
                <a:latin typeface="Californian FB" pitchFamily="18" charset="0"/>
              </a:rPr>
              <a:t>using language in different social contexts</a:t>
            </a:r>
            <a:r>
              <a:rPr lang="en-US" dirty="0" smtClean="0">
                <a:latin typeface="Californian FB" pitchFamily="18" charset="0"/>
              </a:rPr>
              <a:t>. These students may lack an understanding of the rules for making eye contact, respecting personal space, requesting information, and introducing topics. </a:t>
            </a:r>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33</a:t>
            </a:fld>
            <a:endParaRPr lang="en-US"/>
          </a:p>
        </p:txBody>
      </p:sp>
    </p:spTree>
  </p:cSld>
  <p:clrMapOvr>
    <a:masterClrMapping/>
  </p:clrMapOvr>
  <p:transition spd="slow">
    <p:wipe dir="u"/>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a:bodyPr>
          <a:lstStyle/>
          <a:p>
            <a:r>
              <a:rPr lang="en-US" sz="4000" b="1" dirty="0" smtClean="0">
                <a:solidFill>
                  <a:srgbClr val="FF0000"/>
                </a:solidFill>
                <a:latin typeface="Californian FB" pitchFamily="18" charset="0"/>
              </a:rPr>
              <a:t>5. Autism </a:t>
            </a:r>
            <a:endParaRPr lang="en-US" sz="4000" dirty="0">
              <a:solidFill>
                <a:srgbClr val="FF0000"/>
              </a:solidFill>
              <a:latin typeface="Californian FB" pitchFamily="18" charset="0"/>
            </a:endParaRPr>
          </a:p>
        </p:txBody>
      </p:sp>
      <p:sp>
        <p:nvSpPr>
          <p:cNvPr id="3" name="Content Placeholder 2"/>
          <p:cNvSpPr>
            <a:spLocks noGrp="1"/>
          </p:cNvSpPr>
          <p:nvPr>
            <p:ph idx="1"/>
          </p:nvPr>
        </p:nvSpPr>
        <p:spPr>
          <a:xfrm>
            <a:off x="152400" y="1066800"/>
            <a:ext cx="8763000" cy="5486400"/>
          </a:xfrm>
        </p:spPr>
        <p:txBody>
          <a:bodyPr>
            <a:noAutofit/>
          </a:bodyPr>
          <a:lstStyle/>
          <a:p>
            <a:r>
              <a:rPr lang="en-US" sz="2600" dirty="0" smtClean="0">
                <a:latin typeface="Californian FB" pitchFamily="18" charset="0"/>
              </a:rPr>
              <a:t>It is </a:t>
            </a:r>
            <a:r>
              <a:rPr lang="en-US" sz="2600" dirty="0" smtClean="0">
                <a:solidFill>
                  <a:srgbClr val="00B0F0"/>
                </a:solidFill>
                <a:latin typeface="Californian FB" pitchFamily="18" charset="0"/>
              </a:rPr>
              <a:t>a developmental disability </a:t>
            </a:r>
            <a:r>
              <a:rPr lang="en-US" sz="2600" dirty="0" smtClean="0">
                <a:latin typeface="Californian FB" pitchFamily="18" charset="0"/>
              </a:rPr>
              <a:t>significantly affecting verbal and nonverbal communication and social interaction, generally evident before age three that adversely affects a child‘s educational performance. </a:t>
            </a:r>
          </a:p>
          <a:p>
            <a:r>
              <a:rPr lang="en-US" sz="2600" dirty="0" smtClean="0">
                <a:latin typeface="Californian FB" pitchFamily="18" charset="0"/>
              </a:rPr>
              <a:t>Other characteristics often associated with autism are </a:t>
            </a:r>
          </a:p>
          <a:p>
            <a:pPr lvl="1"/>
            <a:r>
              <a:rPr lang="en-US" sz="2600" dirty="0" smtClean="0">
                <a:latin typeface="Californian FB" pitchFamily="18" charset="0"/>
              </a:rPr>
              <a:t>engaging in </a:t>
            </a:r>
            <a:r>
              <a:rPr lang="en-US" sz="2600" b="1" dirty="0" smtClean="0">
                <a:solidFill>
                  <a:srgbClr val="00B0F0"/>
                </a:solidFill>
                <a:latin typeface="Californian FB" pitchFamily="18" charset="0"/>
              </a:rPr>
              <a:t>repetitive activities </a:t>
            </a:r>
            <a:r>
              <a:rPr lang="en-US" sz="2600" dirty="0" smtClean="0">
                <a:latin typeface="Californian FB" pitchFamily="18" charset="0"/>
              </a:rPr>
              <a:t>and stereotyped movements, </a:t>
            </a:r>
          </a:p>
          <a:p>
            <a:pPr lvl="1"/>
            <a:r>
              <a:rPr lang="en-US" sz="2600" dirty="0" smtClean="0">
                <a:latin typeface="Californian FB" pitchFamily="18" charset="0"/>
              </a:rPr>
              <a:t>resistance to environmental change or change in daily routines, and </a:t>
            </a:r>
          </a:p>
          <a:p>
            <a:pPr lvl="1"/>
            <a:r>
              <a:rPr lang="en-US" sz="2600" b="1" dirty="0" smtClean="0">
                <a:solidFill>
                  <a:srgbClr val="00B0F0"/>
                </a:solidFill>
                <a:latin typeface="Californian FB" pitchFamily="18" charset="0"/>
              </a:rPr>
              <a:t>unusual responses </a:t>
            </a:r>
            <a:r>
              <a:rPr lang="en-US" sz="2600" dirty="0" smtClean="0">
                <a:latin typeface="Californian FB" pitchFamily="18" charset="0"/>
              </a:rPr>
              <a:t>to sensory experiences. </a:t>
            </a:r>
          </a:p>
          <a:p>
            <a:r>
              <a:rPr lang="en-US" sz="2600" dirty="0" smtClean="0">
                <a:latin typeface="Californian FB" pitchFamily="18" charset="0"/>
              </a:rPr>
              <a:t>The term autism does not apply if the child‘s educational performance is adversely affected primarily because the child has an emotional disturbance.</a:t>
            </a:r>
          </a:p>
          <a:p>
            <a:endParaRPr lang="en-US" sz="2400" dirty="0">
              <a:latin typeface="Californian FB"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34</a:t>
            </a:fld>
            <a:endParaRPr lang="en-US"/>
          </a:p>
        </p:txBody>
      </p:sp>
    </p:spTree>
  </p:cSld>
  <p:clrMapOvr>
    <a:masterClrMapping/>
  </p:clrMapOvr>
  <p:transition spd="slow">
    <p:wipe dir="u"/>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pPr algn="r"/>
            <a:r>
              <a:rPr lang="en-US" sz="3200" dirty="0" smtClean="0"/>
              <a:t>Cont…</a:t>
            </a:r>
            <a:endParaRPr lang="en-US" sz="3200" dirty="0"/>
          </a:p>
        </p:txBody>
      </p:sp>
      <p:sp>
        <p:nvSpPr>
          <p:cNvPr id="3" name="Content Placeholder 2"/>
          <p:cNvSpPr>
            <a:spLocks noGrp="1"/>
          </p:cNvSpPr>
          <p:nvPr>
            <p:ph idx="1"/>
          </p:nvPr>
        </p:nvSpPr>
        <p:spPr>
          <a:xfrm>
            <a:off x="152400" y="838200"/>
            <a:ext cx="8763000" cy="5791200"/>
          </a:xfrm>
        </p:spPr>
        <p:txBody>
          <a:bodyPr>
            <a:normAutofit fontScale="92500" lnSpcReduction="20000"/>
          </a:bodyPr>
          <a:lstStyle/>
          <a:p>
            <a:r>
              <a:rPr lang="en-US" sz="2800" dirty="0" smtClean="0">
                <a:latin typeface="Californian FB" pitchFamily="18" charset="0"/>
              </a:rPr>
              <a:t>It is a </a:t>
            </a:r>
            <a:r>
              <a:rPr lang="en-US" sz="2800" b="1" dirty="0" smtClean="0">
                <a:solidFill>
                  <a:srgbClr val="00B0F0"/>
                </a:solidFill>
                <a:latin typeface="Californian FB" pitchFamily="18" charset="0"/>
              </a:rPr>
              <a:t>neurodevelopment disorder </a:t>
            </a:r>
            <a:r>
              <a:rPr lang="en-US" sz="2800" dirty="0" smtClean="0">
                <a:latin typeface="Californian FB" pitchFamily="18" charset="0"/>
              </a:rPr>
              <a:t>defined by impairments in </a:t>
            </a:r>
            <a:r>
              <a:rPr lang="en-US" sz="2800" b="1" dirty="0" smtClean="0">
                <a:solidFill>
                  <a:srgbClr val="00B0F0"/>
                </a:solidFill>
                <a:latin typeface="Californian FB" pitchFamily="18" charset="0"/>
              </a:rPr>
              <a:t>social and communication development</a:t>
            </a:r>
            <a:r>
              <a:rPr lang="en-US" sz="2800" dirty="0" smtClean="0">
                <a:latin typeface="Californian FB" pitchFamily="18" charset="0"/>
              </a:rPr>
              <a:t>, accompanied by stereotyped patterns of behavior and interest (</a:t>
            </a:r>
            <a:r>
              <a:rPr lang="en-US" sz="2800" dirty="0" err="1" smtClean="0">
                <a:latin typeface="Californian FB" pitchFamily="18" charset="0"/>
              </a:rPr>
              <a:t>Landa</a:t>
            </a:r>
            <a:r>
              <a:rPr lang="en-US" sz="2800" dirty="0" smtClean="0">
                <a:latin typeface="Californian FB" pitchFamily="18" charset="0"/>
              </a:rPr>
              <a:t>, 2007). </a:t>
            </a:r>
          </a:p>
          <a:p>
            <a:r>
              <a:rPr lang="en-US" sz="2800" dirty="0" smtClean="0">
                <a:latin typeface="Californian FB" pitchFamily="18" charset="0"/>
              </a:rPr>
              <a:t>Autism is </a:t>
            </a:r>
            <a:r>
              <a:rPr lang="en-US" sz="2800" b="1" dirty="0" smtClean="0">
                <a:solidFill>
                  <a:srgbClr val="00B0F0"/>
                </a:solidFill>
                <a:latin typeface="Californian FB" pitchFamily="18" charset="0"/>
              </a:rPr>
              <a:t>pervasive developmental disorder </a:t>
            </a:r>
            <a:r>
              <a:rPr lang="en-US" sz="2800" dirty="0" smtClean="0">
                <a:latin typeface="Californian FB" pitchFamily="18" charset="0"/>
              </a:rPr>
              <a:t>characterized by lack of normal sociability, impaired communication and repetitive obsessive behavior such as politeness, turn-taking (Young &amp; </a:t>
            </a:r>
            <a:r>
              <a:rPr lang="en-US" sz="2800" dirty="0" err="1" smtClean="0">
                <a:latin typeface="Californian FB" pitchFamily="18" charset="0"/>
              </a:rPr>
              <a:t>Nettlebeck</a:t>
            </a:r>
            <a:r>
              <a:rPr lang="en-US" sz="2800" dirty="0" smtClean="0">
                <a:latin typeface="Californian FB" pitchFamily="18" charset="0"/>
              </a:rPr>
              <a:t> , 2005). </a:t>
            </a:r>
          </a:p>
          <a:p>
            <a:r>
              <a:rPr lang="en-US" sz="2800" dirty="0" smtClean="0">
                <a:latin typeface="Californian FB" pitchFamily="18" charset="0"/>
              </a:rPr>
              <a:t>Linked to </a:t>
            </a:r>
            <a:r>
              <a:rPr lang="en-US" sz="2800" b="1" dirty="0" smtClean="0">
                <a:solidFill>
                  <a:srgbClr val="00B0F0"/>
                </a:solidFill>
                <a:latin typeface="Californian FB" pitchFamily="18" charset="0"/>
              </a:rPr>
              <a:t>Profound</a:t>
            </a:r>
            <a:r>
              <a:rPr lang="en-US" sz="2800" dirty="0" smtClean="0">
                <a:latin typeface="Californian FB" pitchFamily="18" charset="0"/>
              </a:rPr>
              <a:t> Learning Disability (PLDs) are further impairments in the production of </a:t>
            </a:r>
            <a:r>
              <a:rPr lang="en-US" sz="2800" b="1" dirty="0" smtClean="0">
                <a:solidFill>
                  <a:srgbClr val="00B0F0"/>
                </a:solidFill>
                <a:latin typeface="Californian FB" pitchFamily="18" charset="0"/>
              </a:rPr>
              <a:t>speech</a:t>
            </a:r>
            <a:r>
              <a:rPr lang="en-US" sz="2800" dirty="0" smtClean="0">
                <a:latin typeface="Californian FB" pitchFamily="18" charset="0"/>
              </a:rPr>
              <a:t>. Among these are </a:t>
            </a:r>
          </a:p>
          <a:p>
            <a:pPr lvl="1"/>
            <a:r>
              <a:rPr lang="en-US" dirty="0" smtClean="0">
                <a:latin typeface="Californian FB" pitchFamily="18" charset="0"/>
              </a:rPr>
              <a:t>(</a:t>
            </a:r>
            <a:r>
              <a:rPr lang="en-US" dirty="0" err="1" smtClean="0">
                <a:latin typeface="Californian FB" pitchFamily="18" charset="0"/>
              </a:rPr>
              <a:t>i</a:t>
            </a:r>
            <a:r>
              <a:rPr lang="en-US" dirty="0" smtClean="0">
                <a:latin typeface="Californian FB" pitchFamily="18" charset="0"/>
              </a:rPr>
              <a:t>) personal pronouns reversal for instance the use of ―I instead of ―you and vice-versa, </a:t>
            </a:r>
          </a:p>
          <a:p>
            <a:pPr lvl="1"/>
            <a:r>
              <a:rPr lang="en-US" dirty="0" smtClean="0">
                <a:latin typeface="Californian FB" pitchFamily="18" charset="0"/>
              </a:rPr>
              <a:t>(ii) the misuse of such prepositions as ―in, ―on, ―under, and </a:t>
            </a:r>
          </a:p>
          <a:p>
            <a:pPr lvl="1"/>
            <a:r>
              <a:rPr lang="en-US" dirty="0" smtClean="0">
                <a:latin typeface="Californian FB" pitchFamily="18" charset="0"/>
              </a:rPr>
              <a:t>(iii) the prevalence, in speech, of echolalia formal repetition of other‘s utterances (</a:t>
            </a:r>
            <a:r>
              <a:rPr lang="en-US" dirty="0" err="1" smtClean="0">
                <a:latin typeface="Californian FB" pitchFamily="18" charset="0"/>
              </a:rPr>
              <a:t>Arron</a:t>
            </a:r>
            <a:r>
              <a:rPr lang="en-US" dirty="0" smtClean="0">
                <a:latin typeface="Californian FB" pitchFamily="18" charset="0"/>
              </a:rPr>
              <a:t> and </a:t>
            </a:r>
            <a:r>
              <a:rPr lang="en-US" dirty="0" err="1" smtClean="0">
                <a:latin typeface="Californian FB" pitchFamily="18" charset="0"/>
              </a:rPr>
              <a:t>Gittens</a:t>
            </a:r>
            <a:r>
              <a:rPr lang="en-US" dirty="0" smtClean="0">
                <a:latin typeface="Californian FB" pitchFamily="18" charset="0"/>
              </a:rPr>
              <a:t>, 1999). </a:t>
            </a:r>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35</a:t>
            </a:fld>
            <a:endParaRPr lang="en-US"/>
          </a:p>
        </p:txBody>
      </p:sp>
    </p:spTree>
  </p:cSld>
  <p:clrMapOvr>
    <a:masterClrMapping/>
  </p:clrMapOvr>
  <p:transition spd="slow">
    <p:wipe dir="u"/>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sz="3600" b="1" dirty="0" smtClean="0">
                <a:solidFill>
                  <a:srgbClr val="FF0000"/>
                </a:solidFill>
              </a:rPr>
              <a:t>6. Emotional and Behavioral Disorders</a:t>
            </a:r>
            <a:endParaRPr lang="en-US" sz="3600" b="1" dirty="0">
              <a:solidFill>
                <a:srgbClr val="FF0000"/>
              </a:solidFill>
            </a:endParaRPr>
          </a:p>
        </p:txBody>
      </p:sp>
      <p:sp>
        <p:nvSpPr>
          <p:cNvPr id="3" name="Content Placeholder 2"/>
          <p:cNvSpPr>
            <a:spLocks noGrp="1"/>
          </p:cNvSpPr>
          <p:nvPr>
            <p:ph idx="1"/>
          </p:nvPr>
        </p:nvSpPr>
        <p:spPr>
          <a:xfrm>
            <a:off x="228600" y="914400"/>
            <a:ext cx="8686800" cy="5715000"/>
          </a:xfrm>
        </p:spPr>
        <p:txBody>
          <a:bodyPr>
            <a:noAutofit/>
          </a:bodyPr>
          <a:lstStyle/>
          <a:p>
            <a:r>
              <a:rPr lang="en-US" sz="2600" dirty="0" smtClean="0">
                <a:latin typeface="Californian FB" pitchFamily="18" charset="0"/>
              </a:rPr>
              <a:t>A condition exhibiting one or more of the following characteristics over a </a:t>
            </a:r>
            <a:r>
              <a:rPr lang="en-US" sz="2600" b="1" dirty="0" smtClean="0">
                <a:solidFill>
                  <a:srgbClr val="00B0F0"/>
                </a:solidFill>
                <a:latin typeface="Californian FB" pitchFamily="18" charset="0"/>
              </a:rPr>
              <a:t>long period of time </a:t>
            </a:r>
            <a:r>
              <a:rPr lang="en-US" sz="2600" dirty="0" smtClean="0">
                <a:latin typeface="Californian FB" pitchFamily="18" charset="0"/>
              </a:rPr>
              <a:t>and to a marked degree that adversely </a:t>
            </a:r>
            <a:r>
              <a:rPr lang="en-US" sz="2600" b="1" dirty="0" smtClean="0">
                <a:solidFill>
                  <a:srgbClr val="00B0F0"/>
                </a:solidFill>
                <a:latin typeface="Californian FB" pitchFamily="18" charset="0"/>
              </a:rPr>
              <a:t>affects educational performance </a:t>
            </a:r>
          </a:p>
          <a:p>
            <a:pPr lvl="1"/>
            <a:r>
              <a:rPr lang="en-US" sz="2600" dirty="0" smtClean="0">
                <a:latin typeface="Californian FB" pitchFamily="18" charset="0"/>
              </a:rPr>
              <a:t>1) An </a:t>
            </a:r>
            <a:r>
              <a:rPr lang="en-US" sz="2600" b="1" dirty="0" smtClean="0">
                <a:solidFill>
                  <a:srgbClr val="00B0F0"/>
                </a:solidFill>
                <a:latin typeface="Californian FB" pitchFamily="18" charset="0"/>
              </a:rPr>
              <a:t>inability to learn </a:t>
            </a:r>
            <a:r>
              <a:rPr lang="en-US" sz="2600" dirty="0" smtClean="0">
                <a:latin typeface="Californian FB" pitchFamily="18" charset="0"/>
              </a:rPr>
              <a:t>that cannot be explained by intellectual, sensory, or health factors; </a:t>
            </a:r>
          </a:p>
          <a:p>
            <a:pPr lvl="1"/>
            <a:r>
              <a:rPr lang="en-US" sz="2600" dirty="0" smtClean="0">
                <a:latin typeface="Californian FB" pitchFamily="18" charset="0"/>
              </a:rPr>
              <a:t>2) An </a:t>
            </a:r>
            <a:r>
              <a:rPr lang="en-US" sz="2600" b="1" dirty="0" smtClean="0">
                <a:solidFill>
                  <a:srgbClr val="00B0F0"/>
                </a:solidFill>
                <a:latin typeface="Californian FB" pitchFamily="18" charset="0"/>
              </a:rPr>
              <a:t>inability to build </a:t>
            </a:r>
            <a:r>
              <a:rPr lang="en-US" sz="2600" dirty="0" smtClean="0">
                <a:latin typeface="Californian FB" pitchFamily="18" charset="0"/>
              </a:rPr>
              <a:t>or maintain satisfactory interpersonal relationships with peers and teachers; </a:t>
            </a:r>
          </a:p>
          <a:p>
            <a:pPr lvl="1"/>
            <a:r>
              <a:rPr lang="en-US" sz="2600" dirty="0" smtClean="0">
                <a:latin typeface="Californian FB" pitchFamily="18" charset="0"/>
              </a:rPr>
              <a:t>3) </a:t>
            </a:r>
            <a:r>
              <a:rPr lang="en-US" sz="2600" b="1" dirty="0" smtClean="0">
                <a:solidFill>
                  <a:srgbClr val="00B0F0"/>
                </a:solidFill>
                <a:latin typeface="Californian FB" pitchFamily="18" charset="0"/>
              </a:rPr>
              <a:t>Inappropriate</a:t>
            </a:r>
            <a:r>
              <a:rPr lang="en-US" sz="2600" dirty="0" smtClean="0">
                <a:latin typeface="Californian FB" pitchFamily="18" charset="0"/>
              </a:rPr>
              <a:t> types of behavior or feelings under normal circumstances; </a:t>
            </a:r>
          </a:p>
          <a:p>
            <a:pPr lvl="1"/>
            <a:r>
              <a:rPr lang="en-US" sz="2600" dirty="0" smtClean="0">
                <a:latin typeface="Californian FB" pitchFamily="18" charset="0"/>
              </a:rPr>
              <a:t>4) A general pervasive mood of </a:t>
            </a:r>
            <a:r>
              <a:rPr lang="en-US" sz="2600" b="1" dirty="0" smtClean="0">
                <a:solidFill>
                  <a:srgbClr val="00B0F0"/>
                </a:solidFill>
                <a:latin typeface="Californian FB" pitchFamily="18" charset="0"/>
              </a:rPr>
              <a:t>unhappiness</a:t>
            </a:r>
            <a:r>
              <a:rPr lang="en-US" sz="2600" dirty="0" smtClean="0">
                <a:latin typeface="Californian FB" pitchFamily="18" charset="0"/>
              </a:rPr>
              <a:t> or </a:t>
            </a:r>
            <a:r>
              <a:rPr lang="en-US" sz="2600" b="1" dirty="0" smtClean="0">
                <a:solidFill>
                  <a:srgbClr val="00B0F0"/>
                </a:solidFill>
                <a:latin typeface="Californian FB" pitchFamily="18" charset="0"/>
              </a:rPr>
              <a:t>depression</a:t>
            </a:r>
            <a:r>
              <a:rPr lang="en-US" sz="2600" dirty="0" smtClean="0">
                <a:latin typeface="Californian FB" pitchFamily="18" charset="0"/>
              </a:rPr>
              <a:t>; or</a:t>
            </a:r>
          </a:p>
          <a:p>
            <a:pPr lvl="1"/>
            <a:r>
              <a:rPr lang="en-US" sz="2600" dirty="0" smtClean="0">
                <a:latin typeface="Californian FB" pitchFamily="18" charset="0"/>
              </a:rPr>
              <a:t>5) A tendency to develop physical symptoms or </a:t>
            </a:r>
            <a:r>
              <a:rPr lang="en-US" sz="2600" b="1" dirty="0" smtClean="0">
                <a:solidFill>
                  <a:srgbClr val="00B0F0"/>
                </a:solidFill>
                <a:latin typeface="Californian FB" pitchFamily="18" charset="0"/>
              </a:rPr>
              <a:t>fears</a:t>
            </a:r>
            <a:r>
              <a:rPr lang="en-US" sz="2600" dirty="0" smtClean="0">
                <a:latin typeface="Californian FB" pitchFamily="18" charset="0"/>
              </a:rPr>
              <a:t> associated with personal or school problems. </a:t>
            </a:r>
          </a:p>
          <a:p>
            <a:endParaRPr lang="en-US" sz="2600" dirty="0">
              <a:latin typeface="Californian FB"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36</a:t>
            </a:fld>
            <a:endParaRPr lang="en-US"/>
          </a:p>
        </p:txBody>
      </p:sp>
    </p:spTree>
  </p:cSld>
  <p:clrMapOvr>
    <a:masterClrMapping/>
  </p:clrMapOvr>
  <p:transition spd="slow">
    <p:wipe dir="u"/>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sz="3200" b="1" dirty="0" smtClean="0">
                <a:solidFill>
                  <a:srgbClr val="FF0000"/>
                </a:solidFill>
              </a:rPr>
              <a:t>Classification of BED</a:t>
            </a:r>
            <a:endParaRPr lang="en-US" sz="3200" dirty="0">
              <a:solidFill>
                <a:srgbClr val="FF0000"/>
              </a:solidFill>
            </a:endParaRPr>
          </a:p>
        </p:txBody>
      </p:sp>
      <p:sp>
        <p:nvSpPr>
          <p:cNvPr id="3" name="Content Placeholder 2"/>
          <p:cNvSpPr>
            <a:spLocks noGrp="1"/>
          </p:cNvSpPr>
          <p:nvPr>
            <p:ph idx="1"/>
          </p:nvPr>
        </p:nvSpPr>
        <p:spPr>
          <a:xfrm>
            <a:off x="152400" y="762000"/>
            <a:ext cx="8839200" cy="5943600"/>
          </a:xfrm>
        </p:spPr>
        <p:txBody>
          <a:bodyPr>
            <a:normAutofit fontScale="62500" lnSpcReduction="20000"/>
          </a:bodyPr>
          <a:lstStyle/>
          <a:p>
            <a:pPr marL="742950" indent="-742950">
              <a:buFont typeface="+mj-lt"/>
              <a:buAutoNum type="arabicPeriod"/>
            </a:pPr>
            <a:r>
              <a:rPr lang="en-US" sz="3700" b="1" dirty="0" smtClean="0">
                <a:solidFill>
                  <a:srgbClr val="FF0000"/>
                </a:solidFill>
                <a:latin typeface="Californian FB" pitchFamily="18" charset="0"/>
              </a:rPr>
              <a:t>Conduct disorder</a:t>
            </a:r>
            <a:r>
              <a:rPr lang="en-US" sz="3700" dirty="0" smtClean="0">
                <a:latin typeface="Californian FB" pitchFamily="18" charset="0"/>
              </a:rPr>
              <a:t>: individuals may </a:t>
            </a:r>
            <a:r>
              <a:rPr lang="en-US" sz="3700" b="1" dirty="0" smtClean="0">
                <a:solidFill>
                  <a:srgbClr val="0070C0"/>
                </a:solidFill>
                <a:latin typeface="Californian FB" pitchFamily="18" charset="0"/>
              </a:rPr>
              <a:t>seek attention</a:t>
            </a:r>
            <a:r>
              <a:rPr lang="en-US" sz="3700" dirty="0" smtClean="0">
                <a:latin typeface="Californian FB" pitchFamily="18" charset="0"/>
              </a:rPr>
              <a:t>, are disruptive and act out. The disorder is classified by type: overt (with violence or tantrums) versus covert (with lying, stealing, and/or drug use). </a:t>
            </a:r>
          </a:p>
          <a:p>
            <a:pPr marL="742950" indent="-742950">
              <a:buFont typeface="+mj-lt"/>
              <a:buAutoNum type="arabicPeriod"/>
            </a:pPr>
            <a:r>
              <a:rPr lang="en-US" sz="3700" b="1" dirty="0" smtClean="0">
                <a:solidFill>
                  <a:srgbClr val="FF0000"/>
                </a:solidFill>
                <a:latin typeface="Californian FB" pitchFamily="18" charset="0"/>
              </a:rPr>
              <a:t>Socialized aggression</a:t>
            </a:r>
            <a:r>
              <a:rPr lang="en-US" sz="3700" dirty="0" smtClean="0">
                <a:latin typeface="Californian FB" pitchFamily="18" charset="0"/>
              </a:rPr>
              <a:t>: individuals join subculture group of peers who are openly </a:t>
            </a:r>
            <a:r>
              <a:rPr lang="en-US" sz="3700" b="1" dirty="0" smtClean="0">
                <a:solidFill>
                  <a:srgbClr val="0070C0"/>
                </a:solidFill>
                <a:latin typeface="Californian FB" pitchFamily="18" charset="0"/>
              </a:rPr>
              <a:t>disrespectful</a:t>
            </a:r>
            <a:r>
              <a:rPr lang="en-US" sz="3700" dirty="0" smtClean="0">
                <a:latin typeface="Californian FB" pitchFamily="18" charset="0"/>
              </a:rPr>
              <a:t> to their peers, teachers, and parents. Common are delinquency and dropping out of school. Early symptoms include stealing, running away from home, habitual lying, cruelty to animals, and fire setting.  </a:t>
            </a:r>
          </a:p>
          <a:p>
            <a:pPr marL="742950" indent="-742950">
              <a:buFont typeface="+mj-lt"/>
              <a:buAutoNum type="arabicPeriod"/>
            </a:pPr>
            <a:r>
              <a:rPr lang="en-US" sz="3700" b="1" dirty="0" smtClean="0">
                <a:solidFill>
                  <a:srgbClr val="FF0000"/>
                </a:solidFill>
                <a:latin typeface="Californian FB" pitchFamily="18" charset="0"/>
              </a:rPr>
              <a:t>Attention problems- </a:t>
            </a:r>
            <a:r>
              <a:rPr lang="en-US" sz="3700" dirty="0" smtClean="0">
                <a:latin typeface="Californian FB" pitchFamily="18" charset="0"/>
              </a:rPr>
              <a:t>These individuals may have attention </a:t>
            </a:r>
            <a:r>
              <a:rPr lang="en-US" sz="3700" b="1" dirty="0" smtClean="0">
                <a:solidFill>
                  <a:srgbClr val="0070C0"/>
                </a:solidFill>
                <a:latin typeface="Californian FB" pitchFamily="18" charset="0"/>
              </a:rPr>
              <a:t>deficit</a:t>
            </a:r>
            <a:r>
              <a:rPr lang="en-US" sz="3700" dirty="0" smtClean="0">
                <a:latin typeface="Californian FB" pitchFamily="18" charset="0"/>
              </a:rPr>
              <a:t>, are easily destructible and have </a:t>
            </a:r>
            <a:r>
              <a:rPr lang="en-US" sz="3700" b="1" dirty="0" smtClean="0">
                <a:solidFill>
                  <a:srgbClr val="0070C0"/>
                </a:solidFill>
                <a:latin typeface="Californian FB" pitchFamily="18" charset="0"/>
              </a:rPr>
              <a:t>poor concentration</a:t>
            </a:r>
            <a:r>
              <a:rPr lang="en-US" sz="3700" dirty="0" smtClean="0">
                <a:latin typeface="Californian FB" pitchFamily="18" charset="0"/>
              </a:rPr>
              <a:t>. They are frequently impulsive and may not think the consequence of their actions.  </a:t>
            </a:r>
          </a:p>
          <a:p>
            <a:pPr marL="742950" indent="-742950">
              <a:buFont typeface="+mj-lt"/>
              <a:buAutoNum type="arabicPeriod"/>
            </a:pPr>
            <a:r>
              <a:rPr lang="en-US" sz="3700" b="1" dirty="0" smtClean="0">
                <a:solidFill>
                  <a:srgbClr val="FF0000"/>
                </a:solidFill>
                <a:latin typeface="Californian FB" pitchFamily="18" charset="0"/>
              </a:rPr>
              <a:t>Anxiety/Withdrawn</a:t>
            </a:r>
            <a:r>
              <a:rPr lang="en-US" sz="3700" dirty="0" smtClean="0">
                <a:latin typeface="Californian FB" pitchFamily="18" charset="0"/>
              </a:rPr>
              <a:t>- These individuals are self-conscious, </a:t>
            </a:r>
            <a:r>
              <a:rPr lang="en-US" sz="3700" b="1" dirty="0" smtClean="0">
                <a:solidFill>
                  <a:srgbClr val="0070C0"/>
                </a:solidFill>
                <a:latin typeface="Californian FB" pitchFamily="18" charset="0"/>
              </a:rPr>
              <a:t>reserved</a:t>
            </a:r>
            <a:r>
              <a:rPr lang="en-US" sz="3700" dirty="0" smtClean="0">
                <a:latin typeface="Californian FB" pitchFamily="18" charset="0"/>
              </a:rPr>
              <a:t>, and unsure of themselves. They typically have low self-esteem and withdraw from immediate activities. They are also anxious and frequently depressed.</a:t>
            </a:r>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37</a:t>
            </a:fld>
            <a:endParaRPr lang="en-US"/>
          </a:p>
        </p:txBody>
      </p:sp>
    </p:spTree>
  </p:cSld>
  <p:clrMapOvr>
    <a:masterClrMapping/>
  </p:clrMapOvr>
  <p:transition spd="slow">
    <p:wipe dir="u"/>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1162"/>
          </a:xfrm>
        </p:spPr>
        <p:txBody>
          <a:bodyPr>
            <a:normAutofit fontScale="90000"/>
          </a:bodyPr>
          <a:lstStyle/>
          <a:p>
            <a:pPr algn="r"/>
            <a:r>
              <a:rPr lang="en-US" sz="2400" dirty="0" smtClean="0"/>
              <a:t>Cont…</a:t>
            </a:r>
            <a:endParaRPr lang="en-US" sz="2400" dirty="0"/>
          </a:p>
        </p:txBody>
      </p:sp>
      <p:sp>
        <p:nvSpPr>
          <p:cNvPr id="3" name="Content Placeholder 2"/>
          <p:cNvSpPr>
            <a:spLocks noGrp="1"/>
          </p:cNvSpPr>
          <p:nvPr>
            <p:ph idx="1"/>
          </p:nvPr>
        </p:nvSpPr>
        <p:spPr>
          <a:xfrm>
            <a:off x="152400" y="685800"/>
            <a:ext cx="8839200" cy="6019800"/>
          </a:xfrm>
        </p:spPr>
        <p:txBody>
          <a:bodyPr>
            <a:normAutofit fontScale="85000" lnSpcReduction="20000"/>
          </a:bodyPr>
          <a:lstStyle/>
          <a:p>
            <a:pPr marL="514350" indent="-514350">
              <a:buFont typeface="+mj-lt"/>
              <a:buAutoNum type="arabicPeriod" startAt="5"/>
            </a:pPr>
            <a:r>
              <a:rPr lang="en-US" b="1" dirty="0" smtClean="0">
                <a:solidFill>
                  <a:srgbClr val="FF0000"/>
                </a:solidFill>
                <a:latin typeface="Californian FB" pitchFamily="18" charset="0"/>
              </a:rPr>
              <a:t>Psychotic behavior</a:t>
            </a:r>
            <a:r>
              <a:rPr lang="en-US" dirty="0" smtClean="0">
                <a:latin typeface="Californian FB" pitchFamily="18" charset="0"/>
              </a:rPr>
              <a:t>: These individuals show more </a:t>
            </a:r>
            <a:r>
              <a:rPr lang="en-US" b="1" dirty="0" smtClean="0">
                <a:solidFill>
                  <a:srgbClr val="0070C0"/>
                </a:solidFill>
                <a:latin typeface="Californian FB" pitchFamily="18" charset="0"/>
              </a:rPr>
              <a:t>bizarre behavior</a:t>
            </a:r>
            <a:r>
              <a:rPr lang="en-US" dirty="0" smtClean="0">
                <a:latin typeface="Californian FB" pitchFamily="18" charset="0"/>
              </a:rPr>
              <a:t>. They may hallucinate, deal in a fantasy world and may even talk in gibberish.  </a:t>
            </a:r>
          </a:p>
          <a:p>
            <a:pPr marL="514350" indent="-514350">
              <a:buFont typeface="+mj-lt"/>
              <a:buAutoNum type="arabicPeriod" startAt="5"/>
            </a:pPr>
            <a:r>
              <a:rPr lang="en-US" b="1" dirty="0" smtClean="0">
                <a:solidFill>
                  <a:srgbClr val="FF0000"/>
                </a:solidFill>
                <a:latin typeface="Californian FB" pitchFamily="18" charset="0"/>
              </a:rPr>
              <a:t>Motor excess</a:t>
            </a:r>
            <a:r>
              <a:rPr lang="en-US" b="1" dirty="0" smtClean="0">
                <a:latin typeface="Californian FB" pitchFamily="18" charset="0"/>
              </a:rPr>
              <a:t>: </a:t>
            </a:r>
            <a:r>
              <a:rPr lang="en-US" dirty="0" smtClean="0">
                <a:latin typeface="Californian FB" pitchFamily="18" charset="0"/>
              </a:rPr>
              <a:t>These students are </a:t>
            </a:r>
            <a:r>
              <a:rPr lang="en-US" b="1" dirty="0" smtClean="0">
                <a:solidFill>
                  <a:srgbClr val="0070C0"/>
                </a:solidFill>
                <a:latin typeface="Californian FB" pitchFamily="18" charset="0"/>
              </a:rPr>
              <a:t>hyperactive</a:t>
            </a:r>
            <a:r>
              <a:rPr lang="en-US" dirty="0" smtClean="0">
                <a:latin typeface="Californian FB" pitchFamily="18" charset="0"/>
              </a:rPr>
              <a:t>. They cannot sit nor listen to others nor keep their attention focused. </a:t>
            </a:r>
          </a:p>
          <a:p>
            <a:pPr marL="0" indent="0">
              <a:buNone/>
            </a:pPr>
            <a:r>
              <a:rPr lang="en-US" dirty="0" smtClean="0">
                <a:latin typeface="Californian FB" pitchFamily="18" charset="0"/>
              </a:rPr>
              <a:t>Kauffman (1993) conclude that emotion or behavioral disorders fall into two broad classifications: </a:t>
            </a:r>
          </a:p>
          <a:p>
            <a:r>
              <a:rPr lang="en-US" b="1" dirty="0" smtClean="0">
                <a:latin typeface="Californian FB" pitchFamily="18" charset="0"/>
              </a:rPr>
              <a:t>1) </a:t>
            </a:r>
            <a:r>
              <a:rPr lang="en-US" b="1" dirty="0" smtClean="0">
                <a:solidFill>
                  <a:srgbClr val="FF0000"/>
                </a:solidFill>
                <a:latin typeface="Californian FB" pitchFamily="18" charset="0"/>
              </a:rPr>
              <a:t>Externalizing Behavior</a:t>
            </a:r>
            <a:r>
              <a:rPr lang="en-US" dirty="0" smtClean="0">
                <a:latin typeface="Californian FB" pitchFamily="18" charset="0"/>
              </a:rPr>
              <a:t>: also called </a:t>
            </a:r>
            <a:r>
              <a:rPr lang="en-US" b="1" dirty="0" smtClean="0">
                <a:solidFill>
                  <a:srgbClr val="0070C0"/>
                </a:solidFill>
                <a:latin typeface="Californian FB" pitchFamily="18" charset="0"/>
              </a:rPr>
              <a:t>under controlled disorder</a:t>
            </a:r>
            <a:r>
              <a:rPr lang="en-US" dirty="0" smtClean="0">
                <a:latin typeface="Californian FB" pitchFamily="18" charset="0"/>
              </a:rPr>
              <a:t>, include such problems disobedience, disruptiveness, fighting, tempers tantrums, irresponsibility, jealous, anger, attention seeking etc… </a:t>
            </a:r>
          </a:p>
          <a:p>
            <a:r>
              <a:rPr lang="en-US" b="1" dirty="0" smtClean="0">
                <a:latin typeface="Californian FB" pitchFamily="18" charset="0"/>
              </a:rPr>
              <a:t>2) </a:t>
            </a:r>
            <a:r>
              <a:rPr lang="en-US" b="1" dirty="0" smtClean="0">
                <a:solidFill>
                  <a:srgbClr val="FF0000"/>
                </a:solidFill>
                <a:latin typeface="Californian FB" pitchFamily="18" charset="0"/>
              </a:rPr>
              <a:t>Internalizing Behavior</a:t>
            </a:r>
            <a:r>
              <a:rPr lang="en-US" dirty="0" smtClean="0">
                <a:latin typeface="Californian FB" pitchFamily="18" charset="0"/>
              </a:rPr>
              <a:t>: also known as </a:t>
            </a:r>
            <a:r>
              <a:rPr lang="en-US" b="1" dirty="0" smtClean="0">
                <a:solidFill>
                  <a:srgbClr val="0070C0"/>
                </a:solidFill>
                <a:latin typeface="Californian FB" pitchFamily="18" charset="0"/>
              </a:rPr>
              <a:t>over controlled disorders</a:t>
            </a:r>
            <a:r>
              <a:rPr lang="en-US" dirty="0" smtClean="0">
                <a:latin typeface="Californian FB" pitchFamily="18" charset="0"/>
              </a:rPr>
              <a:t>, include such problems anxiety, immaturity, shyness, social withdrawal, feeling of inadequacy (inferiority), guilt, depression and worries a great deal</a:t>
            </a:r>
          </a:p>
          <a:p>
            <a:endParaRPr lang="en-US" dirty="0">
              <a:latin typeface="Californian FB"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38</a:t>
            </a:fld>
            <a:endParaRPr lang="en-US"/>
          </a:p>
        </p:txBody>
      </p:sp>
    </p:spTree>
  </p:cSld>
  <p:clrMapOvr>
    <a:masterClrMapping/>
  </p:clrMapOvr>
  <p:transition spd="slow">
    <p:wipe dir="u"/>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a:bodyPr>
          <a:lstStyle/>
          <a:p>
            <a:r>
              <a:rPr lang="en-US" sz="3600" b="1" dirty="0" smtClean="0">
                <a:solidFill>
                  <a:srgbClr val="FF0000"/>
                </a:solidFill>
                <a:latin typeface="Californian FB" pitchFamily="18" charset="0"/>
              </a:rPr>
              <a:t>Causes of BED</a:t>
            </a:r>
            <a:endParaRPr lang="en-US" sz="3600" dirty="0">
              <a:solidFill>
                <a:srgbClr val="FF0000"/>
              </a:solidFill>
              <a:latin typeface="Californian FB" pitchFamily="18" charset="0"/>
            </a:endParaRPr>
          </a:p>
        </p:txBody>
      </p:sp>
      <p:sp>
        <p:nvSpPr>
          <p:cNvPr id="3" name="Content Placeholder 2"/>
          <p:cNvSpPr>
            <a:spLocks noGrp="1"/>
          </p:cNvSpPr>
          <p:nvPr>
            <p:ph idx="1"/>
          </p:nvPr>
        </p:nvSpPr>
        <p:spPr>
          <a:xfrm>
            <a:off x="228600" y="1219200"/>
            <a:ext cx="8686800" cy="5334000"/>
          </a:xfrm>
        </p:spPr>
        <p:txBody>
          <a:bodyPr>
            <a:normAutofit fontScale="85000" lnSpcReduction="20000"/>
          </a:bodyPr>
          <a:lstStyle/>
          <a:p>
            <a:r>
              <a:rPr lang="en-US" dirty="0" smtClean="0">
                <a:latin typeface="Californian FB" pitchFamily="18" charset="0"/>
              </a:rPr>
              <a:t>Behavioral and emotion disorders result from many causes, these includes the following. </a:t>
            </a:r>
          </a:p>
          <a:p>
            <a:pPr>
              <a:buNone/>
            </a:pPr>
            <a:r>
              <a:rPr lang="en-US" dirty="0" smtClean="0">
                <a:latin typeface="Californian FB" pitchFamily="18" charset="0"/>
              </a:rPr>
              <a:t>1. </a:t>
            </a:r>
            <a:r>
              <a:rPr lang="en-US" b="1" dirty="0" smtClean="0">
                <a:solidFill>
                  <a:srgbClr val="FF0000"/>
                </a:solidFill>
                <a:latin typeface="Californian FB" pitchFamily="18" charset="0"/>
              </a:rPr>
              <a:t>Biological-</a:t>
            </a:r>
            <a:r>
              <a:rPr lang="en-US" dirty="0" smtClean="0">
                <a:latin typeface="Californian FB" pitchFamily="18" charset="0"/>
              </a:rPr>
              <a:t> includes </a:t>
            </a:r>
            <a:r>
              <a:rPr lang="en-US" b="1" dirty="0" smtClean="0">
                <a:solidFill>
                  <a:srgbClr val="0070C0"/>
                </a:solidFill>
                <a:latin typeface="Californian FB" pitchFamily="18" charset="0"/>
              </a:rPr>
              <a:t>genetic</a:t>
            </a:r>
            <a:r>
              <a:rPr lang="en-US" dirty="0" smtClean="0">
                <a:latin typeface="Californian FB" pitchFamily="18" charset="0"/>
              </a:rPr>
              <a:t> disorders, brain damage, and malnutrition, allergies, temperament and damage to the central nervous system. </a:t>
            </a:r>
          </a:p>
          <a:p>
            <a:pPr>
              <a:buNone/>
            </a:pPr>
            <a:r>
              <a:rPr lang="en-US" dirty="0" smtClean="0">
                <a:latin typeface="Californian FB" pitchFamily="18" charset="0"/>
              </a:rPr>
              <a:t>2. </a:t>
            </a:r>
            <a:r>
              <a:rPr lang="en-US" b="1" dirty="0" smtClean="0">
                <a:solidFill>
                  <a:srgbClr val="FF0000"/>
                </a:solidFill>
                <a:latin typeface="Californian FB" pitchFamily="18" charset="0"/>
              </a:rPr>
              <a:t>Family factors- </a:t>
            </a:r>
            <a:r>
              <a:rPr lang="en-US" dirty="0" smtClean="0">
                <a:latin typeface="Californian FB" pitchFamily="18" charset="0"/>
              </a:rPr>
              <a:t>include family interactions, family influence, child abuse, neglect, and poor disciplinary practices at home. </a:t>
            </a:r>
          </a:p>
          <a:p>
            <a:pPr>
              <a:buNone/>
            </a:pPr>
            <a:r>
              <a:rPr lang="en-US" dirty="0" smtClean="0">
                <a:latin typeface="Californian FB" pitchFamily="18" charset="0"/>
              </a:rPr>
              <a:t>3. </a:t>
            </a:r>
            <a:r>
              <a:rPr lang="en-US" b="1" dirty="0" smtClean="0">
                <a:solidFill>
                  <a:srgbClr val="FF0000"/>
                </a:solidFill>
                <a:latin typeface="Californian FB" pitchFamily="18" charset="0"/>
              </a:rPr>
              <a:t>Cultural factors- </a:t>
            </a:r>
            <a:r>
              <a:rPr lang="en-US" dirty="0" smtClean="0">
                <a:latin typeface="Californian FB" pitchFamily="18" charset="0"/>
              </a:rPr>
              <a:t>include some traditional and cultural negative practices, for example watching violence and sexually oriented movies and TV programs. </a:t>
            </a:r>
          </a:p>
          <a:p>
            <a:pPr>
              <a:buNone/>
            </a:pPr>
            <a:r>
              <a:rPr lang="en-US" dirty="0" smtClean="0">
                <a:latin typeface="Californian FB" pitchFamily="18" charset="0"/>
              </a:rPr>
              <a:t>4. </a:t>
            </a:r>
            <a:r>
              <a:rPr lang="en-US" b="1" dirty="0" smtClean="0">
                <a:solidFill>
                  <a:srgbClr val="FF0000"/>
                </a:solidFill>
                <a:latin typeface="Californian FB" pitchFamily="18" charset="0"/>
              </a:rPr>
              <a:t>Environmental factors- </a:t>
            </a:r>
            <a:r>
              <a:rPr lang="en-US" dirty="0" smtClean="0">
                <a:latin typeface="Californian FB" pitchFamily="18" charset="0"/>
              </a:rPr>
              <a:t>include peer pressure, living in impoverished areas, and schooling practices that are unresponsive to individual needs.</a:t>
            </a:r>
          </a:p>
        </p:txBody>
      </p:sp>
      <p:sp>
        <p:nvSpPr>
          <p:cNvPr id="4" name="Slide Number Placeholder 3"/>
          <p:cNvSpPr>
            <a:spLocks noGrp="1"/>
          </p:cNvSpPr>
          <p:nvPr>
            <p:ph type="sldNum" sz="quarter" idx="12"/>
          </p:nvPr>
        </p:nvSpPr>
        <p:spPr/>
        <p:txBody>
          <a:bodyPr/>
          <a:lstStyle/>
          <a:p>
            <a:fld id="{B6F15528-21DE-4FAA-801E-634DDDAF4B2B}" type="slidenum">
              <a:rPr lang="en-US" smtClean="0"/>
              <a:pPr/>
              <a:t>39</a:t>
            </a:fld>
            <a:endParaRPr lang="en-US"/>
          </a:p>
        </p:txBody>
      </p:sp>
    </p:spTree>
  </p:cSld>
  <p:clrMapOvr>
    <a:masterClrMapping/>
  </p:clrMapOvr>
  <p:transition spd="slow">
    <p:wipe dir="u"/>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a:bodyPr>
          <a:lstStyle/>
          <a:p>
            <a:r>
              <a:rPr lang="en-US" sz="3400" b="1" dirty="0" smtClean="0">
                <a:solidFill>
                  <a:srgbClr val="FF0000"/>
                </a:solidFill>
              </a:rPr>
              <a:t>7. Intellectual Disability </a:t>
            </a:r>
            <a:endParaRPr lang="en-US" sz="3400" dirty="0">
              <a:solidFill>
                <a:srgbClr val="FF0000"/>
              </a:solidFill>
            </a:endParaRPr>
          </a:p>
        </p:txBody>
      </p:sp>
      <p:sp>
        <p:nvSpPr>
          <p:cNvPr id="3" name="Content Placeholder 2"/>
          <p:cNvSpPr>
            <a:spLocks noGrp="1"/>
          </p:cNvSpPr>
          <p:nvPr>
            <p:ph idx="1"/>
          </p:nvPr>
        </p:nvSpPr>
        <p:spPr>
          <a:xfrm>
            <a:off x="152400" y="1143000"/>
            <a:ext cx="8763000" cy="5486400"/>
          </a:xfrm>
        </p:spPr>
        <p:txBody>
          <a:bodyPr>
            <a:normAutofit fontScale="62500" lnSpcReduction="20000"/>
          </a:bodyPr>
          <a:lstStyle/>
          <a:p>
            <a:r>
              <a:rPr lang="en-US" sz="4000" dirty="0" smtClean="0">
                <a:latin typeface="Californian FB" pitchFamily="18" charset="0"/>
              </a:rPr>
              <a:t>It is a disability characterized by significant </a:t>
            </a:r>
            <a:r>
              <a:rPr lang="en-US" sz="4000" b="1" dirty="0" smtClean="0">
                <a:solidFill>
                  <a:srgbClr val="0070C0"/>
                </a:solidFill>
                <a:latin typeface="Californian FB" pitchFamily="18" charset="0"/>
              </a:rPr>
              <a:t>limitations</a:t>
            </a:r>
            <a:r>
              <a:rPr lang="en-US" sz="4000" dirty="0" smtClean="0">
                <a:latin typeface="Californian FB" pitchFamily="18" charset="0"/>
              </a:rPr>
              <a:t> in both </a:t>
            </a:r>
            <a:r>
              <a:rPr lang="en-US" sz="4000" b="1" dirty="0" smtClean="0">
                <a:solidFill>
                  <a:srgbClr val="0070C0"/>
                </a:solidFill>
                <a:latin typeface="Californian FB" pitchFamily="18" charset="0"/>
              </a:rPr>
              <a:t>intellectual functioning and in adaptive behavior</a:t>
            </a:r>
            <a:r>
              <a:rPr lang="en-US" sz="4000" dirty="0" smtClean="0">
                <a:latin typeface="Californian FB" pitchFamily="18" charset="0"/>
              </a:rPr>
              <a:t>, which covers many everyday social and practical skills. </a:t>
            </a:r>
          </a:p>
          <a:p>
            <a:pPr lvl="1"/>
            <a:r>
              <a:rPr lang="en-US" sz="4000" dirty="0" smtClean="0">
                <a:latin typeface="Californian FB" pitchFamily="18" charset="0"/>
              </a:rPr>
              <a:t>This disability originates </a:t>
            </a:r>
            <a:r>
              <a:rPr lang="en-US" sz="4000" b="1" dirty="0" smtClean="0">
                <a:solidFill>
                  <a:srgbClr val="0070C0"/>
                </a:solidFill>
                <a:latin typeface="Californian FB" pitchFamily="18" charset="0"/>
              </a:rPr>
              <a:t>before</a:t>
            </a:r>
            <a:r>
              <a:rPr lang="en-US" sz="4000" dirty="0" smtClean="0">
                <a:latin typeface="Californian FB" pitchFamily="18" charset="0"/>
              </a:rPr>
              <a:t> the age of 18. </a:t>
            </a:r>
          </a:p>
          <a:p>
            <a:pPr lvl="1"/>
            <a:r>
              <a:rPr lang="en-US" sz="4000" dirty="0" smtClean="0">
                <a:latin typeface="Californian FB" pitchFamily="18" charset="0"/>
              </a:rPr>
              <a:t>An individual is considered to have an intellectual disability based on the following three criteria: </a:t>
            </a:r>
          </a:p>
          <a:p>
            <a:pPr>
              <a:buNone/>
            </a:pPr>
            <a:r>
              <a:rPr lang="en-US" sz="4000" dirty="0" smtClean="0">
                <a:latin typeface="Californian FB" pitchFamily="18" charset="0"/>
              </a:rPr>
              <a:t>1. </a:t>
            </a:r>
            <a:r>
              <a:rPr lang="en-US" sz="4000" dirty="0" smtClean="0">
                <a:solidFill>
                  <a:srgbClr val="FF0000"/>
                </a:solidFill>
                <a:latin typeface="Californian FB" pitchFamily="18" charset="0"/>
              </a:rPr>
              <a:t>Sub average intellectual functioning</a:t>
            </a:r>
            <a:r>
              <a:rPr lang="en-US" sz="4000" dirty="0" smtClean="0">
                <a:latin typeface="Californian FB" pitchFamily="18" charset="0"/>
              </a:rPr>
              <a:t>: It refers to general mental capacity, such as learning, reasoning, problem solving, and so on. </a:t>
            </a:r>
          </a:p>
          <a:p>
            <a:r>
              <a:rPr lang="en-US" sz="4000" dirty="0" smtClean="0">
                <a:latin typeface="Californian FB" pitchFamily="18" charset="0"/>
              </a:rPr>
              <a:t>One way to measure intellectual functioning is an IQ test. Generally, an IQ test score of around 70 or as high as 75 indicates a limitation in intellectual functioning. </a:t>
            </a:r>
          </a:p>
          <a:p>
            <a:pPr>
              <a:buNone/>
            </a:pPr>
            <a:r>
              <a:rPr lang="en-US" sz="4000" dirty="0" smtClean="0">
                <a:latin typeface="Californian FB" pitchFamily="18" charset="0"/>
              </a:rPr>
              <a:t>2. </a:t>
            </a:r>
            <a:r>
              <a:rPr lang="en-US" sz="4000" dirty="0" smtClean="0">
                <a:solidFill>
                  <a:srgbClr val="FF0000"/>
                </a:solidFill>
                <a:latin typeface="Californian FB" pitchFamily="18" charset="0"/>
              </a:rPr>
              <a:t>Significant limitations exist in two or more adaptive skill areas</a:t>
            </a:r>
            <a:r>
              <a:rPr lang="en-US" sz="4000" dirty="0" smtClean="0">
                <a:latin typeface="Californian FB" pitchFamily="18" charset="0"/>
              </a:rPr>
              <a:t>: </a:t>
            </a:r>
          </a:p>
          <a:p>
            <a:r>
              <a:rPr lang="en-US" sz="4000" dirty="0" smtClean="0">
                <a:latin typeface="Californian FB" pitchFamily="18" charset="0"/>
              </a:rPr>
              <a:t>It is the collection of conceptual, social, and practical skills that are learned and performed by people in their everyday lives.</a:t>
            </a:r>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40</a:t>
            </a:fld>
            <a:endParaRPr lang="en-US"/>
          </a:p>
        </p:txBody>
      </p:sp>
    </p:spTree>
  </p:cSld>
  <p:clrMapOvr>
    <a:masterClrMapping/>
  </p:clrMapOvr>
  <p:transition spd="slow">
    <p:wipe dir="u"/>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pPr algn="r"/>
            <a:r>
              <a:rPr lang="en-US" sz="2800" dirty="0" smtClean="0"/>
              <a:t>Cont…</a:t>
            </a:r>
            <a:endParaRPr lang="en-US" sz="2800" dirty="0"/>
          </a:p>
        </p:txBody>
      </p:sp>
      <p:sp>
        <p:nvSpPr>
          <p:cNvPr id="3" name="Content Placeholder 2"/>
          <p:cNvSpPr>
            <a:spLocks noGrp="1"/>
          </p:cNvSpPr>
          <p:nvPr>
            <p:ph idx="1"/>
          </p:nvPr>
        </p:nvSpPr>
        <p:spPr>
          <a:xfrm>
            <a:off x="228600" y="990600"/>
            <a:ext cx="8458200" cy="5135563"/>
          </a:xfrm>
        </p:spPr>
        <p:txBody>
          <a:bodyPr>
            <a:normAutofit/>
          </a:bodyPr>
          <a:lstStyle/>
          <a:p>
            <a:pPr lvl="1"/>
            <a:r>
              <a:rPr lang="en-US" sz="2600" dirty="0" smtClean="0">
                <a:solidFill>
                  <a:srgbClr val="FF0000"/>
                </a:solidFill>
                <a:latin typeface="Californian FB" pitchFamily="18" charset="0"/>
              </a:rPr>
              <a:t>Conceptual skills</a:t>
            </a:r>
            <a:r>
              <a:rPr lang="en-US" sz="2600" dirty="0" smtClean="0">
                <a:latin typeface="Californian FB" pitchFamily="18" charset="0"/>
              </a:rPr>
              <a:t>—language and literacy; money, time, and </a:t>
            </a:r>
          </a:p>
          <a:p>
            <a:pPr lvl="1"/>
            <a:r>
              <a:rPr lang="en-US" sz="2600" dirty="0" smtClean="0">
                <a:solidFill>
                  <a:srgbClr val="FF0000"/>
                </a:solidFill>
                <a:latin typeface="Californian FB" pitchFamily="18" charset="0"/>
              </a:rPr>
              <a:t>Social skills</a:t>
            </a:r>
            <a:r>
              <a:rPr lang="en-US" sz="2600" dirty="0" smtClean="0">
                <a:latin typeface="Californian FB" pitchFamily="18" charset="0"/>
              </a:rPr>
              <a:t>—interpersonal skills, social responsibility, self-esteem, gullibility, innocence (i.e., suspicion), social problem solving, and the ability to follow rules/obey laws and to avoid being victimized.</a:t>
            </a:r>
          </a:p>
          <a:p>
            <a:pPr lvl="1"/>
            <a:r>
              <a:rPr lang="en-US" sz="2600" dirty="0" smtClean="0">
                <a:solidFill>
                  <a:srgbClr val="FF0000"/>
                </a:solidFill>
                <a:latin typeface="Californian FB" pitchFamily="18" charset="0"/>
              </a:rPr>
              <a:t>Practical skills</a:t>
            </a:r>
            <a:r>
              <a:rPr lang="en-US" sz="2600" dirty="0" smtClean="0">
                <a:latin typeface="Californian FB" pitchFamily="18" charset="0"/>
              </a:rPr>
              <a:t>—activities of daily living (personal care), occupational skills, healthcare, travel/transportation, schedules/routines, safety, use of money, use of the telephone. number concepts; and self-direction.</a:t>
            </a:r>
          </a:p>
          <a:p>
            <a:pPr>
              <a:buNone/>
            </a:pPr>
            <a:endParaRPr lang="en-US" sz="2600" dirty="0">
              <a:latin typeface="Californian FB"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41</a:t>
            </a:fld>
            <a:endParaRPr lang="en-US"/>
          </a:p>
        </p:txBody>
      </p:sp>
    </p:spTree>
  </p:cSld>
  <p:clrMapOvr>
    <a:masterClrMapping/>
  </p:clrMapOvr>
  <p:transition spd="slow">
    <p:wipe dir="u"/>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020762"/>
          </a:xfrm>
        </p:spPr>
        <p:txBody>
          <a:bodyPr>
            <a:normAutofit fontScale="90000"/>
          </a:bodyPr>
          <a:lstStyle/>
          <a:p>
            <a:r>
              <a:rPr lang="en-US" sz="3600" dirty="0" smtClean="0">
                <a:solidFill>
                  <a:srgbClr val="FF0000"/>
                </a:solidFill>
                <a:latin typeface="Californian FB" pitchFamily="18" charset="0"/>
              </a:rPr>
              <a:t>They also have limitations in the following major activities</a:t>
            </a:r>
            <a:endParaRPr lang="en-US" dirty="0">
              <a:solidFill>
                <a:srgbClr val="FF0000"/>
              </a:solidFill>
              <a:latin typeface="Californian FB" pitchFamily="18" charset="0"/>
            </a:endParaRPr>
          </a:p>
        </p:txBody>
      </p:sp>
      <p:sp>
        <p:nvSpPr>
          <p:cNvPr id="3" name="Content Placeholder 2"/>
          <p:cNvSpPr>
            <a:spLocks noGrp="1"/>
          </p:cNvSpPr>
          <p:nvPr>
            <p:ph idx="1"/>
          </p:nvPr>
        </p:nvSpPr>
        <p:spPr>
          <a:xfrm>
            <a:off x="152400" y="1295400"/>
            <a:ext cx="8763000" cy="5334000"/>
          </a:xfrm>
        </p:spPr>
        <p:txBody>
          <a:bodyPr>
            <a:normAutofit fontScale="25000" lnSpcReduction="20000"/>
          </a:bodyPr>
          <a:lstStyle/>
          <a:p>
            <a:r>
              <a:rPr lang="en-US" sz="9600" b="1" dirty="0" smtClean="0">
                <a:solidFill>
                  <a:srgbClr val="FF0000"/>
                </a:solidFill>
                <a:latin typeface="Californian FB" pitchFamily="18" charset="0"/>
              </a:rPr>
              <a:t>General Cognition</a:t>
            </a:r>
            <a:r>
              <a:rPr lang="en-US" sz="9600" dirty="0" smtClean="0">
                <a:latin typeface="Californian FB" pitchFamily="18" charset="0"/>
              </a:rPr>
              <a:t>: Their apparent slowness in learning may be related to the delayed rate of intellectual development.</a:t>
            </a:r>
          </a:p>
          <a:p>
            <a:r>
              <a:rPr lang="en-US" sz="9600" dirty="0" smtClean="0">
                <a:solidFill>
                  <a:srgbClr val="FF0000"/>
                </a:solidFill>
                <a:latin typeface="Californian FB" pitchFamily="18" charset="0"/>
              </a:rPr>
              <a:t>Learning and Memory</a:t>
            </a:r>
            <a:r>
              <a:rPr lang="en-US" sz="9600" dirty="0" smtClean="0">
                <a:latin typeface="Californian FB" pitchFamily="18" charset="0"/>
              </a:rPr>
              <a:t>: The learning and memory capabilities of people with intellectual disabilities are significantly below average in comparison to peers without disabilities.</a:t>
            </a:r>
          </a:p>
          <a:p>
            <a:r>
              <a:rPr lang="en-US" sz="9600" b="1" dirty="0" smtClean="0">
                <a:solidFill>
                  <a:srgbClr val="FF0000"/>
                </a:solidFill>
                <a:latin typeface="Californian FB" pitchFamily="18" charset="0"/>
              </a:rPr>
              <a:t>Attention</a:t>
            </a:r>
            <a:r>
              <a:rPr lang="en-US" sz="9600" dirty="0" smtClean="0">
                <a:latin typeface="Californian FB" pitchFamily="18" charset="0"/>
              </a:rPr>
              <a:t>: To acquire information, children must attend to the learning task for the required length of time and control distractions. Children with intellectual disabilities may have difficulty distinguishing and attending to relevant questions in both learning and social situations.</a:t>
            </a:r>
          </a:p>
          <a:p>
            <a:r>
              <a:rPr lang="en-US" sz="9600" b="1" dirty="0" smtClean="0">
                <a:solidFill>
                  <a:srgbClr val="00B0F0"/>
                </a:solidFill>
                <a:latin typeface="Californian FB" pitchFamily="18" charset="0"/>
              </a:rPr>
              <a:t>The problem is not that the student will not pay attention, </a:t>
            </a:r>
            <a:r>
              <a:rPr lang="en-US" sz="9600" dirty="0" smtClean="0">
                <a:latin typeface="Californian FB" pitchFamily="18" charset="0"/>
              </a:rPr>
              <a:t>but rather that the student </a:t>
            </a:r>
            <a:r>
              <a:rPr lang="en-US" sz="9600" b="1" u="sng" dirty="0" smtClean="0">
                <a:latin typeface="Californian FB" pitchFamily="18" charset="0"/>
              </a:rPr>
              <a:t>does not understand or does not filter</a:t>
            </a:r>
            <a:r>
              <a:rPr lang="en-US" sz="9600" dirty="0" smtClean="0">
                <a:latin typeface="Californian FB" pitchFamily="18" charset="0"/>
              </a:rPr>
              <a:t> the information to get to the salient features.</a:t>
            </a:r>
          </a:p>
          <a:p>
            <a:r>
              <a:rPr lang="en-US" sz="9600" b="1" dirty="0" smtClean="0">
                <a:solidFill>
                  <a:srgbClr val="FF0000"/>
                </a:solidFill>
                <a:latin typeface="Californian FB" pitchFamily="18" charset="0"/>
              </a:rPr>
              <a:t>Adaptive Skills</a:t>
            </a:r>
            <a:r>
              <a:rPr lang="en-US" sz="9600" b="1" dirty="0" smtClean="0">
                <a:latin typeface="Californian FB" pitchFamily="18" charset="0"/>
              </a:rPr>
              <a:t>: </a:t>
            </a:r>
            <a:r>
              <a:rPr lang="en-US" sz="9600" dirty="0" smtClean="0">
                <a:latin typeface="Californian FB" pitchFamily="18" charset="0"/>
              </a:rPr>
              <a:t>A child with intellectual disabilities may have difficulty in both learning and applying skills for a number of reasons, including a higher level of distractibility, inattentiveness, failure to read social cues, and impulsive behavior.</a:t>
            </a:r>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42</a:t>
            </a:fld>
            <a:endParaRPr lang="en-US"/>
          </a:p>
        </p:txBody>
      </p:sp>
    </p:spTree>
  </p:cSld>
  <p:clrMapOvr>
    <a:masterClrMapping/>
  </p:clrMapOvr>
  <p:transition spd="slow">
    <p:wipe dir="u"/>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pPr algn="r"/>
            <a:r>
              <a:rPr lang="en-US" sz="2800" dirty="0" smtClean="0"/>
              <a:t>Cont…</a:t>
            </a:r>
            <a:endParaRPr lang="en-US" sz="2800" dirty="0"/>
          </a:p>
        </p:txBody>
      </p:sp>
      <p:sp>
        <p:nvSpPr>
          <p:cNvPr id="3" name="Content Placeholder 2"/>
          <p:cNvSpPr>
            <a:spLocks noGrp="1"/>
          </p:cNvSpPr>
          <p:nvPr>
            <p:ph idx="1"/>
          </p:nvPr>
        </p:nvSpPr>
        <p:spPr>
          <a:xfrm>
            <a:off x="228600" y="762000"/>
            <a:ext cx="8686800" cy="5867400"/>
          </a:xfrm>
        </p:spPr>
        <p:txBody>
          <a:bodyPr>
            <a:normAutofit fontScale="77500" lnSpcReduction="20000"/>
          </a:bodyPr>
          <a:lstStyle/>
          <a:p>
            <a:r>
              <a:rPr lang="en-US" b="1" dirty="0" smtClean="0">
                <a:solidFill>
                  <a:srgbClr val="FF0000"/>
                </a:solidFill>
                <a:latin typeface="Californian FB" pitchFamily="18" charset="0"/>
              </a:rPr>
              <a:t>Speech and Language</a:t>
            </a:r>
            <a:r>
              <a:rPr lang="en-US" dirty="0" smtClean="0">
                <a:latin typeface="Californian FB" pitchFamily="18" charset="0"/>
              </a:rPr>
              <a:t>: People with intellectual disabilities may have delayed speech, language comprehension and formulation difficulties.</a:t>
            </a:r>
          </a:p>
          <a:p>
            <a:pPr lvl="1"/>
            <a:r>
              <a:rPr lang="en-US" sz="3200" dirty="0" smtClean="0">
                <a:latin typeface="Californian FB" pitchFamily="18" charset="0"/>
              </a:rPr>
              <a:t>Language problems are generally associated with delays in language development rather than with a bizarre use of language</a:t>
            </a:r>
          </a:p>
          <a:p>
            <a:pPr lvl="1"/>
            <a:r>
              <a:rPr lang="en-US" sz="3200" dirty="0" smtClean="0">
                <a:latin typeface="Californian FB" pitchFamily="18" charset="0"/>
              </a:rPr>
              <a:t>People with intellectual disabilities may show delayed functioning on pragmatic aspects of language, such as turn taking, selecting acceptable topics for conversation, knowing when to speak knowing when to be silent, and similar contextual skills</a:t>
            </a:r>
          </a:p>
          <a:p>
            <a:r>
              <a:rPr lang="en-US" b="1" dirty="0" smtClean="0">
                <a:solidFill>
                  <a:srgbClr val="FF0000"/>
                </a:solidFill>
                <a:latin typeface="Californian FB" pitchFamily="18" charset="0"/>
              </a:rPr>
              <a:t>Motivation</a:t>
            </a:r>
            <a:r>
              <a:rPr lang="en-US" dirty="0" smtClean="0">
                <a:latin typeface="Californian FB" pitchFamily="18" charset="0"/>
              </a:rPr>
              <a:t>: People with intellectual disabilities are often described as lacking motivation, or outer-directed behavior</a:t>
            </a:r>
          </a:p>
          <a:p>
            <a:r>
              <a:rPr lang="en-US" b="1" dirty="0" smtClean="0">
                <a:solidFill>
                  <a:srgbClr val="FF0000"/>
                </a:solidFill>
                <a:latin typeface="Californian FB" pitchFamily="18" charset="0"/>
              </a:rPr>
              <a:t>Academic Achievement</a:t>
            </a:r>
            <a:r>
              <a:rPr lang="en-US" dirty="0" smtClean="0">
                <a:latin typeface="Californian FB" pitchFamily="18" charset="0"/>
              </a:rPr>
              <a:t>: The cognitive difficulties of children with mild to moderate intellectual disabilities lead to persistent problems in academic achievement unless intensive and extensive supports are provided.</a:t>
            </a:r>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43</a:t>
            </a:fld>
            <a:endParaRPr lang="en-US"/>
          </a:p>
        </p:txBody>
      </p:sp>
    </p:spTree>
  </p:cSld>
  <p:clrMapOvr>
    <a:masterClrMapping/>
  </p:clrMapOvr>
  <p:transition spd="slow">
    <p:wipe dir="u"/>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pPr algn="r"/>
            <a:r>
              <a:rPr lang="en-US" sz="3200" dirty="0" smtClean="0"/>
              <a:t>Cont…</a:t>
            </a:r>
            <a:endParaRPr lang="en-US" sz="3200" dirty="0"/>
          </a:p>
        </p:txBody>
      </p:sp>
      <p:sp>
        <p:nvSpPr>
          <p:cNvPr id="3" name="Content Placeholder 2"/>
          <p:cNvSpPr>
            <a:spLocks noGrp="1"/>
          </p:cNvSpPr>
          <p:nvPr>
            <p:ph idx="1"/>
          </p:nvPr>
        </p:nvSpPr>
        <p:spPr>
          <a:xfrm>
            <a:off x="228600" y="1295400"/>
            <a:ext cx="8686800" cy="5181600"/>
          </a:xfrm>
        </p:spPr>
        <p:txBody>
          <a:bodyPr>
            <a:normAutofit/>
          </a:bodyPr>
          <a:lstStyle/>
          <a:p>
            <a:r>
              <a:rPr lang="en-US" sz="2700" b="1" dirty="0" smtClean="0">
                <a:solidFill>
                  <a:srgbClr val="FF0000"/>
                </a:solidFill>
                <a:latin typeface="Californian FB" pitchFamily="18" charset="0"/>
              </a:rPr>
              <a:t>Physical characteristics</a:t>
            </a:r>
            <a:r>
              <a:rPr lang="en-US" sz="2700" dirty="0" smtClean="0">
                <a:latin typeface="Californian FB" pitchFamily="18" charset="0"/>
              </a:rPr>
              <a:t>: Children with intellectual disabilities with differing biological etiologies, may exhibit coexisting problems, such as physical, motor, orthopedic, visual and auditory impairments, and health problems. </a:t>
            </a:r>
          </a:p>
          <a:p>
            <a:r>
              <a:rPr lang="en-US" sz="2700" dirty="0" smtClean="0">
                <a:latin typeface="Californian FB" pitchFamily="18" charset="0"/>
              </a:rPr>
              <a:t>The majority of children with severe and profound intellectual disabilities have multiple disabilities that affect nearly every aspect of intellectual and physical development.</a:t>
            </a:r>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44</a:t>
            </a:fld>
            <a:endParaRPr lang="en-US"/>
          </a:p>
        </p:txBody>
      </p:sp>
    </p:spTree>
  </p:cSld>
  <p:clrMapOvr>
    <a:masterClrMapping/>
  </p:clrMapOvr>
  <p:transition spd="slow">
    <p:wipe dir="u"/>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solidFill>
                  <a:srgbClr val="FF0000"/>
                </a:solidFill>
                <a:latin typeface="Californian FB" pitchFamily="18" charset="0"/>
              </a:rPr>
              <a:t>Physical disability/Orthopedic Impairment and Health impairment</a:t>
            </a:r>
            <a:endParaRPr lang="en-US" sz="3200" dirty="0">
              <a:solidFill>
                <a:srgbClr val="FF0000"/>
              </a:solidFill>
              <a:latin typeface="Californian FB" pitchFamily="18" charset="0"/>
            </a:endParaRPr>
          </a:p>
        </p:txBody>
      </p:sp>
      <p:sp>
        <p:nvSpPr>
          <p:cNvPr id="3" name="Content Placeholder 2"/>
          <p:cNvSpPr>
            <a:spLocks noGrp="1"/>
          </p:cNvSpPr>
          <p:nvPr>
            <p:ph idx="1"/>
          </p:nvPr>
        </p:nvSpPr>
        <p:spPr>
          <a:xfrm>
            <a:off x="457200" y="1600200"/>
            <a:ext cx="8229600" cy="5029200"/>
          </a:xfrm>
        </p:spPr>
        <p:txBody>
          <a:bodyPr>
            <a:normAutofit/>
          </a:bodyPr>
          <a:lstStyle/>
          <a:p>
            <a:r>
              <a:rPr lang="en-US" sz="2800" dirty="0" smtClean="0">
                <a:latin typeface="Californian FB" pitchFamily="18" charset="0"/>
              </a:rPr>
              <a:t>Physical disability is a condition that interferes with the individual‘s ability to use his or her </a:t>
            </a:r>
            <a:r>
              <a:rPr lang="en-US" sz="2800" dirty="0" smtClean="0">
                <a:solidFill>
                  <a:srgbClr val="0070C0"/>
                </a:solidFill>
                <a:latin typeface="Californian FB" pitchFamily="18" charset="0"/>
              </a:rPr>
              <a:t>body</a:t>
            </a:r>
            <a:r>
              <a:rPr lang="en-US" sz="2800" dirty="0" smtClean="0">
                <a:latin typeface="Californian FB" pitchFamily="18" charset="0"/>
              </a:rPr>
              <a:t>. </a:t>
            </a:r>
          </a:p>
          <a:p>
            <a:r>
              <a:rPr lang="en-US" sz="2800" dirty="0" smtClean="0">
                <a:latin typeface="Californian FB" pitchFamily="18" charset="0"/>
              </a:rPr>
              <a:t>Many but not all, physical disabilities are orthopedic impairments (muscular or skeletal system or nervous system condition).</a:t>
            </a:r>
          </a:p>
          <a:p>
            <a:r>
              <a:rPr lang="en-US" sz="2800" dirty="0" smtClean="0">
                <a:latin typeface="Californian FB" pitchFamily="18" charset="0"/>
              </a:rPr>
              <a:t>Health impairment is a condition that requires ongoing medical attention. It includes asthma, heart defects, cancer, diabetes, hemophilia. HIV/AIDS, etc.</a:t>
            </a:r>
          </a:p>
          <a:p>
            <a:pPr>
              <a:buNone/>
            </a:pP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45</a:t>
            </a:fld>
            <a:endParaRPr lang="en-US"/>
          </a:p>
        </p:txBody>
      </p:sp>
    </p:spTree>
  </p:cSld>
  <p:clrMapOvr>
    <a:masterClrMapping/>
  </p:clrMapOvr>
  <p:transition spd="slow">
    <p:wipe dir="u"/>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a:bodyPr>
          <a:lstStyle/>
          <a:p>
            <a:r>
              <a:rPr lang="en-US" sz="3200" b="1" dirty="0" smtClean="0">
                <a:solidFill>
                  <a:srgbClr val="FF0000"/>
                </a:solidFill>
                <a:latin typeface="Californian FB" pitchFamily="18" charset="0"/>
              </a:rPr>
              <a:t>Classification and Characteristics</a:t>
            </a:r>
            <a:endParaRPr lang="en-US" sz="3200" b="1" dirty="0">
              <a:solidFill>
                <a:srgbClr val="FF0000"/>
              </a:solidFill>
              <a:latin typeface="Californian FB" pitchFamily="18" charset="0"/>
            </a:endParaRPr>
          </a:p>
        </p:txBody>
      </p:sp>
      <p:sp>
        <p:nvSpPr>
          <p:cNvPr id="3" name="Content Placeholder 2"/>
          <p:cNvSpPr>
            <a:spLocks noGrp="1"/>
          </p:cNvSpPr>
          <p:nvPr>
            <p:ph idx="1"/>
          </p:nvPr>
        </p:nvSpPr>
        <p:spPr>
          <a:xfrm>
            <a:off x="152400" y="1066800"/>
            <a:ext cx="8763000" cy="5486400"/>
          </a:xfrm>
        </p:spPr>
        <p:txBody>
          <a:bodyPr>
            <a:normAutofit/>
          </a:bodyPr>
          <a:lstStyle/>
          <a:p>
            <a:r>
              <a:rPr lang="en-US" sz="2800" dirty="0" smtClean="0">
                <a:latin typeface="Californian FB" pitchFamily="18" charset="0"/>
              </a:rPr>
              <a:t>Based on the impact of physical disability on </a:t>
            </a:r>
            <a:r>
              <a:rPr lang="en-US" sz="2800" b="1" dirty="0" smtClean="0">
                <a:solidFill>
                  <a:srgbClr val="0070C0"/>
                </a:solidFill>
                <a:latin typeface="Californian FB" pitchFamily="18" charset="0"/>
              </a:rPr>
              <a:t>mobility</a:t>
            </a:r>
            <a:r>
              <a:rPr lang="en-US" sz="2800" dirty="0" smtClean="0">
                <a:latin typeface="Californian FB" pitchFamily="18" charset="0"/>
              </a:rPr>
              <a:t> and </a:t>
            </a:r>
            <a:r>
              <a:rPr lang="en-US" sz="2800" b="1" dirty="0" smtClean="0">
                <a:solidFill>
                  <a:srgbClr val="0070C0"/>
                </a:solidFill>
                <a:latin typeface="Californian FB" pitchFamily="18" charset="0"/>
              </a:rPr>
              <a:t>motor skills</a:t>
            </a:r>
            <a:r>
              <a:rPr lang="en-US" sz="2800" dirty="0" smtClean="0">
                <a:latin typeface="Californian FB" pitchFamily="18" charset="0"/>
              </a:rPr>
              <a:t>, it is divided into three. These are:- </a:t>
            </a:r>
          </a:p>
          <a:p>
            <a:pPr>
              <a:buNone/>
            </a:pPr>
            <a:r>
              <a:rPr lang="en-US" sz="2800" dirty="0" smtClean="0">
                <a:solidFill>
                  <a:srgbClr val="FF0000"/>
                </a:solidFill>
                <a:latin typeface="Californian FB" pitchFamily="18" charset="0"/>
              </a:rPr>
              <a:t>A. Mild physical disability</a:t>
            </a:r>
            <a:r>
              <a:rPr lang="en-US" sz="2800" dirty="0" smtClean="0">
                <a:latin typeface="Californian FB" pitchFamily="18" charset="0"/>
              </a:rPr>
              <a:t>:- these individuals are able to walk without aids and may make normal developmental progress. </a:t>
            </a:r>
          </a:p>
          <a:p>
            <a:pPr>
              <a:buNone/>
            </a:pPr>
            <a:r>
              <a:rPr lang="en-US" sz="2800" dirty="0" smtClean="0">
                <a:solidFill>
                  <a:srgbClr val="FF0000"/>
                </a:solidFill>
                <a:latin typeface="Californian FB" pitchFamily="18" charset="0"/>
              </a:rPr>
              <a:t>B. Moderate physical disability</a:t>
            </a:r>
            <a:r>
              <a:rPr lang="en-US" sz="2800" dirty="0" smtClean="0">
                <a:latin typeface="Californian FB" pitchFamily="18" charset="0"/>
              </a:rPr>
              <a:t>:- individuals can walk with braces and crutches and may have difficulty with fine-motor skills and speech production. </a:t>
            </a:r>
          </a:p>
          <a:p>
            <a:pPr>
              <a:buNone/>
            </a:pPr>
            <a:r>
              <a:rPr lang="en-US" sz="2800" dirty="0" smtClean="0">
                <a:solidFill>
                  <a:srgbClr val="FF0000"/>
                </a:solidFill>
                <a:latin typeface="Californian FB" pitchFamily="18" charset="0"/>
              </a:rPr>
              <a:t>C. Severe physical disability</a:t>
            </a:r>
            <a:r>
              <a:rPr lang="en-US" sz="2800" dirty="0" smtClean="0">
                <a:latin typeface="Californian FB" pitchFamily="18" charset="0"/>
              </a:rPr>
              <a:t>:-these are individuals who are wheel-chair dependent and may need special help to achieve regular development.</a:t>
            </a:r>
          </a:p>
          <a:p>
            <a:endParaRPr lang="en-US" sz="2800" dirty="0">
              <a:latin typeface="Californian FB"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46</a:t>
            </a:fld>
            <a:endParaRPr lang="en-US"/>
          </a:p>
        </p:txBody>
      </p:sp>
    </p:spTree>
  </p:cSld>
  <p:clrMapOvr>
    <a:masterClrMapping/>
  </p:clrMapOvr>
  <p:transition spd="slow">
    <p:wipe dir="u"/>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pPr algn="r"/>
            <a:r>
              <a:rPr lang="en-US" sz="3600" dirty="0" smtClean="0"/>
              <a:t>Cont..</a:t>
            </a:r>
            <a:endParaRPr lang="en-US" sz="3600" dirty="0"/>
          </a:p>
        </p:txBody>
      </p:sp>
      <p:sp>
        <p:nvSpPr>
          <p:cNvPr id="3" name="Content Placeholder 2"/>
          <p:cNvSpPr>
            <a:spLocks noGrp="1"/>
          </p:cNvSpPr>
          <p:nvPr>
            <p:ph idx="1"/>
          </p:nvPr>
        </p:nvSpPr>
        <p:spPr>
          <a:xfrm>
            <a:off x="152400" y="1066800"/>
            <a:ext cx="8763000" cy="5059363"/>
          </a:xfrm>
        </p:spPr>
        <p:txBody>
          <a:bodyPr/>
          <a:lstStyle/>
          <a:p>
            <a:r>
              <a:rPr lang="en-US" dirty="0" smtClean="0">
                <a:latin typeface="Californian FB" pitchFamily="18" charset="0"/>
              </a:rPr>
              <a:t>The physical disability could be broadly classified in to </a:t>
            </a:r>
            <a:r>
              <a:rPr lang="en-US" b="1" dirty="0" smtClean="0">
                <a:solidFill>
                  <a:srgbClr val="FF0000"/>
                </a:solidFill>
                <a:latin typeface="Californian FB" pitchFamily="18" charset="0"/>
              </a:rPr>
              <a:t>two </a:t>
            </a:r>
          </a:p>
          <a:p>
            <a:pPr marL="971550" lvl="1" indent="-571500">
              <a:buFont typeface="+mj-lt"/>
              <a:buAutoNum type="romanUcPeriod"/>
            </a:pPr>
            <a:r>
              <a:rPr lang="en-US" dirty="0" smtClean="0">
                <a:latin typeface="Californian FB" pitchFamily="18" charset="0"/>
              </a:rPr>
              <a:t>The neurological system (the brain ,spinal cord &amp; nerve) related problems. </a:t>
            </a:r>
          </a:p>
          <a:p>
            <a:pPr marL="971550" lvl="1" indent="-571500">
              <a:buFont typeface="+mj-lt"/>
              <a:buAutoNum type="romanUcPeriod"/>
            </a:pPr>
            <a:r>
              <a:rPr lang="en-US" dirty="0" err="1" smtClean="0">
                <a:latin typeface="Californian FB" pitchFamily="18" charset="0"/>
              </a:rPr>
              <a:t>Musculo</a:t>
            </a:r>
            <a:r>
              <a:rPr lang="en-US" dirty="0" smtClean="0">
                <a:latin typeface="Californian FB" pitchFamily="18" charset="0"/>
              </a:rPr>
              <a:t> skeletal system ( the muscles, bones and joints) are deficient due to various causes.</a:t>
            </a:r>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47</a:t>
            </a:fld>
            <a:endParaRPr lang="en-US"/>
          </a:p>
        </p:txBody>
      </p:sp>
    </p:spTree>
  </p:cSld>
  <p:clrMapOvr>
    <a:masterClrMapping/>
  </p:clrMapOvr>
  <p:transition spd="slow">
    <p:wipe dir="u"/>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762000"/>
          </a:xfrm>
        </p:spPr>
        <p:txBody>
          <a:bodyPr>
            <a:normAutofit/>
          </a:bodyPr>
          <a:lstStyle/>
          <a:p>
            <a:r>
              <a:rPr lang="en-US" sz="3200" b="1" dirty="0" smtClean="0">
                <a:solidFill>
                  <a:srgbClr val="FF0000"/>
                </a:solidFill>
                <a:latin typeface="Californian FB" pitchFamily="18" charset="0"/>
              </a:rPr>
              <a:t>Neurological system </a:t>
            </a:r>
            <a:endParaRPr lang="en-US" sz="3200" dirty="0">
              <a:solidFill>
                <a:srgbClr val="FF0000"/>
              </a:solidFill>
              <a:latin typeface="Californian FB" pitchFamily="18" charset="0"/>
            </a:endParaRPr>
          </a:p>
        </p:txBody>
      </p:sp>
      <p:sp>
        <p:nvSpPr>
          <p:cNvPr id="3" name="Content Placeholder 2"/>
          <p:cNvSpPr>
            <a:spLocks noGrp="1"/>
          </p:cNvSpPr>
          <p:nvPr>
            <p:ph idx="1"/>
          </p:nvPr>
        </p:nvSpPr>
        <p:spPr>
          <a:xfrm>
            <a:off x="228600" y="838200"/>
            <a:ext cx="8686800" cy="5791200"/>
          </a:xfrm>
        </p:spPr>
        <p:txBody>
          <a:bodyPr>
            <a:noAutofit/>
          </a:bodyPr>
          <a:lstStyle/>
          <a:p>
            <a:r>
              <a:rPr lang="en-US" sz="2400" dirty="0" smtClean="0">
                <a:latin typeface="Californian FB" pitchFamily="18" charset="0"/>
              </a:rPr>
              <a:t>Neurological system:-with a neurological condition like </a:t>
            </a:r>
            <a:r>
              <a:rPr lang="en-US" sz="2400" b="1" dirty="0" smtClean="0">
                <a:solidFill>
                  <a:srgbClr val="0070C0"/>
                </a:solidFill>
                <a:latin typeface="Californian FB" pitchFamily="18" charset="0"/>
              </a:rPr>
              <a:t>cerebral palsy or a traumatic brain injury</a:t>
            </a:r>
            <a:r>
              <a:rPr lang="en-US" sz="2400" dirty="0" smtClean="0">
                <a:latin typeface="Californian FB" pitchFamily="18" charset="0"/>
              </a:rPr>
              <a:t>, the brain either sends the wrong instructions or interprets feedback incorrectly. </a:t>
            </a:r>
          </a:p>
          <a:p>
            <a:pPr lvl="1"/>
            <a:r>
              <a:rPr lang="en-US" sz="2000" dirty="0" smtClean="0">
                <a:latin typeface="Californian FB" pitchFamily="18" charset="0"/>
              </a:rPr>
              <a:t>In both cases, the result is poorly coordinated movement. With the spinal cord injury or deformity, the path ways between the brain and the muscles are interrupted, so messages are transmitted but never received. </a:t>
            </a:r>
          </a:p>
          <a:p>
            <a:r>
              <a:rPr lang="en-US" sz="2400" dirty="0" smtClean="0">
                <a:latin typeface="Californian FB" pitchFamily="18" charset="0"/>
              </a:rPr>
              <a:t>The result is muscle paralysis and loss of sensation beyond the point where the spinal cord or the nerve is damaged. </a:t>
            </a:r>
          </a:p>
          <a:p>
            <a:r>
              <a:rPr lang="en-US" sz="2400" dirty="0" smtClean="0">
                <a:latin typeface="Californian FB" pitchFamily="18" charset="0"/>
              </a:rPr>
              <a:t>These individuals may have </a:t>
            </a:r>
            <a:r>
              <a:rPr lang="en-US" sz="2400" b="1" dirty="0" smtClean="0">
                <a:solidFill>
                  <a:srgbClr val="0070C0"/>
                </a:solidFill>
                <a:latin typeface="Californian FB" pitchFamily="18" charset="0"/>
              </a:rPr>
              <a:t>motor skill deficits </a:t>
            </a:r>
            <a:r>
              <a:rPr lang="en-US" sz="2400" dirty="0" smtClean="0">
                <a:latin typeface="Californian FB" pitchFamily="18" charset="0"/>
              </a:rPr>
              <a:t>that can range from mild in coordination to paralysis of the entire body. </a:t>
            </a:r>
          </a:p>
          <a:p>
            <a:r>
              <a:rPr lang="en-US" sz="2400" dirty="0" smtClean="0">
                <a:latin typeface="Californian FB" pitchFamily="18" charset="0"/>
              </a:rPr>
              <a:t>The most severely affected children are totally </a:t>
            </a:r>
            <a:r>
              <a:rPr lang="en-US" sz="2400" b="1" dirty="0" smtClean="0">
                <a:solidFill>
                  <a:srgbClr val="0070C0"/>
                </a:solidFill>
                <a:latin typeface="Californian FB" pitchFamily="18" charset="0"/>
              </a:rPr>
              <a:t>dependent</a:t>
            </a:r>
            <a:r>
              <a:rPr lang="en-US" sz="2400" dirty="0" smtClean="0">
                <a:latin typeface="Californian FB" pitchFamily="18" charset="0"/>
              </a:rPr>
              <a:t> on other people or sophisticated equipment to carry out academic and self-care task.</a:t>
            </a:r>
          </a:p>
          <a:p>
            <a:r>
              <a:rPr lang="en-US" sz="2400" dirty="0" smtClean="0">
                <a:latin typeface="Californian FB" pitchFamily="18" charset="0"/>
              </a:rPr>
              <a:t>Approximately 40 percent of those with cerebral palsy have normal intelligence; the remainders have from mild to severe retardation.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48</a:t>
            </a:fld>
            <a:endParaRPr lang="en-US"/>
          </a:p>
        </p:txBody>
      </p:sp>
    </p:spTree>
  </p:cSld>
  <p:clrMapOvr>
    <a:masterClrMapping/>
  </p:clrMapOvr>
  <p:transition spd="slow">
    <p:wipe dir="u"/>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a:bodyPr>
          <a:lstStyle/>
          <a:p>
            <a:pPr algn="l"/>
            <a:r>
              <a:rPr lang="en-US" sz="3200" b="1" dirty="0" smtClean="0">
                <a:solidFill>
                  <a:srgbClr val="FF0000"/>
                </a:solidFill>
                <a:latin typeface="Californian FB" pitchFamily="18" charset="0"/>
              </a:rPr>
              <a:t>Epilepsy</a:t>
            </a:r>
            <a:endParaRPr lang="en-US" sz="3200" b="1" dirty="0">
              <a:solidFill>
                <a:srgbClr val="FF0000"/>
              </a:solidFill>
              <a:latin typeface="Californian FB" pitchFamily="18" charset="0"/>
            </a:endParaRPr>
          </a:p>
        </p:txBody>
      </p:sp>
      <p:sp>
        <p:nvSpPr>
          <p:cNvPr id="3" name="Content Placeholder 2"/>
          <p:cNvSpPr>
            <a:spLocks noGrp="1"/>
          </p:cNvSpPr>
          <p:nvPr>
            <p:ph idx="1"/>
          </p:nvPr>
        </p:nvSpPr>
        <p:spPr>
          <a:xfrm>
            <a:off x="152400" y="1295400"/>
            <a:ext cx="8839200" cy="5029200"/>
          </a:xfrm>
        </p:spPr>
        <p:txBody>
          <a:bodyPr>
            <a:normAutofit fontScale="92500" lnSpcReduction="10000"/>
          </a:bodyPr>
          <a:lstStyle/>
          <a:p>
            <a:r>
              <a:rPr lang="en-US" sz="2800" dirty="0" smtClean="0">
                <a:latin typeface="Californian FB" pitchFamily="18" charset="0"/>
              </a:rPr>
              <a:t>It is disorder that occurs when the </a:t>
            </a:r>
            <a:r>
              <a:rPr lang="en-US" sz="2800" b="1" dirty="0" smtClean="0">
                <a:solidFill>
                  <a:srgbClr val="0070C0"/>
                </a:solidFill>
                <a:latin typeface="Californian FB" pitchFamily="18" charset="0"/>
              </a:rPr>
              <a:t>brain cells </a:t>
            </a:r>
            <a:r>
              <a:rPr lang="en-US" sz="2800" dirty="0" smtClean="0">
                <a:latin typeface="Californian FB" pitchFamily="18" charset="0"/>
              </a:rPr>
              <a:t>are not working properly and is often called a </a:t>
            </a:r>
            <a:r>
              <a:rPr lang="en-US" sz="2800" b="1" dirty="0" smtClean="0">
                <a:solidFill>
                  <a:srgbClr val="0070C0"/>
                </a:solidFill>
                <a:latin typeface="Californian FB" pitchFamily="18" charset="0"/>
              </a:rPr>
              <a:t>seizure disorder</a:t>
            </a:r>
            <a:r>
              <a:rPr lang="en-US" sz="2800" dirty="0" smtClean="0">
                <a:latin typeface="Californian FB" pitchFamily="18" charset="0"/>
              </a:rPr>
              <a:t>. </a:t>
            </a:r>
          </a:p>
          <a:p>
            <a:pPr lvl="1"/>
            <a:r>
              <a:rPr lang="en-US" dirty="0" smtClean="0">
                <a:latin typeface="Californian FB" pitchFamily="18" charset="0"/>
              </a:rPr>
              <a:t>Some children and youth will epilepsy have only a momentary loss of attention (petit mal seizures); others </a:t>
            </a:r>
            <a:r>
              <a:rPr lang="en-US" b="1" dirty="0" smtClean="0">
                <a:solidFill>
                  <a:srgbClr val="0070C0"/>
                </a:solidFill>
                <a:latin typeface="Californian FB" pitchFamily="18" charset="0"/>
              </a:rPr>
              <a:t>fall</a:t>
            </a:r>
            <a:r>
              <a:rPr lang="en-US" dirty="0" smtClean="0">
                <a:latin typeface="Californian FB" pitchFamily="18" charset="0"/>
              </a:rPr>
              <a:t> to the floor and then move </a:t>
            </a:r>
            <a:r>
              <a:rPr lang="en-US" b="1" dirty="0" smtClean="0">
                <a:solidFill>
                  <a:srgbClr val="0070C0"/>
                </a:solidFill>
                <a:latin typeface="Californian FB" pitchFamily="18" charset="0"/>
              </a:rPr>
              <a:t>uncontrollably </a:t>
            </a:r>
          </a:p>
          <a:p>
            <a:pPr lvl="1"/>
            <a:r>
              <a:rPr lang="en-US" dirty="0" smtClean="0">
                <a:latin typeface="Californian FB" pitchFamily="18" charset="0"/>
              </a:rPr>
              <a:t>Fortunately, once epilepsy is diagnosed, it can usually be controlled with medication and does not interfere with performance in school. Most individuals with epilepsy have </a:t>
            </a:r>
            <a:r>
              <a:rPr lang="en-US" b="1" dirty="0" smtClean="0">
                <a:solidFill>
                  <a:srgbClr val="0070C0"/>
                </a:solidFill>
                <a:latin typeface="Californian FB" pitchFamily="18" charset="0"/>
              </a:rPr>
              <a:t>normal intelligence</a:t>
            </a:r>
            <a:r>
              <a:rPr lang="en-US" dirty="0" smtClean="0">
                <a:latin typeface="Californian FB" pitchFamily="18" charset="0"/>
              </a:rPr>
              <a:t>. </a:t>
            </a:r>
          </a:p>
          <a:p>
            <a:pPr lvl="1"/>
            <a:r>
              <a:rPr lang="en-US" dirty="0" smtClean="0">
                <a:latin typeface="Californian FB" pitchFamily="18" charset="0"/>
              </a:rPr>
              <a:t>Epilepsy is a condition that affects 1 to 2 percent of the population. It is characterized by recurring seizures, which are </a:t>
            </a:r>
            <a:r>
              <a:rPr lang="en-US" b="1" dirty="0" smtClean="0">
                <a:solidFill>
                  <a:srgbClr val="0070C0"/>
                </a:solidFill>
                <a:latin typeface="Californian FB" pitchFamily="18" charset="0"/>
              </a:rPr>
              <a:t>spontaneous abnormal discharge of electrical impulses of the brain.</a:t>
            </a:r>
          </a:p>
          <a:p>
            <a:endParaRPr lang="en-US" sz="2700" dirty="0">
              <a:latin typeface="Californian FB"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49</a:t>
            </a:fld>
            <a:endParaRPr lang="en-US"/>
          </a:p>
        </p:txBody>
      </p:sp>
    </p:spTree>
  </p:cSld>
  <p:clrMapOvr>
    <a:masterClrMapping/>
  </p:clrMapOvr>
  <p:transition spd="slow">
    <p:wipe dir="u"/>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solidFill>
                  <a:srgbClr val="FF0000"/>
                </a:solidFill>
                <a:latin typeface="Californian FB" pitchFamily="18" charset="0"/>
              </a:rPr>
              <a:t>Spinal bifida and spinal cord injury</a:t>
            </a:r>
            <a:endParaRPr lang="en-US" sz="3200" dirty="0">
              <a:solidFill>
                <a:srgbClr val="FF0000"/>
              </a:solidFill>
              <a:latin typeface="Californian FB" pitchFamily="18" charset="0"/>
            </a:endParaRPr>
          </a:p>
        </p:txBody>
      </p:sp>
      <p:sp>
        <p:nvSpPr>
          <p:cNvPr id="3" name="Content Placeholder 2"/>
          <p:cNvSpPr>
            <a:spLocks noGrp="1"/>
          </p:cNvSpPr>
          <p:nvPr>
            <p:ph idx="1"/>
          </p:nvPr>
        </p:nvSpPr>
        <p:spPr>
          <a:xfrm>
            <a:off x="228600" y="1295400"/>
            <a:ext cx="8686800" cy="5181600"/>
          </a:xfrm>
        </p:spPr>
        <p:txBody>
          <a:bodyPr>
            <a:normAutofit/>
          </a:bodyPr>
          <a:lstStyle/>
          <a:p>
            <a:r>
              <a:rPr lang="en-US" dirty="0" smtClean="0">
                <a:latin typeface="Californian FB" pitchFamily="18" charset="0"/>
              </a:rPr>
              <a:t>Spinal bifida and spinal cord injury:- damage to the </a:t>
            </a:r>
            <a:r>
              <a:rPr lang="en-US" dirty="0" smtClean="0">
                <a:solidFill>
                  <a:srgbClr val="FF0000"/>
                </a:solidFill>
                <a:latin typeface="Californian FB" pitchFamily="18" charset="0"/>
              </a:rPr>
              <a:t>spinal cord</a:t>
            </a:r>
            <a:r>
              <a:rPr lang="en-US" dirty="0" smtClean="0">
                <a:latin typeface="Californian FB" pitchFamily="18" charset="0"/>
              </a:rPr>
              <a:t> leads to paralysis and loss of sensation in the affected areas of the body. </a:t>
            </a:r>
          </a:p>
          <a:p>
            <a:pPr lvl="1"/>
            <a:r>
              <a:rPr lang="en-US" dirty="0" smtClean="0">
                <a:latin typeface="Californian FB" pitchFamily="18" charset="0"/>
              </a:rPr>
              <a:t>The spinal bifida is a birth defect of the backbone (spinal column). </a:t>
            </a:r>
          </a:p>
          <a:p>
            <a:pPr lvl="1"/>
            <a:r>
              <a:rPr lang="en-US" dirty="0" smtClean="0">
                <a:latin typeface="Californian FB" pitchFamily="18" charset="0"/>
              </a:rPr>
              <a:t>The cause is unknown but it usually occurs in the first twenty-six days of pregnancy</a:t>
            </a:r>
          </a:p>
          <a:p>
            <a:pPr>
              <a:buNone/>
            </a:pP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50</a:t>
            </a:fld>
            <a:endParaRPr lang="en-US"/>
          </a:p>
        </p:txBody>
      </p:sp>
    </p:spTree>
  </p:cSld>
  <p:clrMapOvr>
    <a:masterClrMapping/>
  </p:clrMapOvr>
  <p:transition spd="slow">
    <p:wipe dir="u"/>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dirty="0" smtClean="0">
                <a:solidFill>
                  <a:srgbClr val="FF0000"/>
                </a:solidFill>
                <a:latin typeface="Californian FB" pitchFamily="18" charset="0"/>
              </a:rPr>
              <a:t>Musculoskeletal system</a:t>
            </a:r>
            <a:endParaRPr lang="en-US" dirty="0">
              <a:solidFill>
                <a:srgbClr val="FF0000"/>
              </a:solidFill>
              <a:latin typeface="Californian FB" pitchFamily="18" charset="0"/>
            </a:endParaRPr>
          </a:p>
        </p:txBody>
      </p:sp>
      <p:sp>
        <p:nvSpPr>
          <p:cNvPr id="3" name="Content Placeholder 2"/>
          <p:cNvSpPr>
            <a:spLocks noGrp="1"/>
          </p:cNvSpPr>
          <p:nvPr>
            <p:ph idx="1"/>
          </p:nvPr>
        </p:nvSpPr>
        <p:spPr>
          <a:xfrm>
            <a:off x="0" y="1828800"/>
            <a:ext cx="8763000" cy="4724400"/>
          </a:xfrm>
        </p:spPr>
        <p:txBody>
          <a:bodyPr>
            <a:normAutofit/>
          </a:bodyPr>
          <a:lstStyle/>
          <a:p>
            <a:r>
              <a:rPr lang="en-US" dirty="0" smtClean="0">
                <a:latin typeface="Californian FB" pitchFamily="18" charset="0"/>
              </a:rPr>
              <a:t>it includes the </a:t>
            </a:r>
            <a:r>
              <a:rPr lang="en-US" b="1" dirty="0" smtClean="0">
                <a:latin typeface="Californian FB" pitchFamily="18" charset="0"/>
              </a:rPr>
              <a:t>muscles</a:t>
            </a:r>
            <a:r>
              <a:rPr lang="en-US" dirty="0" smtClean="0">
                <a:latin typeface="Californian FB" pitchFamily="18" charset="0"/>
              </a:rPr>
              <a:t> and their supporting framework and the </a:t>
            </a:r>
            <a:r>
              <a:rPr lang="en-US" b="1" dirty="0" smtClean="0">
                <a:solidFill>
                  <a:srgbClr val="FF0000"/>
                </a:solidFill>
                <a:latin typeface="Californian FB" pitchFamily="18" charset="0"/>
              </a:rPr>
              <a:t>skeleton</a:t>
            </a:r>
            <a:r>
              <a:rPr lang="en-US" dirty="0" smtClean="0">
                <a:latin typeface="Californian FB" pitchFamily="18" charset="0"/>
              </a:rPr>
              <a:t>. The list of the impairment and associated with musculoskeletal malformation are the following:</a:t>
            </a:r>
          </a:p>
          <a:p>
            <a:pPr marL="1371600" lvl="2" indent="-571500">
              <a:buFont typeface="+mj-lt"/>
              <a:buAutoNum type="romanUcPeriod"/>
            </a:pPr>
            <a:r>
              <a:rPr lang="en-US" dirty="0" smtClean="0">
                <a:latin typeface="Californian FB" pitchFamily="18" charset="0"/>
              </a:rPr>
              <a:t>Progressive muscle weakness (muscular dystrophy); </a:t>
            </a:r>
          </a:p>
          <a:p>
            <a:pPr marL="1371600" lvl="2" indent="-571500">
              <a:buFont typeface="+mj-lt"/>
              <a:buAutoNum type="romanUcPeriod"/>
            </a:pPr>
            <a:r>
              <a:rPr lang="en-US" dirty="0" smtClean="0">
                <a:latin typeface="Californian FB" pitchFamily="18" charset="0"/>
              </a:rPr>
              <a:t>Inflammation of the joints (arthritis), or </a:t>
            </a:r>
          </a:p>
          <a:p>
            <a:pPr marL="1371600" lvl="2" indent="-571500">
              <a:buFont typeface="+mj-lt"/>
              <a:buAutoNum type="romanUcPeriod"/>
            </a:pPr>
            <a:r>
              <a:rPr lang="en-US" dirty="0" smtClean="0">
                <a:latin typeface="Californian FB" pitchFamily="18" charset="0"/>
              </a:rPr>
              <a:t>Loss of various parts of the body (amputation) </a:t>
            </a:r>
          </a:p>
          <a:p>
            <a:pPr>
              <a:buNone/>
            </a:pPr>
            <a:endParaRPr lang="en-US" dirty="0">
              <a:latin typeface="Californian FB"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51</a:t>
            </a:fld>
            <a:endParaRPr lang="en-US"/>
          </a:p>
        </p:txBody>
      </p:sp>
    </p:spTree>
  </p:cSld>
  <p:clrMapOvr>
    <a:masterClrMapping/>
  </p:clrMapOvr>
  <p:transition spd="slow">
    <p:wipe dir="u"/>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pPr algn="r"/>
            <a:r>
              <a:rPr lang="en-US" sz="3200" dirty="0" smtClean="0"/>
              <a:t>Cont…</a:t>
            </a:r>
            <a:endParaRPr lang="en-US" sz="3200" dirty="0"/>
          </a:p>
        </p:txBody>
      </p:sp>
      <p:sp>
        <p:nvSpPr>
          <p:cNvPr id="3" name="Content Placeholder 2"/>
          <p:cNvSpPr>
            <a:spLocks noGrp="1"/>
          </p:cNvSpPr>
          <p:nvPr>
            <p:ph idx="1"/>
          </p:nvPr>
        </p:nvSpPr>
        <p:spPr>
          <a:xfrm>
            <a:off x="152400" y="762000"/>
            <a:ext cx="8763000" cy="5867400"/>
          </a:xfrm>
        </p:spPr>
        <p:txBody>
          <a:bodyPr>
            <a:normAutofit fontScale="77500" lnSpcReduction="20000"/>
          </a:bodyPr>
          <a:lstStyle/>
          <a:p>
            <a:pPr>
              <a:buNone/>
            </a:pPr>
            <a:r>
              <a:rPr lang="en-US" dirty="0" smtClean="0">
                <a:latin typeface="Californian FB" pitchFamily="18" charset="0"/>
              </a:rPr>
              <a:t>A. </a:t>
            </a:r>
            <a:r>
              <a:rPr lang="en-US" b="1" dirty="0" smtClean="0">
                <a:solidFill>
                  <a:srgbClr val="FF0000"/>
                </a:solidFill>
                <a:latin typeface="Californian FB" pitchFamily="18" charset="0"/>
              </a:rPr>
              <a:t>Muscular dystrophy</a:t>
            </a:r>
            <a:r>
              <a:rPr lang="en-US" dirty="0" smtClean="0">
                <a:latin typeface="Californian FB" pitchFamily="18" charset="0"/>
              </a:rPr>
              <a:t>:- is an inherited condition accruing mainly in males, in which the muscles weaken and deteriorate. </a:t>
            </a:r>
          </a:p>
          <a:p>
            <a:pPr lvl="1"/>
            <a:r>
              <a:rPr lang="en-US" dirty="0" smtClean="0">
                <a:latin typeface="Californian FB" pitchFamily="18" charset="0"/>
              </a:rPr>
              <a:t>The weakness usually appears around 3 to 4 years of age and worsens progressively. </a:t>
            </a:r>
          </a:p>
          <a:p>
            <a:pPr lvl="1"/>
            <a:r>
              <a:rPr lang="en-US" dirty="0" smtClean="0">
                <a:latin typeface="Californian FB" pitchFamily="18" charset="0"/>
              </a:rPr>
              <a:t>By age 11 most victims can no longer walk. </a:t>
            </a:r>
          </a:p>
          <a:p>
            <a:pPr lvl="1"/>
            <a:r>
              <a:rPr lang="en-US" dirty="0" smtClean="0">
                <a:latin typeface="Californian FB" pitchFamily="18" charset="0"/>
              </a:rPr>
              <a:t>Death usually comes between the ages of 25 and 35 from respiratory failure or cardiac arrest. </a:t>
            </a:r>
          </a:p>
          <a:p>
            <a:pPr>
              <a:buNone/>
            </a:pPr>
            <a:r>
              <a:rPr lang="en-US" dirty="0" smtClean="0">
                <a:latin typeface="Californian FB" pitchFamily="18" charset="0"/>
              </a:rPr>
              <a:t>B. </a:t>
            </a:r>
            <a:r>
              <a:rPr lang="en-US" b="1" dirty="0" smtClean="0">
                <a:solidFill>
                  <a:srgbClr val="FF0000"/>
                </a:solidFill>
                <a:latin typeface="Californian FB" pitchFamily="18" charset="0"/>
              </a:rPr>
              <a:t>Arthritis</a:t>
            </a:r>
            <a:r>
              <a:rPr lang="en-US" dirty="0" smtClean="0">
                <a:latin typeface="Californian FB" pitchFamily="18" charset="0"/>
              </a:rPr>
              <a:t>:-is an inflammation of the joints. </a:t>
            </a:r>
          </a:p>
          <a:p>
            <a:pPr lvl="1"/>
            <a:r>
              <a:rPr lang="en-US" dirty="0" smtClean="0">
                <a:latin typeface="Californian FB" pitchFamily="18" charset="0"/>
              </a:rPr>
              <a:t>Symptoms include swollen and stiff joints, fever, and pain in the joints during acute periods. </a:t>
            </a:r>
          </a:p>
          <a:p>
            <a:pPr lvl="1"/>
            <a:r>
              <a:rPr lang="en-US" dirty="0" smtClean="0">
                <a:latin typeface="Californian FB" pitchFamily="18" charset="0"/>
              </a:rPr>
              <a:t>Prolonged inflammation can lead joint deformities that can eventually affect mobility. </a:t>
            </a:r>
          </a:p>
          <a:p>
            <a:pPr>
              <a:buNone/>
            </a:pPr>
            <a:r>
              <a:rPr lang="en-US" dirty="0" smtClean="0">
                <a:latin typeface="Californian FB" pitchFamily="18" charset="0"/>
              </a:rPr>
              <a:t>C. </a:t>
            </a:r>
            <a:r>
              <a:rPr lang="en-US" b="1" dirty="0" smtClean="0">
                <a:solidFill>
                  <a:srgbClr val="FF0000"/>
                </a:solidFill>
                <a:latin typeface="Californian FB" pitchFamily="18" charset="0"/>
              </a:rPr>
              <a:t>Amputation</a:t>
            </a:r>
            <a:r>
              <a:rPr lang="en-US" dirty="0" smtClean="0">
                <a:latin typeface="Californian FB" pitchFamily="18" charset="0"/>
              </a:rPr>
              <a:t>:- a small number of children have missing limbs because of congenital abnormalities or </a:t>
            </a:r>
            <a:r>
              <a:rPr lang="en-US" dirty="0" err="1" smtClean="0">
                <a:latin typeface="Californian FB" pitchFamily="18" charset="0"/>
              </a:rPr>
              <a:t>injuiry</a:t>
            </a:r>
            <a:r>
              <a:rPr lang="en-US" dirty="0" smtClean="0">
                <a:latin typeface="Californian FB" pitchFamily="18" charset="0"/>
              </a:rPr>
              <a:t> or disease (malignant bone tumors in the limbs). </a:t>
            </a:r>
          </a:p>
          <a:p>
            <a:pPr lvl="1"/>
            <a:r>
              <a:rPr lang="en-US" dirty="0" smtClean="0">
                <a:latin typeface="Californian FB" pitchFamily="18" charset="0"/>
              </a:rPr>
              <a:t>These children can use customized prosthetic devices (artificial hands, arms, or legs) to replace limp functions and increase independence in daily activities.</a:t>
            </a:r>
          </a:p>
          <a:p>
            <a:endParaRPr lang="en-US" dirty="0">
              <a:latin typeface="Californian FB"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52</a:t>
            </a:fld>
            <a:endParaRPr lang="en-US"/>
          </a:p>
        </p:txBody>
      </p:sp>
    </p:spTree>
  </p:cSld>
  <p:clrMapOvr>
    <a:masterClrMapping/>
  </p:clrMapOvr>
  <p:transition spd="slow">
    <p:wipe dir="u"/>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1162"/>
          </a:xfrm>
        </p:spPr>
        <p:txBody>
          <a:bodyPr>
            <a:normAutofit fontScale="90000"/>
          </a:bodyPr>
          <a:lstStyle/>
          <a:p>
            <a:pPr algn="r"/>
            <a:r>
              <a:rPr lang="en-US" sz="2800" dirty="0" smtClean="0"/>
              <a:t>Cont…</a:t>
            </a:r>
            <a:endParaRPr lang="en-US" sz="2800" dirty="0"/>
          </a:p>
        </p:txBody>
      </p:sp>
      <p:sp>
        <p:nvSpPr>
          <p:cNvPr id="3" name="Content Placeholder 2"/>
          <p:cNvSpPr>
            <a:spLocks noGrp="1"/>
          </p:cNvSpPr>
          <p:nvPr>
            <p:ph idx="1"/>
          </p:nvPr>
        </p:nvSpPr>
        <p:spPr>
          <a:xfrm>
            <a:off x="228600" y="685800"/>
            <a:ext cx="8686800" cy="5943600"/>
          </a:xfrm>
        </p:spPr>
        <p:txBody>
          <a:bodyPr>
            <a:normAutofit fontScale="77500" lnSpcReduction="20000"/>
          </a:bodyPr>
          <a:lstStyle/>
          <a:p>
            <a:pPr>
              <a:buNone/>
            </a:pPr>
            <a:r>
              <a:rPr lang="en-US" dirty="0" smtClean="0">
                <a:latin typeface="Californian FB" pitchFamily="18" charset="0"/>
              </a:rPr>
              <a:t>D. </a:t>
            </a:r>
            <a:r>
              <a:rPr lang="en-US" b="1" dirty="0" err="1" smtClean="0">
                <a:solidFill>
                  <a:srgbClr val="FF0000"/>
                </a:solidFill>
                <a:latin typeface="Californian FB" pitchFamily="18" charset="0"/>
              </a:rPr>
              <a:t>Marfan</a:t>
            </a:r>
            <a:r>
              <a:rPr lang="en-US" b="1" dirty="0" smtClean="0">
                <a:solidFill>
                  <a:srgbClr val="FF0000"/>
                </a:solidFill>
                <a:latin typeface="Californian FB" pitchFamily="18" charset="0"/>
              </a:rPr>
              <a:t> syndrome </a:t>
            </a:r>
            <a:r>
              <a:rPr lang="en-US" dirty="0" smtClean="0">
                <a:latin typeface="Californian FB" pitchFamily="18" charset="0"/>
              </a:rPr>
              <a:t>is a genetic disorder in which the muscles are poorly developed and the spine is curved. </a:t>
            </a:r>
          </a:p>
          <a:p>
            <a:pPr lvl="1"/>
            <a:r>
              <a:rPr lang="en-US" dirty="0" smtClean="0">
                <a:latin typeface="Californian FB" pitchFamily="18" charset="0"/>
              </a:rPr>
              <a:t>Individuals with </a:t>
            </a:r>
            <a:r>
              <a:rPr lang="en-US" dirty="0" err="1" smtClean="0">
                <a:latin typeface="Californian FB" pitchFamily="18" charset="0"/>
              </a:rPr>
              <a:t>marfan</a:t>
            </a:r>
            <a:r>
              <a:rPr lang="en-US" dirty="0" smtClean="0">
                <a:latin typeface="Californian FB" pitchFamily="18" charset="0"/>
              </a:rPr>
              <a:t> syndrome may have either long, thin limbs, prominent shoulder blades, spinal curvature, flat feet, or long fingers &amp; thumbs. </a:t>
            </a:r>
          </a:p>
          <a:p>
            <a:pPr lvl="1"/>
            <a:r>
              <a:rPr lang="en-US" dirty="0" smtClean="0">
                <a:latin typeface="Californian FB" pitchFamily="18" charset="0"/>
              </a:rPr>
              <a:t>The heart and blood vessels are usually affected. </a:t>
            </a:r>
          </a:p>
          <a:p>
            <a:pPr lvl="1"/>
            <a:r>
              <a:rPr lang="en-US" dirty="0" smtClean="0">
                <a:latin typeface="Californian FB" pitchFamily="18" charset="0"/>
              </a:rPr>
              <a:t>The greatest danger is damage to aorta, which can lead to heart failure. </a:t>
            </a:r>
          </a:p>
          <a:p>
            <a:pPr lvl="1"/>
            <a:r>
              <a:rPr lang="en-US" dirty="0" smtClean="0">
                <a:latin typeface="Californian FB" pitchFamily="18" charset="0"/>
              </a:rPr>
              <a:t>Individuals with </a:t>
            </a:r>
            <a:r>
              <a:rPr lang="en-US" dirty="0" err="1" smtClean="0">
                <a:latin typeface="Californian FB" pitchFamily="18" charset="0"/>
              </a:rPr>
              <a:t>marfan</a:t>
            </a:r>
            <a:r>
              <a:rPr lang="en-US" dirty="0" smtClean="0">
                <a:latin typeface="Californian FB" pitchFamily="18" charset="0"/>
              </a:rPr>
              <a:t> syndrome need to avoid heavy exercise and lifting heavy objects. </a:t>
            </a:r>
          </a:p>
          <a:p>
            <a:pPr>
              <a:buNone/>
            </a:pPr>
            <a:r>
              <a:rPr lang="en-US" dirty="0" smtClean="0">
                <a:latin typeface="Californian FB" pitchFamily="18" charset="0"/>
              </a:rPr>
              <a:t>E. </a:t>
            </a:r>
            <a:r>
              <a:rPr lang="en-US" b="1" dirty="0" err="1" smtClean="0">
                <a:solidFill>
                  <a:srgbClr val="FF0000"/>
                </a:solidFill>
                <a:latin typeface="Californian FB" pitchFamily="18" charset="0"/>
              </a:rPr>
              <a:t>Achondroplasis</a:t>
            </a:r>
            <a:r>
              <a:rPr lang="en-US" dirty="0" smtClean="0">
                <a:latin typeface="Californian FB" pitchFamily="18" charset="0"/>
              </a:rPr>
              <a:t>:- is a genetic disorder that affects 1 in 10,000 births. </a:t>
            </a:r>
          </a:p>
          <a:p>
            <a:pPr lvl="1"/>
            <a:r>
              <a:rPr lang="en-US" dirty="0" smtClean="0">
                <a:latin typeface="Californian FB" pitchFamily="18" charset="0"/>
              </a:rPr>
              <a:t>Children with this disorder usually develop a normal torso but have a straight upper back and a curved lower back (sway back). </a:t>
            </a:r>
          </a:p>
          <a:p>
            <a:pPr lvl="1"/>
            <a:r>
              <a:rPr lang="en-US" dirty="0" smtClean="0">
                <a:latin typeface="Californian FB" pitchFamily="18" charset="0"/>
              </a:rPr>
              <a:t>These children are at risk of sudden death during sleep from compression of the spinal cord interfering with their breathing. </a:t>
            </a:r>
          </a:p>
          <a:p>
            <a:pPr lvl="1"/>
            <a:r>
              <a:rPr lang="en-US" dirty="0" smtClean="0">
                <a:latin typeface="Californian FB" pitchFamily="18" charset="0"/>
              </a:rPr>
              <a:t>The disability may be lessened through the use of the back braces or by surgery.</a:t>
            </a:r>
          </a:p>
          <a:p>
            <a:endParaRPr lang="en-US" dirty="0">
              <a:latin typeface="Californian FB"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53</a:t>
            </a:fld>
            <a:endParaRPr lang="en-US"/>
          </a:p>
        </p:txBody>
      </p:sp>
    </p:spTree>
  </p:cSld>
  <p:clrMapOvr>
    <a:masterClrMapping/>
  </p:clrMapOvr>
  <p:transition spd="slow">
    <p:wipe dir="u"/>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a:bodyPr>
          <a:lstStyle/>
          <a:p>
            <a:pPr algn="r"/>
            <a:r>
              <a:rPr lang="en-US" sz="2400" dirty="0" smtClean="0"/>
              <a:t>Cont…</a:t>
            </a:r>
            <a:endParaRPr lang="en-US" sz="2400" dirty="0"/>
          </a:p>
        </p:txBody>
      </p:sp>
      <p:sp>
        <p:nvSpPr>
          <p:cNvPr id="3" name="Content Placeholder 2"/>
          <p:cNvSpPr>
            <a:spLocks noGrp="1"/>
          </p:cNvSpPr>
          <p:nvPr>
            <p:ph idx="1"/>
          </p:nvPr>
        </p:nvSpPr>
        <p:spPr>
          <a:xfrm>
            <a:off x="152400" y="838200"/>
            <a:ext cx="8763000" cy="5715000"/>
          </a:xfrm>
        </p:spPr>
        <p:txBody>
          <a:bodyPr>
            <a:noAutofit/>
          </a:bodyPr>
          <a:lstStyle/>
          <a:p>
            <a:r>
              <a:rPr lang="en-US" sz="2400" b="1" dirty="0" smtClean="0">
                <a:solidFill>
                  <a:srgbClr val="FF0000"/>
                </a:solidFill>
                <a:latin typeface="Californian FB" pitchFamily="18" charset="0"/>
              </a:rPr>
              <a:t>Polio</a:t>
            </a:r>
            <a:r>
              <a:rPr lang="en-US" sz="2400" b="1" dirty="0" smtClean="0">
                <a:latin typeface="Californian FB" pitchFamily="18" charset="0"/>
              </a:rPr>
              <a:t>:</a:t>
            </a:r>
            <a:r>
              <a:rPr lang="en-US" sz="2400" dirty="0" smtClean="0">
                <a:latin typeface="Californian FB" pitchFamily="18" charset="0"/>
              </a:rPr>
              <a:t>- is viral disease that invade the brain and cause severe paralysis of the total body system. </a:t>
            </a:r>
          </a:p>
          <a:p>
            <a:pPr lvl="1"/>
            <a:r>
              <a:rPr lang="en-US" sz="2400" dirty="0" smtClean="0">
                <a:latin typeface="Californian FB" pitchFamily="18" charset="0"/>
              </a:rPr>
              <a:t>In its mild form results in partial paralysis. </a:t>
            </a:r>
          </a:p>
          <a:p>
            <a:r>
              <a:rPr lang="en-US" sz="2400" b="1" dirty="0" smtClean="0">
                <a:solidFill>
                  <a:srgbClr val="FF0000"/>
                </a:solidFill>
                <a:latin typeface="Californian FB" pitchFamily="18" charset="0"/>
              </a:rPr>
              <a:t>Club foot</a:t>
            </a:r>
            <a:r>
              <a:rPr lang="en-US" sz="2400" dirty="0" smtClean="0">
                <a:latin typeface="Californian FB" pitchFamily="18" charset="0"/>
              </a:rPr>
              <a:t>:- is a major orthopedic problem affecting about 9,000 infants each year. </a:t>
            </a:r>
          </a:p>
          <a:p>
            <a:r>
              <a:rPr lang="en-US" sz="2400" dirty="0" smtClean="0">
                <a:latin typeface="Californian FB" pitchFamily="18" charset="0"/>
              </a:rPr>
              <a:t>This term is used to describe various ankle or foot deformities, </a:t>
            </a:r>
            <a:r>
              <a:rPr lang="en-US" sz="2400" dirty="0" err="1" smtClean="0">
                <a:latin typeface="Californian FB" pitchFamily="18" charset="0"/>
              </a:rPr>
              <a:t>i.e</a:t>
            </a:r>
            <a:r>
              <a:rPr lang="en-US" sz="2400" dirty="0" smtClean="0">
                <a:latin typeface="Californian FB" pitchFamily="18" charset="0"/>
              </a:rPr>
              <a:t> </a:t>
            </a:r>
          </a:p>
          <a:p>
            <a:pPr lvl="1"/>
            <a:r>
              <a:rPr lang="en-US" sz="2400" dirty="0" smtClean="0">
                <a:latin typeface="Californian FB" pitchFamily="18" charset="0"/>
              </a:rPr>
              <a:t>Twisting inward (</a:t>
            </a:r>
            <a:r>
              <a:rPr lang="en-US" sz="2400" dirty="0" err="1" smtClean="0">
                <a:latin typeface="Californian FB" pitchFamily="18" charset="0"/>
              </a:rPr>
              <a:t>equino</a:t>
            </a:r>
            <a:r>
              <a:rPr lang="en-US" sz="2400" dirty="0" smtClean="0">
                <a:latin typeface="Californian FB" pitchFamily="18" charset="0"/>
              </a:rPr>
              <a:t> </a:t>
            </a:r>
            <a:r>
              <a:rPr lang="en-US" sz="2400" dirty="0" err="1" smtClean="0">
                <a:latin typeface="Californian FB" pitchFamily="18" charset="0"/>
              </a:rPr>
              <a:t>varus</a:t>
            </a:r>
            <a:r>
              <a:rPr lang="en-US" sz="2400" dirty="0" smtClean="0">
                <a:latin typeface="Californian FB" pitchFamily="18" charset="0"/>
              </a:rPr>
              <a:t>), the most severe form </a:t>
            </a:r>
          </a:p>
          <a:p>
            <a:pPr lvl="1"/>
            <a:r>
              <a:rPr lang="en-US" sz="2400" dirty="0" smtClean="0">
                <a:latin typeface="Californian FB" pitchFamily="18" charset="0"/>
              </a:rPr>
              <a:t>Sharply angled at the heel (</a:t>
            </a:r>
            <a:r>
              <a:rPr lang="en-US" sz="2400" dirty="0" err="1" smtClean="0">
                <a:latin typeface="Californian FB" pitchFamily="18" charset="0"/>
              </a:rPr>
              <a:t>calcanel</a:t>
            </a:r>
            <a:r>
              <a:rPr lang="en-US" sz="2400" dirty="0" smtClean="0">
                <a:latin typeface="Californian FB" pitchFamily="18" charset="0"/>
              </a:rPr>
              <a:t> </a:t>
            </a:r>
            <a:r>
              <a:rPr lang="en-US" sz="2400" dirty="0" err="1" smtClean="0">
                <a:latin typeface="Californian FB" pitchFamily="18" charset="0"/>
              </a:rPr>
              <a:t>vaigus</a:t>
            </a:r>
            <a:r>
              <a:rPr lang="en-US" sz="2400" dirty="0" smtClean="0">
                <a:latin typeface="Californian FB" pitchFamily="18" charset="0"/>
              </a:rPr>
              <a:t>), most common </a:t>
            </a:r>
          </a:p>
          <a:p>
            <a:pPr lvl="1"/>
            <a:r>
              <a:rPr lang="en-US" sz="2400" dirty="0" smtClean="0">
                <a:latin typeface="Californian FB" pitchFamily="18" charset="0"/>
              </a:rPr>
              <a:t>The front part of the foot turned inward. </a:t>
            </a:r>
          </a:p>
          <a:p>
            <a:r>
              <a:rPr lang="en-US" sz="2400" dirty="0" smtClean="0">
                <a:latin typeface="Californian FB" pitchFamily="18" charset="0"/>
              </a:rPr>
              <a:t>These conditions can be treated with physical therapy, and a cast on the foot can solve the problem in most instances. </a:t>
            </a:r>
          </a:p>
          <a:p>
            <a:r>
              <a:rPr lang="en-US" sz="2400" b="1" dirty="0" smtClean="0">
                <a:solidFill>
                  <a:srgbClr val="FF0000"/>
                </a:solidFill>
                <a:latin typeface="Californian FB" pitchFamily="18" charset="0"/>
              </a:rPr>
              <a:t>Cleft lip and cleft palate</a:t>
            </a:r>
            <a:r>
              <a:rPr lang="en-US" sz="2400" dirty="0" smtClean="0">
                <a:latin typeface="Californian FB" pitchFamily="18" charset="0"/>
              </a:rPr>
              <a:t>:- are openings in the lip or roof of the mouth, respectively, that fail to close before birth, the cause is unknown. Most cleft problems can be repaired through surgery.</a:t>
            </a:r>
          </a:p>
          <a:p>
            <a:endParaRPr lang="en-US" sz="2400" dirty="0">
              <a:latin typeface="Californian FB"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54</a:t>
            </a:fld>
            <a:endParaRPr lang="en-US"/>
          </a:p>
        </p:txBody>
      </p:sp>
    </p:spTree>
  </p:cSld>
  <p:clrMapOvr>
    <a:masterClrMapping/>
  </p:clrMapOvr>
  <p:transition spd="slow">
    <p:wipe dir="u"/>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a:bodyPr>
          <a:lstStyle/>
          <a:p>
            <a:r>
              <a:rPr lang="en-US" sz="3200" b="1" dirty="0" smtClean="0">
                <a:solidFill>
                  <a:srgbClr val="FF0000"/>
                </a:solidFill>
                <a:latin typeface="Californian FB" pitchFamily="18" charset="0"/>
              </a:rPr>
              <a:t>Health Impairments </a:t>
            </a:r>
            <a:endParaRPr lang="en-US" sz="3200" dirty="0">
              <a:solidFill>
                <a:srgbClr val="FF0000"/>
              </a:solidFill>
              <a:latin typeface="Californian FB" pitchFamily="18" charset="0"/>
            </a:endParaRPr>
          </a:p>
        </p:txBody>
      </p:sp>
      <p:sp>
        <p:nvSpPr>
          <p:cNvPr id="3" name="Content Placeholder 2"/>
          <p:cNvSpPr>
            <a:spLocks noGrp="1"/>
          </p:cNvSpPr>
          <p:nvPr>
            <p:ph idx="1"/>
          </p:nvPr>
        </p:nvSpPr>
        <p:spPr>
          <a:xfrm>
            <a:off x="228600" y="1295400"/>
            <a:ext cx="8686800" cy="5334000"/>
          </a:xfrm>
        </p:spPr>
        <p:txBody>
          <a:bodyPr>
            <a:normAutofit fontScale="70000" lnSpcReduction="20000"/>
          </a:bodyPr>
          <a:lstStyle/>
          <a:p>
            <a:r>
              <a:rPr lang="en-US" dirty="0" smtClean="0">
                <a:latin typeface="Californian FB" pitchFamily="18" charset="0"/>
              </a:rPr>
              <a:t>Any disease that interferes with learning can make students eligible for special services. </a:t>
            </a:r>
          </a:p>
          <a:p>
            <a:r>
              <a:rPr lang="en-US" dirty="0" smtClean="0">
                <a:latin typeface="Californian FB" pitchFamily="18" charset="0"/>
              </a:rPr>
              <a:t>These disease caused problems are as follow. </a:t>
            </a:r>
          </a:p>
          <a:p>
            <a:pPr>
              <a:buNone/>
            </a:pPr>
            <a:r>
              <a:rPr lang="en-US" dirty="0" smtClean="0">
                <a:latin typeface="Californian FB" pitchFamily="18" charset="0"/>
              </a:rPr>
              <a:t>1. </a:t>
            </a:r>
            <a:r>
              <a:rPr lang="en-US" b="1" dirty="0" smtClean="0">
                <a:solidFill>
                  <a:srgbClr val="FF0000"/>
                </a:solidFill>
                <a:latin typeface="Californian FB" pitchFamily="18" charset="0"/>
              </a:rPr>
              <a:t>Heart disease</a:t>
            </a:r>
            <a:r>
              <a:rPr lang="en-US" dirty="0" smtClean="0">
                <a:latin typeface="Californian FB" pitchFamily="18" charset="0"/>
              </a:rPr>
              <a:t>:- this is common among young people. It is caused by improper circulation of blood by the heart some of the disorders are congenital )present at birth);others are the product of inflammatory heart disease. Some students have heart value disorders; others have disorders of the blood vessels. </a:t>
            </a:r>
          </a:p>
          <a:p>
            <a:pPr>
              <a:buNone/>
            </a:pPr>
            <a:r>
              <a:rPr lang="en-US" dirty="0" smtClean="0">
                <a:latin typeface="Californian FB" pitchFamily="18" charset="0"/>
              </a:rPr>
              <a:t>2. </a:t>
            </a:r>
            <a:r>
              <a:rPr lang="en-US" b="1" dirty="0" smtClean="0">
                <a:solidFill>
                  <a:srgbClr val="FF0000"/>
                </a:solidFill>
                <a:latin typeface="Californian FB" pitchFamily="18" charset="0"/>
              </a:rPr>
              <a:t>Cystic fibrosis</a:t>
            </a:r>
            <a:r>
              <a:rPr lang="en-US" dirty="0" smtClean="0">
                <a:latin typeface="Californian FB" pitchFamily="18" charset="0"/>
              </a:rPr>
              <a:t>:- is a hereditary disease that affects the lungs and pancreas. </a:t>
            </a:r>
          </a:p>
          <a:p>
            <a:r>
              <a:rPr lang="en-US" dirty="0" smtClean="0">
                <a:latin typeface="Californian FB" pitchFamily="18" charset="0"/>
              </a:rPr>
              <a:t>It leads to recurrent respiratory and digestive problems including abnormal amounts of thick mucus, sweet and saliva. </a:t>
            </a:r>
          </a:p>
          <a:p>
            <a:r>
              <a:rPr lang="en-US" dirty="0" smtClean="0">
                <a:latin typeface="Californian FB" pitchFamily="18" charset="0"/>
              </a:rPr>
              <a:t>The disease is so progressive and few who have it survive beyond age 20. </a:t>
            </a:r>
          </a:p>
          <a:p>
            <a:pPr>
              <a:buNone/>
            </a:pPr>
            <a:r>
              <a:rPr lang="en-US" dirty="0" smtClean="0">
                <a:latin typeface="Californian FB" pitchFamily="18" charset="0"/>
              </a:rPr>
              <a:t>3. </a:t>
            </a:r>
            <a:r>
              <a:rPr lang="en-US" b="1" dirty="0" smtClean="0">
                <a:solidFill>
                  <a:srgbClr val="FF0000"/>
                </a:solidFill>
                <a:latin typeface="Californian FB" pitchFamily="18" charset="0"/>
              </a:rPr>
              <a:t>Acquired immune deficiency syndrome (AIDS</a:t>
            </a:r>
            <a:r>
              <a:rPr lang="en-US" b="1" dirty="0" smtClean="0">
                <a:latin typeface="Californian FB" pitchFamily="18" charset="0"/>
              </a:rPr>
              <a:t>):- </a:t>
            </a:r>
            <a:r>
              <a:rPr lang="en-US" dirty="0" smtClean="0">
                <a:latin typeface="Californian FB" pitchFamily="18" charset="0"/>
              </a:rPr>
              <a:t>is a very severe disease caused by human immunodeficiency virus (HIV) infection and transmitted primarily through exchange of bodily fluids in transfusions or unprotected sex, and by contaminated needles in addictive drug use.</a:t>
            </a:r>
          </a:p>
        </p:txBody>
      </p:sp>
      <p:sp>
        <p:nvSpPr>
          <p:cNvPr id="4" name="Slide Number Placeholder 3"/>
          <p:cNvSpPr>
            <a:spLocks noGrp="1"/>
          </p:cNvSpPr>
          <p:nvPr>
            <p:ph type="sldNum" sz="quarter" idx="12"/>
          </p:nvPr>
        </p:nvSpPr>
        <p:spPr/>
        <p:txBody>
          <a:bodyPr/>
          <a:lstStyle/>
          <a:p>
            <a:fld id="{B6F15528-21DE-4FAA-801E-634DDDAF4B2B}" type="slidenum">
              <a:rPr lang="en-US" smtClean="0"/>
              <a:pPr/>
              <a:t>55</a:t>
            </a:fld>
            <a:endParaRPr lang="en-US"/>
          </a:p>
        </p:txBody>
      </p:sp>
    </p:spTree>
  </p:cSld>
  <p:clrMapOvr>
    <a:masterClrMapping/>
  </p:clrMapOvr>
  <p:transition spd="slow">
    <p:wipe dir="u"/>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pPr algn="r"/>
            <a:r>
              <a:rPr lang="en-US" sz="3200" dirty="0" smtClean="0"/>
              <a:t>Cont…</a:t>
            </a:r>
            <a:endParaRPr lang="en-US" sz="3200" dirty="0"/>
          </a:p>
        </p:txBody>
      </p:sp>
      <p:sp>
        <p:nvSpPr>
          <p:cNvPr id="3" name="Content Placeholder 2"/>
          <p:cNvSpPr>
            <a:spLocks noGrp="1"/>
          </p:cNvSpPr>
          <p:nvPr>
            <p:ph idx="1"/>
          </p:nvPr>
        </p:nvSpPr>
        <p:spPr>
          <a:xfrm>
            <a:off x="228600" y="838200"/>
            <a:ext cx="8686800" cy="5791200"/>
          </a:xfrm>
        </p:spPr>
        <p:txBody>
          <a:bodyPr>
            <a:normAutofit fontScale="85000" lnSpcReduction="20000"/>
          </a:bodyPr>
          <a:lstStyle/>
          <a:p>
            <a:pPr>
              <a:buNone/>
            </a:pPr>
            <a:r>
              <a:rPr lang="en-US" dirty="0" smtClean="0">
                <a:latin typeface="Californian FB" pitchFamily="18" charset="0"/>
              </a:rPr>
              <a:t>4. </a:t>
            </a:r>
            <a:r>
              <a:rPr lang="en-US" b="1" dirty="0" smtClean="0">
                <a:solidFill>
                  <a:srgbClr val="FF0000"/>
                </a:solidFill>
                <a:latin typeface="Californian FB" pitchFamily="18" charset="0"/>
              </a:rPr>
              <a:t>Hemophilia</a:t>
            </a:r>
            <a:r>
              <a:rPr lang="en-US" dirty="0" smtClean="0">
                <a:latin typeface="Californian FB" pitchFamily="18" charset="0"/>
              </a:rPr>
              <a:t>:- is a hereditary disease in which the blood clots very slowly or not all. </a:t>
            </a:r>
          </a:p>
          <a:p>
            <a:pPr lvl="1"/>
            <a:r>
              <a:rPr lang="en-US" dirty="0" smtClean="0">
                <a:latin typeface="Californian FB" pitchFamily="18" charset="0"/>
              </a:rPr>
              <a:t>The disorder is transmitted by sex-linked recessive gene and nearly always occurs in males. </a:t>
            </a:r>
          </a:p>
          <a:p>
            <a:pPr>
              <a:buNone/>
            </a:pPr>
            <a:r>
              <a:rPr lang="en-US" dirty="0" smtClean="0">
                <a:latin typeface="Californian FB" pitchFamily="18" charset="0"/>
              </a:rPr>
              <a:t>5. </a:t>
            </a:r>
            <a:r>
              <a:rPr lang="en-US" b="1" dirty="0" smtClean="0">
                <a:solidFill>
                  <a:srgbClr val="FF0000"/>
                </a:solidFill>
                <a:latin typeface="Californian FB" pitchFamily="18" charset="0"/>
              </a:rPr>
              <a:t>Asthma</a:t>
            </a:r>
            <a:r>
              <a:rPr lang="en-US" dirty="0" smtClean="0">
                <a:latin typeface="Californian FB" pitchFamily="18" charset="0"/>
              </a:rPr>
              <a:t>: is a chronic respiratory condition characterized by repeated episodes of breathing difficulties especially while exhaling. </a:t>
            </a:r>
          </a:p>
          <a:p>
            <a:pPr>
              <a:buNone/>
            </a:pPr>
            <a:r>
              <a:rPr lang="en-US" dirty="0" smtClean="0">
                <a:latin typeface="Californian FB" pitchFamily="18" charset="0"/>
              </a:rPr>
              <a:t>6. </a:t>
            </a:r>
            <a:r>
              <a:rPr lang="en-US" b="1" dirty="0" smtClean="0">
                <a:solidFill>
                  <a:srgbClr val="FF0000"/>
                </a:solidFill>
                <a:latin typeface="Californian FB" pitchFamily="18" charset="0"/>
              </a:rPr>
              <a:t>Diabetes</a:t>
            </a:r>
            <a:r>
              <a:rPr lang="en-US" dirty="0" smtClean="0">
                <a:latin typeface="Californian FB" pitchFamily="18" charset="0"/>
              </a:rPr>
              <a:t>: Developmental or hereditary disorder characterized by inadequate secretion or use of insulin </a:t>
            </a:r>
          </a:p>
          <a:p>
            <a:pPr>
              <a:buNone/>
            </a:pPr>
            <a:r>
              <a:rPr lang="en-US" dirty="0" smtClean="0">
                <a:latin typeface="Californian FB" pitchFamily="18" charset="0"/>
              </a:rPr>
              <a:t>7. </a:t>
            </a:r>
            <a:r>
              <a:rPr lang="en-US" b="1" dirty="0" err="1" smtClean="0">
                <a:solidFill>
                  <a:srgbClr val="FF0000"/>
                </a:solidFill>
                <a:latin typeface="Californian FB" pitchFamily="18" charset="0"/>
              </a:rPr>
              <a:t>Nephrosis</a:t>
            </a:r>
            <a:r>
              <a:rPr lang="en-US" b="1" dirty="0" smtClean="0">
                <a:solidFill>
                  <a:srgbClr val="FF0000"/>
                </a:solidFill>
                <a:latin typeface="Californian FB" pitchFamily="18" charset="0"/>
              </a:rPr>
              <a:t> &amp; Nephritis </a:t>
            </a:r>
            <a:r>
              <a:rPr lang="en-US" dirty="0" smtClean="0">
                <a:latin typeface="Californian FB" pitchFamily="18" charset="0"/>
              </a:rPr>
              <a:t>Kidney disorders or diseases caused by infections, poisoning, burns, accidents or other diseases </a:t>
            </a:r>
          </a:p>
          <a:p>
            <a:pPr>
              <a:buNone/>
            </a:pPr>
            <a:r>
              <a:rPr lang="en-US" dirty="0" smtClean="0">
                <a:latin typeface="Californian FB" pitchFamily="18" charset="0"/>
              </a:rPr>
              <a:t>8. </a:t>
            </a:r>
            <a:r>
              <a:rPr lang="en-US" b="1" dirty="0" smtClean="0">
                <a:solidFill>
                  <a:srgbClr val="FF0000"/>
                </a:solidFill>
                <a:latin typeface="Californian FB" pitchFamily="18" charset="0"/>
              </a:rPr>
              <a:t>Sickle-cell anemia</a:t>
            </a:r>
            <a:r>
              <a:rPr lang="en-US" dirty="0" smtClean="0">
                <a:solidFill>
                  <a:srgbClr val="FF0000"/>
                </a:solidFill>
                <a:latin typeface="Californian FB" pitchFamily="18" charset="0"/>
              </a:rPr>
              <a:t> </a:t>
            </a:r>
            <a:r>
              <a:rPr lang="en-US" dirty="0" smtClean="0">
                <a:latin typeface="Californian FB" pitchFamily="18" charset="0"/>
              </a:rPr>
              <a:t>Hereditary and chronic blood disease (occurring primarily in African Americans) characterized by red blood cells that are distorted and that do not circulate properly</a:t>
            </a:r>
          </a:p>
        </p:txBody>
      </p:sp>
      <p:sp>
        <p:nvSpPr>
          <p:cNvPr id="4" name="Slide Number Placeholder 3"/>
          <p:cNvSpPr>
            <a:spLocks noGrp="1"/>
          </p:cNvSpPr>
          <p:nvPr>
            <p:ph type="sldNum" sz="quarter" idx="12"/>
          </p:nvPr>
        </p:nvSpPr>
        <p:spPr/>
        <p:txBody>
          <a:bodyPr/>
          <a:lstStyle/>
          <a:p>
            <a:fld id="{B6F15528-21DE-4FAA-801E-634DDDAF4B2B}" type="slidenum">
              <a:rPr lang="en-US" smtClean="0"/>
              <a:pPr/>
              <a:t>56</a:t>
            </a:fld>
            <a:endParaRPr lang="en-US"/>
          </a:p>
        </p:txBody>
      </p:sp>
    </p:spTree>
  </p:cSld>
  <p:clrMapOvr>
    <a:masterClrMapping/>
  </p:clrMapOvr>
  <p:transition spd="slow">
    <p:wipe dir="u"/>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pPr algn="r"/>
            <a:r>
              <a:rPr lang="en-US" sz="3200" dirty="0" smtClean="0"/>
              <a:t>Cont…</a:t>
            </a:r>
            <a:endParaRPr lang="en-US" sz="3200" dirty="0"/>
          </a:p>
        </p:txBody>
      </p:sp>
      <p:sp>
        <p:nvSpPr>
          <p:cNvPr id="3" name="Content Placeholder 2"/>
          <p:cNvSpPr>
            <a:spLocks noGrp="1"/>
          </p:cNvSpPr>
          <p:nvPr>
            <p:ph idx="1"/>
          </p:nvPr>
        </p:nvSpPr>
        <p:spPr>
          <a:xfrm>
            <a:off x="228600" y="838200"/>
            <a:ext cx="8458200" cy="5287963"/>
          </a:xfrm>
        </p:spPr>
        <p:txBody>
          <a:bodyPr>
            <a:normAutofit lnSpcReduction="10000"/>
          </a:bodyPr>
          <a:lstStyle/>
          <a:p>
            <a:pPr>
              <a:buNone/>
            </a:pPr>
            <a:r>
              <a:rPr lang="en-US" sz="2800" dirty="0" smtClean="0">
                <a:latin typeface="Californian FB" pitchFamily="18" charset="0"/>
              </a:rPr>
              <a:t>9. </a:t>
            </a:r>
            <a:r>
              <a:rPr lang="en-US" sz="2800" b="1" dirty="0" smtClean="0">
                <a:solidFill>
                  <a:srgbClr val="FF0000"/>
                </a:solidFill>
                <a:latin typeface="Californian FB" pitchFamily="18" charset="0"/>
              </a:rPr>
              <a:t>Leukemia</a:t>
            </a:r>
            <a:r>
              <a:rPr lang="en-US" sz="2800" dirty="0" smtClean="0">
                <a:latin typeface="Californian FB" pitchFamily="18" charset="0"/>
              </a:rPr>
              <a:t>: Disease characterized by excessive production of white blood Cells </a:t>
            </a:r>
          </a:p>
          <a:p>
            <a:pPr>
              <a:buNone/>
            </a:pPr>
            <a:r>
              <a:rPr lang="en-US" sz="2800" dirty="0" smtClean="0">
                <a:latin typeface="Californian FB" pitchFamily="18" charset="0"/>
              </a:rPr>
              <a:t>10. </a:t>
            </a:r>
            <a:r>
              <a:rPr lang="en-US" sz="2800" b="1" dirty="0" smtClean="0">
                <a:solidFill>
                  <a:srgbClr val="FF0000"/>
                </a:solidFill>
                <a:latin typeface="Californian FB" pitchFamily="18" charset="0"/>
              </a:rPr>
              <a:t>Lead poisoning Disorder </a:t>
            </a:r>
            <a:r>
              <a:rPr lang="en-US" sz="2800" dirty="0" smtClean="0">
                <a:latin typeface="Californian FB" pitchFamily="18" charset="0"/>
              </a:rPr>
              <a:t>caused by ingesting lead-based paint chips or other substances containing lead </a:t>
            </a:r>
          </a:p>
          <a:p>
            <a:pPr>
              <a:buNone/>
            </a:pPr>
            <a:r>
              <a:rPr lang="en-US" sz="2800" dirty="0" smtClean="0">
                <a:latin typeface="Californian FB" pitchFamily="18" charset="0"/>
              </a:rPr>
              <a:t>11. </a:t>
            </a:r>
            <a:r>
              <a:rPr lang="en-US" sz="2800" b="1" dirty="0" smtClean="0">
                <a:solidFill>
                  <a:srgbClr val="FF0000"/>
                </a:solidFill>
                <a:latin typeface="Californian FB" pitchFamily="18" charset="0"/>
              </a:rPr>
              <a:t>Rheumatic fever Disease </a:t>
            </a:r>
            <a:r>
              <a:rPr lang="en-US" sz="2800" dirty="0" smtClean="0">
                <a:latin typeface="Californian FB" pitchFamily="18" charset="0"/>
              </a:rPr>
              <a:t>characterized by painful swelling and inflammation of the joints that can spread to the heart and central nervous system. </a:t>
            </a:r>
          </a:p>
          <a:p>
            <a:pPr>
              <a:buNone/>
            </a:pPr>
            <a:r>
              <a:rPr lang="en-US" sz="2800" dirty="0" smtClean="0">
                <a:latin typeface="Californian FB" pitchFamily="18" charset="0"/>
              </a:rPr>
              <a:t>12. </a:t>
            </a:r>
            <a:r>
              <a:rPr lang="en-US" sz="2800" b="1" dirty="0" smtClean="0">
                <a:solidFill>
                  <a:srgbClr val="FF0000"/>
                </a:solidFill>
                <a:latin typeface="Californian FB" pitchFamily="18" charset="0"/>
              </a:rPr>
              <a:t>Tuberculosis Infectious disease </a:t>
            </a:r>
            <a:r>
              <a:rPr lang="en-US" sz="2800" dirty="0" smtClean="0">
                <a:latin typeface="Californian FB" pitchFamily="18" charset="0"/>
              </a:rPr>
              <a:t>that commonly affects the lungs and may affect other tissues of the body. </a:t>
            </a:r>
          </a:p>
          <a:p>
            <a:pPr>
              <a:buNone/>
            </a:pPr>
            <a:r>
              <a:rPr lang="en-US" sz="2800" dirty="0" smtClean="0">
                <a:latin typeface="Californian FB" pitchFamily="18" charset="0"/>
              </a:rPr>
              <a:t>13. </a:t>
            </a:r>
            <a:r>
              <a:rPr lang="en-US" sz="2800" b="1" dirty="0" smtClean="0">
                <a:solidFill>
                  <a:srgbClr val="FF0000"/>
                </a:solidFill>
                <a:latin typeface="Californian FB" pitchFamily="18" charset="0"/>
              </a:rPr>
              <a:t>Cancer Abnormal</a:t>
            </a:r>
            <a:r>
              <a:rPr lang="en-US" sz="2800" dirty="0" smtClean="0">
                <a:latin typeface="Californian FB" pitchFamily="18" charset="0"/>
              </a:rPr>
              <a:t> growth of cells that can affect any organ system</a:t>
            </a:r>
          </a:p>
          <a:p>
            <a:pPr>
              <a:buNone/>
            </a:pPr>
            <a:endParaRPr lang="en-US" sz="2800" dirty="0">
              <a:latin typeface="Californian FB"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57</a:t>
            </a:fld>
            <a:endParaRPr lang="en-US"/>
          </a:p>
        </p:txBody>
      </p:sp>
    </p:spTree>
  </p:cSld>
  <p:clrMapOvr>
    <a:masterClrMapping/>
  </p:clrMapOvr>
  <p:transition spd="slow">
    <p:wipe dir="u"/>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a:bodyPr>
          <a:lstStyle/>
          <a:p>
            <a:r>
              <a:rPr lang="en-US" sz="3300" b="1" dirty="0" smtClean="0">
                <a:solidFill>
                  <a:srgbClr val="FF0000"/>
                </a:solidFill>
                <a:latin typeface="Californian FB" pitchFamily="18" charset="0"/>
              </a:rPr>
              <a:t>9. Vulnerability</a:t>
            </a:r>
            <a:endParaRPr lang="en-US" sz="3300" dirty="0">
              <a:solidFill>
                <a:srgbClr val="FF0000"/>
              </a:solidFill>
              <a:latin typeface="Californian FB" pitchFamily="18" charset="0"/>
            </a:endParaRPr>
          </a:p>
        </p:txBody>
      </p:sp>
      <p:sp>
        <p:nvSpPr>
          <p:cNvPr id="3" name="Content Placeholder 2"/>
          <p:cNvSpPr>
            <a:spLocks noGrp="1"/>
          </p:cNvSpPr>
          <p:nvPr>
            <p:ph idx="1"/>
          </p:nvPr>
        </p:nvSpPr>
        <p:spPr>
          <a:xfrm>
            <a:off x="228600" y="990600"/>
            <a:ext cx="8763000" cy="5638800"/>
          </a:xfrm>
        </p:spPr>
        <p:txBody>
          <a:bodyPr>
            <a:normAutofit/>
          </a:bodyPr>
          <a:lstStyle/>
          <a:p>
            <a:r>
              <a:rPr lang="en-US" sz="2500" dirty="0" smtClean="0">
                <a:latin typeface="Californian FB" pitchFamily="18" charset="0"/>
              </a:rPr>
              <a:t>Vulnerable means being at risk of being </a:t>
            </a:r>
            <a:r>
              <a:rPr lang="en-US" sz="2500" b="1" dirty="0" smtClean="0">
                <a:solidFill>
                  <a:srgbClr val="FF0000"/>
                </a:solidFill>
                <a:latin typeface="Californian FB" pitchFamily="18" charset="0"/>
              </a:rPr>
              <a:t>harmed</a:t>
            </a:r>
            <a:r>
              <a:rPr lang="en-US" sz="2500" dirty="0" smtClean="0">
                <a:latin typeface="Californian FB" pitchFamily="18" charset="0"/>
              </a:rPr>
              <a:t>. </a:t>
            </a:r>
          </a:p>
          <a:p>
            <a:pPr lvl="1"/>
            <a:r>
              <a:rPr lang="en-US" sz="2500" dirty="0" smtClean="0">
                <a:latin typeface="Californian FB" pitchFamily="18" charset="0"/>
              </a:rPr>
              <a:t>Everyone can be harmed, so being  vulnerable is part of being human. </a:t>
            </a:r>
          </a:p>
          <a:p>
            <a:pPr lvl="1"/>
            <a:r>
              <a:rPr lang="en-US" sz="2500" dirty="0" smtClean="0">
                <a:latin typeface="Californian FB" pitchFamily="18" charset="0"/>
              </a:rPr>
              <a:t>In principle, </a:t>
            </a:r>
            <a:r>
              <a:rPr lang="en-US" sz="2500" b="1" dirty="0" smtClean="0">
                <a:solidFill>
                  <a:srgbClr val="FF0000"/>
                </a:solidFill>
                <a:latin typeface="Californian FB" pitchFamily="18" charset="0"/>
              </a:rPr>
              <a:t>everyone is vulnerable </a:t>
            </a:r>
            <a:r>
              <a:rPr lang="en-US" sz="2500" dirty="0" smtClean="0">
                <a:latin typeface="Californian FB" pitchFamily="18" charset="0"/>
              </a:rPr>
              <a:t>to some adverse event or circumstance, but some people are more vulnerable than others. </a:t>
            </a:r>
          </a:p>
          <a:p>
            <a:r>
              <a:rPr lang="en-US" sz="2500" dirty="0" smtClean="0">
                <a:latin typeface="Californian FB" pitchFamily="18" charset="0"/>
              </a:rPr>
              <a:t>For instance, </a:t>
            </a:r>
            <a:r>
              <a:rPr lang="en-US" sz="2500" b="1" dirty="0" smtClean="0">
                <a:solidFill>
                  <a:srgbClr val="FF0000"/>
                </a:solidFill>
                <a:latin typeface="Californian FB" pitchFamily="18" charset="0"/>
              </a:rPr>
              <a:t>people with disabilities </a:t>
            </a:r>
            <a:r>
              <a:rPr lang="en-US" sz="2500" dirty="0" smtClean="0">
                <a:latin typeface="Californian FB" pitchFamily="18" charset="0"/>
              </a:rPr>
              <a:t>are more likely as a group to experience greater vulnerability. They are also often more severely affected by the vulnerability they experience. </a:t>
            </a:r>
          </a:p>
          <a:p>
            <a:r>
              <a:rPr lang="en-US" sz="2800" dirty="0">
                <a:latin typeface="Californian FB" pitchFamily="18" charset="0"/>
              </a:rPr>
              <a:t>When people are socially disadvantaged or lack political voice, their vulnerability is exacerbated further</a:t>
            </a:r>
            <a:r>
              <a:rPr lang="en-US" sz="2800" dirty="0" smtClean="0">
                <a:latin typeface="Californian FB" pitchFamily="18" charset="0"/>
              </a:rPr>
              <a:t>.</a:t>
            </a:r>
            <a:endParaRPr lang="en-US" sz="2500" dirty="0" smtClean="0">
              <a:latin typeface="Californian FB"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58</a:t>
            </a:fld>
            <a:endParaRPr lang="en-US"/>
          </a:p>
        </p:txBody>
      </p:sp>
    </p:spTree>
  </p:cSld>
  <p:clrMapOvr>
    <a:masterClrMapping/>
  </p:clrMapOvr>
  <p:transition spd="slow">
    <p:wipe dir="u"/>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pPr algn="r"/>
            <a:r>
              <a:rPr lang="en-US" sz="2800" dirty="0" smtClean="0"/>
              <a:t>Cont…</a:t>
            </a:r>
            <a:endParaRPr lang="en-US" sz="2800" dirty="0"/>
          </a:p>
        </p:txBody>
      </p:sp>
      <p:sp>
        <p:nvSpPr>
          <p:cNvPr id="3" name="Content Placeholder 2"/>
          <p:cNvSpPr>
            <a:spLocks noGrp="1"/>
          </p:cNvSpPr>
          <p:nvPr>
            <p:ph idx="1"/>
          </p:nvPr>
        </p:nvSpPr>
        <p:spPr>
          <a:xfrm>
            <a:off x="228600" y="762000"/>
            <a:ext cx="8686800" cy="5867400"/>
          </a:xfrm>
        </p:spPr>
        <p:txBody>
          <a:bodyPr>
            <a:noAutofit/>
          </a:bodyPr>
          <a:lstStyle/>
          <a:p>
            <a:pPr marL="0" indent="0">
              <a:buNone/>
            </a:pPr>
            <a:r>
              <a:rPr lang="en-US" sz="2000" dirty="0" smtClean="0">
                <a:latin typeface="Californian FB" pitchFamily="18" charset="0"/>
              </a:rPr>
              <a:t>Vulnerability </a:t>
            </a:r>
            <a:r>
              <a:rPr lang="en-US" sz="2000" dirty="0">
                <a:latin typeface="Californian FB" pitchFamily="18" charset="0"/>
              </a:rPr>
              <a:t>can be generally defined as a complex phenomenon that refers to the following dimensions:</a:t>
            </a:r>
            <a:endParaRPr lang="en-US" sz="2000" b="1" dirty="0" smtClean="0">
              <a:solidFill>
                <a:srgbClr val="FF0000"/>
              </a:solidFill>
              <a:latin typeface="Californian FB" pitchFamily="18" charset="0"/>
            </a:endParaRPr>
          </a:p>
          <a:p>
            <a:pPr marL="571500" indent="-571500">
              <a:buFont typeface="+mj-lt"/>
              <a:buAutoNum type="romanUcPeriod"/>
            </a:pPr>
            <a:r>
              <a:rPr lang="en-US" sz="2000" b="1" dirty="0" smtClean="0">
                <a:solidFill>
                  <a:srgbClr val="FF0000"/>
                </a:solidFill>
                <a:latin typeface="Californian FB" pitchFamily="18" charset="0"/>
              </a:rPr>
              <a:t>Economic difficulties/lack of financial resources</a:t>
            </a:r>
            <a:r>
              <a:rPr lang="en-US" sz="2000" dirty="0" smtClean="0">
                <a:latin typeface="Californian FB" pitchFamily="18" charset="0"/>
              </a:rPr>
              <a:t>: poverty, low living standards, housing problems (e.g. too damp, too expensive, too cold or difficult to heat) etc.;  </a:t>
            </a:r>
          </a:p>
          <a:p>
            <a:pPr marL="571500" indent="-571500">
              <a:buFont typeface="+mj-lt"/>
              <a:buAutoNum type="romanUcPeriod"/>
            </a:pPr>
            <a:r>
              <a:rPr lang="en-US" sz="2000" b="1" dirty="0" smtClean="0">
                <a:solidFill>
                  <a:srgbClr val="FF0000"/>
                </a:solidFill>
                <a:latin typeface="Californian FB" pitchFamily="18" charset="0"/>
              </a:rPr>
              <a:t>Social exclusion</a:t>
            </a:r>
            <a:r>
              <a:rPr lang="en-US" sz="2000" dirty="0" smtClean="0">
                <a:latin typeface="Californian FB" pitchFamily="18" charset="0"/>
              </a:rPr>
              <a:t>: limited access to facilities such as </a:t>
            </a:r>
            <a:r>
              <a:rPr lang="en-US" sz="2000" dirty="0" err="1" smtClean="0">
                <a:latin typeface="Californian FB" pitchFamily="18" charset="0"/>
              </a:rPr>
              <a:t>transporatation</a:t>
            </a:r>
            <a:r>
              <a:rPr lang="en-US" sz="2000" dirty="0" smtClean="0">
                <a:latin typeface="Californian FB" pitchFamily="18" charset="0"/>
              </a:rPr>
              <a:t>, schools, libraries or medical services;  </a:t>
            </a:r>
          </a:p>
          <a:p>
            <a:pPr marL="571500" indent="-571500">
              <a:buFont typeface="+mj-lt"/>
              <a:buAutoNum type="romanUcPeriod"/>
            </a:pPr>
            <a:r>
              <a:rPr lang="en-US" sz="2000" b="1" dirty="0" smtClean="0">
                <a:solidFill>
                  <a:srgbClr val="FF0000"/>
                </a:solidFill>
                <a:latin typeface="Californian FB" pitchFamily="18" charset="0"/>
              </a:rPr>
              <a:t>Lack of social support </a:t>
            </a:r>
            <a:r>
              <a:rPr lang="en-US" sz="2000" dirty="0" smtClean="0">
                <a:latin typeface="Californian FB" pitchFamily="18" charset="0"/>
              </a:rPr>
              <a:t>from social networks: no assistance from family members, friends, neighbors or colleagues (referring to practical help as well as emotional support) like highly gifted individuals; </a:t>
            </a:r>
          </a:p>
          <a:p>
            <a:pPr marL="571500" indent="-571500">
              <a:buFont typeface="+mj-lt"/>
              <a:buAutoNum type="romanUcPeriod"/>
            </a:pPr>
            <a:r>
              <a:rPr lang="en-US" sz="2000" b="1" dirty="0" smtClean="0">
                <a:solidFill>
                  <a:srgbClr val="FF0000"/>
                </a:solidFill>
                <a:latin typeface="Californian FB" pitchFamily="18" charset="0"/>
              </a:rPr>
              <a:t>Stigmatization</a:t>
            </a:r>
            <a:r>
              <a:rPr lang="en-US" sz="2000" dirty="0" smtClean="0">
                <a:latin typeface="Californian FB" pitchFamily="18" charset="0"/>
              </a:rPr>
              <a:t>: being a victim of stereotypes, being devalued, confronted with disgraceful behavior because of belonging to a particular social or ethnic group;  </a:t>
            </a:r>
          </a:p>
          <a:p>
            <a:pPr marL="571500" indent="-571500">
              <a:buFont typeface="+mj-lt"/>
              <a:buAutoNum type="romanUcPeriod"/>
            </a:pPr>
            <a:r>
              <a:rPr lang="en-US" sz="2000" b="1" dirty="0" smtClean="0">
                <a:solidFill>
                  <a:srgbClr val="FF0000"/>
                </a:solidFill>
                <a:latin typeface="Californian FB" pitchFamily="18" charset="0"/>
              </a:rPr>
              <a:t>Health difficulties</a:t>
            </a:r>
            <a:r>
              <a:rPr lang="en-US" sz="2000" dirty="0" smtClean="0">
                <a:latin typeface="Californian FB" pitchFamily="18" charset="0"/>
              </a:rPr>
              <a:t>: disadvantages resulting from poor mental health, physical health or disabilities;  </a:t>
            </a:r>
          </a:p>
          <a:p>
            <a:pPr marL="571500" indent="-571500">
              <a:buFont typeface="+mj-lt"/>
              <a:buAutoNum type="romanUcPeriod"/>
            </a:pPr>
            <a:r>
              <a:rPr lang="en-US" sz="2000" b="1" dirty="0" smtClean="0">
                <a:solidFill>
                  <a:srgbClr val="FF0000"/>
                </a:solidFill>
                <a:latin typeface="Californian FB" pitchFamily="18" charset="0"/>
              </a:rPr>
              <a:t>Being a victim of crime</a:t>
            </a:r>
            <a:r>
              <a:rPr lang="en-US" sz="2000" dirty="0" smtClean="0">
                <a:latin typeface="Californian FB" pitchFamily="18" charset="0"/>
              </a:rPr>
              <a:t>: in family context especially of violence.</a:t>
            </a:r>
            <a:endParaRPr lang="en-US" sz="2000" dirty="0">
              <a:latin typeface="Californian FB"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59</a:t>
            </a:fld>
            <a:endParaRPr lang="en-US"/>
          </a:p>
        </p:txBody>
      </p:sp>
    </p:spTree>
  </p:cSld>
  <p:clrMapOvr>
    <a:masterClrMapping/>
  </p:clrMapOvr>
  <p:transition spd="slow">
    <p:wipe dir="u"/>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639762"/>
          </a:xfrm>
        </p:spPr>
        <p:txBody>
          <a:bodyPr>
            <a:normAutofit/>
          </a:bodyPr>
          <a:lstStyle/>
          <a:p>
            <a:r>
              <a:rPr lang="en-US" sz="3200" b="1" dirty="0" smtClean="0">
                <a:solidFill>
                  <a:srgbClr val="FF0000"/>
                </a:solidFill>
                <a:latin typeface="Californian FB" pitchFamily="18" charset="0"/>
              </a:rPr>
              <a:t>Causes of Vulnerability </a:t>
            </a:r>
            <a:endParaRPr lang="en-US" sz="3200" dirty="0">
              <a:solidFill>
                <a:srgbClr val="FF0000"/>
              </a:solidFill>
              <a:latin typeface="Californian FB" pitchFamily="18" charset="0"/>
            </a:endParaRPr>
          </a:p>
        </p:txBody>
      </p:sp>
      <p:sp>
        <p:nvSpPr>
          <p:cNvPr id="3" name="Content Placeholder 2"/>
          <p:cNvSpPr>
            <a:spLocks noGrp="1"/>
          </p:cNvSpPr>
          <p:nvPr>
            <p:ph idx="1"/>
          </p:nvPr>
        </p:nvSpPr>
        <p:spPr>
          <a:xfrm>
            <a:off x="228600" y="685800"/>
            <a:ext cx="8686800" cy="5943600"/>
          </a:xfrm>
        </p:spPr>
        <p:txBody>
          <a:bodyPr>
            <a:noAutofit/>
          </a:bodyPr>
          <a:lstStyle/>
          <a:p>
            <a:r>
              <a:rPr lang="en-US" sz="2800" dirty="0" smtClean="0">
                <a:latin typeface="Californian FB" pitchFamily="18" charset="0"/>
              </a:rPr>
              <a:t>Vulnerability may be causes by </a:t>
            </a:r>
          </a:p>
          <a:p>
            <a:pPr lvl="1"/>
            <a:r>
              <a:rPr lang="en-US" sz="2000" dirty="0" smtClean="0">
                <a:latin typeface="Californian FB" pitchFamily="18" charset="0"/>
              </a:rPr>
              <a:t>rapid population growth, </a:t>
            </a:r>
          </a:p>
          <a:p>
            <a:pPr lvl="1"/>
            <a:r>
              <a:rPr lang="en-US" sz="2000" dirty="0" smtClean="0">
                <a:latin typeface="Californian FB" pitchFamily="18" charset="0"/>
              </a:rPr>
              <a:t>poverty and hunger, </a:t>
            </a:r>
          </a:p>
          <a:p>
            <a:pPr lvl="1"/>
            <a:r>
              <a:rPr lang="en-US" sz="2000" dirty="0" smtClean="0">
                <a:latin typeface="Californian FB" pitchFamily="18" charset="0"/>
              </a:rPr>
              <a:t>poor health,  </a:t>
            </a:r>
          </a:p>
          <a:p>
            <a:pPr lvl="1"/>
            <a:r>
              <a:rPr lang="en-US" sz="2000" dirty="0" smtClean="0">
                <a:latin typeface="Californian FB" pitchFamily="18" charset="0"/>
              </a:rPr>
              <a:t>low levels of education, </a:t>
            </a:r>
          </a:p>
          <a:p>
            <a:pPr lvl="1"/>
            <a:r>
              <a:rPr lang="en-US" sz="2000" dirty="0" smtClean="0">
                <a:latin typeface="Californian FB" pitchFamily="18" charset="0"/>
              </a:rPr>
              <a:t>gender inequality, </a:t>
            </a:r>
          </a:p>
          <a:p>
            <a:pPr lvl="1"/>
            <a:r>
              <a:rPr lang="en-US" sz="2000" dirty="0" smtClean="0">
                <a:latin typeface="Californian FB" pitchFamily="18" charset="0"/>
              </a:rPr>
              <a:t>fragile and hazardous location, and </a:t>
            </a:r>
          </a:p>
          <a:p>
            <a:pPr lvl="1"/>
            <a:r>
              <a:rPr lang="en-US" sz="2000" dirty="0" smtClean="0">
                <a:latin typeface="Californian FB" pitchFamily="18" charset="0"/>
              </a:rPr>
              <a:t>lack of access to resources and services, including knowledge and technological means, disintegration of social patterns (social vulnerability). </a:t>
            </a:r>
          </a:p>
          <a:p>
            <a:r>
              <a:rPr lang="en-US" sz="2400" dirty="0" smtClean="0">
                <a:latin typeface="Californian FB" pitchFamily="18" charset="0"/>
              </a:rPr>
              <a:t>Other causes includes</a:t>
            </a:r>
          </a:p>
          <a:p>
            <a:pPr lvl="1"/>
            <a:r>
              <a:rPr lang="en-US" sz="2000" dirty="0" smtClean="0">
                <a:latin typeface="Californian FB" pitchFamily="18" charset="0"/>
              </a:rPr>
              <a:t> lack of access to information and knowledge, </a:t>
            </a:r>
          </a:p>
          <a:p>
            <a:pPr lvl="1"/>
            <a:r>
              <a:rPr lang="en-US" sz="2000" dirty="0" smtClean="0">
                <a:latin typeface="Californian FB" pitchFamily="18" charset="0"/>
              </a:rPr>
              <a:t>lack of public awareness, </a:t>
            </a:r>
          </a:p>
          <a:p>
            <a:pPr lvl="1"/>
            <a:r>
              <a:rPr lang="en-US" sz="2000" dirty="0" smtClean="0">
                <a:latin typeface="Californian FB" pitchFamily="18" charset="0"/>
              </a:rPr>
              <a:t>limited access to political power and representation (political vulnerability) (Aysan,1993). </a:t>
            </a:r>
          </a:p>
        </p:txBody>
      </p:sp>
      <p:sp>
        <p:nvSpPr>
          <p:cNvPr id="4" name="Slide Number Placeholder 3"/>
          <p:cNvSpPr>
            <a:spLocks noGrp="1"/>
          </p:cNvSpPr>
          <p:nvPr>
            <p:ph type="sldNum" sz="quarter" idx="12"/>
          </p:nvPr>
        </p:nvSpPr>
        <p:spPr/>
        <p:txBody>
          <a:bodyPr/>
          <a:lstStyle/>
          <a:p>
            <a:fld id="{B6F15528-21DE-4FAA-801E-634DDDAF4B2B}" type="slidenum">
              <a:rPr lang="en-US" smtClean="0"/>
              <a:pPr/>
              <a:t>60</a:t>
            </a:fld>
            <a:endParaRPr lang="en-US"/>
          </a:p>
        </p:txBody>
      </p:sp>
    </p:spTree>
  </p:cSld>
  <p:clrMapOvr>
    <a:masterClrMapping/>
  </p:clrMapOvr>
  <p:transition spd="slow">
    <p:wipe dir="u"/>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a:bodyPr>
          <a:lstStyle/>
          <a:p>
            <a:r>
              <a:rPr lang="en-US" sz="3600" b="1" dirty="0" smtClean="0">
                <a:solidFill>
                  <a:srgbClr val="FF0000"/>
                </a:solidFill>
                <a:latin typeface="Californian FB" pitchFamily="18" charset="0"/>
              </a:rPr>
              <a:t>Characteristics of Vulnerable People</a:t>
            </a:r>
            <a:endParaRPr lang="en-US" sz="3600" dirty="0">
              <a:solidFill>
                <a:srgbClr val="FF0000"/>
              </a:solidFill>
              <a:latin typeface="Californian FB" pitchFamily="18" charset="0"/>
            </a:endParaRPr>
          </a:p>
        </p:txBody>
      </p:sp>
      <p:sp>
        <p:nvSpPr>
          <p:cNvPr id="3" name="Content Placeholder 2"/>
          <p:cNvSpPr>
            <a:spLocks noGrp="1"/>
          </p:cNvSpPr>
          <p:nvPr>
            <p:ph idx="1"/>
          </p:nvPr>
        </p:nvSpPr>
        <p:spPr>
          <a:xfrm>
            <a:off x="152400" y="1143000"/>
            <a:ext cx="8763000" cy="5486400"/>
          </a:xfrm>
        </p:spPr>
        <p:txBody>
          <a:bodyPr>
            <a:normAutofit/>
          </a:bodyPr>
          <a:lstStyle/>
          <a:p>
            <a:r>
              <a:rPr lang="en-US" sz="2700" dirty="0" smtClean="0">
                <a:latin typeface="Californian FB" pitchFamily="18" charset="0"/>
              </a:rPr>
              <a:t>The following are thought to be characteristics of vulnerable people (with examples of  groups of potentially vulnerable people):</a:t>
            </a:r>
          </a:p>
          <a:p>
            <a:pPr marL="1314450" lvl="2" indent="-514350">
              <a:buFont typeface="+mj-lt"/>
              <a:buAutoNum type="arabicPeriod"/>
            </a:pPr>
            <a:r>
              <a:rPr lang="en-US" sz="2700" b="1" dirty="0" smtClean="0">
                <a:solidFill>
                  <a:srgbClr val="FF0000"/>
                </a:solidFill>
                <a:latin typeface="Californian FB" pitchFamily="18" charset="0"/>
              </a:rPr>
              <a:t>Less physically or mentally capable </a:t>
            </a:r>
            <a:r>
              <a:rPr lang="en-US" sz="2700" dirty="0" smtClean="0">
                <a:latin typeface="Californian FB" pitchFamily="18" charset="0"/>
              </a:rPr>
              <a:t>(infants, older adults, people with disabilities)</a:t>
            </a:r>
          </a:p>
          <a:p>
            <a:pPr marL="1314450" lvl="2" indent="-514350">
              <a:buFont typeface="+mj-lt"/>
              <a:buAutoNum type="arabicPeriod"/>
            </a:pPr>
            <a:r>
              <a:rPr lang="en-US" sz="2700" b="1" dirty="0" smtClean="0">
                <a:solidFill>
                  <a:srgbClr val="FF0000"/>
                </a:solidFill>
                <a:latin typeface="Californian FB" pitchFamily="18" charset="0"/>
              </a:rPr>
              <a:t>Fewer material and/or financial resources </a:t>
            </a:r>
            <a:r>
              <a:rPr lang="en-US" sz="2700" dirty="0" smtClean="0">
                <a:latin typeface="Californian FB" pitchFamily="18" charset="0"/>
              </a:rPr>
              <a:t>(low-income households, homeless)</a:t>
            </a:r>
          </a:p>
          <a:p>
            <a:pPr marL="1314450" lvl="2" indent="-514350">
              <a:buFont typeface="+mj-lt"/>
              <a:buAutoNum type="arabicPeriod"/>
            </a:pPr>
            <a:r>
              <a:rPr lang="en-US" sz="2700" b="1" dirty="0" smtClean="0">
                <a:solidFill>
                  <a:srgbClr val="FF0000"/>
                </a:solidFill>
                <a:latin typeface="Californian FB" pitchFamily="18" charset="0"/>
              </a:rPr>
              <a:t>Less knowledge or experience </a:t>
            </a:r>
            <a:r>
              <a:rPr lang="en-US" sz="2700" dirty="0" smtClean="0">
                <a:latin typeface="Californian FB" pitchFamily="18" charset="0"/>
              </a:rPr>
              <a:t>(children, illiterate, foreigners, tourists)</a:t>
            </a:r>
          </a:p>
          <a:p>
            <a:pPr marL="1314450" lvl="2" indent="-514350">
              <a:buFont typeface="+mj-lt"/>
              <a:buAutoNum type="arabicPeriod"/>
            </a:pPr>
            <a:r>
              <a:rPr lang="en-US" sz="2700" b="1" dirty="0" smtClean="0">
                <a:solidFill>
                  <a:srgbClr val="FF0000"/>
                </a:solidFill>
                <a:latin typeface="Californian FB" pitchFamily="18" charset="0"/>
              </a:rPr>
              <a:t>Restricted by society  to grow and develop </a:t>
            </a:r>
            <a:r>
              <a:rPr lang="en-US" sz="2700" dirty="0" smtClean="0">
                <a:latin typeface="Californian FB" pitchFamily="18" charset="0"/>
              </a:rPr>
              <a:t>according to their needs and potentials</a:t>
            </a:r>
            <a:endParaRPr lang="en-US" sz="2700" dirty="0">
              <a:latin typeface="Californian FB"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61</a:t>
            </a:fld>
            <a:endParaRPr lang="en-US"/>
          </a:p>
        </p:txBody>
      </p:sp>
    </p:spTree>
  </p:cSld>
  <p:clrMapOvr>
    <a:masterClrMapping/>
  </p:clrMapOvr>
  <p:transition spd="slow">
    <p:wipe dir="u"/>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smtClean="0">
                <a:solidFill>
                  <a:srgbClr val="FF0000"/>
                </a:solidFill>
                <a:latin typeface="Californian FB" pitchFamily="18" charset="0"/>
              </a:rPr>
              <a:t>Who Are Vulnerable People </a:t>
            </a:r>
            <a:endParaRPr lang="en-US" sz="3600" b="1" dirty="0">
              <a:solidFill>
                <a:srgbClr val="FF0000"/>
              </a:solidFill>
              <a:latin typeface="Californian FB" pitchFamily="18" charset="0"/>
            </a:endParaRPr>
          </a:p>
        </p:txBody>
      </p:sp>
      <p:sp>
        <p:nvSpPr>
          <p:cNvPr id="3" name="Content Placeholder 2"/>
          <p:cNvSpPr>
            <a:spLocks noGrp="1"/>
          </p:cNvSpPr>
          <p:nvPr>
            <p:ph idx="1"/>
          </p:nvPr>
        </p:nvSpPr>
        <p:spPr>
          <a:xfrm>
            <a:off x="228600" y="1600200"/>
            <a:ext cx="8686800" cy="4953000"/>
          </a:xfrm>
        </p:spPr>
        <p:txBody>
          <a:bodyPr>
            <a:noAutofit/>
          </a:bodyPr>
          <a:lstStyle/>
          <a:p>
            <a:r>
              <a:rPr lang="en-US" sz="2800" b="1" dirty="0" smtClean="0">
                <a:solidFill>
                  <a:srgbClr val="FF0000"/>
                </a:solidFill>
                <a:latin typeface="Californian FB" pitchFamily="18" charset="0"/>
              </a:rPr>
              <a:t>Women</a:t>
            </a:r>
            <a:r>
              <a:rPr lang="en-US" sz="2800" dirty="0" smtClean="0">
                <a:latin typeface="Californian FB" pitchFamily="18" charset="0"/>
              </a:rPr>
              <a:t> (developing nations and those who are living in rural areas)</a:t>
            </a:r>
          </a:p>
          <a:p>
            <a:r>
              <a:rPr lang="en-US" sz="2800" b="1" dirty="0" smtClean="0">
                <a:solidFill>
                  <a:srgbClr val="FF0000"/>
                </a:solidFill>
                <a:latin typeface="Californian FB" pitchFamily="18" charset="0"/>
              </a:rPr>
              <a:t>Children</a:t>
            </a:r>
            <a:r>
              <a:rPr lang="en-US" sz="2800" dirty="0" smtClean="0">
                <a:latin typeface="Californian FB" pitchFamily="18" charset="0"/>
              </a:rPr>
              <a:t> (homeless/uneducated/orphans/street child)</a:t>
            </a:r>
          </a:p>
          <a:p>
            <a:r>
              <a:rPr lang="en-US" sz="2800" b="1" dirty="0" smtClean="0">
                <a:solidFill>
                  <a:srgbClr val="FF0000"/>
                </a:solidFill>
                <a:latin typeface="Californian FB" pitchFamily="18" charset="0"/>
              </a:rPr>
              <a:t>Minorities</a:t>
            </a:r>
          </a:p>
          <a:p>
            <a:r>
              <a:rPr lang="en-US" sz="2800" b="1" dirty="0" smtClean="0">
                <a:solidFill>
                  <a:srgbClr val="FF0000"/>
                </a:solidFill>
                <a:latin typeface="Californian FB" pitchFamily="18" charset="0"/>
              </a:rPr>
              <a:t>Poverty</a:t>
            </a:r>
          </a:p>
          <a:p>
            <a:r>
              <a:rPr lang="en-US" sz="2800" b="1" dirty="0" smtClean="0">
                <a:solidFill>
                  <a:srgbClr val="FF0000"/>
                </a:solidFill>
                <a:latin typeface="Californian FB" pitchFamily="18" charset="0"/>
              </a:rPr>
              <a:t>Disabilities</a:t>
            </a:r>
          </a:p>
          <a:p>
            <a:r>
              <a:rPr lang="en-US" sz="2800" b="1" dirty="0" smtClean="0">
                <a:solidFill>
                  <a:srgbClr val="FF0000"/>
                </a:solidFill>
                <a:latin typeface="Californian FB" pitchFamily="18" charset="0"/>
              </a:rPr>
              <a:t>Age</a:t>
            </a:r>
            <a:r>
              <a:rPr lang="en-US" sz="2800" dirty="0" smtClean="0">
                <a:latin typeface="Californian FB" pitchFamily="18" charset="0"/>
              </a:rPr>
              <a:t> (Old people or very young children)</a:t>
            </a:r>
          </a:p>
          <a:p>
            <a:r>
              <a:rPr lang="en-US" sz="2800" b="1" dirty="0" smtClean="0">
                <a:solidFill>
                  <a:srgbClr val="FF0000"/>
                </a:solidFill>
                <a:latin typeface="Californian FB" pitchFamily="18" charset="0"/>
              </a:rPr>
              <a:t>Illiteracy and less education</a:t>
            </a:r>
          </a:p>
          <a:p>
            <a:r>
              <a:rPr lang="en-US" sz="2800" b="1" dirty="0" smtClean="0">
                <a:solidFill>
                  <a:srgbClr val="FF0000"/>
                </a:solidFill>
                <a:latin typeface="Californian FB" pitchFamily="18" charset="0"/>
              </a:rPr>
              <a:t>Sickness</a:t>
            </a:r>
            <a:r>
              <a:rPr lang="en-US" sz="2800" dirty="0" smtClean="0">
                <a:latin typeface="Californian FB" pitchFamily="18" charset="0"/>
              </a:rPr>
              <a:t> (Uncured health problems)</a:t>
            </a:r>
          </a:p>
          <a:p>
            <a:r>
              <a:rPr lang="en-US" sz="2800" b="1" dirty="0" smtClean="0">
                <a:solidFill>
                  <a:srgbClr val="FF0000"/>
                </a:solidFill>
                <a:latin typeface="Californian FB" pitchFamily="18" charset="0"/>
              </a:rPr>
              <a:t>Gifted and </a:t>
            </a:r>
            <a:r>
              <a:rPr lang="en-US" sz="2800" b="1" dirty="0" err="1" smtClean="0">
                <a:solidFill>
                  <a:srgbClr val="FF0000"/>
                </a:solidFill>
                <a:latin typeface="Californian FB" pitchFamily="18" charset="0"/>
              </a:rPr>
              <a:t>Talentedness</a:t>
            </a:r>
            <a:endParaRPr lang="en-US" sz="2800" b="1" dirty="0" smtClean="0">
              <a:solidFill>
                <a:srgbClr val="FF0000"/>
              </a:solidFill>
              <a:latin typeface="Californian FB" pitchFamily="18" charset="0"/>
            </a:endParaRPr>
          </a:p>
          <a:p>
            <a:endParaRPr lang="en-US" sz="2800" dirty="0" smtClean="0">
              <a:latin typeface="Californian FB" pitchFamily="18" charset="0"/>
            </a:endParaRPr>
          </a:p>
          <a:p>
            <a:endParaRPr lang="en-US" sz="2800" dirty="0" smtClean="0">
              <a:latin typeface="Californian FB"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62</a:t>
            </a:fld>
            <a:endParaRPr lang="en-US"/>
          </a:p>
        </p:txBody>
      </p:sp>
    </p:spTree>
  </p:cSld>
  <p:clrMapOvr>
    <a:masterClrMapping/>
  </p:clrMapOvr>
  <p:transition spd="slow">
    <p:wipe dir="u"/>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p:txBody>
          <a:bodyPr/>
          <a:lstStyle/>
          <a:p>
            <a:r>
              <a:rPr lang="en-US" dirty="0"/>
              <a:t>See you next week…</a:t>
            </a:r>
            <a:endParaRPr lang="en-CA" dirty="0"/>
          </a:p>
        </p:txBody>
      </p:sp>
      <p:sp>
        <p:nvSpPr>
          <p:cNvPr id="62469" name="WordArt 5" descr="&amp; Start Reading!"/>
          <p:cNvSpPr>
            <a:spLocks noChangeArrowheads="1" noChangeShapeType="1" noTextEdit="1"/>
          </p:cNvSpPr>
          <p:nvPr/>
        </p:nvSpPr>
        <p:spPr bwMode="auto">
          <a:xfrm>
            <a:off x="914400" y="1752600"/>
            <a:ext cx="7467600" cy="3048000"/>
          </a:xfrm>
          <a:prstGeom prst="rect">
            <a:avLst/>
          </a:prstGeom>
        </p:spPr>
        <p:txBody>
          <a:bodyPr wrap="none" fromWordArt="1">
            <a:prstTxWarp prst="textSlantUp">
              <a:avLst>
                <a:gd name="adj" fmla="val 32056"/>
              </a:avLst>
            </a:prstTxWarp>
          </a:bodyPr>
          <a:lstStyle/>
          <a:p>
            <a:pPr algn="ctr"/>
            <a:r>
              <a:rPr lang="en-US" sz="3600" kern="10" dirty="0">
                <a:ln w="9525">
                  <a:solidFill>
                    <a:srgbClr val="CC99FF"/>
                  </a:solidFill>
                  <a:miter lim="800000"/>
                  <a:headEnd type="none" w="sm" len="sm"/>
                  <a:tailEnd type="none" w="sm" len="sm"/>
                </a:ln>
                <a:gradFill rotWithShape="0">
                  <a:gsLst>
                    <a:gs pos="0">
                      <a:srgbClr val="6600CC"/>
                    </a:gs>
                    <a:gs pos="100000">
                      <a:srgbClr val="CC00CC"/>
                    </a:gs>
                  </a:gsLst>
                  <a:lin ang="5400000" scaled="1"/>
                </a:gradFill>
                <a:effectLst>
                  <a:outerShdw dist="53882" dir="2700000" algn="ctr" rotWithShape="0">
                    <a:srgbClr val="9999FF"/>
                  </a:outerShdw>
                </a:effectLst>
                <a:latin typeface="Impact"/>
              </a:rPr>
              <a:t>&amp; Happy Reading!</a:t>
            </a:r>
          </a:p>
        </p:txBody>
      </p:sp>
    </p:spTree>
  </p:cSld>
  <p:clrMapOvr>
    <a:masterClrMapping/>
  </p:clrMapOvr>
  <p:transition spd="slow">
    <p:wipe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2466"/>
                                        </p:tgtEl>
                                        <p:attrNameLst>
                                          <p:attrName>style.visibility</p:attrName>
                                        </p:attrNameLst>
                                      </p:cBhvr>
                                      <p:to>
                                        <p:strVal val="visible"/>
                                      </p:to>
                                    </p:set>
                                    <p:anim calcmode="lin" valueType="num">
                                      <p:cBhvr additive="base">
                                        <p:cTn id="7" dur="500" fill="hold"/>
                                        <p:tgtEl>
                                          <p:spTgt spid="62466"/>
                                        </p:tgtEl>
                                        <p:attrNameLst>
                                          <p:attrName>ppt_x</p:attrName>
                                        </p:attrNameLst>
                                      </p:cBhvr>
                                      <p:tavLst>
                                        <p:tav tm="0">
                                          <p:val>
                                            <p:strVal val="0-#ppt_w/2"/>
                                          </p:val>
                                        </p:tav>
                                        <p:tav tm="100000">
                                          <p:val>
                                            <p:strVal val="#ppt_x"/>
                                          </p:val>
                                        </p:tav>
                                      </p:tavLst>
                                    </p:anim>
                                    <p:anim calcmode="lin" valueType="num">
                                      <p:cBhvr additive="base">
                                        <p:cTn id="8" dur="500" fill="hold"/>
                                        <p:tgtEl>
                                          <p:spTgt spid="6246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2469"/>
                                        </p:tgtEl>
                                        <p:attrNameLst>
                                          <p:attrName>style.visibility</p:attrName>
                                        </p:attrNameLst>
                                      </p:cBhvr>
                                      <p:to>
                                        <p:strVal val="visible"/>
                                      </p:to>
                                    </p:set>
                                    <p:anim calcmode="lin" valueType="num">
                                      <p:cBhvr additive="base">
                                        <p:cTn id="13" dur="500" fill="hold"/>
                                        <p:tgtEl>
                                          <p:spTgt spid="62469"/>
                                        </p:tgtEl>
                                        <p:attrNameLst>
                                          <p:attrName>ppt_x</p:attrName>
                                        </p:attrNameLst>
                                      </p:cBhvr>
                                      <p:tavLst>
                                        <p:tav tm="0">
                                          <p:val>
                                            <p:strVal val="#ppt_x"/>
                                          </p:val>
                                        </p:tav>
                                        <p:tav tm="100000">
                                          <p:val>
                                            <p:strVal val="#ppt_x"/>
                                          </p:val>
                                        </p:tav>
                                      </p:tavLst>
                                    </p:anim>
                                    <p:anim calcmode="lin" valueType="num">
                                      <p:cBhvr additive="base">
                                        <p:cTn id="14" dur="500" fill="hold"/>
                                        <p:tgtEl>
                                          <p:spTgt spid="6246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6" grpId="0"/>
      <p:bldP spid="62469"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7206</TotalTime>
  <Words>5628</Words>
  <Application>Microsoft Office PowerPoint</Application>
  <PresentationFormat>On-screen Show (4:3)</PresentationFormat>
  <Paragraphs>434</Paragraphs>
  <Slides>63</Slides>
  <Notes>2</Notes>
  <HiddenSlides>0</HiddenSlides>
  <MMClips>0</MMClips>
  <ScaleCrop>false</ScaleCrop>
  <HeadingPairs>
    <vt:vector size="4" baseType="variant">
      <vt:variant>
        <vt:lpstr>Theme</vt:lpstr>
      </vt:variant>
      <vt:variant>
        <vt:i4>1</vt:i4>
      </vt:variant>
      <vt:variant>
        <vt:lpstr>Slide Titles</vt:lpstr>
      </vt:variant>
      <vt:variant>
        <vt:i4>63</vt:i4>
      </vt:variant>
    </vt:vector>
  </HeadingPairs>
  <TitlesOfParts>
    <vt:vector size="64" baseType="lpstr">
      <vt:lpstr>Office Theme</vt:lpstr>
      <vt:lpstr> Welcome  to </vt:lpstr>
      <vt:lpstr> Target Group: All 1st Year Students   Instructor’s Name: Gashaw Tesfa (Lecturer) </vt:lpstr>
      <vt:lpstr>Course Description </vt:lpstr>
      <vt:lpstr>Course objective/Course Rationale </vt:lpstr>
      <vt:lpstr>Expected Learning Outcomes</vt:lpstr>
      <vt:lpstr>PowerPoint Presentation</vt:lpstr>
      <vt:lpstr>PowerPoint Presentation</vt:lpstr>
      <vt:lpstr>Course Contents  </vt:lpstr>
      <vt:lpstr>Chapter 2: Concept of Inclusion  </vt:lpstr>
      <vt:lpstr>Chapter 3: Identification, Assessment &amp; Differentiated services </vt:lpstr>
      <vt:lpstr>Chapter 4:  Promoting Inclusive Culture </vt:lpstr>
      <vt:lpstr>Chapter 5: Inclusion for Peace, Democracy and Development  </vt:lpstr>
      <vt:lpstr>Cont…</vt:lpstr>
      <vt:lpstr>Cont…</vt:lpstr>
      <vt:lpstr>Chapter One  Understanding Disabilities and Vulnerabilities</vt:lpstr>
      <vt:lpstr>Definitions of Disability and Vulnerability  </vt:lpstr>
      <vt:lpstr>Disability </vt:lpstr>
      <vt:lpstr>Cont…</vt:lpstr>
      <vt:lpstr>Causes of Disability </vt:lpstr>
      <vt:lpstr>Cont…</vt:lpstr>
      <vt:lpstr>Type of Disabilities</vt:lpstr>
      <vt:lpstr>Hearing Impairment</vt:lpstr>
      <vt:lpstr>Specific Learning Disability</vt:lpstr>
      <vt:lpstr>Types of Specific Learning Disabilities</vt:lpstr>
      <vt:lpstr>PowerPoint Presentation</vt:lpstr>
      <vt:lpstr>PowerPoint Presentation</vt:lpstr>
      <vt:lpstr>PowerPoint Presentation</vt:lpstr>
      <vt:lpstr>Speech and Language Impairments </vt:lpstr>
      <vt:lpstr>Speech Impairments </vt:lpstr>
      <vt:lpstr>Cont…</vt:lpstr>
      <vt:lpstr>Language Impairments </vt:lpstr>
      <vt:lpstr>Cont…</vt:lpstr>
      <vt:lpstr>Cont…</vt:lpstr>
      <vt:lpstr>5. Autism </vt:lpstr>
      <vt:lpstr>Cont…</vt:lpstr>
      <vt:lpstr>6. Emotional and Behavioral Disorders</vt:lpstr>
      <vt:lpstr>Classification of BED</vt:lpstr>
      <vt:lpstr>Cont…</vt:lpstr>
      <vt:lpstr>Causes of BED</vt:lpstr>
      <vt:lpstr>7. Intellectual Disability </vt:lpstr>
      <vt:lpstr>Cont…</vt:lpstr>
      <vt:lpstr>They also have limitations in the following major activities</vt:lpstr>
      <vt:lpstr>Cont…</vt:lpstr>
      <vt:lpstr>Cont…</vt:lpstr>
      <vt:lpstr>Physical disability/Orthopedic Impairment and Health impairment</vt:lpstr>
      <vt:lpstr>Classification and Characteristics</vt:lpstr>
      <vt:lpstr>Cont..</vt:lpstr>
      <vt:lpstr>Neurological system </vt:lpstr>
      <vt:lpstr>Epilepsy</vt:lpstr>
      <vt:lpstr>Spinal bifida and spinal cord injury</vt:lpstr>
      <vt:lpstr>Musculoskeletal system</vt:lpstr>
      <vt:lpstr>Cont…</vt:lpstr>
      <vt:lpstr>Cont…</vt:lpstr>
      <vt:lpstr>Cont…</vt:lpstr>
      <vt:lpstr>Health Impairments </vt:lpstr>
      <vt:lpstr>Cont…</vt:lpstr>
      <vt:lpstr>Cont…</vt:lpstr>
      <vt:lpstr>9. Vulnerability</vt:lpstr>
      <vt:lpstr>Cont…</vt:lpstr>
      <vt:lpstr>Causes of Vulnerability </vt:lpstr>
      <vt:lpstr>Characteristics of Vulnerable People</vt:lpstr>
      <vt:lpstr>Who Are Vulnerable People </vt:lpstr>
      <vt:lpstr>See you next week…</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One The Science of Psychology Introduction</dc:title>
  <dc:creator>adane</dc:creator>
  <cp:lastModifiedBy>Cool</cp:lastModifiedBy>
  <cp:revision>382</cp:revision>
  <dcterms:created xsi:type="dcterms:W3CDTF">2006-08-16T00:00:00Z</dcterms:created>
  <dcterms:modified xsi:type="dcterms:W3CDTF">2026-02-17T08:42:33Z</dcterms:modified>
</cp:coreProperties>
</file>